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63" r:id="rId3"/>
    <p:sldId id="293" r:id="rId4"/>
    <p:sldId id="294" r:id="rId5"/>
    <p:sldId id="295" r:id="rId6"/>
    <p:sldId id="315" r:id="rId7"/>
    <p:sldId id="282" r:id="rId8"/>
    <p:sldId id="283" r:id="rId9"/>
    <p:sldId id="296" r:id="rId10"/>
    <p:sldId id="286" r:id="rId11"/>
    <p:sldId id="303" r:id="rId12"/>
    <p:sldId id="319" r:id="rId13"/>
    <p:sldId id="306" r:id="rId14"/>
    <p:sldId id="274" r:id="rId15"/>
    <p:sldId id="287" r:id="rId16"/>
    <p:sldId id="275" r:id="rId17"/>
    <p:sldId id="276" r:id="rId18"/>
    <p:sldId id="277" r:id="rId19"/>
    <p:sldId id="290" r:id="rId20"/>
    <p:sldId id="318" r:id="rId21"/>
    <p:sldId id="265" r:id="rId22"/>
    <p:sldId id="272" r:id="rId23"/>
    <p:sldId id="257" r:id="rId24"/>
    <p:sldId id="281" r:id="rId25"/>
    <p:sldId id="316" r:id="rId26"/>
    <p:sldId id="285" r:id="rId27"/>
    <p:sldId id="31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00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68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1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18629C-2289-46C3-830D-DF1F5989F60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DF2D7F5-0745-4FDD-B2A7-B8381F95E041}">
      <dgm:prSet/>
      <dgm:spPr/>
      <dgm:t>
        <a:bodyPr/>
        <a:lstStyle/>
        <a:p>
          <a:r>
            <a:rPr lang="en-US"/>
            <a:t>Observation (animal behavior, environmental change, etc.)</a:t>
          </a:r>
        </a:p>
      </dgm:t>
    </dgm:pt>
    <dgm:pt modelId="{856973E5-2480-42E8-9F38-F3811ED8757E}" type="parTrans" cxnId="{A8EADA50-DA84-4B0B-B1D1-57D474482258}">
      <dgm:prSet/>
      <dgm:spPr/>
      <dgm:t>
        <a:bodyPr/>
        <a:lstStyle/>
        <a:p>
          <a:endParaRPr lang="en-US"/>
        </a:p>
      </dgm:t>
    </dgm:pt>
    <dgm:pt modelId="{A3F3DBC8-EB01-40E3-A243-7ED20F934E06}" type="sibTrans" cxnId="{A8EADA50-DA84-4B0B-B1D1-57D474482258}">
      <dgm:prSet/>
      <dgm:spPr/>
      <dgm:t>
        <a:bodyPr/>
        <a:lstStyle/>
        <a:p>
          <a:endParaRPr lang="en-US"/>
        </a:p>
      </dgm:t>
    </dgm:pt>
    <dgm:pt modelId="{FC764214-D3D3-4549-9CAA-9981BE1F87D6}">
      <dgm:prSet/>
      <dgm:spPr/>
      <dgm:t>
        <a:bodyPr/>
        <a:lstStyle/>
        <a:p>
          <a:r>
            <a:rPr lang="en-US"/>
            <a:t>Correlation (density and growth, salinity and survival, etc.)</a:t>
          </a:r>
        </a:p>
      </dgm:t>
    </dgm:pt>
    <dgm:pt modelId="{BE7F1756-8F95-4A89-9FC1-A890E6DED987}" type="parTrans" cxnId="{63F43CA8-5B26-41FB-A282-6F65076B4C8C}">
      <dgm:prSet/>
      <dgm:spPr/>
      <dgm:t>
        <a:bodyPr/>
        <a:lstStyle/>
        <a:p>
          <a:endParaRPr lang="en-US"/>
        </a:p>
      </dgm:t>
    </dgm:pt>
    <dgm:pt modelId="{330D970A-4B79-453E-A62A-8875F0DDAAD0}" type="sibTrans" cxnId="{63F43CA8-5B26-41FB-A282-6F65076B4C8C}">
      <dgm:prSet/>
      <dgm:spPr/>
      <dgm:t>
        <a:bodyPr/>
        <a:lstStyle/>
        <a:p>
          <a:endParaRPr lang="en-US"/>
        </a:p>
      </dgm:t>
    </dgm:pt>
    <dgm:pt modelId="{B8B061AF-4A85-4E12-A681-DE500A226601}">
      <dgm:prSet/>
      <dgm:spPr/>
      <dgm:t>
        <a:bodyPr/>
        <a:lstStyle/>
        <a:p>
          <a:r>
            <a:rPr lang="en-US"/>
            <a:t>Modeling (using the computer to explore scenarios, options)</a:t>
          </a:r>
        </a:p>
      </dgm:t>
    </dgm:pt>
    <dgm:pt modelId="{541E3640-3E2A-4441-8DCB-97375EF3DEBA}" type="parTrans" cxnId="{251CDA66-EC23-4450-B4D3-229E92C59530}">
      <dgm:prSet/>
      <dgm:spPr/>
      <dgm:t>
        <a:bodyPr/>
        <a:lstStyle/>
        <a:p>
          <a:endParaRPr lang="en-US"/>
        </a:p>
      </dgm:t>
    </dgm:pt>
    <dgm:pt modelId="{8133A0D5-6312-4108-B83A-7C04FB73C846}" type="sibTrans" cxnId="{251CDA66-EC23-4450-B4D3-229E92C59530}">
      <dgm:prSet/>
      <dgm:spPr/>
      <dgm:t>
        <a:bodyPr/>
        <a:lstStyle/>
        <a:p>
          <a:endParaRPr lang="en-US"/>
        </a:p>
      </dgm:t>
    </dgm:pt>
    <dgm:pt modelId="{F8192E92-7853-460B-86F9-58750ED49CF0}">
      <dgm:prSet/>
      <dgm:spPr/>
      <dgm:t>
        <a:bodyPr/>
        <a:lstStyle/>
        <a:p>
          <a:r>
            <a:rPr lang="en-US"/>
            <a:t>Morphology (paleontology, etc.)</a:t>
          </a:r>
        </a:p>
      </dgm:t>
    </dgm:pt>
    <dgm:pt modelId="{0C2FB3EA-FC31-4EE3-992F-0065300D392A}" type="parTrans" cxnId="{F6549E5A-B374-421E-BB38-58A816EEC9E7}">
      <dgm:prSet/>
      <dgm:spPr/>
      <dgm:t>
        <a:bodyPr/>
        <a:lstStyle/>
        <a:p>
          <a:endParaRPr lang="en-US"/>
        </a:p>
      </dgm:t>
    </dgm:pt>
    <dgm:pt modelId="{A84880DC-363E-463F-AAA0-6750415DB0E7}" type="sibTrans" cxnId="{F6549E5A-B374-421E-BB38-58A816EEC9E7}">
      <dgm:prSet/>
      <dgm:spPr/>
      <dgm:t>
        <a:bodyPr/>
        <a:lstStyle/>
        <a:p>
          <a:endParaRPr lang="en-US"/>
        </a:p>
      </dgm:t>
    </dgm:pt>
    <dgm:pt modelId="{87FB7794-E54D-46E3-8A4E-9B0171AD1396}">
      <dgm:prSet/>
      <dgm:spPr/>
      <dgm:t>
        <a:bodyPr/>
        <a:lstStyle/>
        <a:p>
          <a:r>
            <a:rPr lang="en-US"/>
            <a:t>Descriptive (discovery of a new species of organism)</a:t>
          </a:r>
        </a:p>
      </dgm:t>
    </dgm:pt>
    <dgm:pt modelId="{7AE2DA76-DB44-459F-B8F2-AF64F276BB67}" type="parTrans" cxnId="{267BFB28-5FA7-4186-82A5-88CE154730A1}">
      <dgm:prSet/>
      <dgm:spPr/>
      <dgm:t>
        <a:bodyPr/>
        <a:lstStyle/>
        <a:p>
          <a:endParaRPr lang="en-US"/>
        </a:p>
      </dgm:t>
    </dgm:pt>
    <dgm:pt modelId="{59AF79A1-1367-45ED-B3EC-67259815C7A5}" type="sibTrans" cxnId="{267BFB28-5FA7-4186-82A5-88CE154730A1}">
      <dgm:prSet/>
      <dgm:spPr/>
      <dgm:t>
        <a:bodyPr/>
        <a:lstStyle/>
        <a:p>
          <a:endParaRPr lang="en-US"/>
        </a:p>
      </dgm:t>
    </dgm:pt>
    <dgm:pt modelId="{59921F27-0561-4276-9417-339E80C6E10B}">
      <dgm:prSet/>
      <dgm:spPr/>
      <dgm:t>
        <a:bodyPr/>
        <a:lstStyle/>
        <a:p>
          <a:r>
            <a:rPr lang="en-US"/>
            <a:t>Microscopical examination (new pathogens, structures, etc.)</a:t>
          </a:r>
        </a:p>
      </dgm:t>
    </dgm:pt>
    <dgm:pt modelId="{BD63317E-CB21-4771-94E6-4A8F262DED4E}" type="parTrans" cxnId="{73AA10BC-86A8-42D3-ADBE-9414ED8267ED}">
      <dgm:prSet/>
      <dgm:spPr/>
      <dgm:t>
        <a:bodyPr/>
        <a:lstStyle/>
        <a:p>
          <a:endParaRPr lang="en-US"/>
        </a:p>
      </dgm:t>
    </dgm:pt>
    <dgm:pt modelId="{B3A22FFF-C8C2-49B4-B939-85B0E0AB2921}" type="sibTrans" cxnId="{73AA10BC-86A8-42D3-ADBE-9414ED8267ED}">
      <dgm:prSet/>
      <dgm:spPr/>
      <dgm:t>
        <a:bodyPr/>
        <a:lstStyle/>
        <a:p>
          <a:endParaRPr lang="en-US"/>
        </a:p>
      </dgm:t>
    </dgm:pt>
    <dgm:pt modelId="{C22F557A-D9A9-4592-9018-DC84A4EE81C5}">
      <dgm:prSet/>
      <dgm:spPr/>
      <dgm:t>
        <a:bodyPr/>
        <a:lstStyle/>
        <a:p>
          <a:r>
            <a:rPr lang="en-US"/>
            <a:t>Others</a:t>
          </a:r>
        </a:p>
      </dgm:t>
    </dgm:pt>
    <dgm:pt modelId="{7EA62955-53D7-48E8-92C7-319F92C77694}" type="parTrans" cxnId="{6C139A0E-578D-4213-AC90-6E501178A1FA}">
      <dgm:prSet/>
      <dgm:spPr/>
      <dgm:t>
        <a:bodyPr/>
        <a:lstStyle/>
        <a:p>
          <a:endParaRPr lang="en-US"/>
        </a:p>
      </dgm:t>
    </dgm:pt>
    <dgm:pt modelId="{B3433444-E6E1-49AF-9997-D54BEED29579}" type="sibTrans" cxnId="{6C139A0E-578D-4213-AC90-6E501178A1FA}">
      <dgm:prSet/>
      <dgm:spPr/>
      <dgm:t>
        <a:bodyPr/>
        <a:lstStyle/>
        <a:p>
          <a:endParaRPr lang="en-US"/>
        </a:p>
      </dgm:t>
    </dgm:pt>
    <dgm:pt modelId="{649C3C37-A4A5-43DA-80DF-C6459FAB6972}">
      <dgm:prSet/>
      <dgm:spPr/>
      <dgm:t>
        <a:bodyPr/>
        <a:lstStyle/>
        <a:p>
          <a:r>
            <a:rPr lang="en-US"/>
            <a:t>Are null hypotheses imbedded in these non-experimental studies?</a:t>
          </a:r>
        </a:p>
      </dgm:t>
    </dgm:pt>
    <dgm:pt modelId="{AE5FFF69-51B3-49CD-8FCB-1354DA2F8F4F}" type="parTrans" cxnId="{7100EA5A-F67B-4F71-8A73-AD9F00439E9C}">
      <dgm:prSet/>
      <dgm:spPr/>
      <dgm:t>
        <a:bodyPr/>
        <a:lstStyle/>
        <a:p>
          <a:endParaRPr lang="en-US"/>
        </a:p>
      </dgm:t>
    </dgm:pt>
    <dgm:pt modelId="{439CDFA3-B264-40C2-BA95-D6235208B880}" type="sibTrans" cxnId="{7100EA5A-F67B-4F71-8A73-AD9F00439E9C}">
      <dgm:prSet/>
      <dgm:spPr/>
      <dgm:t>
        <a:bodyPr/>
        <a:lstStyle/>
        <a:p>
          <a:endParaRPr lang="en-US"/>
        </a:p>
      </dgm:t>
    </dgm:pt>
    <dgm:pt modelId="{AE9076A2-5F2B-D147-AD00-2E45E2DB4A91}" type="pres">
      <dgm:prSet presAssocID="{F618629C-2289-46C3-830D-DF1F5989F60D}" presName="vert0" presStyleCnt="0">
        <dgm:presLayoutVars>
          <dgm:dir/>
          <dgm:animOne val="branch"/>
          <dgm:animLvl val="lvl"/>
        </dgm:presLayoutVars>
      </dgm:prSet>
      <dgm:spPr/>
    </dgm:pt>
    <dgm:pt modelId="{E4A2DB59-1383-E44D-9D31-3A6320ECC499}" type="pres">
      <dgm:prSet presAssocID="{DDF2D7F5-0745-4FDD-B2A7-B8381F95E041}" presName="thickLine" presStyleLbl="alignNode1" presStyleIdx="0" presStyleCnt="8"/>
      <dgm:spPr/>
    </dgm:pt>
    <dgm:pt modelId="{1D94BC46-B15F-064C-B0E7-3FB6AB93C6AC}" type="pres">
      <dgm:prSet presAssocID="{DDF2D7F5-0745-4FDD-B2A7-B8381F95E041}" presName="horz1" presStyleCnt="0"/>
      <dgm:spPr/>
    </dgm:pt>
    <dgm:pt modelId="{56646775-A57C-0A42-8DD6-97E9F14AB76E}" type="pres">
      <dgm:prSet presAssocID="{DDF2D7F5-0745-4FDD-B2A7-B8381F95E041}" presName="tx1" presStyleLbl="revTx" presStyleIdx="0" presStyleCnt="8"/>
      <dgm:spPr/>
    </dgm:pt>
    <dgm:pt modelId="{20280492-24B1-924F-9E1B-CB38D7E355F1}" type="pres">
      <dgm:prSet presAssocID="{DDF2D7F5-0745-4FDD-B2A7-B8381F95E041}" presName="vert1" presStyleCnt="0"/>
      <dgm:spPr/>
    </dgm:pt>
    <dgm:pt modelId="{743F3798-56A9-AC49-AA15-4B50C9ABFABA}" type="pres">
      <dgm:prSet presAssocID="{FC764214-D3D3-4549-9CAA-9981BE1F87D6}" presName="thickLine" presStyleLbl="alignNode1" presStyleIdx="1" presStyleCnt="8"/>
      <dgm:spPr/>
    </dgm:pt>
    <dgm:pt modelId="{FB662B2E-88FB-4C41-8DAA-8ABA54C3A198}" type="pres">
      <dgm:prSet presAssocID="{FC764214-D3D3-4549-9CAA-9981BE1F87D6}" presName="horz1" presStyleCnt="0"/>
      <dgm:spPr/>
    </dgm:pt>
    <dgm:pt modelId="{4439C627-87CB-2841-970B-8F58D0CB9F8C}" type="pres">
      <dgm:prSet presAssocID="{FC764214-D3D3-4549-9CAA-9981BE1F87D6}" presName="tx1" presStyleLbl="revTx" presStyleIdx="1" presStyleCnt="8"/>
      <dgm:spPr/>
    </dgm:pt>
    <dgm:pt modelId="{3CB57D54-C652-FD4E-B84B-7A40EE4651ED}" type="pres">
      <dgm:prSet presAssocID="{FC764214-D3D3-4549-9CAA-9981BE1F87D6}" presName="vert1" presStyleCnt="0"/>
      <dgm:spPr/>
    </dgm:pt>
    <dgm:pt modelId="{42B77644-08DC-C74E-8490-9DD853B5D290}" type="pres">
      <dgm:prSet presAssocID="{B8B061AF-4A85-4E12-A681-DE500A226601}" presName="thickLine" presStyleLbl="alignNode1" presStyleIdx="2" presStyleCnt="8"/>
      <dgm:spPr/>
    </dgm:pt>
    <dgm:pt modelId="{1ACB26E5-71C8-E244-83E7-06A72A5C63F2}" type="pres">
      <dgm:prSet presAssocID="{B8B061AF-4A85-4E12-A681-DE500A226601}" presName="horz1" presStyleCnt="0"/>
      <dgm:spPr/>
    </dgm:pt>
    <dgm:pt modelId="{A872E948-2D64-3D4A-8CAD-6EEF74AB6C0A}" type="pres">
      <dgm:prSet presAssocID="{B8B061AF-4A85-4E12-A681-DE500A226601}" presName="tx1" presStyleLbl="revTx" presStyleIdx="2" presStyleCnt="8"/>
      <dgm:spPr/>
    </dgm:pt>
    <dgm:pt modelId="{233CED72-9F5F-1C4A-B726-2D8124E4655E}" type="pres">
      <dgm:prSet presAssocID="{B8B061AF-4A85-4E12-A681-DE500A226601}" presName="vert1" presStyleCnt="0"/>
      <dgm:spPr/>
    </dgm:pt>
    <dgm:pt modelId="{08E61F08-B743-0D4B-8A23-5CF7ACCFCBC7}" type="pres">
      <dgm:prSet presAssocID="{F8192E92-7853-460B-86F9-58750ED49CF0}" presName="thickLine" presStyleLbl="alignNode1" presStyleIdx="3" presStyleCnt="8"/>
      <dgm:spPr/>
    </dgm:pt>
    <dgm:pt modelId="{EB183D04-9439-4545-8C5F-5CFAB33CD4B9}" type="pres">
      <dgm:prSet presAssocID="{F8192E92-7853-460B-86F9-58750ED49CF0}" presName="horz1" presStyleCnt="0"/>
      <dgm:spPr/>
    </dgm:pt>
    <dgm:pt modelId="{1BFCEB8C-879E-314F-BDCC-274AC18DDB65}" type="pres">
      <dgm:prSet presAssocID="{F8192E92-7853-460B-86F9-58750ED49CF0}" presName="tx1" presStyleLbl="revTx" presStyleIdx="3" presStyleCnt="8"/>
      <dgm:spPr/>
    </dgm:pt>
    <dgm:pt modelId="{66B28E9C-E870-0B4B-B6B0-A0FC8BE39783}" type="pres">
      <dgm:prSet presAssocID="{F8192E92-7853-460B-86F9-58750ED49CF0}" presName="vert1" presStyleCnt="0"/>
      <dgm:spPr/>
    </dgm:pt>
    <dgm:pt modelId="{020A1E73-0E15-854D-A262-746D3E479212}" type="pres">
      <dgm:prSet presAssocID="{87FB7794-E54D-46E3-8A4E-9B0171AD1396}" presName="thickLine" presStyleLbl="alignNode1" presStyleIdx="4" presStyleCnt="8"/>
      <dgm:spPr/>
    </dgm:pt>
    <dgm:pt modelId="{627C900A-59BC-4B4A-A06B-CF14390B66B1}" type="pres">
      <dgm:prSet presAssocID="{87FB7794-E54D-46E3-8A4E-9B0171AD1396}" presName="horz1" presStyleCnt="0"/>
      <dgm:spPr/>
    </dgm:pt>
    <dgm:pt modelId="{60D4FB54-B609-2A49-A328-13FB57199B4D}" type="pres">
      <dgm:prSet presAssocID="{87FB7794-E54D-46E3-8A4E-9B0171AD1396}" presName="tx1" presStyleLbl="revTx" presStyleIdx="4" presStyleCnt="8"/>
      <dgm:spPr/>
    </dgm:pt>
    <dgm:pt modelId="{816D05CC-00EE-1943-BEE8-62E30A6B0FD3}" type="pres">
      <dgm:prSet presAssocID="{87FB7794-E54D-46E3-8A4E-9B0171AD1396}" presName="vert1" presStyleCnt="0"/>
      <dgm:spPr/>
    </dgm:pt>
    <dgm:pt modelId="{E1CAAB1A-9438-9E4C-B90C-8636AB462FE9}" type="pres">
      <dgm:prSet presAssocID="{59921F27-0561-4276-9417-339E80C6E10B}" presName="thickLine" presStyleLbl="alignNode1" presStyleIdx="5" presStyleCnt="8"/>
      <dgm:spPr/>
    </dgm:pt>
    <dgm:pt modelId="{09413464-AFAA-964C-8CE5-24FB3EE0D207}" type="pres">
      <dgm:prSet presAssocID="{59921F27-0561-4276-9417-339E80C6E10B}" presName="horz1" presStyleCnt="0"/>
      <dgm:spPr/>
    </dgm:pt>
    <dgm:pt modelId="{9B2C8E2C-C363-134D-8F9B-9B112193DC25}" type="pres">
      <dgm:prSet presAssocID="{59921F27-0561-4276-9417-339E80C6E10B}" presName="tx1" presStyleLbl="revTx" presStyleIdx="5" presStyleCnt="8"/>
      <dgm:spPr/>
    </dgm:pt>
    <dgm:pt modelId="{65267444-AA64-B745-A8E9-E7CF0BF38066}" type="pres">
      <dgm:prSet presAssocID="{59921F27-0561-4276-9417-339E80C6E10B}" presName="vert1" presStyleCnt="0"/>
      <dgm:spPr/>
    </dgm:pt>
    <dgm:pt modelId="{3A0C2AE3-A377-A84F-876E-E7CC9764056E}" type="pres">
      <dgm:prSet presAssocID="{C22F557A-D9A9-4592-9018-DC84A4EE81C5}" presName="thickLine" presStyleLbl="alignNode1" presStyleIdx="6" presStyleCnt="8"/>
      <dgm:spPr/>
    </dgm:pt>
    <dgm:pt modelId="{C1218624-22A4-8B44-8B59-3483AAE1D19F}" type="pres">
      <dgm:prSet presAssocID="{C22F557A-D9A9-4592-9018-DC84A4EE81C5}" presName="horz1" presStyleCnt="0"/>
      <dgm:spPr/>
    </dgm:pt>
    <dgm:pt modelId="{D3F61D21-0448-C141-BA5E-BE43A65A2208}" type="pres">
      <dgm:prSet presAssocID="{C22F557A-D9A9-4592-9018-DC84A4EE81C5}" presName="tx1" presStyleLbl="revTx" presStyleIdx="6" presStyleCnt="8"/>
      <dgm:spPr/>
    </dgm:pt>
    <dgm:pt modelId="{A3899DCD-2595-7846-8E23-025F585ABBFB}" type="pres">
      <dgm:prSet presAssocID="{C22F557A-D9A9-4592-9018-DC84A4EE81C5}" presName="vert1" presStyleCnt="0"/>
      <dgm:spPr/>
    </dgm:pt>
    <dgm:pt modelId="{D543A783-FC89-1643-8ACB-F6A70AE4BDFF}" type="pres">
      <dgm:prSet presAssocID="{649C3C37-A4A5-43DA-80DF-C6459FAB6972}" presName="thickLine" presStyleLbl="alignNode1" presStyleIdx="7" presStyleCnt="8"/>
      <dgm:spPr/>
    </dgm:pt>
    <dgm:pt modelId="{2111A0C7-E6F8-4843-9392-4AC1852AE494}" type="pres">
      <dgm:prSet presAssocID="{649C3C37-A4A5-43DA-80DF-C6459FAB6972}" presName="horz1" presStyleCnt="0"/>
      <dgm:spPr/>
    </dgm:pt>
    <dgm:pt modelId="{42DFD316-9554-844D-B60F-B6322CCBCD4F}" type="pres">
      <dgm:prSet presAssocID="{649C3C37-A4A5-43DA-80DF-C6459FAB6972}" presName="tx1" presStyleLbl="revTx" presStyleIdx="7" presStyleCnt="8"/>
      <dgm:spPr/>
    </dgm:pt>
    <dgm:pt modelId="{99908318-72BB-A14B-AE9B-009C3DD74BF4}" type="pres">
      <dgm:prSet presAssocID="{649C3C37-A4A5-43DA-80DF-C6459FAB6972}" presName="vert1" presStyleCnt="0"/>
      <dgm:spPr/>
    </dgm:pt>
  </dgm:ptLst>
  <dgm:cxnLst>
    <dgm:cxn modelId="{6C139A0E-578D-4213-AC90-6E501178A1FA}" srcId="{F618629C-2289-46C3-830D-DF1F5989F60D}" destId="{C22F557A-D9A9-4592-9018-DC84A4EE81C5}" srcOrd="6" destOrd="0" parTransId="{7EA62955-53D7-48E8-92C7-319F92C77694}" sibTransId="{B3433444-E6E1-49AF-9997-D54BEED29579}"/>
    <dgm:cxn modelId="{0C5D7B0F-20BA-1F43-A75A-ED77C79009F6}" type="presOf" srcId="{F8192E92-7853-460B-86F9-58750ED49CF0}" destId="{1BFCEB8C-879E-314F-BDCC-274AC18DDB65}" srcOrd="0" destOrd="0" presId="urn:microsoft.com/office/officeart/2008/layout/LinedList"/>
    <dgm:cxn modelId="{D179C10F-EDEA-7A43-BC63-29ACC45485EA}" type="presOf" srcId="{F618629C-2289-46C3-830D-DF1F5989F60D}" destId="{AE9076A2-5F2B-D147-AD00-2E45E2DB4A91}" srcOrd="0" destOrd="0" presId="urn:microsoft.com/office/officeart/2008/layout/LinedList"/>
    <dgm:cxn modelId="{33AF8F16-E529-EF4B-A9E3-F35839ADAB3C}" type="presOf" srcId="{59921F27-0561-4276-9417-339E80C6E10B}" destId="{9B2C8E2C-C363-134D-8F9B-9B112193DC25}" srcOrd="0" destOrd="0" presId="urn:microsoft.com/office/officeart/2008/layout/LinedList"/>
    <dgm:cxn modelId="{267BFB28-5FA7-4186-82A5-88CE154730A1}" srcId="{F618629C-2289-46C3-830D-DF1F5989F60D}" destId="{87FB7794-E54D-46E3-8A4E-9B0171AD1396}" srcOrd="4" destOrd="0" parTransId="{7AE2DA76-DB44-459F-B8F2-AF64F276BB67}" sibTransId="{59AF79A1-1367-45ED-B3EC-67259815C7A5}"/>
    <dgm:cxn modelId="{DA87622D-4193-CB42-94D9-0A1504B8B4BD}" type="presOf" srcId="{C22F557A-D9A9-4592-9018-DC84A4EE81C5}" destId="{D3F61D21-0448-C141-BA5E-BE43A65A2208}" srcOrd="0" destOrd="0" presId="urn:microsoft.com/office/officeart/2008/layout/LinedList"/>
    <dgm:cxn modelId="{9B8A143E-BFB2-9549-943F-DB6AED604B29}" type="presOf" srcId="{B8B061AF-4A85-4E12-A681-DE500A226601}" destId="{A872E948-2D64-3D4A-8CAD-6EEF74AB6C0A}" srcOrd="0" destOrd="0" presId="urn:microsoft.com/office/officeart/2008/layout/LinedList"/>
    <dgm:cxn modelId="{A8EADA50-DA84-4B0B-B1D1-57D474482258}" srcId="{F618629C-2289-46C3-830D-DF1F5989F60D}" destId="{DDF2D7F5-0745-4FDD-B2A7-B8381F95E041}" srcOrd="0" destOrd="0" parTransId="{856973E5-2480-42E8-9F38-F3811ED8757E}" sibTransId="{A3F3DBC8-EB01-40E3-A243-7ED20F934E06}"/>
    <dgm:cxn modelId="{F6549E5A-B374-421E-BB38-58A816EEC9E7}" srcId="{F618629C-2289-46C3-830D-DF1F5989F60D}" destId="{F8192E92-7853-460B-86F9-58750ED49CF0}" srcOrd="3" destOrd="0" parTransId="{0C2FB3EA-FC31-4EE3-992F-0065300D392A}" sibTransId="{A84880DC-363E-463F-AAA0-6750415DB0E7}"/>
    <dgm:cxn modelId="{7100EA5A-F67B-4F71-8A73-AD9F00439E9C}" srcId="{F618629C-2289-46C3-830D-DF1F5989F60D}" destId="{649C3C37-A4A5-43DA-80DF-C6459FAB6972}" srcOrd="7" destOrd="0" parTransId="{AE5FFF69-51B3-49CD-8FCB-1354DA2F8F4F}" sibTransId="{439CDFA3-B264-40C2-BA95-D6235208B880}"/>
    <dgm:cxn modelId="{251CDA66-EC23-4450-B4D3-229E92C59530}" srcId="{F618629C-2289-46C3-830D-DF1F5989F60D}" destId="{B8B061AF-4A85-4E12-A681-DE500A226601}" srcOrd="2" destOrd="0" parTransId="{541E3640-3E2A-4441-8DCB-97375EF3DEBA}" sibTransId="{8133A0D5-6312-4108-B83A-7C04FB73C846}"/>
    <dgm:cxn modelId="{FF8A137A-D183-994B-94B4-235D6551AEEB}" type="presOf" srcId="{DDF2D7F5-0745-4FDD-B2A7-B8381F95E041}" destId="{56646775-A57C-0A42-8DD6-97E9F14AB76E}" srcOrd="0" destOrd="0" presId="urn:microsoft.com/office/officeart/2008/layout/LinedList"/>
    <dgm:cxn modelId="{63F43CA8-5B26-41FB-A282-6F65076B4C8C}" srcId="{F618629C-2289-46C3-830D-DF1F5989F60D}" destId="{FC764214-D3D3-4549-9CAA-9981BE1F87D6}" srcOrd="1" destOrd="0" parTransId="{BE7F1756-8F95-4A89-9FC1-A890E6DED987}" sibTransId="{330D970A-4B79-453E-A62A-8875F0DDAAD0}"/>
    <dgm:cxn modelId="{73AA10BC-86A8-42D3-ADBE-9414ED8267ED}" srcId="{F618629C-2289-46C3-830D-DF1F5989F60D}" destId="{59921F27-0561-4276-9417-339E80C6E10B}" srcOrd="5" destOrd="0" parTransId="{BD63317E-CB21-4771-94E6-4A8F262DED4E}" sibTransId="{B3A22FFF-C8C2-49B4-B939-85B0E0AB2921}"/>
    <dgm:cxn modelId="{C009EAC5-73E8-5148-9F99-5A518DEBE40B}" type="presOf" srcId="{87FB7794-E54D-46E3-8A4E-9B0171AD1396}" destId="{60D4FB54-B609-2A49-A328-13FB57199B4D}" srcOrd="0" destOrd="0" presId="urn:microsoft.com/office/officeart/2008/layout/LinedList"/>
    <dgm:cxn modelId="{0DFF34DF-58A8-C04D-AE40-9A21B8BD7509}" type="presOf" srcId="{FC764214-D3D3-4549-9CAA-9981BE1F87D6}" destId="{4439C627-87CB-2841-970B-8F58D0CB9F8C}" srcOrd="0" destOrd="0" presId="urn:microsoft.com/office/officeart/2008/layout/LinedList"/>
    <dgm:cxn modelId="{95BAD2EF-75CC-7546-A608-73AC60C57082}" type="presOf" srcId="{649C3C37-A4A5-43DA-80DF-C6459FAB6972}" destId="{42DFD316-9554-844D-B60F-B6322CCBCD4F}" srcOrd="0" destOrd="0" presId="urn:microsoft.com/office/officeart/2008/layout/LinedList"/>
    <dgm:cxn modelId="{0B31EB80-D8E3-F643-BFA9-677D81A48B1B}" type="presParOf" srcId="{AE9076A2-5F2B-D147-AD00-2E45E2DB4A91}" destId="{E4A2DB59-1383-E44D-9D31-3A6320ECC499}" srcOrd="0" destOrd="0" presId="urn:microsoft.com/office/officeart/2008/layout/LinedList"/>
    <dgm:cxn modelId="{58958003-7BB9-E84F-ADC5-42D149F91185}" type="presParOf" srcId="{AE9076A2-5F2B-D147-AD00-2E45E2DB4A91}" destId="{1D94BC46-B15F-064C-B0E7-3FB6AB93C6AC}" srcOrd="1" destOrd="0" presId="urn:microsoft.com/office/officeart/2008/layout/LinedList"/>
    <dgm:cxn modelId="{E53AAD36-4868-7D40-A486-855E027371BB}" type="presParOf" srcId="{1D94BC46-B15F-064C-B0E7-3FB6AB93C6AC}" destId="{56646775-A57C-0A42-8DD6-97E9F14AB76E}" srcOrd="0" destOrd="0" presId="urn:microsoft.com/office/officeart/2008/layout/LinedList"/>
    <dgm:cxn modelId="{48E8C985-F03C-3240-9880-B5D62D5C1A74}" type="presParOf" srcId="{1D94BC46-B15F-064C-B0E7-3FB6AB93C6AC}" destId="{20280492-24B1-924F-9E1B-CB38D7E355F1}" srcOrd="1" destOrd="0" presId="urn:microsoft.com/office/officeart/2008/layout/LinedList"/>
    <dgm:cxn modelId="{E2DE87D3-53F1-4144-9D7C-1A2B7333C2DB}" type="presParOf" srcId="{AE9076A2-5F2B-D147-AD00-2E45E2DB4A91}" destId="{743F3798-56A9-AC49-AA15-4B50C9ABFABA}" srcOrd="2" destOrd="0" presId="urn:microsoft.com/office/officeart/2008/layout/LinedList"/>
    <dgm:cxn modelId="{E37F1913-3BB5-EC45-9FDB-6464E53EF2CA}" type="presParOf" srcId="{AE9076A2-5F2B-D147-AD00-2E45E2DB4A91}" destId="{FB662B2E-88FB-4C41-8DAA-8ABA54C3A198}" srcOrd="3" destOrd="0" presId="urn:microsoft.com/office/officeart/2008/layout/LinedList"/>
    <dgm:cxn modelId="{93743C03-1A91-D54E-94CD-30EBB92B0878}" type="presParOf" srcId="{FB662B2E-88FB-4C41-8DAA-8ABA54C3A198}" destId="{4439C627-87CB-2841-970B-8F58D0CB9F8C}" srcOrd="0" destOrd="0" presId="urn:microsoft.com/office/officeart/2008/layout/LinedList"/>
    <dgm:cxn modelId="{19E0B07E-D5B2-0248-82FF-70258C619189}" type="presParOf" srcId="{FB662B2E-88FB-4C41-8DAA-8ABA54C3A198}" destId="{3CB57D54-C652-FD4E-B84B-7A40EE4651ED}" srcOrd="1" destOrd="0" presId="urn:microsoft.com/office/officeart/2008/layout/LinedList"/>
    <dgm:cxn modelId="{F1EE1CB0-7A75-0145-8977-11B5DC2CE717}" type="presParOf" srcId="{AE9076A2-5F2B-D147-AD00-2E45E2DB4A91}" destId="{42B77644-08DC-C74E-8490-9DD853B5D290}" srcOrd="4" destOrd="0" presId="urn:microsoft.com/office/officeart/2008/layout/LinedList"/>
    <dgm:cxn modelId="{67C61822-2BEA-1A48-9079-876700396039}" type="presParOf" srcId="{AE9076A2-5F2B-D147-AD00-2E45E2DB4A91}" destId="{1ACB26E5-71C8-E244-83E7-06A72A5C63F2}" srcOrd="5" destOrd="0" presId="urn:microsoft.com/office/officeart/2008/layout/LinedList"/>
    <dgm:cxn modelId="{85B47C09-974B-0D4D-8AD9-A08C947A2120}" type="presParOf" srcId="{1ACB26E5-71C8-E244-83E7-06A72A5C63F2}" destId="{A872E948-2D64-3D4A-8CAD-6EEF74AB6C0A}" srcOrd="0" destOrd="0" presId="urn:microsoft.com/office/officeart/2008/layout/LinedList"/>
    <dgm:cxn modelId="{E748869E-8507-D348-928A-15DD997DA5AD}" type="presParOf" srcId="{1ACB26E5-71C8-E244-83E7-06A72A5C63F2}" destId="{233CED72-9F5F-1C4A-B726-2D8124E4655E}" srcOrd="1" destOrd="0" presId="urn:microsoft.com/office/officeart/2008/layout/LinedList"/>
    <dgm:cxn modelId="{17F3A930-1B84-1F47-B4D1-F3114C97118C}" type="presParOf" srcId="{AE9076A2-5F2B-D147-AD00-2E45E2DB4A91}" destId="{08E61F08-B743-0D4B-8A23-5CF7ACCFCBC7}" srcOrd="6" destOrd="0" presId="urn:microsoft.com/office/officeart/2008/layout/LinedList"/>
    <dgm:cxn modelId="{30297FDD-AC31-5E46-AB4C-6FA6E2617470}" type="presParOf" srcId="{AE9076A2-5F2B-D147-AD00-2E45E2DB4A91}" destId="{EB183D04-9439-4545-8C5F-5CFAB33CD4B9}" srcOrd="7" destOrd="0" presId="urn:microsoft.com/office/officeart/2008/layout/LinedList"/>
    <dgm:cxn modelId="{72A7FD91-A08C-3D45-9282-5E17F89EC3AB}" type="presParOf" srcId="{EB183D04-9439-4545-8C5F-5CFAB33CD4B9}" destId="{1BFCEB8C-879E-314F-BDCC-274AC18DDB65}" srcOrd="0" destOrd="0" presId="urn:microsoft.com/office/officeart/2008/layout/LinedList"/>
    <dgm:cxn modelId="{78795AC2-E0E6-7D49-AEA7-B3A24E78F40D}" type="presParOf" srcId="{EB183D04-9439-4545-8C5F-5CFAB33CD4B9}" destId="{66B28E9C-E870-0B4B-B6B0-A0FC8BE39783}" srcOrd="1" destOrd="0" presId="urn:microsoft.com/office/officeart/2008/layout/LinedList"/>
    <dgm:cxn modelId="{2A325E55-6417-5D4F-B7E2-7805E5CFA280}" type="presParOf" srcId="{AE9076A2-5F2B-D147-AD00-2E45E2DB4A91}" destId="{020A1E73-0E15-854D-A262-746D3E479212}" srcOrd="8" destOrd="0" presId="urn:microsoft.com/office/officeart/2008/layout/LinedList"/>
    <dgm:cxn modelId="{BF04A992-1B39-1E42-A30F-73D03E1E309C}" type="presParOf" srcId="{AE9076A2-5F2B-D147-AD00-2E45E2DB4A91}" destId="{627C900A-59BC-4B4A-A06B-CF14390B66B1}" srcOrd="9" destOrd="0" presId="urn:microsoft.com/office/officeart/2008/layout/LinedList"/>
    <dgm:cxn modelId="{EA8C3583-F901-8440-AD04-0BDF90340DDA}" type="presParOf" srcId="{627C900A-59BC-4B4A-A06B-CF14390B66B1}" destId="{60D4FB54-B609-2A49-A328-13FB57199B4D}" srcOrd="0" destOrd="0" presId="urn:microsoft.com/office/officeart/2008/layout/LinedList"/>
    <dgm:cxn modelId="{017742C0-C81D-7943-ADA9-E9FA1DEF7A09}" type="presParOf" srcId="{627C900A-59BC-4B4A-A06B-CF14390B66B1}" destId="{816D05CC-00EE-1943-BEE8-62E30A6B0FD3}" srcOrd="1" destOrd="0" presId="urn:microsoft.com/office/officeart/2008/layout/LinedList"/>
    <dgm:cxn modelId="{8762242E-70DB-6A44-85C6-17EBC6C66FCB}" type="presParOf" srcId="{AE9076A2-5F2B-D147-AD00-2E45E2DB4A91}" destId="{E1CAAB1A-9438-9E4C-B90C-8636AB462FE9}" srcOrd="10" destOrd="0" presId="urn:microsoft.com/office/officeart/2008/layout/LinedList"/>
    <dgm:cxn modelId="{40E5C3A3-8AFE-D04E-B8D8-0EA12ED2EC67}" type="presParOf" srcId="{AE9076A2-5F2B-D147-AD00-2E45E2DB4A91}" destId="{09413464-AFAA-964C-8CE5-24FB3EE0D207}" srcOrd="11" destOrd="0" presId="urn:microsoft.com/office/officeart/2008/layout/LinedList"/>
    <dgm:cxn modelId="{CF896A5E-A9D6-554F-8031-DFFB74F8F68B}" type="presParOf" srcId="{09413464-AFAA-964C-8CE5-24FB3EE0D207}" destId="{9B2C8E2C-C363-134D-8F9B-9B112193DC25}" srcOrd="0" destOrd="0" presId="urn:microsoft.com/office/officeart/2008/layout/LinedList"/>
    <dgm:cxn modelId="{95661811-E338-4948-BB18-2CF551334635}" type="presParOf" srcId="{09413464-AFAA-964C-8CE5-24FB3EE0D207}" destId="{65267444-AA64-B745-A8E9-E7CF0BF38066}" srcOrd="1" destOrd="0" presId="urn:microsoft.com/office/officeart/2008/layout/LinedList"/>
    <dgm:cxn modelId="{46D54733-7008-1F44-9E47-DEE970828244}" type="presParOf" srcId="{AE9076A2-5F2B-D147-AD00-2E45E2DB4A91}" destId="{3A0C2AE3-A377-A84F-876E-E7CC9764056E}" srcOrd="12" destOrd="0" presId="urn:microsoft.com/office/officeart/2008/layout/LinedList"/>
    <dgm:cxn modelId="{033DD66C-CD07-B449-9DB5-3DBCAA80A68C}" type="presParOf" srcId="{AE9076A2-5F2B-D147-AD00-2E45E2DB4A91}" destId="{C1218624-22A4-8B44-8B59-3483AAE1D19F}" srcOrd="13" destOrd="0" presId="urn:microsoft.com/office/officeart/2008/layout/LinedList"/>
    <dgm:cxn modelId="{DBEBF715-02CE-8747-9F4A-91BE6BE38BF4}" type="presParOf" srcId="{C1218624-22A4-8B44-8B59-3483AAE1D19F}" destId="{D3F61D21-0448-C141-BA5E-BE43A65A2208}" srcOrd="0" destOrd="0" presId="urn:microsoft.com/office/officeart/2008/layout/LinedList"/>
    <dgm:cxn modelId="{E533C55A-E1AE-2349-95A8-B07C84022075}" type="presParOf" srcId="{C1218624-22A4-8B44-8B59-3483AAE1D19F}" destId="{A3899DCD-2595-7846-8E23-025F585ABBFB}" srcOrd="1" destOrd="0" presId="urn:microsoft.com/office/officeart/2008/layout/LinedList"/>
    <dgm:cxn modelId="{ECD0E96A-8657-ED42-96CE-A60A58A05E7C}" type="presParOf" srcId="{AE9076A2-5F2B-D147-AD00-2E45E2DB4A91}" destId="{D543A783-FC89-1643-8ACB-F6A70AE4BDFF}" srcOrd="14" destOrd="0" presId="urn:microsoft.com/office/officeart/2008/layout/LinedList"/>
    <dgm:cxn modelId="{61AE26AD-730C-DE48-A917-EFADF008074E}" type="presParOf" srcId="{AE9076A2-5F2B-D147-AD00-2E45E2DB4A91}" destId="{2111A0C7-E6F8-4843-9392-4AC1852AE494}" srcOrd="15" destOrd="0" presId="urn:microsoft.com/office/officeart/2008/layout/LinedList"/>
    <dgm:cxn modelId="{4EA3DEA7-3014-E848-AE36-1649024FE75F}" type="presParOf" srcId="{2111A0C7-E6F8-4843-9392-4AC1852AE494}" destId="{42DFD316-9554-844D-B60F-B6322CCBCD4F}" srcOrd="0" destOrd="0" presId="urn:microsoft.com/office/officeart/2008/layout/LinedList"/>
    <dgm:cxn modelId="{58FA42CC-D707-9648-A98D-CD9355B42B37}" type="presParOf" srcId="{2111A0C7-E6F8-4843-9392-4AC1852AE494}" destId="{99908318-72BB-A14B-AE9B-009C3DD74BF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096BF0-4E67-4AD5-AA6A-0C42A1A2F45D}" type="doc">
      <dgm:prSet loTypeId="urn:microsoft.com/office/officeart/2005/8/layout/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7247B6D-0963-4F35-8A91-F0AF6990CCB0}">
      <dgm:prSet/>
      <dgm:spPr/>
      <dgm:t>
        <a:bodyPr/>
        <a:lstStyle/>
        <a:p>
          <a:r>
            <a:rPr lang="en-US" b="1" dirty="0"/>
            <a:t>Communicate your results:</a:t>
          </a:r>
          <a:r>
            <a:rPr lang="en-US" dirty="0"/>
            <a:t>  To complete your project you communicate your results to others. </a:t>
          </a:r>
        </a:p>
      </dgm:t>
    </dgm:pt>
    <dgm:pt modelId="{BECD46EA-2642-4672-A82C-F1C99F823C21}" type="parTrans" cxnId="{EABE85C3-CFA6-4833-B801-977F86340F5B}">
      <dgm:prSet/>
      <dgm:spPr/>
      <dgm:t>
        <a:bodyPr/>
        <a:lstStyle/>
        <a:p>
          <a:endParaRPr lang="en-US"/>
        </a:p>
      </dgm:t>
    </dgm:pt>
    <dgm:pt modelId="{A874BFA8-FDC4-471A-B8E2-337737B0DAAA}" type="sibTrans" cxnId="{EABE85C3-CFA6-4833-B801-977F86340F5B}">
      <dgm:prSet/>
      <dgm:spPr/>
      <dgm:t>
        <a:bodyPr/>
        <a:lstStyle/>
        <a:p>
          <a:endParaRPr lang="en-US"/>
        </a:p>
      </dgm:t>
    </dgm:pt>
    <dgm:pt modelId="{A71C6838-5A46-4E9D-8310-465BEF5A28F7}">
      <dgm:prSet/>
      <dgm:spPr/>
      <dgm:t>
        <a:bodyPr/>
        <a:lstStyle/>
        <a:p>
          <a:r>
            <a:rPr lang="en-US"/>
            <a:t>presenting your findings orally at a scientific meeting </a:t>
          </a:r>
        </a:p>
      </dgm:t>
    </dgm:pt>
    <dgm:pt modelId="{0B5F078B-80B3-44EC-AA96-53DAD4240BCD}" type="parTrans" cxnId="{0891ED9E-F439-4318-9D59-E1E01D4CFCE5}">
      <dgm:prSet/>
      <dgm:spPr/>
      <dgm:t>
        <a:bodyPr/>
        <a:lstStyle/>
        <a:p>
          <a:endParaRPr lang="en-US"/>
        </a:p>
      </dgm:t>
    </dgm:pt>
    <dgm:pt modelId="{78D14375-F7F2-4092-AA0A-D4A727323574}" type="sibTrans" cxnId="{0891ED9E-F439-4318-9D59-E1E01D4CFCE5}">
      <dgm:prSet/>
      <dgm:spPr/>
      <dgm:t>
        <a:bodyPr/>
        <a:lstStyle/>
        <a:p>
          <a:endParaRPr lang="en-US"/>
        </a:p>
      </dgm:t>
    </dgm:pt>
    <dgm:pt modelId="{C0FD49C2-E7B2-40A1-B6B8-689CED5DE112}">
      <dgm:prSet/>
      <dgm:spPr/>
      <dgm:t>
        <a:bodyPr/>
        <a:lstStyle/>
        <a:p>
          <a:r>
            <a:rPr lang="en-US"/>
            <a:t>a poster at a scientific meeting</a:t>
          </a:r>
        </a:p>
      </dgm:t>
    </dgm:pt>
    <dgm:pt modelId="{5271E665-B252-4E3E-B5BE-6BDBDCB9AEE3}" type="parTrans" cxnId="{74137F7F-83FC-4E91-9353-E503ED26D9C5}">
      <dgm:prSet/>
      <dgm:spPr/>
      <dgm:t>
        <a:bodyPr/>
        <a:lstStyle/>
        <a:p>
          <a:endParaRPr lang="en-US"/>
        </a:p>
      </dgm:t>
    </dgm:pt>
    <dgm:pt modelId="{F16F029D-3EC3-477E-A750-3BAAC4503B9A}" type="sibTrans" cxnId="{74137F7F-83FC-4E91-9353-E503ED26D9C5}">
      <dgm:prSet/>
      <dgm:spPr/>
      <dgm:t>
        <a:bodyPr/>
        <a:lstStyle/>
        <a:p>
          <a:endParaRPr lang="en-US"/>
        </a:p>
      </dgm:t>
    </dgm:pt>
    <dgm:pt modelId="{761943E9-2157-4462-875D-45FB502B1FBB}">
      <dgm:prSet/>
      <dgm:spPr/>
      <dgm:t>
        <a:bodyPr/>
        <a:lstStyle/>
        <a:p>
          <a:r>
            <a:rPr lang="en-US"/>
            <a:t>publishing the work in a scientific journal</a:t>
          </a:r>
        </a:p>
      </dgm:t>
    </dgm:pt>
    <dgm:pt modelId="{98933D14-D4E8-4E5F-8357-9604B7A0E95C}" type="parTrans" cxnId="{16A80FC0-DCD0-437C-BF9C-E2991E71DE87}">
      <dgm:prSet/>
      <dgm:spPr/>
      <dgm:t>
        <a:bodyPr/>
        <a:lstStyle/>
        <a:p>
          <a:endParaRPr lang="en-US"/>
        </a:p>
      </dgm:t>
    </dgm:pt>
    <dgm:pt modelId="{4C17A6FC-0035-4565-A73F-3B4EACFAFF7C}" type="sibTrans" cxnId="{16A80FC0-DCD0-437C-BF9C-E2991E71DE87}">
      <dgm:prSet/>
      <dgm:spPr/>
      <dgm:t>
        <a:bodyPr/>
        <a:lstStyle/>
        <a:p>
          <a:endParaRPr lang="en-US"/>
        </a:p>
      </dgm:t>
    </dgm:pt>
    <dgm:pt modelId="{DAD5AF61-53DC-49F3-B644-D1B06FA00CEC}">
      <dgm:prSet/>
      <dgm:spPr/>
      <dgm:t>
        <a:bodyPr/>
        <a:lstStyle/>
        <a:p>
          <a:r>
            <a:rPr lang="en-US"/>
            <a:t>Publishing results in popular media</a:t>
          </a:r>
        </a:p>
      </dgm:t>
    </dgm:pt>
    <dgm:pt modelId="{3EF80357-18F4-424B-9876-7329BB194346}" type="parTrans" cxnId="{69BA7323-5074-412D-9F31-205A808EEB5F}">
      <dgm:prSet/>
      <dgm:spPr/>
      <dgm:t>
        <a:bodyPr/>
        <a:lstStyle/>
        <a:p>
          <a:endParaRPr lang="en-US"/>
        </a:p>
      </dgm:t>
    </dgm:pt>
    <dgm:pt modelId="{CB6BB6A2-4E40-415A-9A6E-992FF4BF65B5}" type="sibTrans" cxnId="{69BA7323-5074-412D-9F31-205A808EEB5F}">
      <dgm:prSet/>
      <dgm:spPr/>
      <dgm:t>
        <a:bodyPr/>
        <a:lstStyle/>
        <a:p>
          <a:endParaRPr lang="en-US"/>
        </a:p>
      </dgm:t>
    </dgm:pt>
    <dgm:pt modelId="{D08E3199-9793-DC43-9598-BF25D8BFFB89}" type="pres">
      <dgm:prSet presAssocID="{CE096BF0-4E67-4AD5-AA6A-0C42A1A2F45D}" presName="diagram" presStyleCnt="0">
        <dgm:presLayoutVars>
          <dgm:dir/>
          <dgm:resizeHandles val="exact"/>
        </dgm:presLayoutVars>
      </dgm:prSet>
      <dgm:spPr/>
    </dgm:pt>
    <dgm:pt modelId="{53F8431E-A960-0A43-A95D-871FDB5C4042}" type="pres">
      <dgm:prSet presAssocID="{27247B6D-0963-4F35-8A91-F0AF6990CCB0}" presName="node" presStyleLbl="node1" presStyleIdx="0" presStyleCnt="1">
        <dgm:presLayoutVars>
          <dgm:bulletEnabled val="1"/>
        </dgm:presLayoutVars>
      </dgm:prSet>
      <dgm:spPr/>
    </dgm:pt>
  </dgm:ptLst>
  <dgm:cxnLst>
    <dgm:cxn modelId="{56197815-528D-8843-A4BF-678A1B30E20D}" type="presOf" srcId="{761943E9-2157-4462-875D-45FB502B1FBB}" destId="{53F8431E-A960-0A43-A95D-871FDB5C4042}" srcOrd="0" destOrd="3" presId="urn:microsoft.com/office/officeart/2005/8/layout/process5"/>
    <dgm:cxn modelId="{69BA7323-5074-412D-9F31-205A808EEB5F}" srcId="{27247B6D-0963-4F35-8A91-F0AF6990CCB0}" destId="{DAD5AF61-53DC-49F3-B644-D1B06FA00CEC}" srcOrd="3" destOrd="0" parTransId="{3EF80357-18F4-424B-9876-7329BB194346}" sibTransId="{CB6BB6A2-4E40-415A-9A6E-992FF4BF65B5}"/>
    <dgm:cxn modelId="{2AD7C725-BFC5-044A-A04E-58DC01AC205E}" type="presOf" srcId="{CE096BF0-4E67-4AD5-AA6A-0C42A1A2F45D}" destId="{D08E3199-9793-DC43-9598-BF25D8BFFB89}" srcOrd="0" destOrd="0" presId="urn:microsoft.com/office/officeart/2005/8/layout/process5"/>
    <dgm:cxn modelId="{C0DFA447-5A2C-3244-A676-36F1D7A56CA8}" type="presOf" srcId="{C0FD49C2-E7B2-40A1-B6B8-689CED5DE112}" destId="{53F8431E-A960-0A43-A95D-871FDB5C4042}" srcOrd="0" destOrd="2" presId="urn:microsoft.com/office/officeart/2005/8/layout/process5"/>
    <dgm:cxn modelId="{64201855-9FCE-684D-8179-A1D6D2ADB6D7}" type="presOf" srcId="{27247B6D-0963-4F35-8A91-F0AF6990CCB0}" destId="{53F8431E-A960-0A43-A95D-871FDB5C4042}" srcOrd="0" destOrd="0" presId="urn:microsoft.com/office/officeart/2005/8/layout/process5"/>
    <dgm:cxn modelId="{E1A98863-82BD-704B-8396-0A417C21934A}" type="presOf" srcId="{DAD5AF61-53DC-49F3-B644-D1B06FA00CEC}" destId="{53F8431E-A960-0A43-A95D-871FDB5C4042}" srcOrd="0" destOrd="4" presId="urn:microsoft.com/office/officeart/2005/8/layout/process5"/>
    <dgm:cxn modelId="{74137F7F-83FC-4E91-9353-E503ED26D9C5}" srcId="{27247B6D-0963-4F35-8A91-F0AF6990CCB0}" destId="{C0FD49C2-E7B2-40A1-B6B8-689CED5DE112}" srcOrd="1" destOrd="0" parTransId="{5271E665-B252-4E3E-B5BE-6BDBDCB9AEE3}" sibTransId="{F16F029D-3EC3-477E-A750-3BAAC4503B9A}"/>
    <dgm:cxn modelId="{0891ED9E-F439-4318-9D59-E1E01D4CFCE5}" srcId="{27247B6D-0963-4F35-8A91-F0AF6990CCB0}" destId="{A71C6838-5A46-4E9D-8310-465BEF5A28F7}" srcOrd="0" destOrd="0" parTransId="{0B5F078B-80B3-44EC-AA96-53DAD4240BCD}" sibTransId="{78D14375-F7F2-4092-AA0A-D4A727323574}"/>
    <dgm:cxn modelId="{16A80FC0-DCD0-437C-BF9C-E2991E71DE87}" srcId="{27247B6D-0963-4F35-8A91-F0AF6990CCB0}" destId="{761943E9-2157-4462-875D-45FB502B1FBB}" srcOrd="2" destOrd="0" parTransId="{98933D14-D4E8-4E5F-8357-9604B7A0E95C}" sibTransId="{4C17A6FC-0035-4565-A73F-3B4EACFAFF7C}"/>
    <dgm:cxn modelId="{EABE85C3-CFA6-4833-B801-977F86340F5B}" srcId="{CE096BF0-4E67-4AD5-AA6A-0C42A1A2F45D}" destId="{27247B6D-0963-4F35-8A91-F0AF6990CCB0}" srcOrd="0" destOrd="0" parTransId="{BECD46EA-2642-4672-A82C-F1C99F823C21}" sibTransId="{A874BFA8-FDC4-471A-B8E2-337737B0DAAA}"/>
    <dgm:cxn modelId="{C8B7C4F2-5EAE-684E-B95A-2343E4AF805C}" type="presOf" srcId="{A71C6838-5A46-4E9D-8310-465BEF5A28F7}" destId="{53F8431E-A960-0A43-A95D-871FDB5C4042}" srcOrd="0" destOrd="1" presId="urn:microsoft.com/office/officeart/2005/8/layout/process5"/>
    <dgm:cxn modelId="{1CB4E205-4A40-0F46-BE7A-B994F3DFB119}" type="presParOf" srcId="{D08E3199-9793-DC43-9598-BF25D8BFFB89}" destId="{53F8431E-A960-0A43-A95D-871FDB5C4042}" srcOrd="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3A8D64-E233-45D0-AF42-BA083C7F538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A512BF2-0A48-46F2-ABA2-346EF0F36AC5}">
      <dgm:prSet/>
      <dgm:spPr/>
      <dgm:t>
        <a:bodyPr/>
        <a:lstStyle/>
        <a:p>
          <a:r>
            <a:rPr lang="en-US"/>
            <a:t>Peer-reviewed journals </a:t>
          </a:r>
        </a:p>
      </dgm:t>
    </dgm:pt>
    <dgm:pt modelId="{CB7A51B6-87F6-4272-BD57-CAD66F229FF1}" type="parTrans" cxnId="{64A9AD61-19D0-4075-AB97-7D3B9A8DD70E}">
      <dgm:prSet/>
      <dgm:spPr/>
      <dgm:t>
        <a:bodyPr/>
        <a:lstStyle/>
        <a:p>
          <a:endParaRPr lang="en-US"/>
        </a:p>
      </dgm:t>
    </dgm:pt>
    <dgm:pt modelId="{CECD0025-5950-4881-B1E0-C4833C73A353}" type="sibTrans" cxnId="{64A9AD61-19D0-4075-AB97-7D3B9A8DD70E}">
      <dgm:prSet/>
      <dgm:spPr/>
      <dgm:t>
        <a:bodyPr/>
        <a:lstStyle/>
        <a:p>
          <a:endParaRPr lang="en-US"/>
        </a:p>
      </dgm:t>
    </dgm:pt>
    <dgm:pt modelId="{8CD52FE6-5769-4664-B864-4CC30B70E170}">
      <dgm:prSet/>
      <dgm:spPr/>
      <dgm:t>
        <a:bodyPr/>
        <a:lstStyle/>
        <a:p>
          <a:r>
            <a:rPr lang="en-US"/>
            <a:t>Single-authored books</a:t>
          </a:r>
        </a:p>
      </dgm:t>
    </dgm:pt>
    <dgm:pt modelId="{496A22A8-48D2-46F3-A8FF-A0DA4F07AA42}" type="parTrans" cxnId="{459E42EE-181A-4D07-8C8B-9CD5288E74A8}">
      <dgm:prSet/>
      <dgm:spPr/>
      <dgm:t>
        <a:bodyPr/>
        <a:lstStyle/>
        <a:p>
          <a:endParaRPr lang="en-US"/>
        </a:p>
      </dgm:t>
    </dgm:pt>
    <dgm:pt modelId="{A557F236-838E-4E54-9F41-4C52196D6EE7}" type="sibTrans" cxnId="{459E42EE-181A-4D07-8C8B-9CD5288E74A8}">
      <dgm:prSet/>
      <dgm:spPr/>
      <dgm:t>
        <a:bodyPr/>
        <a:lstStyle/>
        <a:p>
          <a:endParaRPr lang="en-US"/>
        </a:p>
      </dgm:t>
    </dgm:pt>
    <dgm:pt modelId="{D6EEFB1E-6DA9-43AB-9165-BC1FCA3E314B}">
      <dgm:prSet/>
      <dgm:spPr/>
      <dgm:t>
        <a:bodyPr/>
        <a:lstStyle/>
        <a:p>
          <a:r>
            <a:rPr lang="en-US"/>
            <a:t>Edited, multi-authored books </a:t>
          </a:r>
        </a:p>
      </dgm:t>
    </dgm:pt>
    <dgm:pt modelId="{6825CD5C-14BA-4903-92BC-3E61A34C5237}" type="parTrans" cxnId="{2BAE9F09-C1EC-49B6-900F-E7A4D2759D22}">
      <dgm:prSet/>
      <dgm:spPr/>
      <dgm:t>
        <a:bodyPr/>
        <a:lstStyle/>
        <a:p>
          <a:endParaRPr lang="en-US"/>
        </a:p>
      </dgm:t>
    </dgm:pt>
    <dgm:pt modelId="{7BF5F5DA-C4E2-4FCA-AE1D-3904533D05BE}" type="sibTrans" cxnId="{2BAE9F09-C1EC-49B6-900F-E7A4D2759D22}">
      <dgm:prSet/>
      <dgm:spPr/>
      <dgm:t>
        <a:bodyPr/>
        <a:lstStyle/>
        <a:p>
          <a:endParaRPr lang="en-US"/>
        </a:p>
      </dgm:t>
    </dgm:pt>
    <dgm:pt modelId="{FAA57B8C-5B92-400E-8C17-BFA204ED37BA}">
      <dgm:prSet/>
      <dgm:spPr/>
      <dgm:t>
        <a:bodyPr/>
        <a:lstStyle/>
        <a:p>
          <a:r>
            <a:rPr lang="en-US"/>
            <a:t>Master’s theses and doctoral dissertations</a:t>
          </a:r>
        </a:p>
      </dgm:t>
    </dgm:pt>
    <dgm:pt modelId="{8A475F2E-F4BB-4309-8F29-76574B7A119C}" type="parTrans" cxnId="{ABC47E97-3979-4B72-90C3-23A6C982B1FB}">
      <dgm:prSet/>
      <dgm:spPr/>
      <dgm:t>
        <a:bodyPr/>
        <a:lstStyle/>
        <a:p>
          <a:endParaRPr lang="en-US"/>
        </a:p>
      </dgm:t>
    </dgm:pt>
    <dgm:pt modelId="{67AE7A20-51CF-4FCB-B60A-3A768A0A9391}" type="sibTrans" cxnId="{ABC47E97-3979-4B72-90C3-23A6C982B1FB}">
      <dgm:prSet/>
      <dgm:spPr/>
      <dgm:t>
        <a:bodyPr/>
        <a:lstStyle/>
        <a:p>
          <a:endParaRPr lang="en-US"/>
        </a:p>
      </dgm:t>
    </dgm:pt>
    <dgm:pt modelId="{622E20F8-F9DD-4D5A-998D-6D0E05192709}">
      <dgm:prSet/>
      <dgm:spPr/>
      <dgm:t>
        <a:bodyPr/>
        <a:lstStyle/>
        <a:p>
          <a:r>
            <a:rPr lang="en-US"/>
            <a:t>Agency reports (sometimes called “grey literature”)</a:t>
          </a:r>
        </a:p>
      </dgm:t>
    </dgm:pt>
    <dgm:pt modelId="{72AED5AD-1C2E-491B-A932-91751A8818F7}" type="parTrans" cxnId="{D6DA541A-C7D4-49D5-8CCC-E8CC5FEA5FAD}">
      <dgm:prSet/>
      <dgm:spPr/>
      <dgm:t>
        <a:bodyPr/>
        <a:lstStyle/>
        <a:p>
          <a:endParaRPr lang="en-US"/>
        </a:p>
      </dgm:t>
    </dgm:pt>
    <dgm:pt modelId="{D4691ADE-6B87-470C-A478-640FE9A0F7DD}" type="sibTrans" cxnId="{D6DA541A-C7D4-49D5-8CCC-E8CC5FEA5FAD}">
      <dgm:prSet/>
      <dgm:spPr/>
      <dgm:t>
        <a:bodyPr/>
        <a:lstStyle/>
        <a:p>
          <a:endParaRPr lang="en-US"/>
        </a:p>
      </dgm:t>
    </dgm:pt>
    <dgm:pt modelId="{08FDB0CD-B596-4BCA-8807-D72D714119B5}">
      <dgm:prSet/>
      <dgm:spPr/>
      <dgm:t>
        <a:bodyPr/>
        <a:lstStyle/>
        <a:p>
          <a:r>
            <a:rPr lang="en-US"/>
            <a:t>Websites and other electronic sources</a:t>
          </a:r>
        </a:p>
      </dgm:t>
    </dgm:pt>
    <dgm:pt modelId="{DE759633-8D3A-4F51-9B6E-31ABA7F9EAD1}" type="parTrans" cxnId="{C8D848C9-4353-4097-8E60-A37435CA21DF}">
      <dgm:prSet/>
      <dgm:spPr/>
      <dgm:t>
        <a:bodyPr/>
        <a:lstStyle/>
        <a:p>
          <a:endParaRPr lang="en-US"/>
        </a:p>
      </dgm:t>
    </dgm:pt>
    <dgm:pt modelId="{57327530-2C24-4EB5-B01F-32E2071E3E5C}" type="sibTrans" cxnId="{C8D848C9-4353-4097-8E60-A37435CA21DF}">
      <dgm:prSet/>
      <dgm:spPr/>
      <dgm:t>
        <a:bodyPr/>
        <a:lstStyle/>
        <a:p>
          <a:endParaRPr lang="en-US"/>
        </a:p>
      </dgm:t>
    </dgm:pt>
    <dgm:pt modelId="{3800EA1C-BE7B-4A06-914D-462F01ED69BE}">
      <dgm:prSet/>
      <dgm:spPr/>
      <dgm:t>
        <a:bodyPr/>
        <a:lstStyle/>
        <a:p>
          <a:r>
            <a:rPr lang="en-US"/>
            <a:t>Others?</a:t>
          </a:r>
        </a:p>
      </dgm:t>
    </dgm:pt>
    <dgm:pt modelId="{0D669CE7-A75D-4864-8E38-B151BD0E11E5}" type="parTrans" cxnId="{47550CFC-68ED-47DE-8469-43F7F32B88C7}">
      <dgm:prSet/>
      <dgm:spPr/>
      <dgm:t>
        <a:bodyPr/>
        <a:lstStyle/>
        <a:p>
          <a:endParaRPr lang="en-US"/>
        </a:p>
      </dgm:t>
    </dgm:pt>
    <dgm:pt modelId="{4A081707-134A-4137-88A5-F72953A539DD}" type="sibTrans" cxnId="{47550CFC-68ED-47DE-8469-43F7F32B88C7}">
      <dgm:prSet/>
      <dgm:spPr/>
      <dgm:t>
        <a:bodyPr/>
        <a:lstStyle/>
        <a:p>
          <a:endParaRPr lang="en-US"/>
        </a:p>
      </dgm:t>
    </dgm:pt>
    <dgm:pt modelId="{DA42E6FA-1B65-4D41-B528-A8F5E0100B6E}" type="pres">
      <dgm:prSet presAssocID="{8A3A8D64-E233-45D0-AF42-BA083C7F5387}" presName="diagram" presStyleCnt="0">
        <dgm:presLayoutVars>
          <dgm:dir/>
          <dgm:resizeHandles val="exact"/>
        </dgm:presLayoutVars>
      </dgm:prSet>
      <dgm:spPr/>
    </dgm:pt>
    <dgm:pt modelId="{58CC2EBF-F9DE-2C41-9369-BB2BACBC4E0E}" type="pres">
      <dgm:prSet presAssocID="{EA512BF2-0A48-46F2-ABA2-346EF0F36AC5}" presName="node" presStyleLbl="node1" presStyleIdx="0" presStyleCnt="7">
        <dgm:presLayoutVars>
          <dgm:bulletEnabled val="1"/>
        </dgm:presLayoutVars>
      </dgm:prSet>
      <dgm:spPr/>
    </dgm:pt>
    <dgm:pt modelId="{52B2016C-D105-7D41-8459-E4791284F9FC}" type="pres">
      <dgm:prSet presAssocID="{CECD0025-5950-4881-B1E0-C4833C73A353}" presName="sibTrans" presStyleCnt="0"/>
      <dgm:spPr/>
    </dgm:pt>
    <dgm:pt modelId="{33501F83-FE59-8943-B5E2-13F149ACBB64}" type="pres">
      <dgm:prSet presAssocID="{8CD52FE6-5769-4664-B864-4CC30B70E170}" presName="node" presStyleLbl="node1" presStyleIdx="1" presStyleCnt="7">
        <dgm:presLayoutVars>
          <dgm:bulletEnabled val="1"/>
        </dgm:presLayoutVars>
      </dgm:prSet>
      <dgm:spPr/>
    </dgm:pt>
    <dgm:pt modelId="{3E33DE63-6E72-9144-8930-97121B251AEF}" type="pres">
      <dgm:prSet presAssocID="{A557F236-838E-4E54-9F41-4C52196D6EE7}" presName="sibTrans" presStyleCnt="0"/>
      <dgm:spPr/>
    </dgm:pt>
    <dgm:pt modelId="{65C25063-089B-674A-8EDB-9311F396927B}" type="pres">
      <dgm:prSet presAssocID="{D6EEFB1E-6DA9-43AB-9165-BC1FCA3E314B}" presName="node" presStyleLbl="node1" presStyleIdx="2" presStyleCnt="7">
        <dgm:presLayoutVars>
          <dgm:bulletEnabled val="1"/>
        </dgm:presLayoutVars>
      </dgm:prSet>
      <dgm:spPr/>
    </dgm:pt>
    <dgm:pt modelId="{760A5829-F5FF-1345-869C-561459386106}" type="pres">
      <dgm:prSet presAssocID="{7BF5F5DA-C4E2-4FCA-AE1D-3904533D05BE}" presName="sibTrans" presStyleCnt="0"/>
      <dgm:spPr/>
    </dgm:pt>
    <dgm:pt modelId="{2E7C4EDF-0497-8E49-AFB7-37992ED8A8DA}" type="pres">
      <dgm:prSet presAssocID="{FAA57B8C-5B92-400E-8C17-BFA204ED37BA}" presName="node" presStyleLbl="node1" presStyleIdx="3" presStyleCnt="7">
        <dgm:presLayoutVars>
          <dgm:bulletEnabled val="1"/>
        </dgm:presLayoutVars>
      </dgm:prSet>
      <dgm:spPr/>
    </dgm:pt>
    <dgm:pt modelId="{0811EEB8-0B7C-6E44-8C4E-7E25EB878855}" type="pres">
      <dgm:prSet presAssocID="{67AE7A20-51CF-4FCB-B60A-3A768A0A9391}" presName="sibTrans" presStyleCnt="0"/>
      <dgm:spPr/>
    </dgm:pt>
    <dgm:pt modelId="{25C71B9E-4C1F-764C-9920-9EB6DCCD6D41}" type="pres">
      <dgm:prSet presAssocID="{622E20F8-F9DD-4D5A-998D-6D0E05192709}" presName="node" presStyleLbl="node1" presStyleIdx="4" presStyleCnt="7">
        <dgm:presLayoutVars>
          <dgm:bulletEnabled val="1"/>
        </dgm:presLayoutVars>
      </dgm:prSet>
      <dgm:spPr/>
    </dgm:pt>
    <dgm:pt modelId="{7D2E568B-D8AA-FD4D-BC2E-0A824C73588D}" type="pres">
      <dgm:prSet presAssocID="{D4691ADE-6B87-470C-A478-640FE9A0F7DD}" presName="sibTrans" presStyleCnt="0"/>
      <dgm:spPr/>
    </dgm:pt>
    <dgm:pt modelId="{5F417051-451F-A643-851E-FD9C8417AE22}" type="pres">
      <dgm:prSet presAssocID="{08FDB0CD-B596-4BCA-8807-D72D714119B5}" presName="node" presStyleLbl="node1" presStyleIdx="5" presStyleCnt="7">
        <dgm:presLayoutVars>
          <dgm:bulletEnabled val="1"/>
        </dgm:presLayoutVars>
      </dgm:prSet>
      <dgm:spPr/>
    </dgm:pt>
    <dgm:pt modelId="{316B3348-4824-9649-8229-750441E52A5B}" type="pres">
      <dgm:prSet presAssocID="{57327530-2C24-4EB5-B01F-32E2071E3E5C}" presName="sibTrans" presStyleCnt="0"/>
      <dgm:spPr/>
    </dgm:pt>
    <dgm:pt modelId="{ECEED242-963E-7448-836C-E5036D561373}" type="pres">
      <dgm:prSet presAssocID="{3800EA1C-BE7B-4A06-914D-462F01ED69BE}" presName="node" presStyleLbl="node1" presStyleIdx="6" presStyleCnt="7">
        <dgm:presLayoutVars>
          <dgm:bulletEnabled val="1"/>
        </dgm:presLayoutVars>
      </dgm:prSet>
      <dgm:spPr/>
    </dgm:pt>
  </dgm:ptLst>
  <dgm:cxnLst>
    <dgm:cxn modelId="{2BAE9F09-C1EC-49B6-900F-E7A4D2759D22}" srcId="{8A3A8D64-E233-45D0-AF42-BA083C7F5387}" destId="{D6EEFB1E-6DA9-43AB-9165-BC1FCA3E314B}" srcOrd="2" destOrd="0" parTransId="{6825CD5C-14BA-4903-92BC-3E61A34C5237}" sibTransId="{7BF5F5DA-C4E2-4FCA-AE1D-3904533D05BE}"/>
    <dgm:cxn modelId="{D6DA541A-C7D4-49D5-8CCC-E8CC5FEA5FAD}" srcId="{8A3A8D64-E233-45D0-AF42-BA083C7F5387}" destId="{622E20F8-F9DD-4D5A-998D-6D0E05192709}" srcOrd="4" destOrd="0" parTransId="{72AED5AD-1C2E-491B-A932-91751A8818F7}" sibTransId="{D4691ADE-6B87-470C-A478-640FE9A0F7DD}"/>
    <dgm:cxn modelId="{F6E5FE3F-CDF8-F741-8F17-77D2518ED83B}" type="presOf" srcId="{8A3A8D64-E233-45D0-AF42-BA083C7F5387}" destId="{DA42E6FA-1B65-4D41-B528-A8F5E0100B6E}" srcOrd="0" destOrd="0" presId="urn:microsoft.com/office/officeart/2005/8/layout/default"/>
    <dgm:cxn modelId="{E9693052-8DB6-1249-B736-C058C5DB9FFA}" type="presOf" srcId="{3800EA1C-BE7B-4A06-914D-462F01ED69BE}" destId="{ECEED242-963E-7448-836C-E5036D561373}" srcOrd="0" destOrd="0" presId="urn:microsoft.com/office/officeart/2005/8/layout/default"/>
    <dgm:cxn modelId="{64A9AD61-19D0-4075-AB97-7D3B9A8DD70E}" srcId="{8A3A8D64-E233-45D0-AF42-BA083C7F5387}" destId="{EA512BF2-0A48-46F2-ABA2-346EF0F36AC5}" srcOrd="0" destOrd="0" parTransId="{CB7A51B6-87F6-4272-BD57-CAD66F229FF1}" sibTransId="{CECD0025-5950-4881-B1E0-C4833C73A353}"/>
    <dgm:cxn modelId="{1673018C-7ECE-4B48-988F-71A1554C49AC}" type="presOf" srcId="{622E20F8-F9DD-4D5A-998D-6D0E05192709}" destId="{25C71B9E-4C1F-764C-9920-9EB6DCCD6D41}" srcOrd="0" destOrd="0" presId="urn:microsoft.com/office/officeart/2005/8/layout/default"/>
    <dgm:cxn modelId="{6AA2DD8C-AF69-DF4A-B264-4B67B1342054}" type="presOf" srcId="{8CD52FE6-5769-4664-B864-4CC30B70E170}" destId="{33501F83-FE59-8943-B5E2-13F149ACBB64}" srcOrd="0" destOrd="0" presId="urn:microsoft.com/office/officeart/2005/8/layout/default"/>
    <dgm:cxn modelId="{4085AA8F-0E8C-5F45-A47F-8F10CC86DCEA}" type="presOf" srcId="{D6EEFB1E-6DA9-43AB-9165-BC1FCA3E314B}" destId="{65C25063-089B-674A-8EDB-9311F396927B}" srcOrd="0" destOrd="0" presId="urn:microsoft.com/office/officeart/2005/8/layout/default"/>
    <dgm:cxn modelId="{4A084894-AA21-A244-95EF-A8171B2BFE2C}" type="presOf" srcId="{FAA57B8C-5B92-400E-8C17-BFA204ED37BA}" destId="{2E7C4EDF-0497-8E49-AFB7-37992ED8A8DA}" srcOrd="0" destOrd="0" presId="urn:microsoft.com/office/officeart/2005/8/layout/default"/>
    <dgm:cxn modelId="{ABC47E97-3979-4B72-90C3-23A6C982B1FB}" srcId="{8A3A8D64-E233-45D0-AF42-BA083C7F5387}" destId="{FAA57B8C-5B92-400E-8C17-BFA204ED37BA}" srcOrd="3" destOrd="0" parTransId="{8A475F2E-F4BB-4309-8F29-76574B7A119C}" sibTransId="{67AE7A20-51CF-4FCB-B60A-3A768A0A9391}"/>
    <dgm:cxn modelId="{455BD5AA-7AEE-3242-9C0D-3836E6E60F84}" type="presOf" srcId="{08FDB0CD-B596-4BCA-8807-D72D714119B5}" destId="{5F417051-451F-A643-851E-FD9C8417AE22}" srcOrd="0" destOrd="0" presId="urn:microsoft.com/office/officeart/2005/8/layout/default"/>
    <dgm:cxn modelId="{C8D848C9-4353-4097-8E60-A37435CA21DF}" srcId="{8A3A8D64-E233-45D0-AF42-BA083C7F5387}" destId="{08FDB0CD-B596-4BCA-8807-D72D714119B5}" srcOrd="5" destOrd="0" parTransId="{DE759633-8D3A-4F51-9B6E-31ABA7F9EAD1}" sibTransId="{57327530-2C24-4EB5-B01F-32E2071E3E5C}"/>
    <dgm:cxn modelId="{D1FFFBE4-B378-184D-ACB8-C5B962DD9182}" type="presOf" srcId="{EA512BF2-0A48-46F2-ABA2-346EF0F36AC5}" destId="{58CC2EBF-F9DE-2C41-9369-BB2BACBC4E0E}" srcOrd="0" destOrd="0" presId="urn:microsoft.com/office/officeart/2005/8/layout/default"/>
    <dgm:cxn modelId="{459E42EE-181A-4D07-8C8B-9CD5288E74A8}" srcId="{8A3A8D64-E233-45D0-AF42-BA083C7F5387}" destId="{8CD52FE6-5769-4664-B864-4CC30B70E170}" srcOrd="1" destOrd="0" parTransId="{496A22A8-48D2-46F3-A8FF-A0DA4F07AA42}" sibTransId="{A557F236-838E-4E54-9F41-4C52196D6EE7}"/>
    <dgm:cxn modelId="{47550CFC-68ED-47DE-8469-43F7F32B88C7}" srcId="{8A3A8D64-E233-45D0-AF42-BA083C7F5387}" destId="{3800EA1C-BE7B-4A06-914D-462F01ED69BE}" srcOrd="6" destOrd="0" parTransId="{0D669CE7-A75D-4864-8E38-B151BD0E11E5}" sibTransId="{4A081707-134A-4137-88A5-F72953A539DD}"/>
    <dgm:cxn modelId="{75CC5813-C3C2-5D44-A233-0BDF06695176}" type="presParOf" srcId="{DA42E6FA-1B65-4D41-B528-A8F5E0100B6E}" destId="{58CC2EBF-F9DE-2C41-9369-BB2BACBC4E0E}" srcOrd="0" destOrd="0" presId="urn:microsoft.com/office/officeart/2005/8/layout/default"/>
    <dgm:cxn modelId="{B9768608-FBCF-6A48-9C5C-63A1284AA3D1}" type="presParOf" srcId="{DA42E6FA-1B65-4D41-B528-A8F5E0100B6E}" destId="{52B2016C-D105-7D41-8459-E4791284F9FC}" srcOrd="1" destOrd="0" presId="urn:microsoft.com/office/officeart/2005/8/layout/default"/>
    <dgm:cxn modelId="{73371A0F-D1AB-6746-997B-542D23B04985}" type="presParOf" srcId="{DA42E6FA-1B65-4D41-B528-A8F5E0100B6E}" destId="{33501F83-FE59-8943-B5E2-13F149ACBB64}" srcOrd="2" destOrd="0" presId="urn:microsoft.com/office/officeart/2005/8/layout/default"/>
    <dgm:cxn modelId="{895EED1C-3434-054C-86A5-B2202E8C5B9E}" type="presParOf" srcId="{DA42E6FA-1B65-4D41-B528-A8F5E0100B6E}" destId="{3E33DE63-6E72-9144-8930-97121B251AEF}" srcOrd="3" destOrd="0" presId="urn:microsoft.com/office/officeart/2005/8/layout/default"/>
    <dgm:cxn modelId="{F9CA6FC7-001F-0048-AC5A-7C0A2762B1FF}" type="presParOf" srcId="{DA42E6FA-1B65-4D41-B528-A8F5E0100B6E}" destId="{65C25063-089B-674A-8EDB-9311F396927B}" srcOrd="4" destOrd="0" presId="urn:microsoft.com/office/officeart/2005/8/layout/default"/>
    <dgm:cxn modelId="{F625BCEF-94DA-D34B-AFA9-395654D191C1}" type="presParOf" srcId="{DA42E6FA-1B65-4D41-B528-A8F5E0100B6E}" destId="{760A5829-F5FF-1345-869C-561459386106}" srcOrd="5" destOrd="0" presId="urn:microsoft.com/office/officeart/2005/8/layout/default"/>
    <dgm:cxn modelId="{4467ADB6-ADDF-5C44-B1E9-2758EB7D9779}" type="presParOf" srcId="{DA42E6FA-1B65-4D41-B528-A8F5E0100B6E}" destId="{2E7C4EDF-0497-8E49-AFB7-37992ED8A8DA}" srcOrd="6" destOrd="0" presId="urn:microsoft.com/office/officeart/2005/8/layout/default"/>
    <dgm:cxn modelId="{892299B3-C014-5640-8579-A2A12852DF9A}" type="presParOf" srcId="{DA42E6FA-1B65-4D41-B528-A8F5E0100B6E}" destId="{0811EEB8-0B7C-6E44-8C4E-7E25EB878855}" srcOrd="7" destOrd="0" presId="urn:microsoft.com/office/officeart/2005/8/layout/default"/>
    <dgm:cxn modelId="{C7BAC4C1-329A-694B-8EA7-0E2F542DBC8A}" type="presParOf" srcId="{DA42E6FA-1B65-4D41-B528-A8F5E0100B6E}" destId="{25C71B9E-4C1F-764C-9920-9EB6DCCD6D41}" srcOrd="8" destOrd="0" presId="urn:microsoft.com/office/officeart/2005/8/layout/default"/>
    <dgm:cxn modelId="{F7E0FBD6-E346-3940-AFE8-44F43D0DCCD3}" type="presParOf" srcId="{DA42E6FA-1B65-4D41-B528-A8F5E0100B6E}" destId="{7D2E568B-D8AA-FD4D-BC2E-0A824C73588D}" srcOrd="9" destOrd="0" presId="urn:microsoft.com/office/officeart/2005/8/layout/default"/>
    <dgm:cxn modelId="{5A35C400-3E63-934C-B62E-2E3F6B1937DA}" type="presParOf" srcId="{DA42E6FA-1B65-4D41-B528-A8F5E0100B6E}" destId="{5F417051-451F-A643-851E-FD9C8417AE22}" srcOrd="10" destOrd="0" presId="urn:microsoft.com/office/officeart/2005/8/layout/default"/>
    <dgm:cxn modelId="{ED84A3E9-2FD3-F741-A459-678AFF268D1B}" type="presParOf" srcId="{DA42E6FA-1B65-4D41-B528-A8F5E0100B6E}" destId="{316B3348-4824-9649-8229-750441E52A5B}" srcOrd="11" destOrd="0" presId="urn:microsoft.com/office/officeart/2005/8/layout/default"/>
    <dgm:cxn modelId="{F45B1DB0-28C2-8349-8EC3-817DD977C364}" type="presParOf" srcId="{DA42E6FA-1B65-4D41-B528-A8F5E0100B6E}" destId="{ECEED242-963E-7448-836C-E5036D56137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A2DB59-1383-E44D-9D31-3A6320ECC499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46775-A57C-0A42-8DD6-97E9F14AB76E}">
      <dsp:nvSpPr>
        <dsp:cNvPr id="0" name=""/>
        <dsp:cNvSpPr/>
      </dsp:nvSpPr>
      <dsp:spPr>
        <a:xfrm>
          <a:off x="0" y="0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Observation (animal behavior, environmental change, etc.)</a:t>
          </a:r>
        </a:p>
      </dsp:txBody>
      <dsp:txXfrm>
        <a:off x="0" y="0"/>
        <a:ext cx="4718785" cy="691341"/>
      </dsp:txXfrm>
    </dsp:sp>
    <dsp:sp modelId="{743F3798-56A9-AC49-AA15-4B50C9ABFABA}">
      <dsp:nvSpPr>
        <dsp:cNvPr id="0" name=""/>
        <dsp:cNvSpPr/>
      </dsp:nvSpPr>
      <dsp:spPr>
        <a:xfrm>
          <a:off x="0" y="691341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9C627-87CB-2841-970B-8F58D0CB9F8C}">
      <dsp:nvSpPr>
        <dsp:cNvPr id="0" name=""/>
        <dsp:cNvSpPr/>
      </dsp:nvSpPr>
      <dsp:spPr>
        <a:xfrm>
          <a:off x="0" y="691341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Correlation (density and growth, salinity and survival, etc.)</a:t>
          </a:r>
        </a:p>
      </dsp:txBody>
      <dsp:txXfrm>
        <a:off x="0" y="691341"/>
        <a:ext cx="4718785" cy="691341"/>
      </dsp:txXfrm>
    </dsp:sp>
    <dsp:sp modelId="{42B77644-08DC-C74E-8490-9DD853B5D290}">
      <dsp:nvSpPr>
        <dsp:cNvPr id="0" name=""/>
        <dsp:cNvSpPr/>
      </dsp:nvSpPr>
      <dsp:spPr>
        <a:xfrm>
          <a:off x="0" y="1382683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2E948-2D64-3D4A-8CAD-6EEF74AB6C0A}">
      <dsp:nvSpPr>
        <dsp:cNvPr id="0" name=""/>
        <dsp:cNvSpPr/>
      </dsp:nvSpPr>
      <dsp:spPr>
        <a:xfrm>
          <a:off x="0" y="1382683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Modeling (using the computer to explore scenarios, options)</a:t>
          </a:r>
        </a:p>
      </dsp:txBody>
      <dsp:txXfrm>
        <a:off x="0" y="1382683"/>
        <a:ext cx="4718785" cy="691341"/>
      </dsp:txXfrm>
    </dsp:sp>
    <dsp:sp modelId="{08E61F08-B743-0D4B-8A23-5CF7ACCFCBC7}">
      <dsp:nvSpPr>
        <dsp:cNvPr id="0" name=""/>
        <dsp:cNvSpPr/>
      </dsp:nvSpPr>
      <dsp:spPr>
        <a:xfrm>
          <a:off x="0" y="2074025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CEB8C-879E-314F-BDCC-274AC18DDB65}">
      <dsp:nvSpPr>
        <dsp:cNvPr id="0" name=""/>
        <dsp:cNvSpPr/>
      </dsp:nvSpPr>
      <dsp:spPr>
        <a:xfrm>
          <a:off x="0" y="2074025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Morphology (paleontology, etc.)</a:t>
          </a:r>
        </a:p>
      </dsp:txBody>
      <dsp:txXfrm>
        <a:off x="0" y="2074025"/>
        <a:ext cx="4718785" cy="691341"/>
      </dsp:txXfrm>
    </dsp:sp>
    <dsp:sp modelId="{020A1E73-0E15-854D-A262-746D3E479212}">
      <dsp:nvSpPr>
        <dsp:cNvPr id="0" name=""/>
        <dsp:cNvSpPr/>
      </dsp:nvSpPr>
      <dsp:spPr>
        <a:xfrm>
          <a:off x="0" y="2765367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D4FB54-B609-2A49-A328-13FB57199B4D}">
      <dsp:nvSpPr>
        <dsp:cNvPr id="0" name=""/>
        <dsp:cNvSpPr/>
      </dsp:nvSpPr>
      <dsp:spPr>
        <a:xfrm>
          <a:off x="0" y="2765367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Descriptive (discovery of a new species of organism)</a:t>
          </a:r>
        </a:p>
      </dsp:txBody>
      <dsp:txXfrm>
        <a:off x="0" y="2765367"/>
        <a:ext cx="4718785" cy="691341"/>
      </dsp:txXfrm>
    </dsp:sp>
    <dsp:sp modelId="{E1CAAB1A-9438-9E4C-B90C-8636AB462FE9}">
      <dsp:nvSpPr>
        <dsp:cNvPr id="0" name=""/>
        <dsp:cNvSpPr/>
      </dsp:nvSpPr>
      <dsp:spPr>
        <a:xfrm>
          <a:off x="0" y="3456709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C8E2C-C363-134D-8F9B-9B112193DC25}">
      <dsp:nvSpPr>
        <dsp:cNvPr id="0" name=""/>
        <dsp:cNvSpPr/>
      </dsp:nvSpPr>
      <dsp:spPr>
        <a:xfrm>
          <a:off x="0" y="3456709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Microscopical examination (new pathogens, structures, etc.)</a:t>
          </a:r>
        </a:p>
      </dsp:txBody>
      <dsp:txXfrm>
        <a:off x="0" y="3456709"/>
        <a:ext cx="4718785" cy="691341"/>
      </dsp:txXfrm>
    </dsp:sp>
    <dsp:sp modelId="{3A0C2AE3-A377-A84F-876E-E7CC9764056E}">
      <dsp:nvSpPr>
        <dsp:cNvPr id="0" name=""/>
        <dsp:cNvSpPr/>
      </dsp:nvSpPr>
      <dsp:spPr>
        <a:xfrm>
          <a:off x="0" y="4148051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F61D21-0448-C141-BA5E-BE43A65A2208}">
      <dsp:nvSpPr>
        <dsp:cNvPr id="0" name=""/>
        <dsp:cNvSpPr/>
      </dsp:nvSpPr>
      <dsp:spPr>
        <a:xfrm>
          <a:off x="0" y="4148051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Others</a:t>
          </a:r>
        </a:p>
      </dsp:txBody>
      <dsp:txXfrm>
        <a:off x="0" y="4148051"/>
        <a:ext cx="4718785" cy="691341"/>
      </dsp:txXfrm>
    </dsp:sp>
    <dsp:sp modelId="{D543A783-FC89-1643-8ACB-F6A70AE4BDFF}">
      <dsp:nvSpPr>
        <dsp:cNvPr id="0" name=""/>
        <dsp:cNvSpPr/>
      </dsp:nvSpPr>
      <dsp:spPr>
        <a:xfrm>
          <a:off x="0" y="4839393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FD316-9554-844D-B60F-B6322CCBCD4F}">
      <dsp:nvSpPr>
        <dsp:cNvPr id="0" name=""/>
        <dsp:cNvSpPr/>
      </dsp:nvSpPr>
      <dsp:spPr>
        <a:xfrm>
          <a:off x="0" y="4839393"/>
          <a:ext cx="4718785" cy="691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Are null hypotheses imbedded in these non-experimental studies?</a:t>
          </a:r>
        </a:p>
      </dsp:txBody>
      <dsp:txXfrm>
        <a:off x="0" y="4839393"/>
        <a:ext cx="4718785" cy="691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F8431E-A960-0A43-A95D-871FDB5C4042}">
      <dsp:nvSpPr>
        <dsp:cNvPr id="0" name=""/>
        <dsp:cNvSpPr/>
      </dsp:nvSpPr>
      <dsp:spPr>
        <a:xfrm>
          <a:off x="0" y="1441760"/>
          <a:ext cx="5669628" cy="340177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Communicate your results:</a:t>
          </a:r>
          <a:r>
            <a:rPr lang="en-US" sz="2700" kern="1200" dirty="0"/>
            <a:t>  To complete your project you communicate your results to others.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presenting your findings orally at a scientific meeting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a poster at a scientific meeting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publishing the work in a scientific journal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Publishing results in popular media</a:t>
          </a:r>
        </a:p>
      </dsp:txBody>
      <dsp:txXfrm>
        <a:off x="99635" y="1541395"/>
        <a:ext cx="5470358" cy="32025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C2EBF-F9DE-2C41-9369-BB2BACBC4E0E}">
      <dsp:nvSpPr>
        <dsp:cNvPr id="0" name=""/>
        <dsp:cNvSpPr/>
      </dsp:nvSpPr>
      <dsp:spPr>
        <a:xfrm>
          <a:off x="468272" y="3745"/>
          <a:ext cx="2171923" cy="130315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Peer-reviewed journals </a:t>
          </a:r>
        </a:p>
      </dsp:txBody>
      <dsp:txXfrm>
        <a:off x="468272" y="3745"/>
        <a:ext cx="2171923" cy="1303153"/>
      </dsp:txXfrm>
    </dsp:sp>
    <dsp:sp modelId="{33501F83-FE59-8943-B5E2-13F149ACBB64}">
      <dsp:nvSpPr>
        <dsp:cNvPr id="0" name=""/>
        <dsp:cNvSpPr/>
      </dsp:nvSpPr>
      <dsp:spPr>
        <a:xfrm>
          <a:off x="2857388" y="3745"/>
          <a:ext cx="2171923" cy="1303153"/>
        </a:xfrm>
        <a:prstGeom prst="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Single-authored books</a:t>
          </a:r>
        </a:p>
      </dsp:txBody>
      <dsp:txXfrm>
        <a:off x="2857388" y="3745"/>
        <a:ext cx="2171923" cy="1303153"/>
      </dsp:txXfrm>
    </dsp:sp>
    <dsp:sp modelId="{65C25063-089B-674A-8EDB-9311F396927B}">
      <dsp:nvSpPr>
        <dsp:cNvPr id="0" name=""/>
        <dsp:cNvSpPr/>
      </dsp:nvSpPr>
      <dsp:spPr>
        <a:xfrm>
          <a:off x="5246503" y="3745"/>
          <a:ext cx="2171923" cy="1303153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Edited, multi-authored books </a:t>
          </a:r>
        </a:p>
      </dsp:txBody>
      <dsp:txXfrm>
        <a:off x="5246503" y="3745"/>
        <a:ext cx="2171923" cy="1303153"/>
      </dsp:txXfrm>
    </dsp:sp>
    <dsp:sp modelId="{2E7C4EDF-0497-8E49-AFB7-37992ED8A8DA}">
      <dsp:nvSpPr>
        <dsp:cNvPr id="0" name=""/>
        <dsp:cNvSpPr/>
      </dsp:nvSpPr>
      <dsp:spPr>
        <a:xfrm>
          <a:off x="468272" y="1524092"/>
          <a:ext cx="2171923" cy="1303153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Master’s theses and doctoral dissertations</a:t>
          </a:r>
        </a:p>
      </dsp:txBody>
      <dsp:txXfrm>
        <a:off x="468272" y="1524092"/>
        <a:ext cx="2171923" cy="1303153"/>
      </dsp:txXfrm>
    </dsp:sp>
    <dsp:sp modelId="{25C71B9E-4C1F-764C-9920-9EB6DCCD6D41}">
      <dsp:nvSpPr>
        <dsp:cNvPr id="0" name=""/>
        <dsp:cNvSpPr/>
      </dsp:nvSpPr>
      <dsp:spPr>
        <a:xfrm>
          <a:off x="2857388" y="1524092"/>
          <a:ext cx="2171923" cy="1303153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Agency reports (sometimes called “grey literature”)</a:t>
          </a:r>
        </a:p>
      </dsp:txBody>
      <dsp:txXfrm>
        <a:off x="2857388" y="1524092"/>
        <a:ext cx="2171923" cy="1303153"/>
      </dsp:txXfrm>
    </dsp:sp>
    <dsp:sp modelId="{5F417051-451F-A643-851E-FD9C8417AE22}">
      <dsp:nvSpPr>
        <dsp:cNvPr id="0" name=""/>
        <dsp:cNvSpPr/>
      </dsp:nvSpPr>
      <dsp:spPr>
        <a:xfrm>
          <a:off x="5246503" y="1524092"/>
          <a:ext cx="2171923" cy="1303153"/>
        </a:xfrm>
        <a:prstGeom prst="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Websites and other electronic sources</a:t>
          </a:r>
        </a:p>
      </dsp:txBody>
      <dsp:txXfrm>
        <a:off x="5246503" y="1524092"/>
        <a:ext cx="2171923" cy="1303153"/>
      </dsp:txXfrm>
    </dsp:sp>
    <dsp:sp modelId="{ECEED242-963E-7448-836C-E5036D561373}">
      <dsp:nvSpPr>
        <dsp:cNvPr id="0" name=""/>
        <dsp:cNvSpPr/>
      </dsp:nvSpPr>
      <dsp:spPr>
        <a:xfrm>
          <a:off x="2857388" y="3044438"/>
          <a:ext cx="2171923" cy="130315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Others?</a:t>
          </a:r>
        </a:p>
      </dsp:txBody>
      <dsp:txXfrm>
        <a:off x="2857388" y="3044438"/>
        <a:ext cx="2171923" cy="1303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1467C-F434-7C4A-AF2E-5FC4B7D131D9}" type="datetimeFigureOut">
              <a:rPr lang="en-US" smtClean="0"/>
              <a:t>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B4D19-E65B-2941-81E9-F1593975B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2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1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7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39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0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4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8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27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A8E31-BEA6-FB4E-B4B9-E97AA86E8B62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0B16E-78A9-164D-8E73-3D68F782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3,000+ Kid Asking Mom Stock Photos, Pictures &amp; Royalty-Free Images - iStock  | Kid asking mom question">
            <a:extLst>
              <a:ext uri="{FF2B5EF4-FFF2-40B4-BE49-F238E27FC236}">
                <a16:creationId xmlns:a16="http://schemas.microsoft.com/office/drawing/2014/main" id="{B7FBA7EF-32FA-7EB0-2BA1-70F99B44F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6" r="29087" b="9091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1EB49-CA0F-4943-A341-492912971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600">
                <a:solidFill>
                  <a:schemeClr val="bg1"/>
                </a:solidFill>
              </a:rPr>
              <a:t>“Mommy, where do scientific journal articles come from?”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519E1-F097-D043-A65F-01C180530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>
                <a:solidFill>
                  <a:schemeClr val="bg1"/>
                </a:solidFill>
              </a:rPr>
              <a:t>FISH 290</a:t>
            </a:r>
          </a:p>
          <a:p>
            <a:pPr algn="l"/>
            <a:r>
              <a:rPr lang="en-US" sz="1700">
                <a:solidFill>
                  <a:schemeClr val="bg1"/>
                </a:solidFill>
              </a:rPr>
              <a:t>Thursday 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0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st tubes with one test tube in orange with drops">
            <a:extLst>
              <a:ext uri="{FF2B5EF4-FFF2-40B4-BE49-F238E27FC236}">
                <a16:creationId xmlns:a16="http://schemas.microsoft.com/office/drawing/2014/main" id="{939A12CC-5ABD-F8DB-21B2-B410EF861B8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668" r="6332" b="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The “classic” scientific method: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Pose a null and one or more alternative hypotheses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Conduct an experiment and record the data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Examine the data with statistical techniques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Reject the null hypothesis (with some risk of error),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Or, be unable to reject the null hypothesis and so have to accept it as correct (with some risk of error).</a:t>
            </a:r>
          </a:p>
        </p:txBody>
      </p:sp>
    </p:spTree>
    <p:extLst>
      <p:ext uri="{BB962C8B-B14F-4D97-AF65-F5344CB8AC3E}">
        <p14:creationId xmlns:p14="http://schemas.microsoft.com/office/powerpoint/2010/main" val="5895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3" name="Rectangle 206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835357" y="2960716"/>
            <a:ext cx="3027251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Steps of the scientific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5356" y="953037"/>
            <a:ext cx="3027250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http://www.sciencebuddies.org/science-fair-projects/project_scientific_method.shtml</a:t>
            </a:r>
          </a:p>
        </p:txBody>
      </p: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984992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6" name="Rectangle 206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391886"/>
            <a:ext cx="4507025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Overview of the Scientific Metho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41869" y="1403911"/>
            <a:ext cx="4152000" cy="399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203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609600"/>
            <a:ext cx="83058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Ask a question:</a:t>
            </a:r>
            <a:r>
              <a:rPr lang="en-US" sz="2600" dirty="0">
                <a:solidFill>
                  <a:srgbClr val="C00000"/>
                </a:solidFill>
              </a:rPr>
              <a:t> </a:t>
            </a:r>
            <a:endParaRPr lang="en-US" sz="2600" dirty="0"/>
          </a:p>
          <a:p>
            <a:r>
              <a:rPr lang="en-US" sz="2600" dirty="0"/>
              <a:t>For the scientific method to answer the question it </a:t>
            </a:r>
            <a:r>
              <a:rPr lang="en-US" sz="2600" b="1" dirty="0"/>
              <a:t>must be about something that you can test</a:t>
            </a:r>
            <a:r>
              <a:rPr lang="en-US" sz="2600" dirty="0"/>
              <a:t>, preferably something that you can quantify (measure, count, etc.).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2769" y="3864934"/>
            <a:ext cx="8382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C00000"/>
                </a:solidFill>
              </a:rPr>
              <a:t>Do background research:</a:t>
            </a:r>
            <a:r>
              <a:rPr lang="en-US" sz="2600" dirty="0">
                <a:solidFill>
                  <a:srgbClr val="C00000"/>
                </a:solidFill>
              </a:rPr>
              <a:t>  </a:t>
            </a:r>
            <a:r>
              <a:rPr lang="en-US" sz="2600" dirty="0"/>
              <a:t>Rather than starting from scratch in putting together a plan for answering your question, you’ll want to do a library/internet/interview search to help you find the best way to do things and ensure that you aren’t repeating what’s already been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6242447"/>
            <a:ext cx="8077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http://www.sciencebuddies.org/science-fair-projects/project_scientific_method.shtml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516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125454" y="0"/>
            <a:ext cx="5389895" cy="6176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Construct a hypothesis:</a:t>
            </a:r>
            <a:r>
              <a:rPr lang="en-US" dirty="0"/>
              <a:t>  A hypothesis is an educated guess about how things work:</a:t>
            </a:r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“If _____</a:t>
            </a:r>
            <a:r>
              <a:rPr lang="en-US" i="1" dirty="0"/>
              <a:t>[I do this]</a:t>
            </a:r>
            <a:r>
              <a:rPr lang="en-US" dirty="0"/>
              <a:t> _____, then _____</a:t>
            </a:r>
            <a:r>
              <a:rPr lang="en-US" i="1" dirty="0"/>
              <a:t>[this]</a:t>
            </a:r>
            <a:r>
              <a:rPr lang="en-US" dirty="0"/>
              <a:t>_____ will happen.” 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defTabSz="914400">
              <a:lnSpc>
                <a:spcPct val="90000"/>
              </a:lnSpc>
              <a:spcAft>
                <a:spcPts val="1200"/>
              </a:spcAft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“If _</a:t>
            </a:r>
            <a:r>
              <a:rPr lang="en-US" i="1" dirty="0"/>
              <a:t>[some theory or idea]</a:t>
            </a:r>
            <a:r>
              <a:rPr lang="en-US" dirty="0"/>
              <a:t>____ is true, then we should expect to see __[data or action]______.”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 must state your hypothesis in a way that you can </a:t>
            </a:r>
            <a:r>
              <a:rPr lang="en-US" b="1" dirty="0"/>
              <a:t>easily measure </a:t>
            </a:r>
            <a:r>
              <a:rPr lang="en-US" dirty="0"/>
              <a:t>and, of course, your hypothesis should be constructed in a way to help you </a:t>
            </a:r>
            <a:r>
              <a:rPr lang="en-US" b="1" dirty="0"/>
              <a:t>answer your original question</a:t>
            </a:r>
            <a:r>
              <a:rPr lang="en-US" dirty="0"/>
              <a:t>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61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700" y="621317"/>
            <a:ext cx="8610600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dirty="0"/>
          </a:p>
          <a:p>
            <a:r>
              <a:rPr lang="en-US" sz="2400" b="1" dirty="0">
                <a:solidFill>
                  <a:srgbClr val="C00000"/>
                </a:solidFill>
              </a:rPr>
              <a:t>Test your hypothesis by doing an experiment</a:t>
            </a:r>
            <a:r>
              <a:rPr lang="en-US" sz="2400" dirty="0">
                <a:solidFill>
                  <a:srgbClr val="C00000"/>
                </a:solidFill>
              </a:rPr>
              <a:t> </a:t>
            </a:r>
          </a:p>
          <a:p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b="1" dirty="0"/>
              <a:t>Experiments have two essential features: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pPr marL="342900" indent="-3429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  Treatment and control</a:t>
            </a:r>
          </a:p>
          <a:p>
            <a:pPr marL="342900" indent="-342900">
              <a:buAutoNum type="arabicParenR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>
              <a:buAutoNum type="arabicParenR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>
              <a:buAutoNum type="arabicParenR"/>
            </a:pPr>
            <a:endParaRPr lang="en-US" sz="2400" b="1" dirty="0">
              <a:solidFill>
                <a:srgbClr val="C00000"/>
              </a:solidFill>
            </a:endParaRPr>
          </a:p>
          <a:p>
            <a:pPr marL="342900" indent="-342900">
              <a:buAutoNum type="arabicParenR"/>
            </a:pPr>
            <a:r>
              <a:rPr lang="en-US" sz="2400" b="1" dirty="0">
                <a:solidFill>
                  <a:srgbClr val="C00000"/>
                </a:solidFill>
              </a:rPr>
              <a:t>  Replication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21168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7700" y="358589"/>
            <a:ext cx="7848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What about other forms of analysis and inference?</a:t>
            </a:r>
          </a:p>
          <a:p>
            <a:endParaRPr lang="en-US" sz="2400" dirty="0"/>
          </a:p>
          <a:p>
            <a:r>
              <a:rPr lang="en-US" sz="2400" dirty="0"/>
              <a:t>Do we always need to be </a:t>
            </a:r>
            <a:r>
              <a:rPr lang="en-US" sz="2400" i="1" dirty="0"/>
              <a:t>explicitly </a:t>
            </a:r>
            <a:r>
              <a:rPr lang="en-US" sz="2400" dirty="0"/>
              <a:t>erecting and falsifying hypotheses?</a:t>
            </a:r>
          </a:p>
          <a:p>
            <a:endParaRPr lang="en-US" sz="2400" dirty="0"/>
          </a:p>
          <a:p>
            <a:r>
              <a:rPr lang="en-US" sz="2400" dirty="0"/>
              <a:t>We might want to estimate the relative effect of different processes on some complex outcome, rather than narrowly determining whether each, in isolation, has an effect or not.</a:t>
            </a:r>
          </a:p>
          <a:p>
            <a:endParaRPr lang="en-US" sz="2400" dirty="0"/>
          </a:p>
          <a:p>
            <a:r>
              <a:rPr lang="en-US" sz="2400" dirty="0"/>
              <a:t>We might want to estimate the relative likelihood of a series of possible outcomes, rather than just stating which is the most likely to occur.</a:t>
            </a:r>
          </a:p>
          <a:p>
            <a:endParaRPr lang="en-US" sz="2400" dirty="0"/>
          </a:p>
          <a:p>
            <a:r>
              <a:rPr lang="en-US" sz="2400" b="1" dirty="0"/>
              <a:t>The scientific process is as diverse as the people practicing science.</a:t>
            </a:r>
          </a:p>
        </p:txBody>
      </p:sp>
    </p:spTree>
    <p:extLst>
      <p:ext uri="{BB962C8B-B14F-4D97-AF65-F5344CB8AC3E}">
        <p14:creationId xmlns:p14="http://schemas.microsoft.com/office/powerpoint/2010/main" val="336613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3806" y="603135"/>
            <a:ext cx="3384350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Approaches that </a:t>
            </a:r>
            <a:r>
              <a:rPr lang="en-US" sz="2800" b="1" i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 not involve</a:t>
            </a:r>
            <a:r>
              <a:rPr lang="en-US" sz="2800" b="1" u="sng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direct experimentation?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5913DB01-38E4-5CDA-ABB8-70521D15B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856871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9477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extBox 1">
            <a:extLst>
              <a:ext uri="{FF2B5EF4-FFF2-40B4-BE49-F238E27FC236}">
                <a16:creationId xmlns:a16="http://schemas.microsoft.com/office/drawing/2014/main" id="{7270372D-6C6D-EEDC-CC77-2C2C8AA29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829443"/>
              </p:ext>
            </p:extLst>
          </p:nvPr>
        </p:nvGraphicFramePr>
        <p:xfrm>
          <a:off x="2845722" y="288758"/>
          <a:ext cx="5669628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098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A78838D-988D-EEB6-2C0A-A2A481CB3B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1334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latin typeface="+mj-lt"/>
                <a:ea typeface="+mj-ea"/>
                <a:cs typeface="+mj-cs"/>
              </a:rPr>
              <a:t>Where do we find scientific information?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6338986"/>
            <a:ext cx="845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400" b="1" dirty="0">
                <a:solidFill>
                  <a:srgbClr val="C00000"/>
                </a:solidFill>
              </a:rPr>
              <a:t>Each form of communication has strengths and weaknesses; it is important to understand their differences. 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0446F199-394D-01C4-39AB-84C1276CFB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4230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796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8A132-FDD9-D349-8514-B0C7BF156749}"/>
              </a:ext>
            </a:extLst>
          </p:cNvPr>
          <p:cNvSpPr txBox="1"/>
          <p:nvPr/>
        </p:nvSpPr>
        <p:spPr>
          <a:xfrm>
            <a:off x="628650" y="365125"/>
            <a:ext cx="4045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>
                <a:latin typeface="+mj-lt"/>
                <a:ea typeface="+mj-ea"/>
                <a:cs typeface="+mj-cs"/>
              </a:rPr>
              <a:t>Types of scientific literature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F1CC5-A62B-4946-8D31-DBD8FF2F7CE3}"/>
              </a:ext>
            </a:extLst>
          </p:cNvPr>
          <p:cNvSpPr txBox="1"/>
          <p:nvPr/>
        </p:nvSpPr>
        <p:spPr>
          <a:xfrm>
            <a:off x="628650" y="1825625"/>
            <a:ext cx="40450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Primary: </a:t>
            </a:r>
            <a:r>
              <a:rPr lang="en-US"/>
              <a:t>represents the results of an original study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Scientific papers in </a:t>
            </a:r>
            <a:r>
              <a:rPr lang="en-US" u="sng"/>
              <a:t>IMRaD</a:t>
            </a:r>
            <a:r>
              <a:rPr lang="en-US"/>
              <a:t> format*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	*note that some journals like </a:t>
            </a:r>
            <a:r>
              <a:rPr lang="en-US" i="1"/>
              <a:t>Science </a:t>
            </a:r>
            <a:r>
              <a:rPr lang="en-US"/>
              <a:t>and </a:t>
            </a:r>
            <a:r>
              <a:rPr lang="en-US" i="1"/>
              <a:t>Nature </a:t>
            </a:r>
            <a:r>
              <a:rPr lang="en-US"/>
              <a:t>use a 	different format more like a magazine article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Also includes conference papers, dissertations, and technical reports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How do you know you’re reading primary literature? Look for (mention of) Methods and Results.</a:t>
            </a:r>
          </a:p>
        </p:txBody>
      </p:sp>
      <p:pic>
        <p:nvPicPr>
          <p:cNvPr id="5" name="Picture 4" descr="Cluster of books">
            <a:extLst>
              <a:ext uri="{FF2B5EF4-FFF2-40B4-BE49-F238E27FC236}">
                <a16:creationId xmlns:a16="http://schemas.microsoft.com/office/drawing/2014/main" id="{160D5A28-CD17-2BF3-7C22-19C5A38AA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9" r="34130" b="-2"/>
          <a:stretch/>
        </p:blipFill>
        <p:spPr>
          <a:xfrm>
            <a:off x="4781190" y="758514"/>
            <a:ext cx="384167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6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4696411" y="687822"/>
            <a:ext cx="4103360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6420" y="921125"/>
            <a:ext cx="593266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988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29BF6-6865-E21F-F86D-6BD23E5BD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F1334-7F2D-F77F-D20D-834BE3C6BB9C}"/>
              </a:ext>
            </a:extLst>
          </p:cNvPr>
          <p:cNvSpPr txBox="1"/>
          <p:nvPr/>
        </p:nvSpPr>
        <p:spPr>
          <a:xfrm>
            <a:off x="628650" y="365125"/>
            <a:ext cx="40450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>
                <a:latin typeface="+mj-lt"/>
                <a:ea typeface="+mj-ea"/>
                <a:cs typeface="+mj-cs"/>
              </a:rPr>
              <a:t>Types of scientific literature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4CFAC-2C79-1D34-9E08-30F02BE01A70}"/>
              </a:ext>
            </a:extLst>
          </p:cNvPr>
          <p:cNvSpPr txBox="1"/>
          <p:nvPr/>
        </p:nvSpPr>
        <p:spPr>
          <a:xfrm>
            <a:off x="628650" y="1825625"/>
            <a:ext cx="40450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Primary: </a:t>
            </a:r>
            <a:r>
              <a:rPr lang="en-US" sz="1800" dirty="0"/>
              <a:t>represents the results of an original study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Not all primary literature is peer-reviewed.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Grey literature</a:t>
            </a:r>
            <a:r>
              <a:rPr lang="en-US" sz="1800" dirty="0"/>
              <a:t> refers to reports that are archived but have not been peer-reviewed. Include dissertations, technical reports, and pre-prints</a:t>
            </a:r>
          </a:p>
        </p:txBody>
      </p:sp>
      <p:pic>
        <p:nvPicPr>
          <p:cNvPr id="5" name="Picture 4" descr="Cluster of books">
            <a:extLst>
              <a:ext uri="{FF2B5EF4-FFF2-40B4-BE49-F238E27FC236}">
                <a16:creationId xmlns:a16="http://schemas.microsoft.com/office/drawing/2014/main" id="{E745A28D-7FE9-AB8C-F950-8F9FF15640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19" r="34130" b="-2"/>
          <a:stretch/>
        </p:blipFill>
        <p:spPr>
          <a:xfrm>
            <a:off x="4781190" y="758514"/>
            <a:ext cx="384167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62921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uster of books">
            <a:extLst>
              <a:ext uri="{FF2B5EF4-FFF2-40B4-BE49-F238E27FC236}">
                <a16:creationId xmlns:a16="http://schemas.microsoft.com/office/drawing/2014/main" id="{EEBD3EE2-4D2D-4FA6-BB3E-793892CA8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91" r="29534" b="-1"/>
          <a:stretch/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D8A132-FDD9-D349-8514-B0C7BF156749}"/>
              </a:ext>
            </a:extLst>
          </p:cNvPr>
          <p:cNvSpPr txBox="1"/>
          <p:nvPr/>
        </p:nvSpPr>
        <p:spPr>
          <a:xfrm>
            <a:off x="4586487" y="405685"/>
            <a:ext cx="4098726" cy="15593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>
                <a:latin typeface="+mj-lt"/>
                <a:ea typeface="+mj-ea"/>
                <a:cs typeface="+mj-cs"/>
              </a:rPr>
              <a:t>Types of scientific literature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F1CC5-A62B-4946-8D31-DBD8FF2F7CE3}"/>
              </a:ext>
            </a:extLst>
          </p:cNvPr>
          <p:cNvSpPr txBox="1"/>
          <p:nvPr/>
        </p:nvSpPr>
        <p:spPr>
          <a:xfrm>
            <a:off x="4586487" y="2743200"/>
            <a:ext cx="3935505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Secondary: </a:t>
            </a:r>
            <a:r>
              <a:rPr lang="en-US" sz="1700"/>
              <a:t>sources </a:t>
            </a:r>
            <a:r>
              <a:rPr lang="en-US" sz="1700" i="1"/>
              <a:t>based </a:t>
            </a:r>
            <a:r>
              <a:rPr lang="en-US" sz="1700"/>
              <a:t>on multiple primary literature sources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Books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Popular articles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Review papers in scientific journals. </a:t>
            </a:r>
            <a:r>
              <a:rPr lang="en-US" sz="1700" b="1"/>
              <a:t>Review papers are peer reviewed!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Great for readers to get an overview on a topic</a:t>
            </a:r>
          </a:p>
          <a:p>
            <a:pPr marL="4572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Sometimes contain new insights based on surveying the literature</a:t>
            </a:r>
          </a:p>
        </p:txBody>
      </p:sp>
    </p:spTree>
    <p:extLst>
      <p:ext uri="{BB962C8B-B14F-4D97-AF65-F5344CB8AC3E}">
        <p14:creationId xmlns:p14="http://schemas.microsoft.com/office/powerpoint/2010/main" val="3615527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E2D2B-DF6E-194F-8941-FB02E94E4BC9}"/>
              </a:ext>
            </a:extLst>
          </p:cNvPr>
          <p:cNvSpPr txBox="1"/>
          <p:nvPr/>
        </p:nvSpPr>
        <p:spPr>
          <a:xfrm>
            <a:off x="381000" y="228600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How is science published?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A0B3C-D4A1-7440-AAAD-22C9B4ADF5D5}"/>
              </a:ext>
            </a:extLst>
          </p:cNvPr>
          <p:cNvSpPr txBox="1"/>
          <p:nvPr/>
        </p:nvSpPr>
        <p:spPr>
          <a:xfrm>
            <a:off x="381000" y="935534"/>
            <a:ext cx="80772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Choose a journal to submit your manuscript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Often you write the draft of the manuscript with this journal in mind far in advance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Each journal has specific formatting requirements you must follow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Submit the manuscript online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An editor sends the manuscript out to anonymous peer reviewers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Who are peer reviewers and how are they chosen?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Reviews come back and the editor makes a decision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Usually five options: Accept-as-is, Minor revisions, Major revisions, Reject + resubmit, or Reject without option to resubmit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Manuscript is accepted to the journal!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200" dirty="0"/>
              <a:t>Journal staff type-set the article and it is published (usually a month or more after acceptance)</a:t>
            </a:r>
          </a:p>
        </p:txBody>
      </p:sp>
    </p:spTree>
    <p:extLst>
      <p:ext uri="{BB962C8B-B14F-4D97-AF65-F5344CB8AC3E}">
        <p14:creationId xmlns:p14="http://schemas.microsoft.com/office/powerpoint/2010/main" val="285742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D8972-4880-2F02-070E-C475F2EC35DF}"/>
              </a:ext>
            </a:extLst>
          </p:cNvPr>
          <p:cNvSpPr txBox="1"/>
          <p:nvPr/>
        </p:nvSpPr>
        <p:spPr>
          <a:xfrm>
            <a:off x="3657600" y="1518500"/>
            <a:ext cx="12954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Study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61CDF-413E-091C-6403-F783383D11A2}"/>
              </a:ext>
            </a:extLst>
          </p:cNvPr>
          <p:cNvSpPr txBox="1"/>
          <p:nvPr/>
        </p:nvSpPr>
        <p:spPr>
          <a:xfrm>
            <a:off x="914400" y="1518500"/>
            <a:ext cx="16764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Question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A6F92-ABA6-C5E9-535C-27DA11733EFF}"/>
              </a:ext>
            </a:extLst>
          </p:cNvPr>
          <p:cNvSpPr txBox="1"/>
          <p:nvPr/>
        </p:nvSpPr>
        <p:spPr>
          <a:xfrm>
            <a:off x="6172200" y="1510625"/>
            <a:ext cx="18288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Manuscript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14926-2891-6283-9ADC-38060212BB12}"/>
              </a:ext>
            </a:extLst>
          </p:cNvPr>
          <p:cNvSpPr txBox="1"/>
          <p:nvPr/>
        </p:nvSpPr>
        <p:spPr>
          <a:xfrm>
            <a:off x="6324600" y="3581400"/>
            <a:ext cx="18288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Submit to Journal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5BBB6-44D7-028F-0285-0285223047EA}"/>
              </a:ext>
            </a:extLst>
          </p:cNvPr>
          <p:cNvSpPr txBox="1"/>
          <p:nvPr/>
        </p:nvSpPr>
        <p:spPr>
          <a:xfrm>
            <a:off x="3554634" y="3454051"/>
            <a:ext cx="1575483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External 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FC289-5626-7AAC-F803-0FBBF5FFE210}"/>
              </a:ext>
            </a:extLst>
          </p:cNvPr>
          <p:cNvSpPr txBox="1"/>
          <p:nvPr/>
        </p:nvSpPr>
        <p:spPr>
          <a:xfrm>
            <a:off x="609600" y="3455469"/>
            <a:ext cx="182880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 FROM Editor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10E7B1-5C29-278C-DE50-6D7C81623158}"/>
              </a:ext>
            </a:extLst>
          </p:cNvPr>
          <p:cNvSpPr txBox="1"/>
          <p:nvPr/>
        </p:nvSpPr>
        <p:spPr>
          <a:xfrm>
            <a:off x="609600" y="5410200"/>
            <a:ext cx="18288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Response TO Editor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A41373-05C9-B21D-CE6B-75E11D60FD6B}"/>
              </a:ext>
            </a:extLst>
          </p:cNvPr>
          <p:cNvSpPr txBox="1"/>
          <p:nvPr/>
        </p:nvSpPr>
        <p:spPr>
          <a:xfrm>
            <a:off x="3505200" y="5422913"/>
            <a:ext cx="182880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Manuscript</a:t>
            </a:r>
          </a:p>
          <a:p>
            <a:pPr algn="ctr"/>
            <a:r>
              <a:rPr lang="en-US" dirty="0"/>
              <a:t>Accepted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26A8A-BA84-02AE-1395-45027A72B586}"/>
              </a:ext>
            </a:extLst>
          </p:cNvPr>
          <p:cNvSpPr txBox="1"/>
          <p:nvPr/>
        </p:nvSpPr>
        <p:spPr>
          <a:xfrm>
            <a:off x="6705602" y="5422913"/>
            <a:ext cx="182880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Manuscript</a:t>
            </a:r>
          </a:p>
          <a:p>
            <a:pPr algn="ctr"/>
            <a:r>
              <a:rPr lang="en-US" dirty="0"/>
              <a:t>Published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4736001D-C164-CD1A-2612-76CE4CD762C0}"/>
              </a:ext>
            </a:extLst>
          </p:cNvPr>
          <p:cNvSpPr/>
          <p:nvPr/>
        </p:nvSpPr>
        <p:spPr>
          <a:xfrm rot="16200000">
            <a:off x="2956932" y="1297449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658AD5AF-7A0C-6EF5-70B6-054FFF4C91DB}"/>
              </a:ext>
            </a:extLst>
          </p:cNvPr>
          <p:cNvSpPr/>
          <p:nvPr/>
        </p:nvSpPr>
        <p:spPr>
          <a:xfrm rot="16200000">
            <a:off x="5319132" y="1297449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C0F9DD98-7DAF-6EE4-1B93-B4E29EBDFFA6}"/>
              </a:ext>
            </a:extLst>
          </p:cNvPr>
          <p:cNvSpPr/>
          <p:nvPr/>
        </p:nvSpPr>
        <p:spPr>
          <a:xfrm>
            <a:off x="6934200" y="2326931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7F0D451C-355B-27CB-8ECE-AEEDD80D6659}"/>
              </a:ext>
            </a:extLst>
          </p:cNvPr>
          <p:cNvSpPr/>
          <p:nvPr/>
        </p:nvSpPr>
        <p:spPr>
          <a:xfrm rot="5400000">
            <a:off x="5471532" y="3371500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202F7B78-942A-1737-A2D5-01DCEB47F14C}"/>
              </a:ext>
            </a:extLst>
          </p:cNvPr>
          <p:cNvSpPr/>
          <p:nvPr/>
        </p:nvSpPr>
        <p:spPr>
          <a:xfrm rot="5400000">
            <a:off x="2844117" y="3371500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FD39619F-CA7B-A814-C3D8-B1B7FB723120}"/>
              </a:ext>
            </a:extLst>
          </p:cNvPr>
          <p:cNvSpPr/>
          <p:nvPr/>
        </p:nvSpPr>
        <p:spPr>
          <a:xfrm>
            <a:off x="1371600" y="4413248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E15818CE-C44B-93ED-E38E-14EA4F70033D}"/>
              </a:ext>
            </a:extLst>
          </p:cNvPr>
          <p:cNvSpPr/>
          <p:nvPr/>
        </p:nvSpPr>
        <p:spPr>
          <a:xfrm rot="16200000">
            <a:off x="2819400" y="5260886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67FF2B1D-05E4-2516-37E1-EDD24C12DF12}"/>
              </a:ext>
            </a:extLst>
          </p:cNvPr>
          <p:cNvSpPr/>
          <p:nvPr/>
        </p:nvSpPr>
        <p:spPr>
          <a:xfrm rot="16200000">
            <a:off x="5877249" y="5241858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5178436C-99D0-4D14-83FE-734CBDF09479}"/>
              </a:ext>
            </a:extLst>
          </p:cNvPr>
          <p:cNvSpPr/>
          <p:nvPr/>
        </p:nvSpPr>
        <p:spPr>
          <a:xfrm rot="10800000">
            <a:off x="1379034" y="2350607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8AD63044-2421-A2B4-4A05-334FE5CE77CC}"/>
              </a:ext>
            </a:extLst>
          </p:cNvPr>
          <p:cNvSpPr/>
          <p:nvPr/>
        </p:nvSpPr>
        <p:spPr>
          <a:xfrm rot="18473688">
            <a:off x="2811343" y="4316193"/>
            <a:ext cx="304800" cy="8114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54F257-0E0E-3AD8-3486-77A7D5A21326}"/>
              </a:ext>
            </a:extLst>
          </p:cNvPr>
          <p:cNvSpPr txBox="1"/>
          <p:nvPr/>
        </p:nvSpPr>
        <p:spPr>
          <a:xfrm>
            <a:off x="1720266" y="2616603"/>
            <a:ext cx="172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REJECT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21E7B-E629-21B2-4517-B74138609F5C}"/>
              </a:ext>
            </a:extLst>
          </p:cNvPr>
          <p:cNvSpPr txBox="1"/>
          <p:nvPr/>
        </p:nvSpPr>
        <p:spPr>
          <a:xfrm>
            <a:off x="51483" y="4634299"/>
            <a:ext cx="172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RESUBMIT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C198FE-1600-CD58-CC99-6365E4E67C51}"/>
              </a:ext>
            </a:extLst>
          </p:cNvPr>
          <p:cNvSpPr txBox="1"/>
          <p:nvPr/>
        </p:nvSpPr>
        <p:spPr>
          <a:xfrm>
            <a:off x="2934840" y="4264967"/>
            <a:ext cx="172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ACCEPT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CC706CA3-1AC0-BB34-0F6E-5C6EC38348DD}"/>
              </a:ext>
            </a:extLst>
          </p:cNvPr>
          <p:cNvSpPr/>
          <p:nvPr/>
        </p:nvSpPr>
        <p:spPr>
          <a:xfrm rot="5400000">
            <a:off x="2735706" y="-851102"/>
            <a:ext cx="398268" cy="3732315"/>
          </a:xfrm>
          <a:prstGeom prst="leftBrace">
            <a:avLst>
              <a:gd name="adj1" fmla="val 8333"/>
              <a:gd name="adj2" fmla="val 502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7C4BBD-EAEF-60C2-F17E-375A329B342A}"/>
              </a:ext>
            </a:extLst>
          </p:cNvPr>
          <p:cNvSpPr txBox="1"/>
          <p:nvPr/>
        </p:nvSpPr>
        <p:spPr>
          <a:xfrm>
            <a:off x="1206537" y="453931"/>
            <a:ext cx="2236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Scientific Method</a:t>
            </a:r>
          </a:p>
        </p:txBody>
      </p:sp>
    </p:spTree>
    <p:extLst>
      <p:ext uri="{BB962C8B-B14F-4D97-AF65-F5344CB8AC3E}">
        <p14:creationId xmlns:p14="http://schemas.microsoft.com/office/powerpoint/2010/main" val="3989051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E2D2B-DF6E-194F-8941-FB02E94E4BC9}"/>
              </a:ext>
            </a:extLst>
          </p:cNvPr>
          <p:cNvSpPr txBox="1"/>
          <p:nvPr/>
        </p:nvSpPr>
        <p:spPr>
          <a:xfrm>
            <a:off x="381000" y="228600"/>
            <a:ext cx="792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How is science published?</a:t>
            </a:r>
          </a:p>
          <a:p>
            <a:endParaRPr lang="en-US" sz="3200" dirty="0">
              <a:solidFill>
                <a:srgbClr val="C00000"/>
              </a:solidFill>
            </a:endParaRPr>
          </a:p>
          <a:p>
            <a:r>
              <a:rPr lang="en-US" sz="3200" dirty="0"/>
              <a:t>An example from my post-doc’s experience:</a:t>
            </a: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FCAA01-E758-5985-7076-0A2E45DF1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28596"/>
            <a:ext cx="8839200" cy="4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21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E2D2B-DF6E-194F-8941-FB02E94E4BC9}"/>
              </a:ext>
            </a:extLst>
          </p:cNvPr>
          <p:cNvSpPr txBox="1"/>
          <p:nvPr/>
        </p:nvSpPr>
        <p:spPr>
          <a:xfrm>
            <a:off x="381000" y="2286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How is science published?</a:t>
            </a:r>
          </a:p>
          <a:p>
            <a:endParaRPr lang="en-US" sz="3200" dirty="0">
              <a:solidFill>
                <a:srgbClr val="C00000"/>
              </a:solidFill>
            </a:endParaRPr>
          </a:p>
          <a:p>
            <a:r>
              <a:rPr lang="en-US" sz="3200" dirty="0"/>
              <a:t>An example from my post-doc’s experience:</a:t>
            </a:r>
          </a:p>
        </p:txBody>
      </p:sp>
      <p:pic>
        <p:nvPicPr>
          <p:cNvPr id="3" name="Picture 2" descr="A picture containing knife&#10;&#10;Description automatically generated">
            <a:extLst>
              <a:ext uri="{FF2B5EF4-FFF2-40B4-BE49-F238E27FC236}">
                <a16:creationId xmlns:a16="http://schemas.microsoft.com/office/drawing/2014/main" id="{C18BFE5C-3409-0F89-6B52-682761F76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" y="1709783"/>
            <a:ext cx="3505200" cy="171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260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4E2D2B-DF6E-194F-8941-FB02E94E4BC9}"/>
              </a:ext>
            </a:extLst>
          </p:cNvPr>
          <p:cNvSpPr txBox="1"/>
          <p:nvPr/>
        </p:nvSpPr>
        <p:spPr>
          <a:xfrm>
            <a:off x="381000" y="228600"/>
            <a:ext cx="9296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How is science published?</a:t>
            </a:r>
          </a:p>
          <a:p>
            <a:endParaRPr lang="en-US" sz="3200" dirty="0"/>
          </a:p>
          <a:p>
            <a:r>
              <a:rPr lang="en-US" sz="3200" dirty="0"/>
              <a:t>An example from my post-doc’s experience: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17BC47-B814-4D4D-9CA7-D7D25B583AE8}"/>
              </a:ext>
            </a:extLst>
          </p:cNvPr>
          <p:cNvSpPr txBox="1"/>
          <p:nvPr/>
        </p:nvSpPr>
        <p:spPr>
          <a:xfrm>
            <a:off x="214312" y="3336593"/>
            <a:ext cx="88773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Behind the scenes, it took 1 year from final draft to published paper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October 2017: finished the “final” draft, submit </a:t>
            </a:r>
            <a:r>
              <a:rPr lang="en-US" sz="2200" i="1" dirty="0"/>
              <a:t>PNAS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November 2017: </a:t>
            </a:r>
            <a:r>
              <a:rPr lang="en-US" sz="2200" i="1" dirty="0"/>
              <a:t>PNAS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FF0000"/>
                </a:solidFill>
              </a:rPr>
              <a:t>reject</a:t>
            </a:r>
            <a:r>
              <a:rPr lang="en-US" sz="2200" dirty="0"/>
              <a:t>, reformat + submit </a:t>
            </a:r>
            <a:r>
              <a:rPr lang="en-US" sz="2200" i="1" dirty="0" err="1"/>
              <a:t>PLoS</a:t>
            </a:r>
            <a:r>
              <a:rPr lang="en-US" sz="2200" i="1" dirty="0"/>
              <a:t> Biology.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200" dirty="0"/>
              <a:t>2 days later </a:t>
            </a:r>
            <a:r>
              <a:rPr lang="en-US" sz="2200" i="1" dirty="0" err="1"/>
              <a:t>PLoS</a:t>
            </a:r>
            <a:r>
              <a:rPr lang="en-US" sz="2200" i="1" dirty="0"/>
              <a:t> Biol </a:t>
            </a:r>
            <a:r>
              <a:rPr lang="en-US" sz="2200" dirty="0">
                <a:solidFill>
                  <a:srgbClr val="FF0000"/>
                </a:solidFill>
              </a:rPr>
              <a:t>reject</a:t>
            </a:r>
            <a:r>
              <a:rPr lang="en-US" sz="2200" dirty="0"/>
              <a:t>, reformat + submit to </a:t>
            </a:r>
            <a:r>
              <a:rPr lang="en-US" sz="2200" i="1" dirty="0"/>
              <a:t>Proc.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March 2018: Decision: </a:t>
            </a:r>
            <a:r>
              <a:rPr lang="en-US" sz="2200" dirty="0">
                <a:solidFill>
                  <a:srgbClr val="FF0000"/>
                </a:solidFill>
              </a:rPr>
              <a:t>Reject</a:t>
            </a:r>
            <a:r>
              <a:rPr lang="en-US" sz="2200" dirty="0"/>
              <a:t> + resubmit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June 2018: revisions done, sent back to </a:t>
            </a:r>
            <a:r>
              <a:rPr lang="en-US" sz="2200" i="1" dirty="0"/>
              <a:t>Proc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August 2018: Decision: Minor revisions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September 2018: revisions done, sent back to </a:t>
            </a:r>
            <a:r>
              <a:rPr lang="en-US" sz="2200" i="1" dirty="0"/>
              <a:t>Proc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September 2018: </a:t>
            </a:r>
            <a:r>
              <a:rPr lang="en-US" sz="2200" dirty="0">
                <a:solidFill>
                  <a:srgbClr val="FF0000"/>
                </a:solidFill>
              </a:rPr>
              <a:t>Accept</a:t>
            </a:r>
            <a:r>
              <a:rPr lang="en-US" sz="2200" dirty="0"/>
              <a:t> as-is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October 2018: Paper comes out in journal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92912-0444-7245-90BC-8129E643C700}"/>
              </a:ext>
            </a:extLst>
          </p:cNvPr>
          <p:cNvSpPr txBox="1"/>
          <p:nvPr/>
        </p:nvSpPr>
        <p:spPr>
          <a:xfrm>
            <a:off x="4838700" y="1719308"/>
            <a:ext cx="4305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Lessons: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Publishing takes a long time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Rejection is the NORM!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	</a:t>
            </a:r>
            <a:r>
              <a:rPr lang="en-US" sz="1600" dirty="0">
                <a:solidFill>
                  <a:srgbClr val="FF0000"/>
                </a:solidFill>
              </a:rPr>
              <a:t>(cue 5 stages of grief)</a:t>
            </a:r>
          </a:p>
        </p:txBody>
      </p:sp>
      <p:pic>
        <p:nvPicPr>
          <p:cNvPr id="7" name="Picture 6" descr="A picture containing knife&#10;&#10;Description automatically generated">
            <a:extLst>
              <a:ext uri="{FF2B5EF4-FFF2-40B4-BE49-F238E27FC236}">
                <a16:creationId xmlns:a16="http://schemas.microsoft.com/office/drawing/2014/main" id="{A6C96386-7A5E-DAD7-1E8D-721EB6775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" y="1709783"/>
            <a:ext cx="3505200" cy="171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1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B4F07F-9687-3C4A-B3DA-3AAFFC4A5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9" y="3429000"/>
            <a:ext cx="6600697" cy="32601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8D11DA-FB4E-904F-8265-856946066252}"/>
              </a:ext>
            </a:extLst>
          </p:cNvPr>
          <p:cNvSpPr txBox="1"/>
          <p:nvPr/>
        </p:nvSpPr>
        <p:spPr>
          <a:xfrm>
            <a:off x="381000" y="228600"/>
            <a:ext cx="6019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How is science published?</a:t>
            </a:r>
          </a:p>
          <a:p>
            <a:endParaRPr lang="en-US" sz="3200" dirty="0">
              <a:solidFill>
                <a:srgbClr val="C00000"/>
              </a:solidFill>
            </a:endParaRPr>
          </a:p>
          <a:p>
            <a:r>
              <a:rPr lang="en-US" sz="3200" dirty="0"/>
              <a:t>An example from my experience: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F3640-D400-5F41-A87E-B30585061725}"/>
              </a:ext>
            </a:extLst>
          </p:cNvPr>
          <p:cNvSpPr txBox="1"/>
          <p:nvPr/>
        </p:nvSpPr>
        <p:spPr>
          <a:xfrm>
            <a:off x="457200" y="1798260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“Final draft” submitted to Systematic Biology – summer 2014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rejections in 3 different journals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additional rounds of revision in Molecular Phylogenetics and Evolution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Finally published in 2018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066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04900" y="828288"/>
            <a:ext cx="69342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Scientific journals and articles:</a:t>
            </a:r>
            <a:endParaRPr lang="en-US" sz="3200" b="1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/>
              <a:t>So much to read; so little time.  </a:t>
            </a:r>
          </a:p>
          <a:p>
            <a:endParaRPr lang="en-US" sz="3200" dirty="0"/>
          </a:p>
          <a:p>
            <a:r>
              <a:rPr lang="en-US" sz="3200" dirty="0"/>
              <a:t>So, what are we looking for?</a:t>
            </a:r>
          </a:p>
          <a:p>
            <a:endParaRPr lang="en-US" sz="32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286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533400"/>
            <a:ext cx="77724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Class activity 1:  </a:t>
            </a:r>
          </a:p>
          <a:p>
            <a:endParaRPr lang="en-US" sz="3200" dirty="0">
              <a:solidFill>
                <a:srgbClr val="C00000"/>
              </a:solidFill>
            </a:endParaRPr>
          </a:p>
          <a:p>
            <a:r>
              <a:rPr lang="en-US" sz="2800" dirty="0"/>
              <a:t>We will look at the names of selected journals and you will indicate whether you would regard them as </a:t>
            </a:r>
          </a:p>
          <a:p>
            <a:pPr algn="ctr"/>
            <a:endParaRPr lang="en-US" sz="3200" b="1" dirty="0">
              <a:solidFill>
                <a:srgbClr val="FF0000"/>
              </a:solidFill>
            </a:endParaRPr>
          </a:p>
          <a:p>
            <a:pPr marL="342900" indent="-342900">
              <a:buAutoNum type="arabicParenR"/>
            </a:pPr>
            <a:r>
              <a:rPr lang="en-US" sz="3200" dirty="0"/>
              <a:t>  likely to read</a:t>
            </a:r>
          </a:p>
          <a:p>
            <a:pPr marL="342900" indent="-342900">
              <a:buAutoNum type="arabicParenR"/>
            </a:pPr>
            <a:r>
              <a:rPr lang="en-US" sz="3200" dirty="0"/>
              <a:t>  might read if I had time</a:t>
            </a:r>
          </a:p>
          <a:p>
            <a:pPr marL="342900" indent="-342900">
              <a:buAutoNum type="arabicParenR"/>
            </a:pPr>
            <a:r>
              <a:rPr lang="en-US" sz="3200" dirty="0"/>
              <a:t>  not likely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972942"/>
            <a:ext cx="7772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Remember, we are all busy and no one can read everything.  There are 12 journals, so you must choose </a:t>
            </a:r>
            <a:r>
              <a:rPr lang="en-US" sz="2800" b="1" dirty="0">
                <a:solidFill>
                  <a:srgbClr val="C00000"/>
                </a:solidFill>
              </a:rPr>
              <a:t>4 to read, 4 “maybes” and 4 that you’d skip.  </a:t>
            </a:r>
          </a:p>
        </p:txBody>
      </p:sp>
    </p:spTree>
    <p:extLst>
      <p:ext uri="{BB962C8B-B14F-4D97-AF65-F5344CB8AC3E}">
        <p14:creationId xmlns:p14="http://schemas.microsoft.com/office/powerpoint/2010/main" val="1820954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364" y="685800"/>
            <a:ext cx="8001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				</a:t>
            </a:r>
            <a:r>
              <a:rPr lang="en-US" sz="2400" b="1" dirty="0">
                <a:solidFill>
                  <a:srgbClr val="FF0000"/>
                </a:solidFill>
              </a:rPr>
              <a:t>Would you read this journal:</a:t>
            </a:r>
          </a:p>
          <a:p>
            <a:r>
              <a:rPr lang="en-US" sz="2400" b="1" u="sng" dirty="0"/>
              <a:t>Journal title			                  Yes          Maybe	       Not Likely</a:t>
            </a:r>
          </a:p>
          <a:p>
            <a:r>
              <a:rPr lang="en-US" sz="2400" dirty="0"/>
              <a:t>Marine Biology</a:t>
            </a:r>
          </a:p>
          <a:p>
            <a:r>
              <a:rPr lang="en-US" sz="2400" dirty="0"/>
              <a:t>Freshwater Biology</a:t>
            </a:r>
          </a:p>
          <a:p>
            <a:r>
              <a:rPr lang="en-US" sz="2400" dirty="0"/>
              <a:t>Animal </a:t>
            </a:r>
            <a:r>
              <a:rPr lang="en-US" sz="2400" dirty="0" err="1"/>
              <a:t>Behaviour</a:t>
            </a:r>
            <a:endParaRPr lang="en-US" sz="2400" dirty="0"/>
          </a:p>
          <a:p>
            <a:r>
              <a:rPr lang="en-US" sz="2400" dirty="0"/>
              <a:t>Ecological Modeling </a:t>
            </a:r>
          </a:p>
          <a:p>
            <a:r>
              <a:rPr lang="en-US" sz="2400" dirty="0"/>
              <a:t>Ecology</a:t>
            </a:r>
          </a:p>
          <a:p>
            <a:r>
              <a:rPr lang="en-US" sz="2400" dirty="0"/>
              <a:t>Molecular Ecology</a:t>
            </a:r>
          </a:p>
          <a:p>
            <a:r>
              <a:rPr lang="en-US" sz="2400" dirty="0"/>
              <a:t>Journal of Fish Biology</a:t>
            </a:r>
          </a:p>
          <a:p>
            <a:r>
              <a:rPr lang="en-US" sz="2400" dirty="0"/>
              <a:t>Journal of Crustacean Biology</a:t>
            </a:r>
          </a:p>
          <a:p>
            <a:r>
              <a:rPr lang="en-US" sz="2400" dirty="0"/>
              <a:t>Journal of Fish Diseases</a:t>
            </a:r>
          </a:p>
          <a:p>
            <a:r>
              <a:rPr lang="en-US" sz="2400" dirty="0"/>
              <a:t>Science</a:t>
            </a:r>
          </a:p>
          <a:p>
            <a:r>
              <a:rPr lang="en-US" sz="2400" dirty="0"/>
              <a:t>Canadian Journal of Zoology</a:t>
            </a:r>
          </a:p>
          <a:p>
            <a:r>
              <a:rPr lang="en-US" sz="2400" dirty="0"/>
              <a:t>Canadian Journal of Fisheries</a:t>
            </a:r>
          </a:p>
          <a:p>
            <a:r>
              <a:rPr lang="en-US" sz="2400" dirty="0"/>
              <a:t>	and Aquatic Sciences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4343400" y="1143000"/>
            <a:ext cx="76296" cy="5181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858000" y="1143000"/>
            <a:ext cx="76200" cy="51751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486400" y="1143000"/>
            <a:ext cx="76200" cy="51751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8305800" y="1143000"/>
            <a:ext cx="76200" cy="51751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27364" y="18288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33400" y="22098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33400" y="44196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33400" y="40386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33400" y="25908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33400" y="29718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33400" y="32766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33400" y="36576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33400" y="48006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33400" y="51054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33400" y="54864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33400" y="6324600"/>
            <a:ext cx="78165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727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A3043-836D-404D-9620-0F26C499C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Let’s hear your ideas!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963CB-4286-404C-BA2D-1B7751BA4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231752"/>
            <a:ext cx="7886700" cy="3261122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/>
              <a:t>Let’s narrow down your ideas into a question and a set of testable hypotheses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29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98E7-EFB8-D847-9D60-DD09D9A8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Project titles from last quarter </a:t>
            </a:r>
            <a:r>
              <a:rPr lang="en-US" sz="3200" dirty="0">
                <a:solidFill>
                  <a:srgbClr val="C00000"/>
                </a:solidFill>
              </a:rPr>
              <a:t>(and where they found their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7F0D-974B-6742-B4D8-031464ABB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8051116" cy="4667249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Analysis of Invasive European Green Crab Diet and Impact on Atlantic Ocean Ecosystems </a:t>
            </a:r>
            <a:r>
              <a:rPr lang="en-US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– </a:t>
            </a:r>
            <a:r>
              <a:rPr lang="en-US" sz="1800" dirty="0">
                <a:solidFill>
                  <a:srgbClr val="8C0019"/>
                </a:solidFill>
                <a:effectLst/>
                <a:ea typeface="Times New Roman" panose="02020603050405020304" pitchFamily="18" charset="0"/>
              </a:rPr>
              <a:t>Several unique peer reviewed studies combined</a:t>
            </a:r>
            <a:endParaRPr lang="en-US" dirty="0">
              <a:solidFill>
                <a:srgbClr val="8C0019"/>
              </a:solidFill>
            </a:endParaRPr>
          </a:p>
          <a:p>
            <a:pPr marL="0" marR="0" indent="-127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  </a:t>
            </a:r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Niche Partitioning of Jellyfish in the Puget Sound </a:t>
            </a:r>
            <a:r>
              <a:rPr lang="en-US" sz="1800" b="1" dirty="0">
                <a:solidFill>
                  <a:srgbClr val="8C0019"/>
                </a:solidFill>
                <a:effectLst/>
                <a:ea typeface="Times New Roman" panose="02020603050405020304" pitchFamily="18" charset="0"/>
              </a:rPr>
              <a:t>–</a:t>
            </a:r>
            <a:r>
              <a:rPr lang="en-US" sz="1800" dirty="0">
                <a:solidFill>
                  <a:srgbClr val="8C0019"/>
                </a:solidFill>
                <a:effectLst/>
                <a:ea typeface="Times New Roman" panose="02020603050405020304" pitchFamily="18" charset="0"/>
              </a:rPr>
              <a:t> dataset from Luke</a:t>
            </a:r>
          </a:p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Change in Freshwater Fish Aggression from Increased Temperature </a:t>
            </a:r>
            <a:r>
              <a:rPr lang="en-US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- </a:t>
            </a:r>
            <a:r>
              <a:rPr lang="en-US" sz="1800" dirty="0">
                <a:solidFill>
                  <a:srgbClr val="8C0019"/>
                </a:solidFill>
                <a:effectLst/>
                <a:ea typeface="Times New Roman" panose="02020603050405020304" pitchFamily="18" charset="0"/>
              </a:rPr>
              <a:t>Several unique peer reviewed studies</a:t>
            </a:r>
          </a:p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Small body size as a contributing factor of symbiosis in Gobies and Wrasses</a:t>
            </a:r>
            <a:r>
              <a:rPr lang="en-US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– </a:t>
            </a:r>
            <a:r>
              <a:rPr lang="en-US" sz="1800" dirty="0">
                <a:solidFill>
                  <a:srgbClr val="8C0019"/>
                </a:solidFill>
                <a:ea typeface="Times New Roman" panose="02020603050405020304" pitchFamily="18" charset="0"/>
              </a:rPr>
              <a:t>literature review, </a:t>
            </a:r>
            <a:r>
              <a:rPr lang="en-US" sz="1800" dirty="0" err="1">
                <a:solidFill>
                  <a:srgbClr val="8C0019"/>
                </a:solidFill>
                <a:ea typeface="Times New Roman" panose="02020603050405020304" pitchFamily="18" charset="0"/>
              </a:rPr>
              <a:t>Fishbase</a:t>
            </a:r>
            <a:r>
              <a:rPr lang="en-US" sz="1800" dirty="0">
                <a:solidFill>
                  <a:srgbClr val="8C0019"/>
                </a:solidFill>
                <a:ea typeface="Times New Roman" panose="02020603050405020304" pitchFamily="18" charset="0"/>
              </a:rPr>
              <a:t> for body size</a:t>
            </a:r>
          </a:p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Fisheries Management Plan effects on Horseshoe crabs </a:t>
            </a:r>
            <a:r>
              <a:rPr lang="en-US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–</a:t>
            </a:r>
            <a:r>
              <a:rPr lang="en-US" sz="1800" dirty="0">
                <a:solidFill>
                  <a:srgbClr val="8C0019"/>
                </a:solidFill>
                <a:effectLst/>
                <a:ea typeface="Times New Roman" panose="02020603050405020304" pitchFamily="18" charset="0"/>
              </a:rPr>
              <a:t> NOAA </a:t>
            </a:r>
          </a:p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Habitat Partitioning in Puget Sound Flatfishes </a:t>
            </a:r>
            <a:r>
              <a:rPr lang="en-US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– </a:t>
            </a:r>
            <a:r>
              <a:rPr lang="en-US" sz="1800" dirty="0">
                <a:solidFill>
                  <a:srgbClr val="8C0019"/>
                </a:solidFill>
                <a:effectLst/>
                <a:ea typeface="Times New Roman" panose="02020603050405020304" pitchFamily="18" charset="0"/>
              </a:rPr>
              <a:t>WDFD commercial fishing data</a:t>
            </a:r>
          </a:p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Human population density impacts on freshwater macroinvertebrates - </a:t>
            </a:r>
            <a:r>
              <a:rPr lang="en-US" sz="1800" dirty="0">
                <a:solidFill>
                  <a:srgbClr val="8C0019"/>
                </a:solidFill>
                <a:effectLst/>
                <a:ea typeface="Times New Roman" panose="02020603050405020304" pitchFamily="18" charset="0"/>
              </a:rPr>
              <a:t>King County Benthic Macroinvertebrate Ambient Monitoring Program</a:t>
            </a:r>
            <a:r>
              <a:rPr lang="en-US" sz="1200" dirty="0">
                <a:solidFill>
                  <a:srgbClr val="8C0019"/>
                </a:solidFill>
                <a:effectLst/>
              </a:rPr>
              <a:t> </a:t>
            </a:r>
          </a:p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Comparing PCB</a:t>
            </a:r>
            <a:r>
              <a:rPr lang="en-US" sz="1800" b="1" dirty="0">
                <a:solidFill>
                  <a:srgbClr val="000000"/>
                </a:solidFill>
                <a:ea typeface="Times New Roman" panose="02020603050405020304" pitchFamily="18" charset="0"/>
              </a:rPr>
              <a:t>s in Puget Sound Fishes </a:t>
            </a:r>
            <a:r>
              <a:rPr lang="en-US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– W</a:t>
            </a:r>
            <a:r>
              <a:rPr lang="en-US" sz="1800" dirty="0">
                <a:solidFill>
                  <a:srgbClr val="8C0019"/>
                </a:solidFill>
                <a:ea typeface="Times New Roman" panose="02020603050405020304" pitchFamily="18" charset="0"/>
              </a:rPr>
              <a:t>DFW/Luke</a:t>
            </a:r>
          </a:p>
          <a:p>
            <a:r>
              <a:rPr lang="en-US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Top down vs </a:t>
            </a:r>
            <a:r>
              <a:rPr lang="en-US" sz="1800" b="1" dirty="0">
                <a:solidFill>
                  <a:srgbClr val="000000"/>
                </a:solidFill>
                <a:ea typeface="Times New Roman" panose="02020603050405020304" pitchFamily="18" charset="0"/>
              </a:rPr>
              <a:t>Bottom up population control in three North Atlantic fishes </a:t>
            </a:r>
            <a:r>
              <a:rPr lang="en-US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- </a:t>
            </a:r>
            <a:r>
              <a:rPr lang="en-US" sz="1800" dirty="0">
                <a:solidFill>
                  <a:srgbClr val="8C0019"/>
                </a:solidFill>
                <a:ea typeface="Times New Roman" panose="02020603050405020304" pitchFamily="18" charset="0"/>
              </a:rPr>
              <a:t>NOAA</a:t>
            </a:r>
            <a:endParaRPr lang="en-US" sz="1800" dirty="0">
              <a:solidFill>
                <a:srgbClr val="8C0019"/>
              </a:solidFill>
              <a:effectLst/>
              <a:ea typeface="Times New Roman" panose="02020603050405020304" pitchFamily="18" charset="0"/>
            </a:endParaRPr>
          </a:p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3085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E98E7-EFB8-D847-9D60-DD09D9A8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Project titles from previous quarters </a:t>
            </a:r>
            <a:r>
              <a:rPr lang="en-US" sz="3200" dirty="0">
                <a:solidFill>
                  <a:srgbClr val="C00000"/>
                </a:solidFill>
              </a:rPr>
              <a:t>(and where they found their data)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7F0D-974B-6742-B4D8-031464ABB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8051116" cy="466724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Infection Rate Factors of Stony Coral Tissue Loss Disease in the Florida Keys and Caribbean- </a:t>
            </a:r>
            <a:r>
              <a:rPr lang="en-US" dirty="0">
                <a:solidFill>
                  <a:srgbClr val="C00000"/>
                </a:solidFill>
              </a:rPr>
              <a:t>NOAA</a:t>
            </a:r>
          </a:p>
          <a:p>
            <a:pPr lvl="0"/>
            <a:r>
              <a:rPr lang="en-US" dirty="0"/>
              <a:t>Effects of Abiotic Factors on the Foraging Behavior of</a:t>
            </a:r>
            <a:r>
              <a:rPr lang="en-US" i="1" dirty="0"/>
              <a:t> Enhydra </a:t>
            </a:r>
            <a:r>
              <a:rPr lang="en-US" i="1" dirty="0" err="1"/>
              <a:t>lutra</a:t>
            </a:r>
            <a:r>
              <a:rPr lang="en-US" i="1" dirty="0"/>
              <a:t>- </a:t>
            </a:r>
            <a:r>
              <a:rPr lang="en-US" dirty="0">
                <a:solidFill>
                  <a:srgbClr val="C00000"/>
                </a:solidFill>
              </a:rPr>
              <a:t>WA state monitoring data</a:t>
            </a:r>
            <a:endParaRPr lang="en-US" dirty="0"/>
          </a:p>
          <a:p>
            <a:pPr lvl="0"/>
            <a:r>
              <a:rPr lang="en-US" dirty="0"/>
              <a:t>Mercury Content of Puget Sound Rockfish- </a:t>
            </a:r>
            <a:r>
              <a:rPr lang="en-US" dirty="0">
                <a:solidFill>
                  <a:srgbClr val="C00000"/>
                </a:solidFill>
              </a:rPr>
              <a:t>Puget Sound Ambient Monitoring Program</a:t>
            </a:r>
          </a:p>
          <a:p>
            <a:pPr lvl="0"/>
            <a:r>
              <a:rPr lang="en-US" dirty="0"/>
              <a:t>Impact of Volcanic Activity on Phytoplankton Blooms in the Bering Sea-</a:t>
            </a:r>
            <a:r>
              <a:rPr lang="en-US" dirty="0">
                <a:solidFill>
                  <a:srgbClr val="C00000"/>
                </a:solidFill>
              </a:rPr>
              <a:t> combo of Alaskan Volcanic Observatory and NOAA data</a:t>
            </a:r>
          </a:p>
          <a:p>
            <a:pPr lvl="0"/>
            <a:r>
              <a:rPr lang="en-US" dirty="0"/>
              <a:t>Effects of physical water conditions on </a:t>
            </a:r>
            <a:r>
              <a:rPr lang="en-US" i="1" dirty="0" err="1"/>
              <a:t>Neocaridina</a:t>
            </a:r>
            <a:r>
              <a:rPr lang="en-US" dirty="0"/>
              <a:t> invasions in the rivers of Hiroshima Prefecture- </a:t>
            </a:r>
            <a:r>
              <a:rPr lang="en-US" dirty="0">
                <a:solidFill>
                  <a:srgbClr val="C00000"/>
                </a:solidFill>
              </a:rPr>
              <a:t>data from a peer-reviewed study</a:t>
            </a:r>
          </a:p>
        </p:txBody>
      </p:sp>
    </p:spTree>
    <p:extLst>
      <p:ext uri="{BB962C8B-B14F-4D97-AF65-F5344CB8AC3E}">
        <p14:creationId xmlns:p14="http://schemas.microsoft.com/office/powerpoint/2010/main" val="3586764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B7F0D-974B-6742-B4D8-031464ABB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Decoding the Population Decline of Dungeness Crab, </a:t>
            </a:r>
            <a:r>
              <a:rPr lang="en-US" i="1" dirty="0"/>
              <a:t>C. magister</a:t>
            </a:r>
            <a:r>
              <a:rPr lang="en-US" dirty="0"/>
              <a:t>, in South Puget Sound- </a:t>
            </a:r>
            <a:r>
              <a:rPr lang="en-US" dirty="0">
                <a:solidFill>
                  <a:srgbClr val="C00000"/>
                </a:solidFill>
              </a:rPr>
              <a:t>WA Dept Fish and Wildlife</a:t>
            </a:r>
          </a:p>
          <a:p>
            <a:pPr lvl="0"/>
            <a:r>
              <a:rPr lang="en-US" dirty="0"/>
              <a:t>Effects of Skagit River discharge on steelhead smolt outmigration- </a:t>
            </a:r>
            <a:r>
              <a:rPr lang="en-US" dirty="0">
                <a:solidFill>
                  <a:srgbClr val="C00000"/>
                </a:solidFill>
              </a:rPr>
              <a:t>combo USGS and WDFW</a:t>
            </a:r>
          </a:p>
          <a:p>
            <a:pPr lvl="0"/>
            <a:r>
              <a:rPr lang="en-US" dirty="0"/>
              <a:t>Relative Brain Size and Other Factors Contributing to Cetacean Extinction- </a:t>
            </a:r>
            <a:r>
              <a:rPr lang="en-US" dirty="0">
                <a:solidFill>
                  <a:srgbClr val="C00000"/>
                </a:solidFill>
              </a:rPr>
              <a:t>combo IUCN and data from a peer-reviewed study</a:t>
            </a:r>
          </a:p>
          <a:p>
            <a:pPr lvl="0"/>
            <a:r>
              <a:rPr lang="en-US" dirty="0"/>
              <a:t>East and West Coast Analysis of the Effectiveness of Marine Protected Areas- </a:t>
            </a:r>
            <a:r>
              <a:rPr lang="en-US" dirty="0">
                <a:solidFill>
                  <a:srgbClr val="C00000"/>
                </a:solidFill>
              </a:rPr>
              <a:t>data from peer-reviewed studies</a:t>
            </a:r>
          </a:p>
          <a:p>
            <a:pPr lvl="0"/>
            <a:r>
              <a:rPr lang="en-US" dirty="0"/>
              <a:t>Effect of </a:t>
            </a:r>
            <a:r>
              <a:rPr lang="en-US" i="1" dirty="0" err="1"/>
              <a:t>Procambarus</a:t>
            </a:r>
            <a:r>
              <a:rPr lang="en-US" i="1" dirty="0"/>
              <a:t> </a:t>
            </a:r>
            <a:r>
              <a:rPr lang="en-US" i="1" dirty="0" err="1"/>
              <a:t>clarkii</a:t>
            </a:r>
            <a:r>
              <a:rPr lang="en-US" dirty="0"/>
              <a:t> on Abundance of Trichopterans and Diversity of Macroinvertebrates in Pine Lake, Washington- </a:t>
            </a:r>
            <a:r>
              <a:rPr lang="en-US" dirty="0">
                <a:solidFill>
                  <a:srgbClr val="C00000"/>
                </a:solidFill>
              </a:rPr>
              <a:t>Puget Sound Benthos Survey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6061608-97F5-7641-BDC4-2C798DF3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Project titles from previous quarters</a:t>
            </a:r>
            <a:r>
              <a:rPr lang="en-US" sz="3200" dirty="0">
                <a:solidFill>
                  <a:srgbClr val="C00000"/>
                </a:solidFill>
              </a:rPr>
              <a:t>(and where they found their data)</a:t>
            </a:r>
          </a:p>
        </p:txBody>
      </p:sp>
    </p:spTree>
    <p:extLst>
      <p:ext uri="{BB962C8B-B14F-4D97-AF65-F5344CB8AC3E}">
        <p14:creationId xmlns:p14="http://schemas.microsoft.com/office/powerpoint/2010/main" val="2705226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609080-1F8F-2292-691F-AD70A1B3143C}"/>
              </a:ext>
            </a:extLst>
          </p:cNvPr>
          <p:cNvSpPr txBox="1"/>
          <p:nvPr/>
        </p:nvSpPr>
        <p:spPr>
          <a:xfrm>
            <a:off x="506895" y="1720840"/>
            <a:ext cx="76133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Continue thinking about your question and make it more focused. After thinking about sources of data and potential limitations, </a:t>
            </a:r>
            <a:r>
              <a:rPr lang="en-US" sz="3600" b="1" dirty="0">
                <a:solidFill>
                  <a:srgbClr val="C00000"/>
                </a:solidFill>
              </a:rPr>
              <a:t>write down your more focused question</a:t>
            </a:r>
            <a:r>
              <a:rPr lang="en-US" sz="3600" dirty="0">
                <a:solidFill>
                  <a:srgbClr val="C00000"/>
                </a:solidFill>
              </a:rPr>
              <a:t> </a:t>
            </a:r>
            <a:r>
              <a:rPr lang="en-US" sz="3600" dirty="0"/>
              <a:t>and hypotheses and </a:t>
            </a:r>
            <a:r>
              <a:rPr lang="en-US" sz="3600" b="1" dirty="0">
                <a:solidFill>
                  <a:srgbClr val="C00000"/>
                </a:solidFill>
              </a:rPr>
              <a:t>be prepared to share next class.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C7DFE8-0237-AE4B-E4F4-92628AE3C5BE}"/>
              </a:ext>
            </a:extLst>
          </p:cNvPr>
          <p:cNvSpPr txBox="1"/>
          <p:nvPr/>
        </p:nvSpPr>
        <p:spPr>
          <a:xfrm>
            <a:off x="2842591" y="298174"/>
            <a:ext cx="31563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For Tuesday</a:t>
            </a:r>
          </a:p>
        </p:txBody>
      </p:sp>
    </p:spTree>
    <p:extLst>
      <p:ext uri="{BB962C8B-B14F-4D97-AF65-F5344CB8AC3E}">
        <p14:creationId xmlns:p14="http://schemas.microsoft.com/office/powerpoint/2010/main" val="3032876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</TotalTime>
  <Words>1620</Words>
  <Application>Microsoft Macintosh PowerPoint</Application>
  <PresentationFormat>On-screen Show (4:3)</PresentationFormat>
  <Paragraphs>199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Office Theme</vt:lpstr>
      <vt:lpstr>“Mommy, where do scientific journal articles come from?”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hear your ideas!</vt:lpstr>
      <vt:lpstr>Project titles from last quarter (and where they found their data)</vt:lpstr>
      <vt:lpstr>Project titles from previous quarters (and where they found their data)</vt:lpstr>
      <vt:lpstr>Project titles from previous quarters(and where they found their data)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Miller, Elizabeth Christina - (ecmiller)</dc:creator>
  <cp:lastModifiedBy>Luke M. Tornabene</cp:lastModifiedBy>
  <cp:revision>54</cp:revision>
  <dcterms:created xsi:type="dcterms:W3CDTF">2020-01-09T05:21:28Z</dcterms:created>
  <dcterms:modified xsi:type="dcterms:W3CDTF">2025-01-09T20:09:02Z</dcterms:modified>
</cp:coreProperties>
</file>
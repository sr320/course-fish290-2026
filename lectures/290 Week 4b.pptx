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1122362"/>
            <a:ext cx="77724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143000" y="3602037"/>
            <a:ext cx="6858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623887" y="1709739"/>
            <a:ext cx="7886701"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623887" y="4589464"/>
            <a:ext cx="7886701" cy="1500189"/>
          </a:xfrm>
          <a:prstGeom prst="rect">
            <a:avLst/>
          </a:prstGeom>
        </p:spPr>
        <p:txBody>
          <a:bodyPr/>
          <a:lstStyle>
            <a:lvl1pPr marL="0" indent="0">
              <a:buSzTx/>
              <a:buFontTx/>
              <a:buNone/>
              <a:defRPr sz="2400"/>
            </a:lvl1pPr>
            <a:lvl2pPr marL="0" indent="0">
              <a:buSzTx/>
              <a:buFontTx/>
              <a:buNone/>
              <a:defRPr sz="2400"/>
            </a:lvl2pPr>
            <a:lvl3pPr marL="0" indent="0">
              <a:buSzTx/>
              <a:buFontTx/>
              <a:buNone/>
              <a:defRPr sz="2400"/>
            </a:lvl3pPr>
            <a:lvl4pPr marL="0" indent="0">
              <a:buSzTx/>
              <a:buFontTx/>
              <a:buNone/>
              <a:defRPr sz="2400"/>
            </a:lvl4pPr>
            <a:lvl5pPr marL="0" indent="0">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628650" y="1825625"/>
            <a:ext cx="38862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629841" y="365125"/>
            <a:ext cx="7886701" cy="1325564"/>
          </a:xfrm>
          <a:prstGeom prst="rect">
            <a:avLst/>
          </a:prstGeom>
        </p:spPr>
        <p:txBody>
          <a:bodyPr/>
          <a:lstStyle/>
          <a:p>
            <a:pPr/>
            <a:r>
              <a:t>Title Text</a:t>
            </a:r>
          </a:p>
        </p:txBody>
      </p:sp>
      <p:sp>
        <p:nvSpPr>
          <p:cNvPr id="48" name="Body Level One…"/>
          <p:cNvSpPr txBox="1"/>
          <p:nvPr>
            <p:ph type="body" sz="quarter" idx="1"/>
          </p:nvPr>
        </p:nvSpPr>
        <p:spPr>
          <a:xfrm>
            <a:off x="629841" y="1681163"/>
            <a:ext cx="3868342" cy="823914"/>
          </a:xfrm>
          <a:prstGeom prst="rect">
            <a:avLst/>
          </a:prstGeom>
        </p:spPr>
        <p:txBody>
          <a:bodyPr anchor="b"/>
          <a:lstStyle>
            <a:lvl1pPr marL="0" indent="0">
              <a:buSzTx/>
              <a:buFontTx/>
              <a:buNone/>
              <a:defRPr b="1" sz="2400"/>
            </a:lvl1pPr>
            <a:lvl2pPr marL="0" indent="0">
              <a:buSzTx/>
              <a:buFontTx/>
              <a:buNone/>
              <a:defRPr b="1" sz="2400"/>
            </a:lvl2pPr>
            <a:lvl3pPr marL="0" indent="0">
              <a:buSzTx/>
              <a:buFontTx/>
              <a:buNone/>
              <a:defRPr b="1" sz="2400"/>
            </a:lvl3pPr>
            <a:lvl4pPr marL="0" indent="0">
              <a:buSzTx/>
              <a:buFontTx/>
              <a:buNone/>
              <a:defRPr b="1" sz="2400"/>
            </a:lvl4pPr>
            <a:lvl5pPr marL="0" indent="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29148" y="1681163"/>
            <a:ext cx="3887394" cy="823914"/>
          </a:xfrm>
          <a:prstGeom prst="rect">
            <a:avLst/>
          </a:prstGeom>
        </p:spPr>
        <p:txBody>
          <a:bodyPr anchor="b"/>
          <a:lstStyle/>
          <a:p>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3887391" y="987425"/>
            <a:ext cx="4629152" cy="4873627"/>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629839" y="2057400"/>
            <a:ext cx="2949182" cy="3811588"/>
          </a:xfrm>
          <a:prstGeom prst="rect">
            <a:avLst/>
          </a:prstGeom>
        </p:spPr>
        <p:txBody>
          <a:bodyPr/>
          <a:lstStyle/>
          <a:p>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629841" y="457200"/>
            <a:ext cx="2949178"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3887391" y="987425"/>
            <a:ext cx="4629152" cy="4873627"/>
          </a:xfrm>
          <a:prstGeom prst="rect">
            <a:avLst/>
          </a:prstGeom>
        </p:spPr>
        <p:txBody>
          <a:bodyPr lIns="91439" tIns="45719" rIns="91439" bIns="45719">
            <a:noAutofit/>
          </a:bodyPr>
          <a:lstStyle/>
          <a:p>
            <a:pPr/>
          </a:p>
        </p:txBody>
      </p:sp>
      <p:sp>
        <p:nvSpPr>
          <p:cNvPr id="84" name="Body Level One…"/>
          <p:cNvSpPr txBox="1"/>
          <p:nvPr>
            <p:ph type="body" sz="quarter" idx="1"/>
          </p:nvPr>
        </p:nvSpPr>
        <p:spPr>
          <a:xfrm>
            <a:off x="629841" y="2057400"/>
            <a:ext cx="2949178"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28650" y="365125"/>
            <a:ext cx="7886700" cy="132556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3" name="Body Level One…"/>
          <p:cNvSpPr txBox="1"/>
          <p:nvPr>
            <p:ph type="body" idx="1"/>
          </p:nvPr>
        </p:nvSpPr>
        <p:spPr>
          <a:xfrm>
            <a:off x="628650" y="1825625"/>
            <a:ext cx="7886700" cy="435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256728" y="6414762"/>
            <a:ext cx="258623" cy="248304"/>
          </a:xfrm>
          <a:prstGeom prst="rect">
            <a:avLst/>
          </a:prstGeom>
          <a:ln w="12700">
            <a:miter lim="400000"/>
          </a:ln>
        </p:spPr>
        <p:txBody>
          <a:bodyPr wrap="none" lIns="45718" tIns="45718" rIns="45718" bIns="45718" anchor="ctr">
            <a:spAutoFit/>
          </a:bodyPr>
          <a:lstStyle>
            <a:lvl1pPr algn="r">
              <a:defRPr sz="1200">
                <a:solidFill>
                  <a:srgbClr val="888888"/>
                </a:solidFill>
                <a:latin typeface="+mj-lt"/>
                <a:ea typeface="+mj-ea"/>
                <a:cs typeface="+mj-cs"/>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2pPr>
      <a:lvl3pPr marL="1234438" marR="0" indent="-320038"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scribbr.com/citing-sources/apa-vs-mla/"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onlinelibrary.wiley.com/page/journal/10958649/homepage/forauthors.html" TargetMode="External"/><Relationship Id="rId3"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thos.bl.uk/Home.do;jsessionid=DA702A005B56B131D4E776CD6A605544" TargetMode="External"/><Relationship Id="rId3" Type="http://schemas.openxmlformats.org/officeDocument/2006/relationships/hyperlink" Target="https://open.library.ubc.ca/"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ph type="ctrTitle"/>
          </p:nvPr>
        </p:nvSpPr>
        <p:spPr>
          <a:xfrm>
            <a:off x="685800" y="2652005"/>
            <a:ext cx="7772400" cy="1128564"/>
          </a:xfrm>
          <a:prstGeom prst="rect">
            <a:avLst/>
          </a:prstGeom>
        </p:spPr>
        <p:txBody>
          <a:bodyPr/>
          <a:lstStyle/>
          <a:p>
            <a:pPr defTabSz="484630">
              <a:defRPr sz="2800">
                <a:solidFill>
                  <a:srgbClr val="C00000"/>
                </a:solidFill>
              </a:defRPr>
            </a:pPr>
            <a:r>
              <a:t>Crediting others</a:t>
            </a:r>
            <a:br/>
            <a:br/>
            <a:r>
              <a:rPr sz="1900"/>
              <a:t>References</a:t>
            </a:r>
          </a:p>
        </p:txBody>
      </p:sp>
      <p:sp>
        <p:nvSpPr>
          <p:cNvPr id="95" name="Subtitle 2"/>
          <p:cNvSpPr txBox="1"/>
          <p:nvPr>
            <p:ph type="subTitle" sz="quarter" idx="1"/>
          </p:nvPr>
        </p:nvSpPr>
        <p:spPr>
          <a:xfrm>
            <a:off x="1143000" y="4268384"/>
            <a:ext cx="6858000" cy="1128564"/>
          </a:xfrm>
          <a:prstGeom prst="rect">
            <a:avLst/>
          </a:prstGeom>
        </p:spPr>
        <p:txBody>
          <a:bodyPr/>
          <a:lstStyle/>
          <a:p>
            <a:pPr/>
            <a:r>
              <a:t>Fish 290</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98" name="TextBox 2"/>
          <p:cNvSpPr txBox="1"/>
          <p:nvPr/>
        </p:nvSpPr>
        <p:spPr>
          <a:xfrm>
            <a:off x="674369" y="1800807"/>
            <a:ext cx="7942220" cy="296198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a:latin typeface="+mj-lt"/>
                <a:ea typeface="+mj-ea"/>
                <a:cs typeface="+mj-cs"/>
                <a:sym typeface="Calibri"/>
              </a:defRPr>
            </a:pPr>
            <a:r>
              <a:t>Scientific papers use APA (American Psychological Association) format.</a:t>
            </a:r>
          </a:p>
          <a:p>
            <a:pPr>
              <a:defRPr>
                <a:latin typeface="+mj-lt"/>
                <a:ea typeface="+mj-ea"/>
                <a:cs typeface="+mj-cs"/>
                <a:sym typeface="Calibri"/>
              </a:defRPr>
            </a:pPr>
          </a:p>
          <a:p>
            <a:pPr>
              <a:defRPr>
                <a:latin typeface="+mj-lt"/>
                <a:ea typeface="+mj-ea"/>
                <a:cs typeface="+mj-cs"/>
                <a:sym typeface="Calibri"/>
              </a:defRPr>
            </a:pPr>
            <a:r>
              <a:t>In contrast, you may have used MLA (Modern Language Association) format in Humanities courses.</a:t>
            </a:r>
          </a:p>
          <a:p>
            <a:pPr>
              <a:defRPr>
                <a:latin typeface="+mj-lt"/>
                <a:ea typeface="+mj-ea"/>
                <a:cs typeface="+mj-cs"/>
                <a:sym typeface="Calibri"/>
              </a:defRPr>
            </a:pPr>
          </a:p>
          <a:p>
            <a:pPr>
              <a:defRPr>
                <a:latin typeface="+mj-lt"/>
                <a:ea typeface="+mj-ea"/>
                <a:cs typeface="+mj-cs"/>
                <a:sym typeface="Calibri"/>
              </a:defRPr>
            </a:pPr>
            <a:r>
              <a:t>Differences: </a:t>
            </a:r>
            <a:r>
              <a:rPr u="sng">
                <a:solidFill>
                  <a:srgbClr val="0000FF"/>
                </a:solidFill>
                <a:uFill>
                  <a:solidFill>
                    <a:srgbClr val="0000FF"/>
                  </a:solidFill>
                </a:uFill>
                <a:hlinkClick r:id="rId2" invalidUrl="" action="" tgtFrame="" tooltip="" history="1" highlightClick="0" endSnd="0"/>
              </a:rPr>
              <a:t>https://</a:t>
            </a:r>
            <a:r>
              <a:rPr u="sng">
                <a:solidFill>
                  <a:srgbClr val="0000FF"/>
                </a:solidFill>
                <a:uFill>
                  <a:solidFill>
                    <a:srgbClr val="0000FF"/>
                  </a:solidFill>
                </a:uFill>
                <a:hlinkClick r:id="rId2" invalidUrl="" action="" tgtFrame="" tooltip="" history="1" highlightClick="0" endSnd="0"/>
              </a:rPr>
              <a:t>www.scribbr.com</a:t>
            </a:r>
            <a:r>
              <a:rPr u="sng">
                <a:solidFill>
                  <a:srgbClr val="0000FF"/>
                </a:solidFill>
                <a:uFill>
                  <a:solidFill>
                    <a:srgbClr val="0000FF"/>
                  </a:solidFill>
                </a:uFill>
                <a:hlinkClick r:id="rId2" invalidUrl="" action="" tgtFrame="" tooltip="" history="1" highlightClick="0" endSnd="0"/>
              </a:rPr>
              <a:t>/citing-sources/</a:t>
            </a:r>
            <a:r>
              <a:rPr u="sng">
                <a:solidFill>
                  <a:srgbClr val="0000FF"/>
                </a:solidFill>
                <a:uFill>
                  <a:solidFill>
                    <a:srgbClr val="0000FF"/>
                  </a:solidFill>
                </a:uFill>
                <a:hlinkClick r:id="rId2" invalidUrl="" action="" tgtFrame="" tooltip="" history="1" highlightClick="0" endSnd="0"/>
              </a:rPr>
              <a:t>apa</a:t>
            </a:r>
            <a:r>
              <a:rPr u="sng">
                <a:solidFill>
                  <a:srgbClr val="0000FF"/>
                </a:solidFill>
                <a:uFill>
                  <a:solidFill>
                    <a:srgbClr val="0000FF"/>
                  </a:solidFill>
                </a:uFill>
                <a:hlinkClick r:id="rId2" invalidUrl="" action="" tgtFrame="" tooltip="" history="1" highlightClick="0" endSnd="0"/>
              </a:rPr>
              <a:t>-vs-</a:t>
            </a:r>
            <a:r>
              <a:rPr u="sng">
                <a:solidFill>
                  <a:srgbClr val="0000FF"/>
                </a:solidFill>
                <a:uFill>
                  <a:solidFill>
                    <a:srgbClr val="0000FF"/>
                  </a:solidFill>
                </a:uFill>
                <a:hlinkClick r:id="rId2" invalidUrl="" action="" tgtFrame="" tooltip="" history="1" highlightClick="0" endSnd="0"/>
              </a:rPr>
              <a:t>mla</a:t>
            </a:r>
            <a:r>
              <a:rPr u="sng">
                <a:solidFill>
                  <a:srgbClr val="0000FF"/>
                </a:solidFill>
                <a:uFill>
                  <a:solidFill>
                    <a:srgbClr val="0000FF"/>
                  </a:solidFill>
                </a:uFill>
                <a:hlinkClick r:id="rId2" invalidUrl="" action="" tgtFrame="" tooltip="" history="1" highlightClick="0" endSnd="0"/>
              </a:rPr>
              <a:t>/</a:t>
            </a:r>
          </a:p>
          <a:p>
            <a:pPr>
              <a:defRPr>
                <a:latin typeface="+mj-lt"/>
                <a:ea typeface="+mj-ea"/>
                <a:cs typeface="+mj-cs"/>
                <a:sym typeface="Calibri"/>
              </a:defRPr>
            </a:pPr>
          </a:p>
          <a:p>
            <a:pPr>
              <a:defRPr>
                <a:latin typeface="+mj-lt"/>
                <a:ea typeface="+mj-ea"/>
                <a:cs typeface="+mj-cs"/>
                <a:sym typeface="Calibri"/>
              </a:defRPr>
            </a:pPr>
          </a:p>
          <a:p>
            <a:pPr>
              <a:defRPr>
                <a:latin typeface="+mj-lt"/>
                <a:ea typeface="+mj-ea"/>
                <a:cs typeface="+mj-cs"/>
                <a:sym typeface="Calibri"/>
              </a:defRPr>
            </a:pPr>
            <a:r>
              <a:t>Note that </a:t>
            </a:r>
            <a:r>
              <a:rPr b="1"/>
              <a:t>in-text quotations </a:t>
            </a:r>
            <a:r>
              <a:t>of other references</a:t>
            </a:r>
            <a:r>
              <a:rPr b="1"/>
              <a:t> </a:t>
            </a:r>
            <a:r>
              <a:t>are common in Humanities, but </a:t>
            </a:r>
            <a:r>
              <a:rPr b="1"/>
              <a:t>are not customary in scientific writing.</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01" name="TextBox 2"/>
          <p:cNvSpPr txBox="1"/>
          <p:nvPr/>
        </p:nvSpPr>
        <p:spPr>
          <a:xfrm>
            <a:off x="674369" y="1810138"/>
            <a:ext cx="7942220" cy="439148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In-Text citations:</a:t>
            </a:r>
          </a:p>
          <a:p>
            <a:pPr>
              <a:defRPr sz="2400">
                <a:latin typeface="+mj-lt"/>
                <a:ea typeface="+mj-ea"/>
                <a:cs typeface="+mj-cs"/>
                <a:sym typeface="Calibri"/>
              </a:defRPr>
            </a:pPr>
            <a:r>
              <a:t>Cite in-text to:</a:t>
            </a:r>
          </a:p>
          <a:p>
            <a:pPr marL="342900" indent="-342900">
              <a:buSzPct val="100000"/>
              <a:buFont typeface="Arial"/>
              <a:buChar char="•"/>
              <a:defRPr sz="2400">
                <a:latin typeface="+mj-lt"/>
                <a:ea typeface="+mj-ea"/>
                <a:cs typeface="+mj-cs"/>
                <a:sym typeface="Calibri"/>
              </a:defRPr>
            </a:pPr>
            <a:r>
              <a:t>Give credit to ideas that precede your study</a:t>
            </a:r>
          </a:p>
          <a:p>
            <a:pPr marL="342900" indent="-342900">
              <a:buSzPct val="100000"/>
              <a:buFont typeface="Arial"/>
              <a:buChar char="•"/>
              <a:defRPr sz="2400">
                <a:latin typeface="+mj-lt"/>
                <a:ea typeface="+mj-ea"/>
                <a:cs typeface="+mj-cs"/>
                <a:sym typeface="Calibri"/>
              </a:defRPr>
            </a:pPr>
            <a:r>
              <a:t>Add credibility (you’re not making things up!)</a:t>
            </a:r>
          </a:p>
          <a:p>
            <a:pPr marL="342900" indent="-342900">
              <a:buSzPct val="100000"/>
              <a:buFont typeface="Arial"/>
              <a:buChar char="•"/>
              <a:defRPr sz="2400">
                <a:latin typeface="+mj-lt"/>
                <a:ea typeface="+mj-ea"/>
                <a:cs typeface="+mj-cs"/>
                <a:sym typeface="Calibri"/>
              </a:defRPr>
            </a:pPr>
            <a:r>
              <a:t>Allow the reader to learn more</a:t>
            </a:r>
          </a:p>
          <a:p>
            <a:pPr marL="342900" indent="-342900">
              <a:buSzPct val="100000"/>
              <a:buFont typeface="Arial"/>
              <a:buChar char="•"/>
              <a:defRPr sz="2400">
                <a:latin typeface="+mj-lt"/>
                <a:ea typeface="+mj-ea"/>
                <a:cs typeface="+mj-cs"/>
                <a:sym typeface="Calibri"/>
              </a:defRPr>
            </a:pPr>
          </a:p>
          <a:p>
            <a:pPr>
              <a:defRPr sz="2400">
                <a:latin typeface="+mj-lt"/>
                <a:ea typeface="+mj-ea"/>
                <a:cs typeface="+mj-cs"/>
                <a:sym typeface="Calibri"/>
              </a:defRPr>
            </a:pPr>
            <a:r>
              <a:t>Always include the authors and year:</a:t>
            </a:r>
          </a:p>
          <a:p>
            <a:pPr marL="457200" indent="-457200">
              <a:buSzPct val="100000"/>
              <a:buAutoNum type="arabicPeriod" startAt="1"/>
              <a:defRPr sz="2400">
                <a:latin typeface="+mj-lt"/>
                <a:ea typeface="+mj-ea"/>
                <a:cs typeface="+mj-cs"/>
                <a:sym typeface="Calibri"/>
              </a:defRPr>
            </a:pPr>
            <a:r>
              <a:t>One author: Moua (2019)</a:t>
            </a:r>
          </a:p>
          <a:p>
            <a:pPr marL="457200" indent="-457200">
              <a:buSzPct val="100000"/>
              <a:buAutoNum type="arabicPeriod" startAt="1"/>
              <a:defRPr sz="2400">
                <a:latin typeface="+mj-lt"/>
                <a:ea typeface="+mj-ea"/>
                <a:cs typeface="+mj-cs"/>
                <a:sym typeface="Calibri"/>
              </a:defRPr>
            </a:pPr>
            <a:r>
              <a:t>Two authors: Moua and Clawson (2019)</a:t>
            </a:r>
          </a:p>
          <a:p>
            <a:pPr marL="457200" indent="-457200">
              <a:buSzPct val="100000"/>
              <a:buAutoNum type="arabicPeriod" startAt="1"/>
              <a:defRPr sz="2400">
                <a:latin typeface="+mj-lt"/>
                <a:ea typeface="+mj-ea"/>
                <a:cs typeface="+mj-cs"/>
                <a:sym typeface="Calibri"/>
              </a:defRPr>
            </a:pPr>
            <a:r>
              <a:t>Three or more authors: Moua et al. (2019)</a:t>
            </a:r>
          </a:p>
          <a:p>
            <a:pPr lvl="1" marL="914400" indent="-457200">
              <a:buSzPct val="100000"/>
              <a:buFont typeface="Arial"/>
              <a:buChar char="•"/>
              <a:defRPr sz="2000">
                <a:latin typeface="+mj-lt"/>
                <a:ea typeface="+mj-ea"/>
                <a:cs typeface="+mj-cs"/>
                <a:sym typeface="Calibri"/>
              </a:defRPr>
            </a:pPr>
            <a:r>
              <a:t>et al. is Latin for “and others”. Notice it is lowercase with period after “al”. This is an abbreviation for “alia” meaning others.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04" name="TextBox 2"/>
          <p:cNvSpPr txBox="1"/>
          <p:nvPr/>
        </p:nvSpPr>
        <p:spPr>
          <a:xfrm>
            <a:off x="674369" y="1549494"/>
            <a:ext cx="7942220" cy="29070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In-Text citations:</a:t>
            </a:r>
          </a:p>
          <a:p>
            <a:pPr>
              <a:defRPr sz="2400">
                <a:latin typeface="+mj-lt"/>
                <a:ea typeface="+mj-ea"/>
                <a:cs typeface="+mj-cs"/>
                <a:sym typeface="Calibri"/>
              </a:defRPr>
            </a:pPr>
            <a:r>
              <a:t>Always include the authors and year:</a:t>
            </a:r>
          </a:p>
          <a:p>
            <a:pPr marL="457200" indent="-457200">
              <a:buSzPct val="100000"/>
              <a:buAutoNum type="arabicPeriod" startAt="1"/>
              <a:defRPr sz="2400">
                <a:latin typeface="+mj-lt"/>
                <a:ea typeface="+mj-ea"/>
                <a:cs typeface="+mj-cs"/>
                <a:sym typeface="Calibri"/>
              </a:defRPr>
            </a:pPr>
            <a:r>
              <a:t>One author: Moua (2019)</a:t>
            </a:r>
          </a:p>
          <a:p>
            <a:pPr marL="457200" indent="-457200">
              <a:buSzPct val="100000"/>
              <a:buAutoNum type="arabicPeriod" startAt="1"/>
              <a:defRPr sz="2400">
                <a:latin typeface="+mj-lt"/>
                <a:ea typeface="+mj-ea"/>
                <a:cs typeface="+mj-cs"/>
                <a:sym typeface="Calibri"/>
              </a:defRPr>
            </a:pPr>
            <a:r>
              <a:t>Two authors: Moua and Clawson (2019)</a:t>
            </a:r>
          </a:p>
          <a:p>
            <a:pPr marL="457200" indent="-457200">
              <a:buSzPct val="100000"/>
              <a:buAutoNum type="arabicPeriod" startAt="1"/>
              <a:defRPr sz="2400">
                <a:latin typeface="+mj-lt"/>
                <a:ea typeface="+mj-ea"/>
                <a:cs typeface="+mj-cs"/>
                <a:sym typeface="Calibri"/>
              </a:defRPr>
            </a:pPr>
            <a:r>
              <a:t>Three or more authors: Moua et al. (2019)</a:t>
            </a:r>
          </a:p>
          <a:p>
            <a:pPr lvl="1" marL="914400" indent="-457200">
              <a:buSzPct val="100000"/>
              <a:buFont typeface="Arial"/>
              <a:buChar char="•"/>
              <a:defRPr sz="2000">
                <a:latin typeface="+mj-lt"/>
                <a:ea typeface="+mj-ea"/>
                <a:cs typeface="+mj-cs"/>
                <a:sym typeface="Calibri"/>
              </a:defRPr>
            </a:pPr>
            <a:r>
              <a:t>et al. is Latin for “and others”. Notice it is lowercase with period after “al”. This is an abbreviation for “alia” meaning others.</a:t>
            </a:r>
          </a:p>
          <a:p>
            <a:pPr marL="457200" indent="-457200">
              <a:buSzPct val="100000"/>
              <a:buAutoNum type="arabicPeriod" startAt="1"/>
              <a:defRPr sz="2400">
                <a:latin typeface="+mj-lt"/>
                <a:ea typeface="+mj-ea"/>
                <a:cs typeface="+mj-cs"/>
                <a:sym typeface="Calibri"/>
              </a:defRPr>
            </a:pPr>
            <a:r>
              <a:t>Note that each journal has minor variation on the format:</a:t>
            </a:r>
          </a:p>
        </p:txBody>
      </p:sp>
      <p:pic>
        <p:nvPicPr>
          <p:cNvPr id="105" name="Picture 4" descr="Picture 4"/>
          <p:cNvPicPr>
            <a:picLocks noChangeAspect="1"/>
          </p:cNvPicPr>
          <p:nvPr/>
        </p:nvPicPr>
        <p:blipFill>
          <a:blip r:embed="rId2">
            <a:extLst/>
          </a:blip>
          <a:stretch>
            <a:fillRect/>
          </a:stretch>
        </p:blipFill>
        <p:spPr>
          <a:xfrm>
            <a:off x="1706971" y="4774693"/>
            <a:ext cx="6196592" cy="944605"/>
          </a:xfrm>
          <a:prstGeom prst="rect">
            <a:avLst/>
          </a:prstGeom>
          <a:ln w="12700">
            <a:miter lim="400000"/>
          </a:ln>
        </p:spPr>
      </p:pic>
      <p:pic>
        <p:nvPicPr>
          <p:cNvPr id="106" name="Picture 10" descr="Picture 10"/>
          <p:cNvPicPr>
            <a:picLocks noChangeAspect="1"/>
          </p:cNvPicPr>
          <p:nvPr/>
        </p:nvPicPr>
        <p:blipFill>
          <a:blip r:embed="rId3">
            <a:extLst/>
          </a:blip>
          <a:stretch>
            <a:fillRect/>
          </a:stretch>
        </p:blipFill>
        <p:spPr>
          <a:xfrm>
            <a:off x="2407246" y="5976220"/>
            <a:ext cx="6751919" cy="881782"/>
          </a:xfrm>
          <a:prstGeom prst="rect">
            <a:avLst/>
          </a:prstGeom>
          <a:ln w="12700">
            <a:miter lim="400000"/>
          </a:ln>
        </p:spPr>
      </p:pic>
      <p:sp>
        <p:nvSpPr>
          <p:cNvPr id="107" name="TextBox 11"/>
          <p:cNvSpPr txBox="1"/>
          <p:nvPr/>
        </p:nvSpPr>
        <p:spPr>
          <a:xfrm>
            <a:off x="1396344" y="4774694"/>
            <a:ext cx="621257" cy="3924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FF0000"/>
                </a:solidFill>
                <a:latin typeface="+mj-lt"/>
                <a:ea typeface="+mj-ea"/>
                <a:cs typeface="+mj-cs"/>
                <a:sym typeface="Calibri"/>
              </a:defRPr>
            </a:lvl1pPr>
          </a:lstStyle>
          <a:p>
            <a:pPr/>
            <a:r>
              <a:t>1:</a:t>
            </a:r>
          </a:p>
        </p:txBody>
      </p:sp>
      <p:sp>
        <p:nvSpPr>
          <p:cNvPr id="108" name="TextBox 12"/>
          <p:cNvSpPr txBox="1"/>
          <p:nvPr/>
        </p:nvSpPr>
        <p:spPr>
          <a:xfrm>
            <a:off x="2031305" y="5830285"/>
            <a:ext cx="621256" cy="3924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2400">
                <a:solidFill>
                  <a:srgbClr val="FF0000"/>
                </a:solidFill>
                <a:latin typeface="+mj-lt"/>
                <a:ea typeface="+mj-ea"/>
                <a:cs typeface="+mj-cs"/>
                <a:sym typeface="Calibri"/>
              </a:defRPr>
            </a:lvl1pPr>
          </a:lstStyle>
          <a:p>
            <a:pPr/>
            <a:r>
              <a:t>2:</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11" name="TextBox 2"/>
          <p:cNvSpPr txBox="1"/>
          <p:nvPr/>
        </p:nvSpPr>
        <p:spPr>
          <a:xfrm>
            <a:off x="674369" y="1549494"/>
            <a:ext cx="7942220" cy="36436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latin typeface="+mj-lt"/>
                <a:ea typeface="+mj-ea"/>
                <a:cs typeface="+mj-cs"/>
                <a:sym typeface="Calibri"/>
              </a:defRPr>
            </a:pPr>
            <a:r>
              <a:t>Jones, R. J. and S. T. Smith. 2005.  Mass mortality of long-spine 	sea urchins: epidemiology and ecological consequences.  	Marine Biology, 74: 345-356.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14" name="TextBox 2"/>
          <p:cNvSpPr txBox="1"/>
          <p:nvPr/>
        </p:nvSpPr>
        <p:spPr>
          <a:xfrm>
            <a:off x="674369" y="1549494"/>
            <a:ext cx="7942220" cy="43802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solidFill>
                  <a:srgbClr val="FF0000"/>
                </a:solidFill>
                <a:latin typeface="+mj-lt"/>
                <a:ea typeface="+mj-ea"/>
                <a:cs typeface="+mj-cs"/>
                <a:sym typeface="Calibri"/>
              </a:defRPr>
            </a:pPr>
            <a:r>
              <a:t>Jones, R. J. and S. T. Smith.</a:t>
            </a:r>
            <a:r>
              <a:rPr>
                <a:solidFill>
                  <a:srgbClr val="000000"/>
                </a:solidFill>
              </a:rPr>
              <a:t> 2005.  Mass mortality of long-spine 	sea urchins: epidemiology and ecological consequences.  	Marine Biology, 74: 345-356. </a:t>
            </a:r>
          </a:p>
          <a:p>
            <a:pPr>
              <a:defRPr sz="2400">
                <a:latin typeface="+mj-lt"/>
                <a:ea typeface="+mj-ea"/>
                <a:cs typeface="+mj-cs"/>
                <a:sym typeface="Calibri"/>
              </a:defRPr>
            </a:pPr>
          </a:p>
          <a:p>
            <a:pPr>
              <a:defRPr sz="2400">
                <a:solidFill>
                  <a:srgbClr val="FF0000"/>
                </a:solidFill>
                <a:latin typeface="+mj-lt"/>
                <a:ea typeface="+mj-ea"/>
                <a:cs typeface="+mj-cs"/>
                <a:sym typeface="Calibri"/>
              </a:defRPr>
            </a:pPr>
            <a:r>
              <a:t>First and middle initials and last names of authors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17" name="TextBox 2"/>
          <p:cNvSpPr txBox="1"/>
          <p:nvPr/>
        </p:nvSpPr>
        <p:spPr>
          <a:xfrm>
            <a:off x="674369" y="1549494"/>
            <a:ext cx="7942220" cy="43802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latin typeface="+mj-lt"/>
                <a:ea typeface="+mj-ea"/>
                <a:cs typeface="+mj-cs"/>
                <a:sym typeface="Calibri"/>
              </a:defRPr>
            </a:pPr>
            <a:r>
              <a:t>Jones, R. J. and S. T. Smith. </a:t>
            </a:r>
            <a:r>
              <a:rPr>
                <a:solidFill>
                  <a:srgbClr val="FF0000"/>
                </a:solidFill>
              </a:rPr>
              <a:t>2005.</a:t>
            </a:r>
            <a:r>
              <a:t>  Mass mortality of long-spine 	sea urchins: epidemiology and ecological consequences.  	Marine Biology, 74: 345-356. </a:t>
            </a:r>
          </a:p>
          <a:p>
            <a:pPr>
              <a:defRPr sz="2400">
                <a:latin typeface="+mj-lt"/>
                <a:ea typeface="+mj-ea"/>
                <a:cs typeface="+mj-cs"/>
                <a:sym typeface="Calibri"/>
              </a:defRPr>
            </a:pPr>
          </a:p>
          <a:p>
            <a:pPr>
              <a:defRPr sz="2400">
                <a:solidFill>
                  <a:srgbClr val="FF0000"/>
                </a:solidFill>
                <a:latin typeface="+mj-lt"/>
                <a:ea typeface="+mj-ea"/>
                <a:cs typeface="+mj-cs"/>
                <a:sym typeface="Calibri"/>
              </a:defRPr>
            </a:pPr>
            <a:r>
              <a:t>Publication year</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20" name="TextBox 2"/>
          <p:cNvSpPr txBox="1"/>
          <p:nvPr/>
        </p:nvSpPr>
        <p:spPr>
          <a:xfrm>
            <a:off x="674369" y="1549494"/>
            <a:ext cx="7942220" cy="43802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latin typeface="+mj-lt"/>
                <a:ea typeface="+mj-ea"/>
                <a:cs typeface="+mj-cs"/>
                <a:sym typeface="Calibri"/>
              </a:defRPr>
            </a:pPr>
            <a:r>
              <a:t>Jones, R. J. and S. T. Smith. 2005.  </a:t>
            </a:r>
            <a:r>
              <a:rPr>
                <a:solidFill>
                  <a:srgbClr val="FF0000"/>
                </a:solidFill>
              </a:rPr>
              <a:t>Mass mortality of long-spine 	sea urchins: epidemiology and ecological consequences.  </a:t>
            </a:r>
            <a:r>
              <a:t>	Marine Biology, 74: 345-356. </a:t>
            </a:r>
          </a:p>
          <a:p>
            <a:pPr>
              <a:defRPr sz="2400">
                <a:latin typeface="+mj-lt"/>
                <a:ea typeface="+mj-ea"/>
                <a:cs typeface="+mj-cs"/>
                <a:sym typeface="Calibri"/>
              </a:defRPr>
            </a:pPr>
          </a:p>
          <a:p>
            <a:pPr>
              <a:defRPr sz="2400">
                <a:solidFill>
                  <a:srgbClr val="FF0000"/>
                </a:solidFill>
                <a:latin typeface="+mj-lt"/>
                <a:ea typeface="+mj-ea"/>
                <a:cs typeface="+mj-cs"/>
                <a:sym typeface="Calibri"/>
              </a:defRPr>
            </a:pPr>
            <a:r>
              <a:t>Title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23" name="TextBox 2"/>
          <p:cNvSpPr txBox="1"/>
          <p:nvPr/>
        </p:nvSpPr>
        <p:spPr>
          <a:xfrm>
            <a:off x="674369" y="1549494"/>
            <a:ext cx="7942220" cy="43802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latin typeface="+mj-lt"/>
                <a:ea typeface="+mj-ea"/>
                <a:cs typeface="+mj-cs"/>
                <a:sym typeface="Calibri"/>
              </a:defRPr>
            </a:pPr>
            <a:r>
              <a:t>Jones, R. J. and S. T. Smith. 2005.  Mass mortality of long-spine 	sea urchins: epidemiology and ecological consequences.  	</a:t>
            </a:r>
            <a:r>
              <a:rPr>
                <a:solidFill>
                  <a:srgbClr val="FF0000"/>
                </a:solidFill>
              </a:rPr>
              <a:t>Marine Biology</a:t>
            </a:r>
            <a:r>
              <a:t>, 74: 345-356. </a:t>
            </a:r>
          </a:p>
          <a:p>
            <a:pPr>
              <a:defRPr sz="2400">
                <a:latin typeface="+mj-lt"/>
                <a:ea typeface="+mj-ea"/>
                <a:cs typeface="+mj-cs"/>
                <a:sym typeface="Calibri"/>
              </a:defRPr>
            </a:pPr>
          </a:p>
          <a:p>
            <a:pPr>
              <a:defRPr sz="2400">
                <a:solidFill>
                  <a:srgbClr val="FF0000"/>
                </a:solidFill>
                <a:latin typeface="+mj-lt"/>
                <a:ea typeface="+mj-ea"/>
                <a:cs typeface="+mj-cs"/>
                <a:sym typeface="Calibri"/>
              </a:defRPr>
            </a:pPr>
            <a:r>
              <a:t>Journal</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26" name="TextBox 2"/>
          <p:cNvSpPr txBox="1"/>
          <p:nvPr/>
        </p:nvSpPr>
        <p:spPr>
          <a:xfrm>
            <a:off x="674369" y="1549494"/>
            <a:ext cx="7942220" cy="43802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latin typeface="+mj-lt"/>
                <a:ea typeface="+mj-ea"/>
                <a:cs typeface="+mj-cs"/>
                <a:sym typeface="Calibri"/>
              </a:defRPr>
            </a:pPr>
            <a:r>
              <a:t>Jones, R. J. and S. T. Smith. 2005.  Mass mortality of long-spine 	sea urchins: epidemiology and ecological consequences.  	Marine Biology, </a:t>
            </a:r>
            <a:r>
              <a:rPr>
                <a:solidFill>
                  <a:srgbClr val="FF0000"/>
                </a:solidFill>
              </a:rPr>
              <a:t>74: </a:t>
            </a:r>
            <a:r>
              <a:t>345-356. </a:t>
            </a:r>
          </a:p>
          <a:p>
            <a:pPr>
              <a:defRPr sz="2400">
                <a:latin typeface="+mj-lt"/>
                <a:ea typeface="+mj-ea"/>
                <a:cs typeface="+mj-cs"/>
                <a:sym typeface="Calibri"/>
              </a:defRPr>
            </a:pPr>
          </a:p>
          <a:p>
            <a:pPr>
              <a:defRPr sz="2400">
                <a:solidFill>
                  <a:srgbClr val="FF0000"/>
                </a:solidFill>
                <a:latin typeface="+mj-lt"/>
                <a:ea typeface="+mj-ea"/>
                <a:cs typeface="+mj-cs"/>
                <a:sym typeface="Calibri"/>
              </a:defRPr>
            </a:pPr>
            <a:r>
              <a:t>Journal volume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29" name="TextBox 2"/>
          <p:cNvSpPr txBox="1"/>
          <p:nvPr/>
        </p:nvSpPr>
        <p:spPr>
          <a:xfrm>
            <a:off x="674369" y="1549494"/>
            <a:ext cx="7942220" cy="47485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The References section:</a:t>
            </a:r>
          </a:p>
          <a:p>
            <a:pPr>
              <a:defRPr b="1" sz="2400">
                <a:solidFill>
                  <a:srgbClr val="FF0000"/>
                </a:solidFill>
                <a:latin typeface="+mj-lt"/>
                <a:ea typeface="+mj-ea"/>
                <a:cs typeface="+mj-cs"/>
                <a:sym typeface="Calibri"/>
              </a:defRPr>
            </a:pPr>
            <a:r>
              <a:t>ALL</a:t>
            </a:r>
            <a:r>
              <a:rPr b="0"/>
              <a:t> </a:t>
            </a:r>
            <a:r>
              <a:rPr b="0">
                <a:solidFill>
                  <a:srgbClr val="000000"/>
                </a:solidFill>
              </a:rPr>
              <a:t>references that you cited in-text </a:t>
            </a:r>
            <a:r>
              <a:t>MUST</a:t>
            </a:r>
            <a:r>
              <a:rPr>
                <a:solidFill>
                  <a:srgbClr val="000000"/>
                </a:solidFill>
              </a:rPr>
              <a:t> </a:t>
            </a:r>
            <a:r>
              <a:rPr b="0">
                <a:solidFill>
                  <a:srgbClr val="000000"/>
                </a:solidFill>
              </a:rPr>
              <a:t>be added here with full-length citation, and </a:t>
            </a:r>
            <a:r>
              <a:t>NOTHING ELSE</a:t>
            </a:r>
          </a:p>
          <a:p>
            <a:pPr>
              <a:defRPr b="1" sz="2400">
                <a:solidFill>
                  <a:srgbClr val="FF0000"/>
                </a:solidFill>
                <a:latin typeface="+mj-lt"/>
                <a:ea typeface="+mj-ea"/>
                <a:cs typeface="+mj-cs"/>
                <a:sym typeface="Calibri"/>
              </a:defRPr>
            </a:pPr>
          </a:p>
          <a:p>
            <a:pPr>
              <a:defRPr b="1" sz="2400">
                <a:solidFill>
                  <a:srgbClr val="FF0000"/>
                </a:solidFill>
                <a:latin typeface="+mj-lt"/>
                <a:ea typeface="+mj-ea"/>
                <a:cs typeface="+mj-cs"/>
                <a:sym typeface="Calibri"/>
              </a:defRPr>
            </a:pPr>
          </a:p>
          <a:p>
            <a:pPr>
              <a:defRPr sz="2000">
                <a:latin typeface="+mj-lt"/>
                <a:ea typeface="+mj-ea"/>
                <a:cs typeface="+mj-cs"/>
                <a:sym typeface="Calibri"/>
              </a:defRPr>
            </a:pPr>
            <a:r>
              <a:t>Journals using APA format include the following information in the references, </a:t>
            </a:r>
            <a:r>
              <a:rPr i="1"/>
              <a:t>usually </a:t>
            </a:r>
            <a:r>
              <a:t>in this order:</a:t>
            </a:r>
            <a:endParaRPr sz="2400"/>
          </a:p>
          <a:p>
            <a:pPr>
              <a:defRPr sz="2400">
                <a:latin typeface="+mj-lt"/>
                <a:ea typeface="+mj-ea"/>
                <a:cs typeface="+mj-cs"/>
                <a:sym typeface="Calibri"/>
              </a:defRPr>
            </a:pPr>
            <a:r>
              <a:t>Jones, R. J. and S. T. Smith. 2005.  Mass mortality of long-spine 	sea urchins: epidemiology and ecological consequences.  	Marine Biology, 74: </a:t>
            </a:r>
            <a:r>
              <a:rPr>
                <a:solidFill>
                  <a:srgbClr val="FF0000"/>
                </a:solidFill>
              </a:rPr>
              <a:t>345-356. </a:t>
            </a:r>
            <a:endParaRPr>
              <a:solidFill>
                <a:srgbClr val="FF0000"/>
              </a:solidFill>
            </a:endParaRPr>
          </a:p>
          <a:p>
            <a:pPr>
              <a:defRPr sz="2400">
                <a:latin typeface="+mj-lt"/>
                <a:ea typeface="+mj-ea"/>
                <a:cs typeface="+mj-cs"/>
                <a:sym typeface="Calibri"/>
              </a:defRPr>
            </a:pPr>
          </a:p>
          <a:p>
            <a:pPr>
              <a:defRPr sz="2400">
                <a:solidFill>
                  <a:srgbClr val="FF0000"/>
                </a:solidFill>
                <a:latin typeface="+mj-lt"/>
                <a:ea typeface="+mj-ea"/>
                <a:cs typeface="+mj-cs"/>
                <a:sym typeface="Calibri"/>
              </a:defRPr>
            </a:pPr>
            <a:r>
              <a:t>Page range </a:t>
            </a:r>
          </a:p>
          <a:p>
            <a:pPr>
              <a:defRPr sz="2400">
                <a:solidFill>
                  <a:srgbClr val="FF0000"/>
                </a:solidFill>
                <a:latin typeface="+mj-lt"/>
                <a:ea typeface="+mj-ea"/>
                <a:cs typeface="+mj-cs"/>
                <a:sym typeface="Calibri"/>
              </a:defRPr>
            </a:pPr>
            <a:r>
              <a:t>(sometimes for electronic articles this is an e-number instead)</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32" name="TextBox 2"/>
          <p:cNvSpPr txBox="1"/>
          <p:nvPr/>
        </p:nvSpPr>
        <p:spPr>
          <a:xfrm>
            <a:off x="674369" y="1499798"/>
            <a:ext cx="7942220" cy="444376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How to list references:</a:t>
            </a:r>
          </a:p>
          <a:p>
            <a:pPr>
              <a:defRPr b="1" sz="2000">
                <a:latin typeface="+mj-lt"/>
                <a:ea typeface="+mj-ea"/>
                <a:cs typeface="+mj-cs"/>
                <a:sym typeface="Calibri"/>
              </a:defRPr>
            </a:pPr>
          </a:p>
          <a:p>
            <a:pPr>
              <a:defRPr sz="2400">
                <a:latin typeface="+mj-lt"/>
                <a:ea typeface="+mj-ea"/>
                <a:cs typeface="+mj-cs"/>
                <a:sym typeface="Calibri"/>
              </a:defRPr>
            </a:pPr>
            <a:r>
              <a:t>Some journals order references in alphabetical order by last name of the first author.</a:t>
            </a:r>
          </a:p>
          <a:p>
            <a:pPr>
              <a:defRPr sz="2400">
                <a:latin typeface="+mj-lt"/>
                <a:ea typeface="+mj-ea"/>
                <a:cs typeface="+mj-cs"/>
                <a:sym typeface="Calibri"/>
              </a:defRPr>
            </a:pPr>
          </a:p>
          <a:p>
            <a:pPr>
              <a:defRPr i="1" sz="2400">
                <a:latin typeface="+mj-lt"/>
                <a:ea typeface="+mj-ea"/>
                <a:cs typeface="+mj-cs"/>
                <a:sym typeface="Calibri"/>
              </a:defRPr>
            </a:pPr>
            <a:r>
              <a:t>Shark finning is worse now than ever before (Esperanza et al. 2001; Jacoby and Meyers, 2021). </a:t>
            </a:r>
          </a:p>
          <a:p>
            <a:pPr>
              <a:defRPr sz="2400">
                <a:latin typeface="+mj-lt"/>
                <a:ea typeface="+mj-ea"/>
                <a:cs typeface="+mj-cs"/>
                <a:sym typeface="Calibri"/>
              </a:defRPr>
            </a:pPr>
          </a:p>
          <a:p>
            <a:pPr>
              <a:defRPr sz="2400">
                <a:latin typeface="+mj-lt"/>
                <a:ea typeface="+mj-ea"/>
                <a:cs typeface="+mj-cs"/>
                <a:sym typeface="Calibri"/>
              </a:defRPr>
            </a:pPr>
            <a:r>
              <a:t>Other journals list by order of appearance in text.</a:t>
            </a:r>
            <a:br/>
            <a:br/>
            <a:r>
              <a:rPr i="1"/>
              <a:t>Shark finning is worse now than ever before [1,2]. </a:t>
            </a:r>
            <a:endParaRPr i="1"/>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35" name="TextBox 2"/>
          <p:cNvSpPr txBox="1"/>
          <p:nvPr/>
        </p:nvSpPr>
        <p:spPr>
          <a:xfrm>
            <a:off x="674369" y="1502843"/>
            <a:ext cx="7942220" cy="459468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How to list references:</a:t>
            </a:r>
          </a:p>
          <a:p>
            <a:pPr>
              <a:defRPr b="1" sz="2000">
                <a:latin typeface="+mj-lt"/>
                <a:ea typeface="+mj-ea"/>
                <a:cs typeface="+mj-cs"/>
                <a:sym typeface="Calibri"/>
              </a:defRPr>
            </a:pPr>
          </a:p>
          <a:p>
            <a:pPr>
              <a:defRPr sz="2000">
                <a:solidFill>
                  <a:srgbClr val="FF0000"/>
                </a:solidFill>
                <a:latin typeface="+mj-lt"/>
                <a:ea typeface="+mj-ea"/>
                <a:cs typeface="+mj-cs"/>
                <a:sym typeface="Calibri"/>
              </a:defRPr>
            </a:pPr>
            <a:r>
              <a:t>LOTS of minor variation in format among journals! Always check!</a:t>
            </a:r>
          </a:p>
          <a:p>
            <a:pPr>
              <a:defRPr sz="1100">
                <a:latin typeface="+mj-lt"/>
                <a:ea typeface="+mj-ea"/>
                <a:cs typeface="+mj-cs"/>
                <a:sym typeface="Calibri"/>
              </a:defRPr>
            </a:pPr>
          </a:p>
          <a:p>
            <a:pPr>
              <a:defRPr sz="2000">
                <a:latin typeface="+mj-lt"/>
                <a:ea typeface="+mj-ea"/>
                <a:cs typeface="+mj-cs"/>
                <a:sym typeface="Calibri"/>
              </a:defRPr>
            </a:pPr>
            <a:r>
              <a:t>Jones, R. J., and S. T. Smith. 2005.</a:t>
            </a:r>
          </a:p>
          <a:p>
            <a:pPr>
              <a:defRPr sz="2000">
                <a:latin typeface="+mj-lt"/>
                <a:ea typeface="+mj-ea"/>
                <a:cs typeface="+mj-cs"/>
                <a:sym typeface="Calibri"/>
              </a:defRPr>
            </a:pPr>
            <a:r>
              <a:t>Jones, R. J., and Smith, S. T. 2005.</a:t>
            </a:r>
          </a:p>
          <a:p>
            <a:pPr>
              <a:defRPr sz="2000">
                <a:latin typeface="+mj-lt"/>
                <a:ea typeface="+mj-ea"/>
                <a:cs typeface="+mj-cs"/>
                <a:sym typeface="Calibri"/>
              </a:defRPr>
            </a:pPr>
            <a:r>
              <a:t>Jones, R. J., &amp; Smith, S. T. 2005.</a:t>
            </a:r>
          </a:p>
          <a:p>
            <a:pPr>
              <a:defRPr sz="2000">
                <a:latin typeface="+mj-lt"/>
                <a:ea typeface="+mj-ea"/>
                <a:cs typeface="+mj-cs"/>
                <a:sym typeface="Calibri"/>
              </a:defRPr>
            </a:pPr>
            <a:r>
              <a:t>Jones, R J, and Smith, S T. 2005.</a:t>
            </a:r>
          </a:p>
          <a:p>
            <a:pPr>
              <a:defRPr sz="2000">
                <a:latin typeface="+mj-lt"/>
                <a:ea typeface="+mj-ea"/>
                <a:cs typeface="+mj-cs"/>
                <a:sym typeface="Calibri"/>
              </a:defRPr>
            </a:pPr>
            <a:r>
              <a:t>Jones R J, Smith ST (2005).</a:t>
            </a:r>
          </a:p>
          <a:p>
            <a:pPr>
              <a:defRPr sz="2000">
                <a:latin typeface="+mj-lt"/>
                <a:ea typeface="+mj-ea"/>
                <a:cs typeface="+mj-cs"/>
                <a:sym typeface="Calibri"/>
              </a:defRPr>
            </a:pPr>
            <a:r>
              <a:t>	</a:t>
            </a:r>
            <a:r>
              <a:rPr i="1"/>
              <a:t>Marine Biology</a:t>
            </a:r>
            <a:r>
              <a:t>, 74:345–356.</a:t>
            </a:r>
          </a:p>
          <a:p>
            <a:pPr>
              <a:defRPr sz="2000">
                <a:latin typeface="+mj-lt"/>
                <a:ea typeface="+mj-ea"/>
                <a:cs typeface="+mj-cs"/>
                <a:sym typeface="Calibri"/>
              </a:defRPr>
            </a:pPr>
            <a:r>
              <a:t>	Marine Biology 74:345–356.</a:t>
            </a:r>
          </a:p>
          <a:p>
            <a:pPr>
              <a:defRPr sz="2000">
                <a:latin typeface="+mj-lt"/>
                <a:ea typeface="+mj-ea"/>
                <a:cs typeface="+mj-cs"/>
                <a:sym typeface="Calibri"/>
              </a:defRPr>
            </a:pPr>
            <a:r>
              <a:t>	Mar. Biol., </a:t>
            </a:r>
            <a:r>
              <a:rPr b="1"/>
              <a:t>74</a:t>
            </a:r>
            <a:r>
              <a:t>:345–356.*</a:t>
            </a:r>
          </a:p>
          <a:p>
            <a:pPr>
              <a:defRPr sz="2000">
                <a:latin typeface="+mj-lt"/>
                <a:ea typeface="+mj-ea"/>
                <a:cs typeface="+mj-cs"/>
                <a:sym typeface="Calibri"/>
              </a:defRPr>
            </a:pPr>
            <a:r>
              <a:t>	Mar. Biol., 74: 345–356.*</a:t>
            </a:r>
          </a:p>
          <a:p>
            <a:pPr>
              <a:defRPr sz="2000">
                <a:latin typeface="+mj-lt"/>
                <a:ea typeface="+mj-ea"/>
                <a:cs typeface="+mj-cs"/>
                <a:sym typeface="Calibri"/>
              </a:defRPr>
            </a:pPr>
          </a:p>
          <a:p>
            <a:pPr>
              <a:defRPr sz="2000">
                <a:latin typeface="+mj-lt"/>
                <a:ea typeface="+mj-ea"/>
                <a:cs typeface="+mj-cs"/>
                <a:sym typeface="Calibri"/>
              </a:defRPr>
            </a:pPr>
            <a:r>
              <a:t>*Note that every journal has a standard abbreviation that you must look up</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Title 1"/>
          <p:cNvSpPr txBox="1"/>
          <p:nvPr>
            <p:ph type="title"/>
          </p:nvPr>
        </p:nvSpPr>
        <p:spPr>
          <a:xfrm>
            <a:off x="628650" y="365126"/>
            <a:ext cx="7886700" cy="1325563"/>
          </a:xfrm>
          <a:prstGeom prst="rect">
            <a:avLst/>
          </a:prstGeom>
        </p:spPr>
        <p:txBody>
          <a:bodyPr/>
          <a:lstStyle>
            <a:lvl1pPr>
              <a:defRPr>
                <a:solidFill>
                  <a:srgbClr val="C00000"/>
                </a:solidFill>
              </a:defRPr>
            </a:lvl1pPr>
          </a:lstStyle>
          <a:p>
            <a:pPr/>
            <a:r>
              <a:t>3. References</a:t>
            </a:r>
          </a:p>
        </p:txBody>
      </p:sp>
      <p:sp>
        <p:nvSpPr>
          <p:cNvPr id="138" name="TextBox 2"/>
          <p:cNvSpPr txBox="1"/>
          <p:nvPr/>
        </p:nvSpPr>
        <p:spPr>
          <a:xfrm>
            <a:off x="674370" y="1624140"/>
            <a:ext cx="4831626" cy="515348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2800">
                <a:latin typeface="+mj-lt"/>
                <a:ea typeface="+mj-ea"/>
                <a:cs typeface="+mj-cs"/>
                <a:sym typeface="Calibri"/>
              </a:defRPr>
            </a:pPr>
            <a:r>
              <a:t>What do we do in this class?</a:t>
            </a:r>
          </a:p>
          <a:p>
            <a:pPr>
              <a:defRPr b="1" sz="2000">
                <a:latin typeface="+mj-lt"/>
                <a:ea typeface="+mj-ea"/>
                <a:cs typeface="+mj-cs"/>
                <a:sym typeface="Calibri"/>
              </a:defRPr>
            </a:pPr>
          </a:p>
          <a:p>
            <a:pPr>
              <a:defRPr sz="2000">
                <a:latin typeface="+mj-lt"/>
                <a:ea typeface="+mj-ea"/>
                <a:cs typeface="+mj-cs"/>
                <a:sym typeface="Calibri"/>
              </a:defRPr>
            </a:pPr>
            <a:r>
              <a:t>In this class, you will have in-text citations and a reference list in your research paper.</a:t>
            </a:r>
          </a:p>
          <a:p>
            <a:pPr>
              <a:defRPr sz="2000">
                <a:latin typeface="+mj-lt"/>
                <a:ea typeface="+mj-ea"/>
                <a:cs typeface="+mj-cs"/>
                <a:sym typeface="Calibri"/>
              </a:defRPr>
            </a:pPr>
          </a:p>
          <a:p>
            <a:pPr>
              <a:defRPr sz="2000">
                <a:latin typeface="+mj-lt"/>
                <a:ea typeface="+mj-ea"/>
                <a:cs typeface="+mj-cs"/>
                <a:sym typeface="Calibri"/>
              </a:defRPr>
            </a:pPr>
            <a:r>
              <a:t>Let’s use the format from the </a:t>
            </a:r>
          </a:p>
          <a:p>
            <a:pPr>
              <a:defRPr b="1" sz="2600">
                <a:latin typeface="+mj-lt"/>
                <a:ea typeface="+mj-ea"/>
                <a:cs typeface="+mj-cs"/>
                <a:sym typeface="Calibri"/>
              </a:defRPr>
            </a:pPr>
            <a:r>
              <a:t>Journal of Fish Biology.</a:t>
            </a:r>
          </a:p>
          <a:p>
            <a:pPr>
              <a:defRPr b="1" sz="2000">
                <a:latin typeface="+mj-lt"/>
                <a:ea typeface="+mj-ea"/>
                <a:cs typeface="+mj-cs"/>
                <a:sym typeface="Calibri"/>
              </a:defRPr>
            </a:pPr>
          </a:p>
          <a:p>
            <a:pPr>
              <a:defRPr b="1" sz="2000">
                <a:latin typeface="+mj-lt"/>
                <a:ea typeface="+mj-ea"/>
                <a:cs typeface="+mj-cs"/>
                <a:sym typeface="Calibri"/>
              </a:defRPr>
            </a:pPr>
          </a:p>
          <a:p>
            <a:pPr>
              <a:defRPr b="1" sz="2000">
                <a:latin typeface="+mj-lt"/>
                <a:ea typeface="+mj-ea"/>
                <a:cs typeface="+mj-cs"/>
                <a:sym typeface="Calibri"/>
              </a:defRPr>
            </a:pPr>
          </a:p>
          <a:p>
            <a:pPr>
              <a:defRPr sz="2000">
                <a:latin typeface="+mj-lt"/>
                <a:ea typeface="+mj-ea"/>
                <a:cs typeface="+mj-cs"/>
                <a:sym typeface="Calibri"/>
              </a:defRPr>
            </a:pPr>
            <a:r>
              <a:t>See the Author Guidelines or a recent article in this journal: </a:t>
            </a:r>
            <a:r>
              <a:rPr u="sng">
                <a:solidFill>
                  <a:srgbClr val="0000FF"/>
                </a:solidFill>
                <a:uFill>
                  <a:solidFill>
                    <a:srgbClr val="0000FF"/>
                  </a:solidFill>
                </a:uFill>
                <a:hlinkClick r:id="rId2" invalidUrl="" action="" tgtFrame="" tooltip="" history="1" highlightClick="0" endSnd="0"/>
              </a:rPr>
              <a:t>https://onlinelibrary.wiley.com/page/journal/10958649/homepage/forauthors.html</a:t>
            </a:r>
          </a:p>
          <a:p>
            <a:pPr>
              <a:defRPr sz="2000">
                <a:latin typeface="+mj-lt"/>
                <a:ea typeface="+mj-ea"/>
                <a:cs typeface="+mj-cs"/>
                <a:sym typeface="Calibri"/>
              </a:defRPr>
            </a:pPr>
          </a:p>
        </p:txBody>
      </p:sp>
      <p:pic>
        <p:nvPicPr>
          <p:cNvPr id="139" name="Picture 10" descr="Picture 10"/>
          <p:cNvPicPr>
            <a:picLocks noChangeAspect="1"/>
          </p:cNvPicPr>
          <p:nvPr/>
        </p:nvPicPr>
        <p:blipFill>
          <a:blip r:embed="rId3">
            <a:extLst/>
          </a:blip>
          <a:stretch>
            <a:fillRect/>
          </a:stretch>
        </p:blipFill>
        <p:spPr>
          <a:xfrm>
            <a:off x="5551715" y="186611"/>
            <a:ext cx="3388732" cy="4432044"/>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Rectangle 3"/>
          <p:cNvSpPr txBox="1"/>
          <p:nvPr/>
        </p:nvSpPr>
        <p:spPr>
          <a:xfrm>
            <a:off x="45718" y="78961"/>
            <a:ext cx="8849364" cy="63652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1100">
                <a:solidFill>
                  <a:srgbClr val="1C1D1E"/>
                </a:solidFill>
                <a:latin typeface="Open Sans"/>
                <a:ea typeface="Open Sans"/>
                <a:cs typeface="Open Sans"/>
                <a:sym typeface="Open Sans"/>
              </a:defRPr>
            </a:pPr>
            <a:r>
              <a:t>3.1.10 References</a:t>
            </a:r>
          </a:p>
          <a:p>
            <a:pPr>
              <a:defRPr sz="1100">
                <a:solidFill>
                  <a:srgbClr val="1C1D1E"/>
                </a:solidFill>
                <a:latin typeface="Open Sans"/>
                <a:ea typeface="Open Sans"/>
                <a:cs typeface="Open Sans"/>
                <a:sym typeface="Open Sans"/>
              </a:defRPr>
            </a:pPr>
            <a:r>
              <a:t>All published citations mentioned in the text, tables or figures must be listed in the reference list, which includes all key elements of each reference, including the names of journals in full (not abbreviated). Authors are responsible for checking the accuracy of their references. Manuscript submissions are not required to use JFB reference formatting until the article is provisionally accepted. Corrections may be made during the publication process. A manuscript title must appear exactly as in the original publication. </a:t>
            </a:r>
            <a:r>
              <a:rPr b="1" i="1"/>
              <a:t>JFB</a:t>
            </a:r>
            <a:r>
              <a:rPr b="1"/>
              <a:t> uses APA style referencing with some minor style changes</a:t>
            </a:r>
            <a:r>
              <a:t>. Examples of </a:t>
            </a:r>
            <a:r>
              <a:rPr i="1"/>
              <a:t>JFB</a:t>
            </a:r>
            <a:r>
              <a:t> reference content requirements are shown below.</a:t>
            </a:r>
          </a:p>
          <a:p>
            <a:pPr>
              <a:defRPr sz="1100">
                <a:solidFill>
                  <a:srgbClr val="1C1D1E"/>
                </a:solidFill>
                <a:latin typeface="Open Sans"/>
                <a:ea typeface="Open Sans"/>
                <a:cs typeface="Open Sans"/>
                <a:sym typeface="Open Sans"/>
              </a:defRPr>
            </a:pPr>
          </a:p>
          <a:p>
            <a:pPr>
              <a:defRPr b="1" sz="1100">
                <a:solidFill>
                  <a:srgbClr val="1C1D1E"/>
                </a:solidFill>
                <a:latin typeface="Open Sans"/>
                <a:ea typeface="Open Sans"/>
                <a:cs typeface="Open Sans"/>
                <a:sym typeface="Open Sans"/>
              </a:defRPr>
            </a:pPr>
            <a:r>
              <a:t>Journal Article:</a:t>
            </a:r>
          </a:p>
          <a:p>
            <a:pPr>
              <a:defRPr sz="1100">
                <a:solidFill>
                  <a:srgbClr val="1C1D1E"/>
                </a:solidFill>
                <a:latin typeface="Open Sans"/>
                <a:ea typeface="Open Sans"/>
                <a:cs typeface="Open Sans"/>
                <a:sym typeface="Open Sans"/>
              </a:defRPr>
            </a:pPr>
            <a:r>
              <a:t>Flowers, K. I., Henderson, A. C., Lupton, J. L., &amp; Chapman, D. D. (2017). Site affinity of whitespotted eagle rays </a:t>
            </a:r>
            <a:r>
              <a:rPr i="1"/>
              <a:t>Aetobatus narinari</a:t>
            </a:r>
            <a:r>
              <a:t> assessed using photographic identification. </a:t>
            </a:r>
            <a:r>
              <a:rPr i="1"/>
              <a:t>Journal of Fish Biology</a:t>
            </a:r>
            <a:r>
              <a:t>, </a:t>
            </a:r>
            <a:r>
              <a:rPr b="1"/>
              <a:t>91</a:t>
            </a:r>
            <a:r>
              <a:t>, 1337– 1349 Gill, A. B. ( 2003).</a:t>
            </a:r>
          </a:p>
          <a:p>
            <a:pPr>
              <a:defRPr sz="1100">
                <a:solidFill>
                  <a:srgbClr val="1C1D1E"/>
                </a:solidFill>
                <a:latin typeface="Open Sans"/>
                <a:ea typeface="Open Sans"/>
                <a:cs typeface="Open Sans"/>
                <a:sym typeface="Open Sans"/>
              </a:defRPr>
            </a:pPr>
            <a:r>
              <a:t>Gill, A. B. ( 2003). The dynamics of prey choice in fish: The importance for prey size and satiation. </a:t>
            </a:r>
            <a:r>
              <a:rPr i="1"/>
              <a:t>Journal of Fish Biology</a:t>
            </a:r>
            <a:r>
              <a:t>, </a:t>
            </a:r>
            <a:r>
              <a:rPr b="1"/>
              <a:t>63</a:t>
            </a:r>
            <a:r>
              <a:t>, 105– 116</a:t>
            </a:r>
          </a:p>
          <a:p>
            <a:pPr>
              <a:defRPr sz="1100">
                <a:solidFill>
                  <a:srgbClr val="1C1D1E"/>
                </a:solidFill>
                <a:latin typeface="Open Sans"/>
                <a:ea typeface="Open Sans"/>
                <a:cs typeface="Open Sans"/>
                <a:sym typeface="Open Sans"/>
              </a:defRPr>
            </a:pPr>
          </a:p>
          <a:p>
            <a:pPr>
              <a:defRPr b="1" sz="1100">
                <a:solidFill>
                  <a:srgbClr val="1C1D1E"/>
                </a:solidFill>
                <a:latin typeface="Open Sans"/>
                <a:ea typeface="Open Sans"/>
                <a:cs typeface="Open Sans"/>
                <a:sym typeface="Open Sans"/>
              </a:defRPr>
            </a:pPr>
            <a:r>
              <a:t>Online Article Not Yet Published in an Issue:</a:t>
            </a:r>
          </a:p>
          <a:p>
            <a:pPr>
              <a:defRPr sz="1100">
                <a:solidFill>
                  <a:srgbClr val="1C1D1E"/>
                </a:solidFill>
                <a:latin typeface="Open Sans"/>
                <a:ea typeface="Open Sans"/>
                <a:cs typeface="Open Sans"/>
                <a:sym typeface="Open Sans"/>
              </a:defRPr>
            </a:pPr>
            <a:r>
              <a:t>Mussen, T. D., &amp; Cech Jr, J. J. (2018). Assessing the use of vibrations and strobe lights at fish screens as enhanced deterrents for two estuarine fishes. Advance online publication. https://doi.org/10.1111/jfb.13776</a:t>
            </a:r>
          </a:p>
          <a:p>
            <a:pPr>
              <a:defRPr sz="1100">
                <a:solidFill>
                  <a:srgbClr val="1C1D1E"/>
                </a:solidFill>
                <a:latin typeface="Open Sans"/>
                <a:ea typeface="Open Sans"/>
                <a:cs typeface="Open Sans"/>
                <a:sym typeface="Open Sans"/>
              </a:defRPr>
            </a:pPr>
            <a:r>
              <a:t>An online article is cited by its Digital Object Identifier (DOI), which remains valid and allows article tracking even after its allocation to an issue. It has no volume, issue or page numbers.</a:t>
            </a:r>
          </a:p>
          <a:p>
            <a:pPr>
              <a:defRPr sz="1100">
                <a:solidFill>
                  <a:srgbClr val="1C1D1E"/>
                </a:solidFill>
                <a:latin typeface="Open Sans"/>
                <a:ea typeface="Open Sans"/>
                <a:cs typeface="Open Sans"/>
                <a:sym typeface="Open Sans"/>
              </a:defRPr>
            </a:pPr>
          </a:p>
          <a:p>
            <a:pPr>
              <a:defRPr b="1" sz="1100">
                <a:solidFill>
                  <a:srgbClr val="1C1D1E"/>
                </a:solidFill>
                <a:latin typeface="Open Sans"/>
                <a:ea typeface="Open Sans"/>
                <a:cs typeface="Open Sans"/>
                <a:sym typeface="Open Sans"/>
              </a:defRPr>
            </a:pPr>
            <a:r>
              <a:t>Book:</a:t>
            </a:r>
          </a:p>
          <a:p>
            <a:pPr>
              <a:defRPr sz="1100">
                <a:solidFill>
                  <a:srgbClr val="1C1D1E"/>
                </a:solidFill>
                <a:latin typeface="Open Sans"/>
                <a:ea typeface="Open Sans"/>
                <a:cs typeface="Open Sans"/>
                <a:sym typeface="Open Sans"/>
              </a:defRPr>
            </a:pPr>
            <a:r>
              <a:t>Halver, J. E., &amp; Hardy, R. W. ( 2002). </a:t>
            </a:r>
            <a:r>
              <a:rPr i="1"/>
              <a:t>Fish nutrition</a:t>
            </a:r>
            <a:r>
              <a:t>. San Diego, CA: Academic Press</a:t>
            </a:r>
          </a:p>
          <a:p>
            <a:pPr>
              <a:defRPr sz="1100">
                <a:solidFill>
                  <a:srgbClr val="1C1D1E"/>
                </a:solidFill>
                <a:latin typeface="Open Sans"/>
                <a:ea typeface="Open Sans"/>
                <a:cs typeface="Open Sans"/>
                <a:sym typeface="Open Sans"/>
              </a:defRPr>
            </a:pPr>
          </a:p>
          <a:p>
            <a:pPr>
              <a:defRPr b="1" sz="1100">
                <a:solidFill>
                  <a:srgbClr val="1C1D1E"/>
                </a:solidFill>
                <a:latin typeface="Open Sans"/>
                <a:ea typeface="Open Sans"/>
                <a:cs typeface="Open Sans"/>
                <a:sym typeface="Open Sans"/>
              </a:defRPr>
            </a:pPr>
            <a:r>
              <a:t>Chapter in a Book:</a:t>
            </a:r>
          </a:p>
          <a:p>
            <a:pPr>
              <a:defRPr sz="1100">
                <a:solidFill>
                  <a:srgbClr val="1C1D1E"/>
                </a:solidFill>
                <a:latin typeface="Open Sans"/>
                <a:ea typeface="Open Sans"/>
                <a:cs typeface="Open Sans"/>
                <a:sym typeface="Open Sans"/>
              </a:defRPr>
            </a:pPr>
            <a:r>
              <a:t>Mench, J. A., &amp; Mason, G. J. ( 1997). Behaviour. In M. C. Appleby &amp; B. O. Hughes (Eds.), </a:t>
            </a:r>
            <a:r>
              <a:rPr i="1"/>
              <a:t>Animal Welfare</a:t>
            </a:r>
            <a:r>
              <a:t> (pp. 127– 142). New York, NY: CAB International</a:t>
            </a:r>
          </a:p>
          <a:p>
            <a:pPr>
              <a:defRPr sz="1100">
                <a:solidFill>
                  <a:srgbClr val="1C1D1E"/>
                </a:solidFill>
                <a:latin typeface="Open Sans"/>
                <a:ea typeface="Open Sans"/>
                <a:cs typeface="Open Sans"/>
                <a:sym typeface="Open Sans"/>
              </a:defRPr>
            </a:pPr>
          </a:p>
          <a:p>
            <a:pPr>
              <a:defRPr b="1" sz="1100">
                <a:solidFill>
                  <a:srgbClr val="1C1D1E"/>
                </a:solidFill>
                <a:latin typeface="Open Sans"/>
                <a:ea typeface="Open Sans"/>
                <a:cs typeface="Open Sans"/>
                <a:sym typeface="Open Sans"/>
              </a:defRPr>
            </a:pPr>
            <a:r>
              <a:t>Docotral Thesis:</a:t>
            </a:r>
            <a:r>
              <a:rPr b="0"/>
              <a:t> These must have a permanent record of where they are held (e.g., thesis has been lodged at the individual’s University or Institution Library as a permanent addition to the collection there), e.g., Al‐Badran, A. A. ( 1987). </a:t>
            </a:r>
            <a:r>
              <a:rPr b="0" i="1"/>
              <a:t>Factors influencing river bank stability in the Tigris and Shatt Al‐ Arab water ways, Iraq</a:t>
            </a:r>
            <a:r>
              <a:rPr b="0"/>
              <a:t> (Doctoral thesis, University of Dundee, UK).</a:t>
            </a:r>
            <a:br>
              <a:rPr b="0"/>
            </a:br>
            <a:r>
              <a:rPr b="0"/>
              <a:t>Retrieved from </a:t>
            </a:r>
            <a:r>
              <a:rPr u="sng">
                <a:solidFill>
                  <a:srgbClr val="0000FF"/>
                </a:solidFill>
                <a:uFill>
                  <a:solidFill>
                    <a:srgbClr val="0000FF"/>
                  </a:solidFill>
                </a:uFill>
                <a:hlinkClick r:id="rId2" invalidUrl="" action="" tgtFrame="" tooltip="" history="1" highlightClick="0" endSnd="0"/>
              </a:rPr>
              <a:t>https://ethos.bl.uk/Home.do;jsessionid=DA702A005B56B131D4E776CD6A605544</a:t>
            </a:r>
          </a:p>
          <a:p>
            <a:pPr>
              <a:defRPr b="1" sz="1100">
                <a:solidFill>
                  <a:srgbClr val="1C1D1E"/>
                </a:solidFill>
                <a:latin typeface="Open Sans"/>
                <a:ea typeface="Open Sans"/>
                <a:cs typeface="Open Sans"/>
                <a:sym typeface="Open Sans"/>
              </a:defRPr>
            </a:pPr>
            <a:r>
              <a:t>Master's Thesis:</a:t>
            </a:r>
            <a:r>
              <a:rPr b="0"/>
              <a:t> These must be readily available electronically and the URL provided, e.g., Cox, G. K. (2010). Anoxic survival and cardiovascular responses of the Pacific hagfish, Eptatretus stoutii (Masters thesis). Available from UBC Library</a:t>
            </a:r>
            <a:r>
              <a:rPr u="sng">
                <a:solidFill>
                  <a:srgbClr val="0000FF"/>
                </a:solidFill>
                <a:uFill>
                  <a:solidFill>
                    <a:srgbClr val="0000FF"/>
                  </a:solidFill>
                </a:uFill>
                <a:hlinkClick r:id="rId3" invalidUrl="" action="" tgtFrame="" tooltip="" history="1" highlightClick="0" endSnd="0"/>
              </a:rPr>
              <a:t> https://open.library.ubc.ca/ </a:t>
            </a:r>
            <a:r>
              <a:rPr b="0"/>
              <a:t>.</a:t>
            </a:r>
          </a:p>
          <a:p>
            <a:pPr>
              <a:defRPr sz="1100">
                <a:solidFill>
                  <a:srgbClr val="1C1D1E"/>
                </a:solidFill>
                <a:latin typeface="Open Sans"/>
                <a:ea typeface="Open Sans"/>
                <a:cs typeface="Open Sans"/>
                <a:sym typeface="Open Sans"/>
              </a:defRPr>
            </a:pPr>
          </a:p>
          <a:p>
            <a:pPr>
              <a:defRPr b="1" sz="1100">
                <a:solidFill>
                  <a:srgbClr val="1C1D1E"/>
                </a:solidFill>
                <a:latin typeface="Open Sans"/>
                <a:ea typeface="Open Sans"/>
                <a:cs typeface="Open Sans"/>
                <a:sym typeface="Open Sans"/>
              </a:defRPr>
            </a:pPr>
            <a:r>
              <a:t>Electronic References:</a:t>
            </a:r>
            <a:r>
              <a:rPr b="0"/>
              <a:t> These include references not subject to peer review and formal publication and can be set out as shown given below. ICES (2016). Report of the Baltic salmon and trout assessment working group (WGBAST). ICES CM 2016/ACOM:09. Available at: http://ices.dk/sites/pub/Publication%20Reports/Expert%20Group%20Report/acom/2016/WGBAST/wgbast_2016.pdf</a:t>
            </a:r>
          </a:p>
          <a:p>
            <a:pPr>
              <a:defRPr sz="1100">
                <a:solidFill>
                  <a:srgbClr val="1C1D1E"/>
                </a:solidFill>
                <a:latin typeface="Open Sans"/>
                <a:ea typeface="Open Sans"/>
                <a:cs typeface="Open Sans"/>
                <a:sym typeface="Open Sans"/>
              </a:defRPr>
            </a:pPr>
            <a:r>
              <a:t>Marshall, A., Bennett, M. B., Kodja, G., Hinojosa-Alvarez, S., Galvan-Magana, F., Harding, M., Stevens, G. &amp; Kashiwagi, T. (2011). </a:t>
            </a:r>
            <a:r>
              <a:rPr i="1"/>
              <a:t>Manta birostris</a:t>
            </a:r>
            <a:r>
              <a:t>. In </a:t>
            </a:r>
            <a:r>
              <a:rPr i="1"/>
              <a:t>IUCN Red List of Threatened Species</a:t>
            </a:r>
            <a:r>
              <a:t> Version 2013.2. Available at http://www.iucnredlist.org/details/198921/0 (last accessed 9 December 2013).</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3" name="Title 1"/>
          <p:cNvSpPr txBox="1"/>
          <p:nvPr>
            <p:ph type="title"/>
          </p:nvPr>
        </p:nvSpPr>
        <p:spPr>
          <a:xfrm>
            <a:off x="628650" y="365126"/>
            <a:ext cx="7886700" cy="1325563"/>
          </a:xfrm>
          <a:prstGeom prst="rect">
            <a:avLst/>
          </a:prstGeom>
        </p:spPr>
        <p:txBody>
          <a:bodyPr/>
          <a:lstStyle>
            <a:lvl1pPr>
              <a:defRPr sz="4000"/>
            </a:lvl1pPr>
          </a:lstStyle>
          <a:p>
            <a:pPr/>
            <a:r>
              <a:t>Assignments for today and for home</a:t>
            </a:r>
          </a:p>
        </p:txBody>
      </p:sp>
      <p:sp>
        <p:nvSpPr>
          <p:cNvPr id="144" name="Content Placeholder 2"/>
          <p:cNvSpPr txBox="1"/>
          <p:nvPr>
            <p:ph type="body" idx="1"/>
          </p:nvPr>
        </p:nvSpPr>
        <p:spPr>
          <a:xfrm>
            <a:off x="432707" y="1617392"/>
            <a:ext cx="8515351" cy="5032380"/>
          </a:xfrm>
          <a:prstGeom prst="rect">
            <a:avLst/>
          </a:prstGeom>
        </p:spPr>
        <p:txBody>
          <a:bodyPr/>
          <a:lstStyle/>
          <a:p>
            <a:pPr marL="0" indent="0" defTabSz="905255">
              <a:spcBef>
                <a:spcPts val="900"/>
              </a:spcBef>
              <a:buSzTx/>
              <a:buNone/>
              <a:defRPr b="1" sz="2475"/>
            </a:pPr>
            <a:r>
              <a:t>In class: </a:t>
            </a:r>
          </a:p>
          <a:p>
            <a:pPr lvl="1" marL="0" indent="452627" defTabSz="905255">
              <a:spcBef>
                <a:spcPts val="400"/>
              </a:spcBef>
              <a:buSzTx/>
              <a:buNone/>
              <a:defRPr sz="2475"/>
            </a:pPr>
            <a:r>
              <a:t>Continue to download data for your research project and write your Introduction. </a:t>
            </a:r>
            <a:endParaRPr sz="2178"/>
          </a:p>
          <a:p>
            <a:pPr lvl="1" marL="0" indent="452627" defTabSz="905255">
              <a:spcBef>
                <a:spcPts val="400"/>
              </a:spcBef>
              <a:buSzTx/>
              <a:buNone/>
              <a:defRPr b="1" sz="2178">
                <a:solidFill>
                  <a:srgbClr val="FF0000"/>
                </a:solidFill>
              </a:defRPr>
            </a:pPr>
            <a:r>
              <a:t>Everyone </a:t>
            </a:r>
            <a:r>
              <a:rPr b="0"/>
              <a:t>should aim to have an data file (FORMAT?? PROGRAM??) to analyze on MONDAY.</a:t>
            </a:r>
          </a:p>
          <a:p>
            <a:pPr lvl="1" marL="0" indent="452627" defTabSz="905255">
              <a:spcBef>
                <a:spcPts val="400"/>
              </a:spcBef>
              <a:buSzTx/>
              <a:buNone/>
              <a:defRPr sz="2178"/>
            </a:pPr>
          </a:p>
          <a:p>
            <a:pPr marL="0" indent="0" defTabSz="905255">
              <a:spcBef>
                <a:spcPts val="900"/>
              </a:spcBef>
              <a:buSzTx/>
              <a:buNone/>
              <a:defRPr b="1" sz="2475"/>
            </a:pPr>
            <a:r>
              <a:t>At home:</a:t>
            </a:r>
          </a:p>
          <a:p>
            <a:pPr lvl="1" marL="0" indent="452627" defTabSz="905255">
              <a:spcBef>
                <a:spcPts val="400"/>
              </a:spcBef>
              <a:buSzTx/>
              <a:buNone/>
              <a:defRPr b="1" sz="2475"/>
            </a:pPr>
            <a:r>
              <a:t>Submit by Friday 12 pm: What you have so far of your Introduction. </a:t>
            </a:r>
            <a:r>
              <a:rPr b="0"/>
              <a:t>Peer reviews will be assigned Saturday and due Wednesday!</a:t>
            </a:r>
          </a:p>
          <a:p>
            <a:pPr lvl="1" marL="0" indent="452627" defTabSz="905255">
              <a:spcBef>
                <a:spcPts val="400"/>
              </a:spcBef>
              <a:buSzTx/>
              <a:buNone/>
              <a:defRPr b="1" sz="2772"/>
            </a:pPr>
          </a:p>
          <a:p>
            <a:pPr lvl="1" marL="0" indent="452627" defTabSz="905255">
              <a:spcBef>
                <a:spcPts val="400"/>
              </a:spcBef>
              <a:buSzTx/>
              <a:buNone/>
              <a:defRPr sz="2475"/>
            </a:pPr>
            <a:r>
              <a:t>Any writing should be in Word so I can use Track Changes. Name the file “yourname_introduction_thedate.doc”</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
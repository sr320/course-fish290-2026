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9"/>
          </a:xfrm>
          <a:prstGeom prst="rect">
            <a:avLst/>
          </a:prstGeom>
        </p:spPr>
        <p:txBody>
          <a:bodyPr/>
          <a:lstStyle>
            <a:lvl1pPr marL="0" indent="0">
              <a:buSzTx/>
              <a:buFontTx/>
              <a:buNone/>
              <a:defRPr sz="2400"/>
            </a:lvl1pPr>
            <a:lvl2pPr marL="0" indent="0">
              <a:buSzTx/>
              <a:buFontTx/>
              <a:buNone/>
              <a:defRPr sz="2400"/>
            </a:lvl2pPr>
            <a:lvl3pPr marL="0" indent="0">
              <a:buSzTx/>
              <a:buFontTx/>
              <a:buNone/>
              <a:defRPr sz="2400"/>
            </a:lvl3pPr>
            <a:lvl4pPr marL="0" indent="0">
              <a:buSzTx/>
              <a:buFontTx/>
              <a:buNone/>
              <a:defRPr sz="2400"/>
            </a:lvl4pPr>
            <a:lvl5pPr marL="0" indent="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2" cy="823914"/>
          </a:xfrm>
          <a:prstGeom prst="rect">
            <a:avLst/>
          </a:prstGeom>
        </p:spPr>
        <p:txBody>
          <a:bodyPr anchor="b"/>
          <a:lstStyle>
            <a:lvl1pPr marL="0" indent="0">
              <a:buSzTx/>
              <a:buFontTx/>
              <a:buNone/>
              <a:defRPr b="1" sz="2400"/>
            </a:lvl1pPr>
            <a:lvl2pPr marL="0" indent="0">
              <a:buSzTx/>
              <a:buFontTx/>
              <a:buNone/>
              <a:defRPr b="1" sz="2400"/>
            </a:lvl2pPr>
            <a:lvl3pPr marL="0" indent="0">
              <a:buSzTx/>
              <a:buFontTx/>
              <a:buNone/>
              <a:defRPr b="1" sz="2400"/>
            </a:lvl3pPr>
            <a:lvl4pPr marL="0" indent="0">
              <a:buSzTx/>
              <a:buFontTx/>
              <a:buNone/>
              <a:defRPr b="1" sz="2400"/>
            </a:lvl4pPr>
            <a:lvl5pPr marL="0" indent="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48" y="1681163"/>
            <a:ext cx="3887394" cy="823914"/>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2" cy="4873627"/>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39" y="2057400"/>
            <a:ext cx="2949182" cy="3811588"/>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2" cy="4873627"/>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8" y="6414762"/>
            <a:ext cx="258623" cy="248304"/>
          </a:xfrm>
          <a:prstGeom prst="rect">
            <a:avLst/>
          </a:prstGeom>
          <a:ln w="12700">
            <a:miter lim="400000"/>
          </a:ln>
        </p:spPr>
        <p:txBody>
          <a:bodyPr wrap="none" lIns="45718" tIns="45718" rIns="45718" bIns="45718"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ynamicecology.wordpress.com/2016/02/24/the-5-pivotal-paragraphs-in-a-paper/" TargetMode="Externa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685800" y="1122362"/>
            <a:ext cx="7772400" cy="2387601"/>
          </a:xfrm>
          <a:prstGeom prst="rect">
            <a:avLst/>
          </a:prstGeom>
        </p:spPr>
        <p:txBody>
          <a:bodyPr/>
          <a:lstStyle>
            <a:lvl1pPr>
              <a:defRPr>
                <a:solidFill>
                  <a:srgbClr val="C00000"/>
                </a:solidFill>
              </a:defRPr>
            </a:lvl1pPr>
          </a:lstStyle>
          <a:p>
            <a:pPr/>
            <a:r>
              <a:t>The structure of a scientific paper</a:t>
            </a:r>
          </a:p>
        </p:txBody>
      </p:sp>
      <p:sp>
        <p:nvSpPr>
          <p:cNvPr id="95" name="Subtitle 2"/>
          <p:cNvSpPr txBox="1"/>
          <p:nvPr>
            <p:ph type="subTitle" sz="quarter" idx="1"/>
          </p:nvPr>
        </p:nvSpPr>
        <p:spPr>
          <a:xfrm>
            <a:off x="1143000" y="4301544"/>
            <a:ext cx="6858000" cy="956258"/>
          </a:xfrm>
          <a:prstGeom prst="rect">
            <a:avLst/>
          </a:prstGeom>
        </p:spPr>
        <p:txBody>
          <a:bodyPr/>
          <a:lstStyle/>
          <a:p>
            <a:pPr/>
            <a:r>
              <a:t>Fish 290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Rectangle 2"/>
          <p:cNvSpPr/>
          <p:nvPr/>
        </p:nvSpPr>
        <p:spPr>
          <a:xfrm>
            <a:off x="2705100" y="1905000"/>
            <a:ext cx="3810000" cy="990600"/>
          </a:xfrm>
          <a:prstGeom prst="rect">
            <a:avLst/>
          </a:prstGeom>
          <a:solidFill>
            <a:srgbClr val="0033CC"/>
          </a:solidFill>
          <a:ln w="12700">
            <a:solidFill>
              <a:srgbClr val="32538F"/>
            </a:solidFill>
            <a:miter/>
          </a:ln>
        </p:spPr>
        <p:txBody>
          <a:bodyPr lIns="45718" tIns="45718" rIns="45718" bIns="45718" anchor="ctr"/>
          <a:lstStyle/>
          <a:p>
            <a:pPr algn="ctr">
              <a:defRPr>
                <a:solidFill>
                  <a:srgbClr val="FFFFFF"/>
                </a:solidFill>
              </a:defRPr>
            </a:pPr>
          </a:p>
        </p:txBody>
      </p:sp>
      <p:sp>
        <p:nvSpPr>
          <p:cNvPr id="98" name="Rectangle 3"/>
          <p:cNvSpPr/>
          <p:nvPr/>
        </p:nvSpPr>
        <p:spPr>
          <a:xfrm>
            <a:off x="2743200" y="5029200"/>
            <a:ext cx="3810000" cy="990600"/>
          </a:xfrm>
          <a:prstGeom prst="rect">
            <a:avLst/>
          </a:prstGeom>
          <a:solidFill>
            <a:srgbClr val="FFFF00"/>
          </a:solidFill>
          <a:ln w="12700">
            <a:solidFill>
              <a:srgbClr val="32538F"/>
            </a:solidFill>
            <a:miter/>
          </a:ln>
        </p:spPr>
        <p:txBody>
          <a:bodyPr lIns="45718" tIns="45718" rIns="45718" bIns="45718" anchor="ctr"/>
          <a:lstStyle/>
          <a:p>
            <a:pPr algn="ctr">
              <a:defRPr>
                <a:solidFill>
                  <a:srgbClr val="FFFFFF"/>
                </a:solidFill>
              </a:defRPr>
            </a:pPr>
          </a:p>
        </p:txBody>
      </p:sp>
      <p:sp>
        <p:nvSpPr>
          <p:cNvPr id="99" name="Rectangle 5"/>
          <p:cNvSpPr/>
          <p:nvPr/>
        </p:nvSpPr>
        <p:spPr>
          <a:xfrm>
            <a:off x="2705100" y="3429000"/>
            <a:ext cx="3810000" cy="1066800"/>
          </a:xfrm>
          <a:prstGeom prst="rect">
            <a:avLst/>
          </a:prstGeom>
          <a:solidFill>
            <a:srgbClr val="CCFFCC"/>
          </a:solidFill>
          <a:ln w="12700">
            <a:solidFill>
              <a:srgbClr val="32538F"/>
            </a:solidFill>
            <a:miter/>
          </a:ln>
        </p:spPr>
        <p:txBody>
          <a:bodyPr lIns="45718" tIns="45718" rIns="45718" bIns="45718" anchor="ctr"/>
          <a:lstStyle/>
          <a:p>
            <a:pPr algn="ctr">
              <a:defRPr>
                <a:solidFill>
                  <a:srgbClr val="FFFFFF"/>
                </a:solidFill>
              </a:defRPr>
            </a:pPr>
          </a:p>
        </p:txBody>
      </p:sp>
      <p:sp>
        <p:nvSpPr>
          <p:cNvPr id="100" name="TextBox 7"/>
          <p:cNvSpPr txBox="1"/>
          <p:nvPr/>
        </p:nvSpPr>
        <p:spPr>
          <a:xfrm>
            <a:off x="3017518" y="5112604"/>
            <a:ext cx="3261363" cy="7607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400"/>
            </a:lvl1pPr>
          </a:lstStyle>
          <a:p>
            <a:pPr/>
            <a:r>
              <a:t>The body of the paper: the whole story</a:t>
            </a:r>
          </a:p>
        </p:txBody>
      </p:sp>
      <p:sp>
        <p:nvSpPr>
          <p:cNvPr id="101" name="TextBox 8"/>
          <p:cNvSpPr txBox="1"/>
          <p:nvPr/>
        </p:nvSpPr>
        <p:spPr>
          <a:xfrm>
            <a:off x="2179318" y="2129134"/>
            <a:ext cx="4709163" cy="3924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400">
                <a:solidFill>
                  <a:srgbClr val="FFFF00"/>
                </a:solidFill>
              </a:defRPr>
            </a:lvl1pPr>
          </a:lstStyle>
          <a:p>
            <a:pPr/>
            <a:r>
              <a:t>Title: Fishing for readers</a:t>
            </a:r>
          </a:p>
        </p:txBody>
      </p:sp>
      <p:sp>
        <p:nvSpPr>
          <p:cNvPr id="102" name="TextBox 1"/>
          <p:cNvSpPr txBox="1"/>
          <p:nvPr/>
        </p:nvSpPr>
        <p:spPr>
          <a:xfrm>
            <a:off x="3017518" y="3512404"/>
            <a:ext cx="3185163" cy="7607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2400"/>
            </a:lvl1pPr>
          </a:lstStyle>
          <a:p>
            <a:pPr/>
            <a:r>
              <a:t>Abstract: The “Reader’s Digest” version</a:t>
            </a:r>
          </a:p>
        </p:txBody>
      </p:sp>
      <p:sp>
        <p:nvSpPr>
          <p:cNvPr id="103" name="TextBox 9"/>
          <p:cNvSpPr txBox="1"/>
          <p:nvPr/>
        </p:nvSpPr>
        <p:spPr>
          <a:xfrm>
            <a:off x="655318" y="215205"/>
            <a:ext cx="7833364" cy="130835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800"/>
            </a:lvl1pPr>
          </a:lstStyle>
          <a:p>
            <a:pPr/>
            <a:r>
              <a:t>A scientific paper has three rather independent parts.  This fact is critically important when you set out to write a paper, or to read one.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TextBox 5"/>
          <p:cNvSpPr txBox="1"/>
          <p:nvPr/>
        </p:nvSpPr>
        <p:spPr>
          <a:xfrm>
            <a:off x="807718" y="1523999"/>
            <a:ext cx="7757164" cy="309905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200">
                <a:solidFill>
                  <a:srgbClr val="C00000"/>
                </a:solidFill>
              </a:defRPr>
            </a:pPr>
            <a:r>
              <a:t>What to write first?</a:t>
            </a:r>
          </a:p>
          <a:p>
            <a:pPr>
              <a:defRPr sz="2800"/>
            </a:pPr>
          </a:p>
          <a:p>
            <a:pPr>
              <a:defRPr sz="2800"/>
            </a:pPr>
            <a:r>
              <a:t>Although, in published form, the Title comes first and the Abstract second, they are often written (or finalized) last.</a:t>
            </a:r>
          </a:p>
          <a:p>
            <a:pPr>
              <a:defRPr sz="2800"/>
            </a:pPr>
          </a:p>
          <a:p>
            <a:pPr>
              <a:defRPr sz="2800"/>
            </a:pPr>
            <a:r>
              <a:t>The body of the paper is almost always tackled first.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Rectangle 2"/>
          <p:cNvSpPr txBox="1"/>
          <p:nvPr>
            <p:ph type="title"/>
          </p:nvPr>
        </p:nvSpPr>
        <p:spPr>
          <a:xfrm>
            <a:off x="381000" y="152400"/>
            <a:ext cx="8382000" cy="1143000"/>
          </a:xfrm>
          <a:prstGeom prst="rect">
            <a:avLst/>
          </a:prstGeom>
        </p:spPr>
        <p:txBody>
          <a:bodyPr/>
          <a:lstStyle>
            <a:lvl1pPr>
              <a:defRPr sz="3600">
                <a:solidFill>
                  <a:srgbClr val="C00000"/>
                </a:solidFill>
              </a:defRPr>
            </a:lvl1pPr>
          </a:lstStyle>
          <a:p>
            <a:pPr/>
            <a:r>
              <a:t>The body of the paper in a typical journal*</a:t>
            </a:r>
          </a:p>
        </p:txBody>
      </p:sp>
      <p:sp>
        <p:nvSpPr>
          <p:cNvPr id="108" name="Rectangle 3"/>
          <p:cNvSpPr txBox="1"/>
          <p:nvPr>
            <p:ph type="body" idx="1"/>
          </p:nvPr>
        </p:nvSpPr>
        <p:spPr>
          <a:xfrm>
            <a:off x="533400" y="1312460"/>
            <a:ext cx="8382000" cy="4525963"/>
          </a:xfrm>
          <a:prstGeom prst="rect">
            <a:avLst/>
          </a:prstGeom>
        </p:spPr>
        <p:txBody>
          <a:bodyPr/>
          <a:lstStyle/>
          <a:p>
            <a:pPr/>
            <a:r>
              <a:t>Introduction</a:t>
            </a:r>
          </a:p>
          <a:p>
            <a:pPr/>
            <a:r>
              <a:t>Materials and Methods</a:t>
            </a:r>
          </a:p>
          <a:p>
            <a:pPr/>
            <a:r>
              <a:t>Results</a:t>
            </a:r>
          </a:p>
          <a:p>
            <a:pPr lvl="1" marL="685800" indent="-228600">
              <a:spcBef>
                <a:spcPts val="500"/>
              </a:spcBef>
              <a:defRPr sz="2400"/>
            </a:pPr>
            <a:r>
              <a:t>Text</a:t>
            </a:r>
          </a:p>
          <a:p>
            <a:pPr lvl="1" marL="685800" indent="-228600">
              <a:spcBef>
                <a:spcPts val="500"/>
              </a:spcBef>
              <a:defRPr sz="2400"/>
            </a:pPr>
            <a:r>
              <a:t>Tables</a:t>
            </a:r>
          </a:p>
          <a:p>
            <a:pPr lvl="1" marL="685800" indent="-228600">
              <a:spcBef>
                <a:spcPts val="500"/>
              </a:spcBef>
              <a:defRPr sz="2400"/>
            </a:pPr>
            <a:r>
              <a:t>Figures</a:t>
            </a:r>
          </a:p>
          <a:p>
            <a:pPr/>
            <a:r>
              <a:t>Discussion</a:t>
            </a:r>
          </a:p>
          <a:p>
            <a:pPr/>
            <a:r>
              <a:t>Acknowledgements</a:t>
            </a:r>
          </a:p>
          <a:p>
            <a:pPr/>
            <a:r>
              <a:t>References Cited</a:t>
            </a:r>
          </a:p>
        </p:txBody>
      </p:sp>
      <p:sp>
        <p:nvSpPr>
          <p:cNvPr id="109" name="Rectangle 1"/>
          <p:cNvSpPr txBox="1"/>
          <p:nvPr/>
        </p:nvSpPr>
        <p:spPr>
          <a:xfrm>
            <a:off x="4279789" y="4868927"/>
            <a:ext cx="4818492" cy="193775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ctr">
              <a:defRPr sz="3000">
                <a:solidFill>
                  <a:srgbClr val="FF0000"/>
                </a:solidFill>
              </a:defRPr>
            </a:pPr>
            <a:r>
              <a:t>These sections should be familiar to you. </a:t>
            </a:r>
          </a:p>
          <a:p>
            <a:pPr algn="ctr">
              <a:defRPr sz="3000">
                <a:solidFill>
                  <a:srgbClr val="FF0000"/>
                </a:solidFill>
              </a:defRPr>
            </a:pPr>
            <a:r>
              <a:t>But each section is also sub-structured in a deliberate way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TextBox 1"/>
          <p:cNvSpPr txBox="1"/>
          <p:nvPr/>
        </p:nvSpPr>
        <p:spPr>
          <a:xfrm>
            <a:off x="502918" y="685800"/>
            <a:ext cx="8061964" cy="34688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200"/>
            </a:pPr>
            <a:r>
              <a:t>We will now consider all the elements, in order. </a:t>
            </a:r>
          </a:p>
          <a:p>
            <a:pPr>
              <a:defRPr sz="3200"/>
            </a:pPr>
          </a:p>
          <a:p>
            <a:pPr>
              <a:defRPr sz="3200"/>
            </a:pPr>
            <a:r>
              <a:t>In subsequent class sessions, we will examine each one again in detail, using the published papers that you have chosen as examples to see how they are organized and written, what works and what does not, etc.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Rectangle 2"/>
          <p:cNvSpPr txBox="1"/>
          <p:nvPr>
            <p:ph type="title"/>
          </p:nvPr>
        </p:nvSpPr>
        <p:spPr>
          <a:xfrm>
            <a:off x="457200" y="0"/>
            <a:ext cx="8229600" cy="1143000"/>
          </a:xfrm>
          <a:prstGeom prst="rect">
            <a:avLst/>
          </a:prstGeom>
        </p:spPr>
        <p:txBody>
          <a:bodyPr/>
          <a:lstStyle>
            <a:lvl1pPr>
              <a:defRPr sz="3600">
                <a:solidFill>
                  <a:srgbClr val="C00000"/>
                </a:solidFill>
              </a:defRPr>
            </a:lvl1pPr>
          </a:lstStyle>
          <a:p>
            <a:pPr/>
            <a:r>
              <a:t>The Introduction</a:t>
            </a:r>
          </a:p>
        </p:txBody>
      </p:sp>
      <p:sp>
        <p:nvSpPr>
          <p:cNvPr id="114" name="Rectangle 3"/>
          <p:cNvSpPr txBox="1"/>
          <p:nvPr>
            <p:ph type="body" idx="1"/>
          </p:nvPr>
        </p:nvSpPr>
        <p:spPr>
          <a:xfrm>
            <a:off x="457200" y="1219200"/>
            <a:ext cx="8229600" cy="4525963"/>
          </a:xfrm>
          <a:prstGeom prst="rect">
            <a:avLst/>
          </a:prstGeom>
        </p:spPr>
        <p:txBody>
          <a:bodyPr/>
          <a:lstStyle/>
          <a:p>
            <a:pPr>
              <a:defRPr b="1">
                <a:solidFill>
                  <a:srgbClr val="C00000"/>
                </a:solidFill>
              </a:defRPr>
            </a:pPr>
            <a:r>
              <a:t>Begin with the broadest scope </a:t>
            </a:r>
            <a:r>
              <a:rPr b="0">
                <a:solidFill>
                  <a:srgbClr val="000000"/>
                </a:solidFill>
              </a:rPr>
              <a:t>and get progressively narrower, leading steadily to the </a:t>
            </a:r>
            <a:r>
              <a:t>statement of objectives</a:t>
            </a:r>
            <a:r>
              <a:rPr b="0">
                <a:solidFill>
                  <a:srgbClr val="000000"/>
                </a:solidFill>
              </a:rPr>
              <a:t> in the last paragraph of the Introduction.</a:t>
            </a:r>
          </a:p>
        </p:txBody>
      </p:sp>
      <p:sp>
        <p:nvSpPr>
          <p:cNvPr id="115" name="Rectangle 4"/>
          <p:cNvSpPr/>
          <p:nvPr/>
        </p:nvSpPr>
        <p:spPr>
          <a:xfrm>
            <a:off x="2133600" y="3256724"/>
            <a:ext cx="44958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16" name="Rectangle 5"/>
          <p:cNvSpPr/>
          <p:nvPr/>
        </p:nvSpPr>
        <p:spPr>
          <a:xfrm>
            <a:off x="2590800" y="4018724"/>
            <a:ext cx="35814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17" name="Rectangle 6"/>
          <p:cNvSpPr/>
          <p:nvPr/>
        </p:nvSpPr>
        <p:spPr>
          <a:xfrm>
            <a:off x="3124200" y="4780724"/>
            <a:ext cx="25908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18" name="Rectangle 7"/>
          <p:cNvSpPr/>
          <p:nvPr/>
        </p:nvSpPr>
        <p:spPr>
          <a:xfrm>
            <a:off x="3505200" y="5542724"/>
            <a:ext cx="18288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19" name="Line 8"/>
          <p:cNvSpPr/>
          <p:nvPr/>
        </p:nvSpPr>
        <p:spPr>
          <a:xfrm>
            <a:off x="3505200" y="3485324"/>
            <a:ext cx="0" cy="990602"/>
          </a:xfrm>
          <a:prstGeom prst="line">
            <a:avLst/>
          </a:prstGeom>
          <a:ln w="76200">
            <a:solidFill>
              <a:srgbClr val="000000"/>
            </a:solidFill>
            <a:tailEnd type="triangle"/>
          </a:ln>
        </p:spPr>
        <p:txBody>
          <a:bodyPr lIns="45718" tIns="45718" rIns="45718" bIns="45718"/>
          <a:lstStyle/>
          <a:p>
            <a:pPr/>
          </a:p>
        </p:txBody>
      </p:sp>
      <p:sp>
        <p:nvSpPr>
          <p:cNvPr id="120" name="Line 9"/>
          <p:cNvSpPr/>
          <p:nvPr/>
        </p:nvSpPr>
        <p:spPr>
          <a:xfrm>
            <a:off x="4038600" y="4247324"/>
            <a:ext cx="0" cy="990602"/>
          </a:xfrm>
          <a:prstGeom prst="line">
            <a:avLst/>
          </a:prstGeom>
          <a:ln w="76200">
            <a:solidFill>
              <a:srgbClr val="000000"/>
            </a:solidFill>
            <a:tailEnd type="triangle"/>
          </a:ln>
        </p:spPr>
        <p:txBody>
          <a:bodyPr lIns="45718" tIns="45718" rIns="45718" bIns="45718"/>
          <a:lstStyle/>
          <a:p>
            <a:pPr/>
          </a:p>
        </p:txBody>
      </p:sp>
      <p:sp>
        <p:nvSpPr>
          <p:cNvPr id="121" name="Line 10"/>
          <p:cNvSpPr/>
          <p:nvPr/>
        </p:nvSpPr>
        <p:spPr>
          <a:xfrm>
            <a:off x="4419600" y="5085524"/>
            <a:ext cx="0" cy="990602"/>
          </a:xfrm>
          <a:prstGeom prst="line">
            <a:avLst/>
          </a:prstGeom>
          <a:ln w="76200">
            <a:solidFill>
              <a:srgbClr val="000000"/>
            </a:solidFill>
            <a:tailEnd type="triangle"/>
          </a:ln>
        </p:spPr>
        <p:txBody>
          <a:bodyPr lIns="45718" tIns="45718" rIns="45718" bIns="45718"/>
          <a:lstStyle/>
          <a:p>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Rectangle 2"/>
          <p:cNvSpPr txBox="1"/>
          <p:nvPr>
            <p:ph type="title"/>
          </p:nvPr>
        </p:nvSpPr>
        <p:spPr>
          <a:xfrm>
            <a:off x="628650" y="365126"/>
            <a:ext cx="7886700" cy="1325563"/>
          </a:xfrm>
          <a:prstGeom prst="rect">
            <a:avLst/>
          </a:prstGeom>
        </p:spPr>
        <p:txBody>
          <a:bodyPr/>
          <a:lstStyle/>
          <a:p>
            <a:pPr>
              <a:defRPr sz="3200">
                <a:solidFill>
                  <a:srgbClr val="C00000"/>
                </a:solidFill>
              </a:defRPr>
            </a:pPr>
            <a:r>
              <a:t>Statement of objectives in the Introduction: </a:t>
            </a:r>
            <a:br/>
            <a:r>
              <a:t>The key to the whole paper</a:t>
            </a:r>
          </a:p>
        </p:txBody>
      </p:sp>
      <p:sp>
        <p:nvSpPr>
          <p:cNvPr id="124" name="Rectangle 3"/>
          <p:cNvSpPr txBox="1"/>
          <p:nvPr>
            <p:ph type="body" idx="1"/>
          </p:nvPr>
        </p:nvSpPr>
        <p:spPr>
          <a:xfrm>
            <a:off x="533400" y="1981200"/>
            <a:ext cx="8153400" cy="3916363"/>
          </a:xfrm>
          <a:prstGeom prst="rect">
            <a:avLst/>
          </a:prstGeom>
        </p:spPr>
        <p:txBody>
          <a:bodyPr/>
          <a:lstStyle/>
          <a:p>
            <a:pPr/>
            <a:r>
              <a:t>The last Introduction’s paragraph must flow from the rest of the section and transition to the description of the study’s methods.  It is critical that the goals and objectives be stated clearly and, if applicable, quantitatively.</a:t>
            </a:r>
          </a:p>
          <a:p>
            <a:pPr>
              <a:defRPr b="1"/>
            </a:pPr>
            <a:r>
              <a:t>To repeat, this paragraph is a keystone of the paper.</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ext Box 5"/>
          <p:cNvSpPr txBox="1"/>
          <p:nvPr/>
        </p:nvSpPr>
        <p:spPr>
          <a:xfrm>
            <a:off x="1036318" y="304801"/>
            <a:ext cx="7147564" cy="54933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spcBef>
                <a:spcPts val="2100"/>
              </a:spcBef>
              <a:defRPr sz="3600">
                <a:solidFill>
                  <a:srgbClr val="C00000"/>
                </a:solidFill>
              </a:defRPr>
            </a:lvl1pPr>
          </a:lstStyle>
          <a:p>
            <a:pPr/>
            <a:r>
              <a:t>Examples of objectives:</a:t>
            </a:r>
          </a:p>
        </p:txBody>
      </p:sp>
      <p:sp>
        <p:nvSpPr>
          <p:cNvPr id="127" name="Text Box 6"/>
          <p:cNvSpPr txBox="1"/>
          <p:nvPr/>
        </p:nvSpPr>
        <p:spPr>
          <a:xfrm>
            <a:off x="807720" y="1219200"/>
            <a:ext cx="7881850" cy="49263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1900"/>
              </a:spcBef>
              <a:defRPr b="1" sz="3200">
                <a:solidFill>
                  <a:schemeClr val="accent1"/>
                </a:solidFill>
              </a:defRPr>
            </a:pPr>
            <a:r>
              <a:t>Not so good:</a:t>
            </a:r>
          </a:p>
          <a:p>
            <a:pPr>
              <a:spcBef>
                <a:spcPts val="1400"/>
              </a:spcBef>
              <a:defRPr sz="2400"/>
            </a:pPr>
            <a:r>
              <a:t>The purpose of this study is to see if the fishes were different in three Puget Sound beaches.</a:t>
            </a:r>
          </a:p>
          <a:p>
            <a:pPr>
              <a:spcBef>
                <a:spcPts val="1900"/>
              </a:spcBef>
              <a:defRPr b="1" sz="3200">
                <a:solidFill>
                  <a:schemeClr val="accent1"/>
                </a:solidFill>
              </a:defRPr>
            </a:pPr>
            <a:r>
              <a:t>Better:</a:t>
            </a:r>
          </a:p>
          <a:p>
            <a:pPr>
              <a:spcBef>
                <a:spcPts val="1400"/>
              </a:spcBef>
              <a:defRPr sz="2400"/>
            </a:pPr>
            <a:r>
              <a:t>The overall goal of the study was </a:t>
            </a:r>
            <a:r>
              <a:rPr b="1">
                <a:solidFill>
                  <a:srgbClr val="0033CC"/>
                </a:solidFill>
              </a:rPr>
              <a:t>[note past tense]</a:t>
            </a:r>
            <a:r>
              <a:t> to test the hypothesis that eelgrass density was positively correlated with fish species diversity and density.  Specifically, we sampled the fish community and measured the density of eelgrass as well as physical habitat variables in eight beaches within Puget Sound.  These data were </a:t>
            </a:r>
            <a:r>
              <a:rPr b="1">
                <a:solidFill>
                  <a:srgbClr val="0033CC"/>
                </a:solidFill>
              </a:rPr>
              <a:t>[note plural]</a:t>
            </a:r>
            <a:r>
              <a:t> used to build a statistical model…</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Rectangle 2"/>
          <p:cNvSpPr txBox="1"/>
          <p:nvPr>
            <p:ph type="title"/>
          </p:nvPr>
        </p:nvSpPr>
        <p:spPr>
          <a:xfrm>
            <a:off x="457200" y="0"/>
            <a:ext cx="8229600" cy="1143000"/>
          </a:xfrm>
          <a:prstGeom prst="rect">
            <a:avLst/>
          </a:prstGeom>
        </p:spPr>
        <p:txBody>
          <a:bodyPr/>
          <a:lstStyle>
            <a:lvl1pPr>
              <a:defRPr sz="3600">
                <a:solidFill>
                  <a:srgbClr val="C00000"/>
                </a:solidFill>
              </a:defRPr>
            </a:lvl1pPr>
          </a:lstStyle>
          <a:p>
            <a:pPr/>
            <a:r>
              <a:t>The Methods (or Materials and Methods)</a:t>
            </a:r>
          </a:p>
        </p:txBody>
      </p:sp>
      <p:sp>
        <p:nvSpPr>
          <p:cNvPr id="130" name="Rectangle 3"/>
          <p:cNvSpPr txBox="1"/>
          <p:nvPr>
            <p:ph type="body" idx="1"/>
          </p:nvPr>
        </p:nvSpPr>
        <p:spPr>
          <a:xfrm>
            <a:off x="304800" y="1295399"/>
            <a:ext cx="8229600" cy="4946377"/>
          </a:xfrm>
          <a:prstGeom prst="rect">
            <a:avLst/>
          </a:prstGeom>
        </p:spPr>
        <p:txBody>
          <a:bodyPr/>
          <a:lstStyle/>
          <a:p>
            <a:pPr>
              <a:defRPr sz="2600"/>
            </a:pPr>
            <a:r>
              <a:t>This section describes </a:t>
            </a:r>
            <a:r>
              <a:rPr b="1">
                <a:solidFill>
                  <a:srgbClr val="FF0000"/>
                </a:solidFill>
              </a:rPr>
              <a:t>what</a:t>
            </a:r>
            <a:r>
              <a:t> was done, </a:t>
            </a:r>
            <a:r>
              <a:rPr b="1">
                <a:solidFill>
                  <a:srgbClr val="FF0000"/>
                </a:solidFill>
              </a:rPr>
              <a:t>how</a:t>
            </a:r>
            <a:r>
              <a:t>, </a:t>
            </a:r>
            <a:r>
              <a:rPr b="1">
                <a:solidFill>
                  <a:srgbClr val="FF0000"/>
                </a:solidFill>
              </a:rPr>
              <a:t>when</a:t>
            </a:r>
            <a:r>
              <a:t> and </a:t>
            </a:r>
            <a:r>
              <a:rPr b="1">
                <a:solidFill>
                  <a:srgbClr val="FF0000"/>
                </a:solidFill>
              </a:rPr>
              <a:t>where.</a:t>
            </a:r>
            <a:endParaRPr b="1">
              <a:solidFill>
                <a:srgbClr val="FF0000"/>
              </a:solidFill>
            </a:endParaRPr>
          </a:p>
          <a:p>
            <a:pPr>
              <a:defRPr sz="2600"/>
            </a:pPr>
            <a:r>
              <a:t>Functions of the M&amp;M:</a:t>
            </a:r>
          </a:p>
          <a:p>
            <a:pPr lvl="1" marL="914400" indent="-457200">
              <a:spcBef>
                <a:spcPts val="500"/>
              </a:spcBef>
              <a:buFontTx/>
              <a:buAutoNum type="arabicPeriod" startAt="1"/>
              <a:defRPr sz="2400"/>
            </a:pPr>
            <a:r>
              <a:t>Allow </a:t>
            </a:r>
            <a:r>
              <a:rPr b="1"/>
              <a:t>replication</a:t>
            </a:r>
            <a:r>
              <a:t> of the study in the future</a:t>
            </a:r>
          </a:p>
          <a:p>
            <a:pPr lvl="1" marL="914400" indent="-457200">
              <a:spcBef>
                <a:spcPts val="500"/>
              </a:spcBef>
              <a:buFontTx/>
              <a:buAutoNum type="arabicPeriod" startAt="1"/>
              <a:defRPr sz="2400"/>
            </a:pPr>
            <a:r>
              <a:t>Give readers the information they need to </a:t>
            </a:r>
            <a:r>
              <a:rPr b="1"/>
              <a:t>contextualize</a:t>
            </a:r>
            <a:r>
              <a:t> the Results. Each result should have a set of methods attached to it.</a:t>
            </a:r>
          </a:p>
          <a:p>
            <a:pPr lvl="1" marL="914400" indent="-457200">
              <a:spcBef>
                <a:spcPts val="500"/>
              </a:spcBef>
              <a:buFontTx/>
              <a:buAutoNum type="arabicPeriod" startAt="1"/>
              <a:defRPr sz="2400"/>
            </a:pPr>
            <a:r>
              <a:t>Allow readers to </a:t>
            </a:r>
            <a:r>
              <a:rPr b="1"/>
              <a:t>judge the credibility </a:t>
            </a:r>
            <a:r>
              <a:t>of the science. Is your approach defensible and appropriate to answer the question? Think about the jury in a courtroom.</a:t>
            </a:r>
          </a:p>
          <a:p>
            <a:pPr>
              <a:defRPr sz="2600"/>
            </a:pPr>
            <a:r>
              <a:t>Many ways to structure M&amp;M, depends on your study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Rectangle 2"/>
          <p:cNvSpPr txBox="1"/>
          <p:nvPr>
            <p:ph type="title"/>
          </p:nvPr>
        </p:nvSpPr>
        <p:spPr>
          <a:xfrm>
            <a:off x="457200" y="0"/>
            <a:ext cx="8229600" cy="1143000"/>
          </a:xfrm>
          <a:prstGeom prst="rect">
            <a:avLst/>
          </a:prstGeom>
        </p:spPr>
        <p:txBody>
          <a:bodyPr/>
          <a:lstStyle>
            <a:lvl1pPr>
              <a:defRPr sz="3600">
                <a:solidFill>
                  <a:srgbClr val="C00000"/>
                </a:solidFill>
              </a:defRPr>
            </a:lvl1pPr>
          </a:lstStyle>
          <a:p>
            <a:pPr/>
            <a:r>
              <a:t>The Results</a:t>
            </a:r>
          </a:p>
        </p:txBody>
      </p:sp>
      <p:sp>
        <p:nvSpPr>
          <p:cNvPr id="133" name="Rectangle 3"/>
          <p:cNvSpPr txBox="1"/>
          <p:nvPr>
            <p:ph type="body" idx="1"/>
          </p:nvPr>
        </p:nvSpPr>
        <p:spPr>
          <a:xfrm>
            <a:off x="457200" y="1457739"/>
            <a:ext cx="8305800" cy="4525963"/>
          </a:xfrm>
          <a:prstGeom prst="rect">
            <a:avLst/>
          </a:prstGeom>
        </p:spPr>
        <p:txBody>
          <a:bodyPr/>
          <a:lstStyle/>
          <a:p>
            <a:pPr/>
            <a:r>
              <a:t>Verbal description of the findings of the study as they pertain to the hypotheses and goals</a:t>
            </a:r>
          </a:p>
          <a:p>
            <a:pPr/>
            <a:r>
              <a:t>Usually given in the order in which the hypotheses were posed. May also follow order of M&amp;M</a:t>
            </a:r>
          </a:p>
          <a:p>
            <a:pPr/>
            <a:r>
              <a:t>Also includes Tables and Figures (as needed)</a:t>
            </a:r>
          </a:p>
          <a:p>
            <a:pPr/>
            <a:r>
              <a:t>Give results of statistical analyses to back up claims</a:t>
            </a:r>
          </a:p>
          <a:p>
            <a:pPr>
              <a:defRPr b="1">
                <a:solidFill>
                  <a:srgbClr val="C00000"/>
                </a:solidFill>
              </a:defRPr>
            </a:pPr>
            <a:r>
              <a:t>Very little interpretation! Stick to the facts. </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Rectangle 2"/>
          <p:cNvSpPr txBox="1"/>
          <p:nvPr>
            <p:ph type="title"/>
          </p:nvPr>
        </p:nvSpPr>
        <p:spPr>
          <a:xfrm>
            <a:off x="457200" y="0"/>
            <a:ext cx="8229600" cy="1143000"/>
          </a:xfrm>
          <a:prstGeom prst="rect">
            <a:avLst/>
          </a:prstGeom>
        </p:spPr>
        <p:txBody>
          <a:bodyPr/>
          <a:lstStyle>
            <a:lvl1pPr>
              <a:defRPr sz="3600">
                <a:solidFill>
                  <a:srgbClr val="C00000"/>
                </a:solidFill>
              </a:defRPr>
            </a:lvl1pPr>
          </a:lstStyle>
          <a:p>
            <a:pPr/>
            <a:r>
              <a:t>The Discussion</a:t>
            </a:r>
          </a:p>
        </p:txBody>
      </p:sp>
      <p:sp>
        <p:nvSpPr>
          <p:cNvPr id="136" name="Rectangle 3"/>
          <p:cNvSpPr txBox="1"/>
          <p:nvPr>
            <p:ph type="body" idx="1"/>
          </p:nvPr>
        </p:nvSpPr>
        <p:spPr>
          <a:xfrm>
            <a:off x="457200" y="914400"/>
            <a:ext cx="8229600" cy="4525963"/>
          </a:xfrm>
          <a:prstGeom prst="rect">
            <a:avLst/>
          </a:prstGeom>
        </p:spPr>
        <p:txBody>
          <a:bodyPr/>
          <a:lstStyle/>
          <a:p>
            <a:pPr>
              <a:defRPr>
                <a:solidFill>
                  <a:srgbClr val="C00000"/>
                </a:solidFill>
              </a:defRPr>
            </a:pPr>
            <a:r>
              <a:t>Begin by interpreting the data with respect to the specific objectives of the study. </a:t>
            </a:r>
            <a:r>
              <a:rPr>
                <a:solidFill>
                  <a:srgbClr val="000000"/>
                </a:solidFill>
              </a:rPr>
              <a:t>Then get progressively broader, interpreting papers by others, ending with the concepts used to start the Introduction.</a:t>
            </a:r>
          </a:p>
        </p:txBody>
      </p:sp>
      <p:sp>
        <p:nvSpPr>
          <p:cNvPr id="137" name="Rectangle 4"/>
          <p:cNvSpPr/>
          <p:nvPr/>
        </p:nvSpPr>
        <p:spPr>
          <a:xfrm>
            <a:off x="3429000" y="3107637"/>
            <a:ext cx="19050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38" name="Rectangle 5"/>
          <p:cNvSpPr/>
          <p:nvPr/>
        </p:nvSpPr>
        <p:spPr>
          <a:xfrm>
            <a:off x="2971800" y="3869637"/>
            <a:ext cx="28956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39" name="Rectangle 6"/>
          <p:cNvSpPr/>
          <p:nvPr/>
        </p:nvSpPr>
        <p:spPr>
          <a:xfrm>
            <a:off x="2590800" y="4631637"/>
            <a:ext cx="37338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40" name="Rectangle 7"/>
          <p:cNvSpPr/>
          <p:nvPr/>
        </p:nvSpPr>
        <p:spPr>
          <a:xfrm>
            <a:off x="2133600" y="5393637"/>
            <a:ext cx="4648200" cy="685802"/>
          </a:xfrm>
          <a:prstGeom prst="rect">
            <a:avLst/>
          </a:prstGeom>
          <a:solidFill>
            <a:schemeClr val="accent1"/>
          </a:solidFill>
          <a:ln>
            <a:solidFill>
              <a:srgbClr val="000000"/>
            </a:solidFill>
            <a:miter/>
          </a:ln>
        </p:spPr>
        <p:txBody>
          <a:bodyPr lIns="45718" tIns="45718" rIns="45718" bIns="45718" anchor="ctr"/>
          <a:lstStyle/>
          <a:p>
            <a:pPr/>
          </a:p>
        </p:txBody>
      </p:sp>
      <p:sp>
        <p:nvSpPr>
          <p:cNvPr id="141" name="Line 8"/>
          <p:cNvSpPr/>
          <p:nvPr/>
        </p:nvSpPr>
        <p:spPr>
          <a:xfrm>
            <a:off x="4419600" y="3336237"/>
            <a:ext cx="0" cy="990602"/>
          </a:xfrm>
          <a:prstGeom prst="line">
            <a:avLst/>
          </a:prstGeom>
          <a:ln w="76200">
            <a:solidFill>
              <a:srgbClr val="000000"/>
            </a:solidFill>
            <a:tailEnd type="triangle"/>
          </a:ln>
        </p:spPr>
        <p:txBody>
          <a:bodyPr lIns="45718" tIns="45718" rIns="45718" bIns="45718"/>
          <a:lstStyle/>
          <a:p>
            <a:pPr/>
          </a:p>
        </p:txBody>
      </p:sp>
      <p:sp>
        <p:nvSpPr>
          <p:cNvPr id="142" name="Line 9"/>
          <p:cNvSpPr/>
          <p:nvPr/>
        </p:nvSpPr>
        <p:spPr>
          <a:xfrm>
            <a:off x="4038600" y="4098237"/>
            <a:ext cx="0" cy="990602"/>
          </a:xfrm>
          <a:prstGeom prst="line">
            <a:avLst/>
          </a:prstGeom>
          <a:ln w="76200">
            <a:solidFill>
              <a:srgbClr val="000000"/>
            </a:solidFill>
            <a:tailEnd type="triangle"/>
          </a:ln>
        </p:spPr>
        <p:txBody>
          <a:bodyPr lIns="45718" tIns="45718" rIns="45718" bIns="45718"/>
          <a:lstStyle/>
          <a:p>
            <a:pPr/>
          </a:p>
        </p:txBody>
      </p:sp>
      <p:sp>
        <p:nvSpPr>
          <p:cNvPr id="143" name="Line 10"/>
          <p:cNvSpPr/>
          <p:nvPr/>
        </p:nvSpPr>
        <p:spPr>
          <a:xfrm>
            <a:off x="3657600" y="4936437"/>
            <a:ext cx="0" cy="990602"/>
          </a:xfrm>
          <a:prstGeom prst="line">
            <a:avLst/>
          </a:prstGeom>
          <a:ln w="76200">
            <a:solidFill>
              <a:srgbClr val="000000"/>
            </a:solidFill>
            <a:tailEnd type="triangle"/>
          </a:ln>
        </p:spPr>
        <p:txBody>
          <a:bodyPr lIns="45718" tIns="45718" rIns="45718" bIns="45718"/>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Rectangle 2"/>
          <p:cNvSpPr txBox="1"/>
          <p:nvPr>
            <p:ph type="title"/>
          </p:nvPr>
        </p:nvSpPr>
        <p:spPr>
          <a:xfrm>
            <a:off x="628650" y="365126"/>
            <a:ext cx="7886700" cy="1325563"/>
          </a:xfrm>
          <a:prstGeom prst="rect">
            <a:avLst/>
          </a:prstGeom>
        </p:spPr>
        <p:txBody>
          <a:bodyPr/>
          <a:lstStyle>
            <a:lvl1pPr>
              <a:defRPr sz="3600">
                <a:solidFill>
                  <a:srgbClr val="C00000"/>
                </a:solidFill>
              </a:defRPr>
            </a:lvl1pPr>
          </a:lstStyle>
          <a:p>
            <a:pPr/>
            <a:r>
              <a:t>Acknowledgments *</a:t>
            </a:r>
          </a:p>
        </p:txBody>
      </p:sp>
      <p:sp>
        <p:nvSpPr>
          <p:cNvPr id="146" name="Rectangle 3"/>
          <p:cNvSpPr txBox="1"/>
          <p:nvPr>
            <p:ph type="body" idx="1"/>
          </p:nvPr>
        </p:nvSpPr>
        <p:spPr>
          <a:xfrm>
            <a:off x="419100" y="1447800"/>
            <a:ext cx="8343900" cy="4525963"/>
          </a:xfrm>
          <a:prstGeom prst="rect">
            <a:avLst/>
          </a:prstGeom>
        </p:spPr>
        <p:txBody>
          <a:bodyPr/>
          <a:lstStyle/>
          <a:p>
            <a:pPr/>
            <a:r>
              <a:t>Common professional courtesy (distinct from authorship, though this can be contentious)</a:t>
            </a:r>
          </a:p>
          <a:p>
            <a:pPr/>
            <a:r>
              <a:t>People who contributed field help, lab help, ideas, statistical help, etc. but whose contributions were less than those expected for co-authorship**</a:t>
            </a:r>
          </a:p>
          <a:p>
            <a:pPr/>
            <a:r>
              <a:t>Only professional, not emotional help (unlike a book)</a:t>
            </a:r>
          </a:p>
          <a:p>
            <a:pPr/>
            <a:r>
              <a:t>Also indicates source of financial support (grant numbers if relevant)</a:t>
            </a:r>
          </a:p>
        </p:txBody>
      </p:sp>
      <p:sp>
        <p:nvSpPr>
          <p:cNvPr id="147" name="TextBox 3"/>
          <p:cNvSpPr txBox="1"/>
          <p:nvPr/>
        </p:nvSpPr>
        <p:spPr>
          <a:xfrm>
            <a:off x="655318" y="5915027"/>
            <a:ext cx="8061964" cy="64498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000"/>
            </a:pPr>
            <a:r>
              <a:t>* Typically spelled “acknowledgements” in British Commonwealth countries</a:t>
            </a:r>
          </a:p>
          <a:p>
            <a:pPr>
              <a:defRPr sz="2000"/>
            </a:pPr>
            <a:r>
              <a:t>** We’ll cover authorship ethics later 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Rectangle 2"/>
          <p:cNvSpPr txBox="1"/>
          <p:nvPr>
            <p:ph type="title"/>
          </p:nvPr>
        </p:nvSpPr>
        <p:spPr>
          <a:xfrm>
            <a:off x="628650" y="365126"/>
            <a:ext cx="7886700" cy="1325563"/>
          </a:xfrm>
          <a:prstGeom prst="rect">
            <a:avLst/>
          </a:prstGeom>
        </p:spPr>
        <p:txBody>
          <a:bodyPr/>
          <a:lstStyle>
            <a:lvl1pPr>
              <a:defRPr sz="3600">
                <a:solidFill>
                  <a:srgbClr val="C00000"/>
                </a:solidFill>
              </a:defRPr>
            </a:lvl1pPr>
          </a:lstStyle>
          <a:p>
            <a:pPr/>
            <a:r>
              <a:t>References Cited (or Literature Cited)</a:t>
            </a:r>
          </a:p>
        </p:txBody>
      </p:sp>
      <p:sp>
        <p:nvSpPr>
          <p:cNvPr id="150" name="Rectangle 3"/>
          <p:cNvSpPr txBox="1"/>
          <p:nvPr>
            <p:ph type="body" sz="half" idx="1"/>
          </p:nvPr>
        </p:nvSpPr>
        <p:spPr>
          <a:xfrm>
            <a:off x="457200" y="1600200"/>
            <a:ext cx="8229600" cy="2667000"/>
          </a:xfrm>
          <a:prstGeom prst="rect">
            <a:avLst/>
          </a:prstGeom>
        </p:spPr>
        <p:txBody>
          <a:bodyPr/>
          <a:lstStyle/>
          <a:p>
            <a:pPr marL="226313" indent="-226313" defTabSz="905255">
              <a:spcBef>
                <a:spcPts val="900"/>
              </a:spcBef>
              <a:defRPr sz="2500"/>
            </a:pPr>
            <a:r>
              <a:t>Acknowledges the work done by others</a:t>
            </a:r>
          </a:p>
          <a:p>
            <a:pPr marL="226313" indent="-226313" defTabSz="905255">
              <a:spcBef>
                <a:spcPts val="900"/>
              </a:spcBef>
              <a:defRPr sz="2500"/>
            </a:pPr>
            <a:r>
              <a:t>Allows the reader to learn more</a:t>
            </a:r>
          </a:p>
          <a:p>
            <a:pPr marL="226313" indent="-226313" defTabSz="905255">
              <a:spcBef>
                <a:spcPts val="900"/>
              </a:spcBef>
              <a:defRPr sz="2500"/>
            </a:pPr>
            <a:r>
              <a:t>Bolsters arguments and facilitates interpretation of results in context of what is already known</a:t>
            </a:r>
          </a:p>
          <a:p>
            <a:pPr marL="226313" indent="-226313" defTabSz="905255">
              <a:spcBef>
                <a:spcPts val="900"/>
              </a:spcBef>
              <a:defRPr sz="2500"/>
            </a:pPr>
            <a:r>
              <a:t>Note that while APA is always used, every journal has their own specific formatting rules</a:t>
            </a:r>
          </a:p>
        </p:txBody>
      </p:sp>
      <p:sp>
        <p:nvSpPr>
          <p:cNvPr id="151" name="Text Box 4"/>
          <p:cNvSpPr txBox="1"/>
          <p:nvPr/>
        </p:nvSpPr>
        <p:spPr>
          <a:xfrm>
            <a:off x="502918" y="4671391"/>
            <a:ext cx="8138164" cy="18656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spcBef>
                <a:spcPts val="1400"/>
              </a:spcBef>
              <a:defRPr sz="2400"/>
            </a:pPr>
            <a:r>
              <a:t>Everything cited in the paper </a:t>
            </a:r>
            <a:r>
              <a:rPr b="1" i="1" u="sng">
                <a:solidFill>
                  <a:srgbClr val="FF0000"/>
                </a:solidFill>
              </a:rPr>
              <a:t>must</a:t>
            </a:r>
            <a:r>
              <a:t> be listed, and </a:t>
            </a:r>
            <a:r>
              <a:rPr b="1" i="1" u="sng">
                <a:solidFill>
                  <a:srgbClr val="FF0000"/>
                </a:solidFill>
              </a:rPr>
              <a:t>nothing else</a:t>
            </a:r>
            <a:r>
              <a:rPr>
                <a:solidFill>
                  <a:srgbClr val="FF0000"/>
                </a:solidFill>
              </a:rPr>
              <a:t>.  </a:t>
            </a:r>
            <a:r>
              <a:t>This is not a list of relevant papers on the subject, only the ones actually referenced in the paper.  They are typically listed in alphabetical order, in the format specified by the selected journal (though some journals number them in the order cited).</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itle 1"/>
          <p:cNvSpPr txBox="1"/>
          <p:nvPr>
            <p:ph type="title"/>
          </p:nvPr>
        </p:nvSpPr>
        <p:spPr>
          <a:xfrm>
            <a:off x="628650" y="365126"/>
            <a:ext cx="7886700" cy="1325563"/>
          </a:xfrm>
          <a:prstGeom prst="rect">
            <a:avLst/>
          </a:prstGeom>
        </p:spPr>
        <p:txBody>
          <a:bodyPr/>
          <a:lstStyle/>
          <a:p>
            <a:pPr/>
            <a:r>
              <a:t>The 5 pivotal paragraphs of a journal article</a:t>
            </a:r>
          </a:p>
        </p:txBody>
      </p:sp>
      <p:sp>
        <p:nvSpPr>
          <p:cNvPr id="154" name="Content Placeholder 2"/>
          <p:cNvSpPr txBox="1"/>
          <p:nvPr>
            <p:ph type="body" idx="1"/>
          </p:nvPr>
        </p:nvSpPr>
        <p:spPr>
          <a:xfrm>
            <a:off x="628650" y="2768599"/>
            <a:ext cx="7886700" cy="3408363"/>
          </a:xfrm>
          <a:prstGeom prst="rect">
            <a:avLst/>
          </a:prstGeom>
        </p:spPr>
        <p:txBody>
          <a:bodyPr/>
          <a:lstStyle>
            <a:lvl1pPr marL="0" indent="0">
              <a:buSzTx/>
              <a:buNone/>
              <a:defRPr u="sng">
                <a:solidFill>
                  <a:srgbClr val="0000FF"/>
                </a:solidFill>
                <a:uFill>
                  <a:solidFill>
                    <a:srgbClr val="0000FF"/>
                  </a:solidFill>
                </a:uFill>
                <a:hlinkClick r:id="rId2" invalidUrl="" action="" tgtFrame="" tooltip="" history="1" highlightClick="0" endSnd="0"/>
              </a:defRPr>
            </a:lvl1pPr>
          </a:lstStyle>
          <a:p>
            <a:pPr>
              <a:defRPr>
                <a:solidFill>
                  <a:srgbClr val="0563C1"/>
                </a:solidFill>
                <a:uFill>
                  <a:solidFill>
                    <a:srgbClr val="0563C1"/>
                  </a:solidFill>
                </a:uFill>
              </a:defRPr>
            </a:pPr>
            <a:r>
              <a:rPr>
                <a:solidFill>
                  <a:srgbClr val="0000FF"/>
                </a:solidFill>
                <a:uFill>
                  <a:solidFill>
                    <a:srgbClr val="0000FF"/>
                  </a:solidFill>
                </a:uFill>
                <a:hlinkClick r:id="rId2" invalidUrl="" action="" tgtFrame="" tooltip="" history="1" highlightClick="0" endSnd="0"/>
              </a:rPr>
              <a:t>https://dynamicecology.wordpress.com/2016/02/24/the-5-pivotal-paragraphs-in-a-paper/</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6" name="Picture 2" descr="Picture 2"/>
          <p:cNvPicPr>
            <a:picLocks noChangeAspect="1"/>
          </p:cNvPicPr>
          <p:nvPr/>
        </p:nvPicPr>
        <p:blipFill>
          <a:blip r:embed="rId2">
            <a:extLst/>
          </a:blip>
          <a:stretch>
            <a:fillRect/>
          </a:stretch>
        </p:blipFill>
        <p:spPr>
          <a:xfrm>
            <a:off x="2000250" y="0"/>
            <a:ext cx="5143500" cy="685800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1"/>
          <p:cNvSpPr txBox="1"/>
          <p:nvPr>
            <p:ph type="title"/>
          </p:nvPr>
        </p:nvSpPr>
        <p:spPr>
          <a:xfrm>
            <a:off x="628650" y="365126"/>
            <a:ext cx="7886700" cy="1325563"/>
          </a:xfrm>
          <a:prstGeom prst="rect">
            <a:avLst/>
          </a:prstGeom>
        </p:spPr>
        <p:txBody>
          <a:bodyPr/>
          <a:lstStyle>
            <a:lvl1pPr>
              <a:defRPr sz="4000"/>
            </a:lvl1pPr>
          </a:lstStyle>
          <a:p>
            <a:pPr/>
            <a:r>
              <a:t>Assignments for today and for home</a:t>
            </a:r>
          </a:p>
        </p:txBody>
      </p:sp>
      <p:sp>
        <p:nvSpPr>
          <p:cNvPr id="159" name="Content Placeholder 2"/>
          <p:cNvSpPr txBox="1"/>
          <p:nvPr>
            <p:ph type="body" idx="1"/>
          </p:nvPr>
        </p:nvSpPr>
        <p:spPr>
          <a:xfrm>
            <a:off x="628650" y="1597022"/>
            <a:ext cx="7886700" cy="5260980"/>
          </a:xfrm>
          <a:prstGeom prst="rect">
            <a:avLst/>
          </a:prstGeom>
        </p:spPr>
        <p:txBody>
          <a:bodyPr/>
          <a:lstStyle/>
          <a:p>
            <a:pPr marL="221741" indent="-221741" defTabSz="886967">
              <a:lnSpc>
                <a:spcPct val="72000"/>
              </a:lnSpc>
              <a:spcBef>
                <a:spcPts val="900"/>
              </a:spcBef>
              <a:defRPr sz="2700"/>
            </a:pPr>
            <a:r>
              <a:t>Read the “5 pivotal paragraphs” blog post. Find and highlight these paragraphs in the paper you chose for your poster.  </a:t>
            </a:r>
            <a:endParaRPr sz="2200"/>
          </a:p>
          <a:p>
            <a:pPr marL="221741" indent="-221741" defTabSz="886967">
              <a:lnSpc>
                <a:spcPct val="72000"/>
              </a:lnSpc>
              <a:spcBef>
                <a:spcPts val="900"/>
              </a:spcBef>
              <a:defRPr sz="3200"/>
            </a:pPr>
          </a:p>
          <a:p>
            <a:pPr marL="221741" indent="-221741" defTabSz="886967">
              <a:lnSpc>
                <a:spcPct val="72000"/>
              </a:lnSpc>
              <a:spcBef>
                <a:spcPts val="900"/>
              </a:spcBef>
              <a:defRPr sz="2700"/>
            </a:pPr>
            <a:r>
              <a:t>Prepare a 2 minute verbal summary of your poster paper to describe out loud with no slides, and ideally no reading from a script. </a:t>
            </a:r>
            <a:endParaRPr sz="2200"/>
          </a:p>
          <a:p>
            <a:pPr lvl="1" marL="665226" indent="-221741" defTabSz="886967">
              <a:lnSpc>
                <a:spcPct val="72000"/>
              </a:lnSpc>
              <a:spcBef>
                <a:spcPts val="400"/>
              </a:spcBef>
              <a:defRPr sz="2300"/>
            </a:pPr>
            <a:r>
              <a:t>You should cover the main parts of the paper briefly – why the study was done (intro and objectives), how it was done (methods), what was found (results) and implications (discussion).  We will be timing you on MONDAY!</a:t>
            </a:r>
            <a:endParaRPr sz="1900"/>
          </a:p>
          <a:p>
            <a:pPr marL="221741" indent="-221741" defTabSz="886967">
              <a:lnSpc>
                <a:spcPct val="72000"/>
              </a:lnSpc>
              <a:spcBef>
                <a:spcPts val="900"/>
              </a:spcBef>
              <a:defRPr sz="3200"/>
            </a:pPr>
          </a:p>
          <a:p>
            <a:pPr marL="221741" indent="-221741" defTabSz="886967">
              <a:lnSpc>
                <a:spcPct val="72000"/>
              </a:lnSpc>
              <a:spcBef>
                <a:spcPts val="900"/>
              </a:spcBef>
              <a:defRPr sz="2700"/>
            </a:pPr>
            <a:r>
              <a:t>Continue doing research for your project, looking for </a:t>
            </a:r>
            <a:r>
              <a:rPr b="1" u="sng"/>
              <a:t>data</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
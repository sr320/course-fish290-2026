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355" r:id="rId2"/>
    <p:sldId id="365" r:id="rId3"/>
    <p:sldId id="366" r:id="rId4"/>
    <p:sldId id="356" r:id="rId5"/>
    <p:sldId id="337" r:id="rId6"/>
    <p:sldId id="338" r:id="rId7"/>
    <p:sldId id="358" r:id="rId8"/>
    <p:sldId id="359" r:id="rId9"/>
    <p:sldId id="360" r:id="rId10"/>
    <p:sldId id="362" r:id="rId11"/>
    <p:sldId id="363" r:id="rId12"/>
    <p:sldId id="301" r:id="rId13"/>
    <p:sldId id="3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44E99-A181-C741-9A76-55949F5B1A2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3B427-8FD1-B743-9335-D21CC5C9A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6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8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4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3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9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4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6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1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D1A1-8B1E-3642-AAB1-C86BAAD88A1F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C185F-CF77-F844-AF12-FC3A36380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8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ecology.wordpress.com/2016/02/24/the-5-pivotal-paragraphs-in-a-paper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62F5-0A67-7249-9CFC-838ECAF55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64" y="1825625"/>
            <a:ext cx="8343072" cy="35538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Complete first draft of papers due this Saturday (Mar 1)</a:t>
            </a:r>
          </a:p>
          <a:p>
            <a:pPr lvl="1"/>
            <a:r>
              <a:rPr lang="en-US" sz="2800" dirty="0"/>
              <a:t>no bullet points, all sections completed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3200" b="1" dirty="0"/>
              <a:t>Peer Feedback coming today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3200" b="1" dirty="0"/>
              <a:t>Poster comments/grades coming Thursday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Final paper, oral presentations start Mar 13, continue into finals week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B644CF-74D5-4542-93FE-18A7E51B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51528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D542-70A3-6741-97A3-BAA62FCF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14" y="-109887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Paper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F551A-59C7-A34F-B360-FD652C3D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14" y="1116089"/>
            <a:ext cx="7886700" cy="38614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You MUST follow the template on Canvas for your paper!</a:t>
            </a:r>
          </a:p>
          <a:p>
            <a:pPr algn="ctr"/>
            <a:endParaRPr lang="en-US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E7D102-8A8C-4142-A66C-196596278D95}"/>
              </a:ext>
            </a:extLst>
          </p:cNvPr>
          <p:cNvSpPr txBox="1">
            <a:spLocks/>
          </p:cNvSpPr>
          <p:nvPr/>
        </p:nvSpPr>
        <p:spPr>
          <a:xfrm>
            <a:off x="1257300" y="192510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These sections make a complete paper: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5652CB-71B4-C345-8A7F-134624175C39}"/>
              </a:ext>
            </a:extLst>
          </p:cNvPr>
          <p:cNvSpPr txBox="1">
            <a:spLocks/>
          </p:cNvSpPr>
          <p:nvPr/>
        </p:nvSpPr>
        <p:spPr>
          <a:xfrm>
            <a:off x="2599953" y="3031772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000" dirty="0"/>
              <a:t>Title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Acknowledgements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Any tables and figures with captions</a:t>
            </a:r>
          </a:p>
        </p:txBody>
      </p:sp>
    </p:spTree>
    <p:extLst>
      <p:ext uri="{BB962C8B-B14F-4D97-AF65-F5344CB8AC3E}">
        <p14:creationId xmlns:p14="http://schemas.microsoft.com/office/powerpoint/2010/main" val="368955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301F-7024-DA42-89C8-40C340D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46" y="2858944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What questions do you have about your research paper?</a:t>
            </a:r>
            <a:br>
              <a:rPr lang="en-US" sz="3600" dirty="0"/>
            </a:b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2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301F-7024-DA42-89C8-40C340D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00062"/>
            <a:ext cx="7541956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point of a first draft is not to get it right, but to get it written.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9E91-D478-864E-8880-8F7290770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03986"/>
            <a:ext cx="7704189" cy="3953952"/>
          </a:xfrm>
        </p:spPr>
        <p:txBody>
          <a:bodyPr>
            <a:normAutofit/>
          </a:bodyPr>
          <a:lstStyle/>
          <a:p>
            <a:r>
              <a:rPr lang="en-US" dirty="0"/>
              <a:t>It is way easier to edit existing writing than to write from scratch.</a:t>
            </a:r>
          </a:p>
          <a:p>
            <a:r>
              <a:rPr lang="en-US" dirty="0"/>
              <a:t>Try to write something (anything) rather than leave things blank or bulleted.</a:t>
            </a:r>
          </a:p>
          <a:p>
            <a:r>
              <a:rPr lang="en-US" dirty="0"/>
              <a:t>No, I will not judge you if your draft is not perfect. My first drafts are never perfect either.</a:t>
            </a:r>
          </a:p>
          <a:p>
            <a:r>
              <a:rPr lang="en-US" dirty="0"/>
              <a:t>We </a:t>
            </a:r>
            <a:r>
              <a:rPr lang="en-US" i="1" dirty="0"/>
              <a:t>will </a:t>
            </a:r>
            <a:r>
              <a:rPr lang="en-US" dirty="0"/>
              <a:t>have time to edit drafts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77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F786A6-0F23-D54A-BF35-6DF3DADB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68386"/>
            <a:ext cx="6858000" cy="1128562"/>
          </a:xfrm>
        </p:spPr>
        <p:txBody>
          <a:bodyPr>
            <a:normAutofit/>
          </a:bodyPr>
          <a:lstStyle/>
          <a:p>
            <a:r>
              <a:rPr lang="en-US" dirty="0"/>
              <a:t>Fish 290</a:t>
            </a:r>
          </a:p>
          <a:p>
            <a:r>
              <a:rPr lang="en-US" dirty="0"/>
              <a:t>Tuesday Feb 25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1755DF-0E9F-844F-8A79-8BC5AE259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Abstract</a:t>
            </a:r>
          </a:p>
        </p:txBody>
      </p:sp>
    </p:spTree>
    <p:extLst>
      <p:ext uri="{BB962C8B-B14F-4D97-AF65-F5344CB8AC3E}">
        <p14:creationId xmlns:p14="http://schemas.microsoft.com/office/powerpoint/2010/main" val="287830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F025C136-0899-5A44-91EB-5E9EB08B4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97" y="990600"/>
            <a:ext cx="4400550" cy="5867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C1C00-D091-1443-9E23-25A52835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15" y="136526"/>
            <a:ext cx="5782089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Recall paper structure and the 5 pivotal paragraphs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F44C1-0F77-B448-AE8E-FB8E9AAAE242}"/>
              </a:ext>
            </a:extLst>
          </p:cNvPr>
          <p:cNvCxnSpPr/>
          <p:nvPr/>
        </p:nvCxnSpPr>
        <p:spPr>
          <a:xfrm flipH="1">
            <a:off x="5494637" y="1958367"/>
            <a:ext cx="2763078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DCF147-F62B-ED49-B832-1B4E533D3DB1}"/>
              </a:ext>
            </a:extLst>
          </p:cNvPr>
          <p:cNvSpPr txBox="1"/>
          <p:nvPr/>
        </p:nvSpPr>
        <p:spPr>
          <a:xfrm>
            <a:off x="5748577" y="1408764"/>
            <a:ext cx="250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Now we are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45226-F8F9-8E48-9B62-2BDD042DF499}"/>
              </a:ext>
            </a:extLst>
          </p:cNvPr>
          <p:cNvSpPr txBox="1"/>
          <p:nvPr/>
        </p:nvSpPr>
        <p:spPr>
          <a:xfrm>
            <a:off x="5604185" y="5483850"/>
            <a:ext cx="3262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https://dynamicecology.wordpress.com/2016/02/24/the-5-pivotal-paragraphs-in-a-paper/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086499-EA17-0F41-A3A9-B29947E87D7C}"/>
              </a:ext>
            </a:extLst>
          </p:cNvPr>
          <p:cNvSpPr txBox="1"/>
          <p:nvPr/>
        </p:nvSpPr>
        <p:spPr>
          <a:xfrm>
            <a:off x="5205059" y="5022185"/>
            <a:ext cx="334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Good advice found here:</a:t>
            </a:r>
          </a:p>
        </p:txBody>
      </p:sp>
    </p:spTree>
    <p:extLst>
      <p:ext uri="{BB962C8B-B14F-4D97-AF65-F5344CB8AC3E}">
        <p14:creationId xmlns:p14="http://schemas.microsoft.com/office/powerpoint/2010/main" val="177315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DB6AA-5B5E-8545-B217-F3E9291C5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16" y="1253331"/>
            <a:ext cx="80117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Most readers will only read three things: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Title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/>
              <a:t>Abstract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Figures</a:t>
            </a:r>
          </a:p>
          <a:p>
            <a:pPr marL="457200" lvl="1" indent="0">
              <a:buNone/>
            </a:pPr>
            <a:endParaRPr lang="en-US" sz="3200" dirty="0"/>
          </a:p>
          <a:p>
            <a:pPr marL="457200" lvl="1" indent="0">
              <a:buNone/>
            </a:pPr>
            <a:r>
              <a:rPr lang="en-US" sz="3200" dirty="0"/>
              <a:t>Think: if the reader only sees these 3 sections, what do I want them to take away?</a:t>
            </a:r>
          </a:p>
        </p:txBody>
      </p:sp>
    </p:spTree>
    <p:extLst>
      <p:ext uri="{BB962C8B-B14F-4D97-AF65-F5344CB8AC3E}">
        <p14:creationId xmlns:p14="http://schemas.microsoft.com/office/powerpoint/2010/main" val="162621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5922-3046-244A-887D-AFF37ACE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909E-D366-624D-89A6-53A727DD3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497711" cy="4351338"/>
          </a:xfrm>
        </p:spPr>
        <p:txBody>
          <a:bodyPr/>
          <a:lstStyle/>
          <a:p>
            <a:r>
              <a:rPr lang="en-US" dirty="0"/>
              <a:t>An abstract is a brief summary of a study, with the purpose of helping the reader quickly ascertain the study’s role</a:t>
            </a:r>
          </a:p>
          <a:p>
            <a:endParaRPr lang="en-US" dirty="0"/>
          </a:p>
          <a:p>
            <a:r>
              <a:rPr lang="en-US" dirty="0"/>
              <a:t>From 150–300 words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12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4B5E-D433-2E4A-A2A9-971DB9B1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60" y="365126"/>
            <a:ext cx="8087647" cy="1325563"/>
          </a:xfrm>
        </p:spPr>
        <p:txBody>
          <a:bodyPr/>
          <a:lstStyle/>
          <a:p>
            <a:r>
              <a:rPr lang="en-US" dirty="0"/>
              <a:t>What goes into an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769B-4FC7-9B4D-BE1E-EC59FD85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40" y="1961535"/>
            <a:ext cx="8190885" cy="45313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An abstract should mimic the structure of the paper:</a:t>
            </a:r>
          </a:p>
          <a:p>
            <a:r>
              <a:rPr lang="en-US" dirty="0">
                <a:solidFill>
                  <a:srgbClr val="FF0000"/>
                </a:solidFill>
              </a:rPr>
              <a:t>2-4 sentences giving background context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Statement of objectives</a:t>
            </a:r>
          </a:p>
          <a:p>
            <a:r>
              <a:rPr lang="en-US" dirty="0">
                <a:solidFill>
                  <a:srgbClr val="00B050"/>
                </a:solidFill>
              </a:rPr>
              <a:t>1-2 sentences on overall approach to answering question, including key details like study site</a:t>
            </a:r>
            <a:endParaRPr lang="en-US" i="1" dirty="0">
              <a:solidFill>
                <a:srgbClr val="00B050"/>
              </a:solidFill>
            </a:endParaRPr>
          </a:p>
          <a:p>
            <a:r>
              <a:rPr lang="en-US" dirty="0"/>
              <a:t>2-3 sentences giving key results, in plain language</a:t>
            </a:r>
          </a:p>
          <a:p>
            <a:r>
              <a:rPr lang="en-US" dirty="0">
                <a:solidFill>
                  <a:srgbClr val="7030A0"/>
                </a:solidFill>
              </a:rPr>
              <a:t>2-3 sentences giving interpretation and broader implications of key results</a:t>
            </a:r>
          </a:p>
        </p:txBody>
      </p:sp>
    </p:spTree>
    <p:extLst>
      <p:ext uri="{BB962C8B-B14F-4D97-AF65-F5344CB8AC3E}">
        <p14:creationId xmlns:p14="http://schemas.microsoft.com/office/powerpoint/2010/main" val="2720894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4B5E-D433-2E4A-A2A9-971DB9B1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60" y="365126"/>
            <a:ext cx="8087647" cy="1325563"/>
          </a:xfrm>
        </p:spPr>
        <p:txBody>
          <a:bodyPr/>
          <a:lstStyle/>
          <a:p>
            <a:r>
              <a:rPr lang="en-US" dirty="0"/>
              <a:t>What goes into an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769B-4FC7-9B4D-BE1E-EC59FD85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61535"/>
            <a:ext cx="7527208" cy="421542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What </a:t>
            </a:r>
            <a:r>
              <a:rPr lang="en-US" sz="3200" b="1" dirty="0"/>
              <a:t>does not go </a:t>
            </a:r>
            <a:r>
              <a:rPr lang="en-US" sz="3200" dirty="0"/>
              <a:t>into an abstract:</a:t>
            </a:r>
          </a:p>
          <a:p>
            <a:pPr lvl="1"/>
            <a:r>
              <a:rPr lang="en-US" sz="3200" dirty="0"/>
              <a:t>In-text citations</a:t>
            </a:r>
          </a:p>
          <a:p>
            <a:pPr lvl="1"/>
            <a:r>
              <a:rPr lang="en-US" sz="3200" dirty="0"/>
              <a:t>Statistical details like a p-value (however, sample sizes are easy enough to digest)</a:t>
            </a:r>
          </a:p>
        </p:txBody>
      </p:sp>
    </p:spTree>
    <p:extLst>
      <p:ext uri="{BB962C8B-B14F-4D97-AF65-F5344CB8AC3E}">
        <p14:creationId xmlns:p14="http://schemas.microsoft.com/office/powerpoint/2010/main" val="133674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8424-F991-8848-A2E5-19958001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abstract successful?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1A30E-586C-4243-A094-9167425D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09020"/>
            <a:ext cx="7886700" cy="42449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The biggest mistake when writing the abstract is </a:t>
            </a:r>
            <a:r>
              <a:rPr lang="en-US" sz="3200" b="1" dirty="0">
                <a:solidFill>
                  <a:srgbClr val="C00000"/>
                </a:solidFill>
              </a:rPr>
              <a:t>being vague </a:t>
            </a:r>
            <a:r>
              <a:rPr lang="en-US" sz="3200" dirty="0"/>
              <a:t>or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hiding the key results.</a:t>
            </a:r>
            <a:endParaRPr lang="en-US" sz="32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Unlike a movie, there is no reason to avoid spoilers</a:t>
            </a:r>
          </a:p>
          <a:p>
            <a:r>
              <a:rPr lang="en-US" dirty="0"/>
              <a:t>Each sentence in the Abstract is valuable and should have a purpose.</a:t>
            </a:r>
          </a:p>
          <a:p>
            <a:r>
              <a:rPr lang="en-US" dirty="0"/>
              <a:t>Do not be vague (“Various results are shown.”)</a:t>
            </a:r>
          </a:p>
          <a:p>
            <a:r>
              <a:rPr lang="en-US" dirty="0"/>
              <a:t>Do not simply start writing and stop when you hit 300 words.</a:t>
            </a:r>
          </a:p>
        </p:txBody>
      </p:sp>
    </p:spTree>
    <p:extLst>
      <p:ext uri="{BB962C8B-B14F-4D97-AF65-F5344CB8AC3E}">
        <p14:creationId xmlns:p14="http://schemas.microsoft.com/office/powerpoint/2010/main" val="56636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B22-0116-CC4C-9E64-FB03E5D5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Now on canvas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274133-4731-184A-B432-FEE8FC86C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Using the template I just provided, let’s break down published abstracts on Canvas.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Download ‘abstracts to </a:t>
            </a:r>
            <a:r>
              <a:rPr lang="en-US" dirty="0" err="1"/>
              <a:t>highlight.doc</a:t>
            </a:r>
            <a:r>
              <a:rPr lang="en-US" dirty="0"/>
              <a:t>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38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4B5E-D433-2E4A-A2A9-971DB9B1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60" y="365126"/>
            <a:ext cx="8087647" cy="1325563"/>
          </a:xfrm>
        </p:spPr>
        <p:txBody>
          <a:bodyPr/>
          <a:lstStyle/>
          <a:p>
            <a:r>
              <a:rPr lang="en-US" dirty="0"/>
              <a:t>What goes into an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769B-4FC7-9B4D-BE1E-EC59FD85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40" y="1961535"/>
            <a:ext cx="8190885" cy="45313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An abstract should mimic the structure of the paper:</a:t>
            </a:r>
          </a:p>
          <a:p>
            <a:r>
              <a:rPr lang="en-US" dirty="0">
                <a:solidFill>
                  <a:srgbClr val="FF0000"/>
                </a:solidFill>
              </a:rPr>
              <a:t>2-4 sentences giving background context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Statement of objectives</a:t>
            </a:r>
          </a:p>
          <a:p>
            <a:r>
              <a:rPr lang="en-US" dirty="0">
                <a:solidFill>
                  <a:srgbClr val="00B050"/>
                </a:solidFill>
              </a:rPr>
              <a:t>1-2 sentences on overall approach to answering question, including key details like study site</a:t>
            </a:r>
            <a:endParaRPr lang="en-US" i="1" dirty="0">
              <a:solidFill>
                <a:srgbClr val="00B050"/>
              </a:solidFill>
            </a:endParaRPr>
          </a:p>
          <a:p>
            <a:r>
              <a:rPr lang="en-US" dirty="0"/>
              <a:t>2-3 sentences giving key results, in plain language</a:t>
            </a:r>
          </a:p>
          <a:p>
            <a:r>
              <a:rPr lang="en-US" dirty="0">
                <a:solidFill>
                  <a:srgbClr val="7030A0"/>
                </a:solidFill>
              </a:rPr>
              <a:t>2-3 sentences giving interpretation and broader implications of key results</a:t>
            </a:r>
          </a:p>
        </p:txBody>
      </p:sp>
    </p:spTree>
    <p:extLst>
      <p:ext uri="{BB962C8B-B14F-4D97-AF65-F5344CB8AC3E}">
        <p14:creationId xmlns:p14="http://schemas.microsoft.com/office/powerpoint/2010/main" val="224377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1754</TotalTime>
  <Words>505</Words>
  <Application>Microsoft Macintosh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Announcements</vt:lpstr>
      <vt:lpstr>Paper assignments</vt:lpstr>
      <vt:lpstr>What questions do you have about your research paper? </vt:lpstr>
      <vt:lpstr>The point of a first draft is not to get it right, but to get it written.</vt:lpstr>
      <vt:lpstr>The Abstract</vt:lpstr>
      <vt:lpstr>Recall paper structure and the 5 pivotal paragraphs</vt:lpstr>
      <vt:lpstr>PowerPoint Presentation</vt:lpstr>
      <vt:lpstr>What is an abstract?</vt:lpstr>
      <vt:lpstr>What goes into an abstract?</vt:lpstr>
      <vt:lpstr>What goes into an abstract?</vt:lpstr>
      <vt:lpstr>What makes an abstract successful?</vt:lpstr>
      <vt:lpstr>Now on canvas</vt:lpstr>
      <vt:lpstr>What goes into an abstract?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Odds and ends to keep for Thursday</dc:title>
  <dc:creator>Miller, Elizabeth Christina - (ecmiller)</dc:creator>
  <cp:lastModifiedBy>Luke M. Tornabene</cp:lastModifiedBy>
  <cp:revision>340</cp:revision>
  <dcterms:created xsi:type="dcterms:W3CDTF">2020-02-04T16:37:16Z</dcterms:created>
  <dcterms:modified xsi:type="dcterms:W3CDTF">2025-02-25T22:00:49Z</dcterms:modified>
</cp:coreProperties>
</file>
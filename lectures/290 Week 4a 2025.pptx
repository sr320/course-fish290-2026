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90" r:id="rId3"/>
    <p:sldId id="293" r:id="rId4"/>
    <p:sldId id="291" r:id="rId5"/>
    <p:sldId id="298" r:id="rId6"/>
    <p:sldId id="294" r:id="rId7"/>
    <p:sldId id="295" r:id="rId8"/>
    <p:sldId id="296" r:id="rId9"/>
    <p:sldId id="297" r:id="rId10"/>
    <p:sldId id="302" r:id="rId11"/>
    <p:sldId id="30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61"/>
    <p:restoredTop sz="94694"/>
  </p:normalViewPr>
  <p:slideViewPr>
    <p:cSldViewPr snapToGrid="0" snapToObjects="1">
      <p:cViewPr varScale="1">
        <p:scale>
          <a:sx n="128" d="100"/>
          <a:sy n="128" d="100"/>
        </p:scale>
        <p:origin x="14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34CF10A-D855-8646-8EA4-D529A085C181}" type="datetimeFigureOut">
              <a:rPr lang="en-US" smtClean="0"/>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1806449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4CF10A-D855-8646-8EA4-D529A085C181}" type="datetimeFigureOut">
              <a:rPr lang="en-US" smtClean="0"/>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4058477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4CF10A-D855-8646-8EA4-D529A085C181}" type="datetimeFigureOut">
              <a:rPr lang="en-US" smtClean="0"/>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2544071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4CF10A-D855-8646-8EA4-D529A085C181}" type="datetimeFigureOut">
              <a:rPr lang="en-US" smtClean="0"/>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3995079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4CF10A-D855-8646-8EA4-D529A085C181}" type="datetimeFigureOut">
              <a:rPr lang="en-US" smtClean="0"/>
              <a:t>1/28/25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1807953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34CF10A-D855-8646-8EA4-D529A085C181}" type="datetimeFigureOut">
              <a:rPr lang="en-US" smtClean="0"/>
              <a:t>1/28/25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3164228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4CF10A-D855-8646-8EA4-D529A085C181}" type="datetimeFigureOut">
              <a:rPr lang="en-US" smtClean="0"/>
              <a:t>1/28/25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1946296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4CF10A-D855-8646-8EA4-D529A085C181}" type="datetimeFigureOut">
              <a:rPr lang="en-US" smtClean="0"/>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1470333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4CF10A-D855-8646-8EA4-D529A085C181}" type="datetimeFigureOut">
              <a:rPr lang="en-US" smtClean="0"/>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4278938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4CF10A-D855-8646-8EA4-D529A085C181}" type="datetimeFigureOut">
              <a:rPr lang="en-US" smtClean="0"/>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838820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4CF10A-D855-8646-8EA4-D529A085C181}" type="datetimeFigureOut">
              <a:rPr lang="en-US" smtClean="0"/>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3585571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4CF10A-D855-8646-8EA4-D529A085C181}" type="datetimeFigureOut">
              <a:rPr lang="en-US" smtClean="0"/>
              <a:t>1/28/25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9169D4-F6D5-5848-9DF9-89818D83AB5B}" type="slidenum">
              <a:rPr lang="en-US" smtClean="0"/>
              <a:t>‹#›</a:t>
            </a:fld>
            <a:endParaRPr lang="en-US"/>
          </a:p>
        </p:txBody>
      </p:sp>
    </p:spTree>
    <p:extLst>
      <p:ext uri="{BB962C8B-B14F-4D97-AF65-F5344CB8AC3E}">
        <p14:creationId xmlns:p14="http://schemas.microsoft.com/office/powerpoint/2010/main" val="32378950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38F12-F311-C14D-A015-38A5E9739897}"/>
              </a:ext>
            </a:extLst>
          </p:cNvPr>
          <p:cNvSpPr>
            <a:spLocks noGrp="1"/>
          </p:cNvSpPr>
          <p:nvPr>
            <p:ph type="ctrTitle"/>
          </p:nvPr>
        </p:nvSpPr>
        <p:spPr>
          <a:xfrm>
            <a:off x="685800" y="1817120"/>
            <a:ext cx="7772400" cy="1128562"/>
          </a:xfrm>
        </p:spPr>
        <p:txBody>
          <a:bodyPr/>
          <a:lstStyle/>
          <a:p>
            <a:r>
              <a:rPr lang="en-US" dirty="0">
                <a:solidFill>
                  <a:srgbClr val="C00000"/>
                </a:solidFill>
              </a:rPr>
              <a:t>The Methods section</a:t>
            </a:r>
          </a:p>
        </p:txBody>
      </p:sp>
      <p:sp>
        <p:nvSpPr>
          <p:cNvPr id="3" name="Subtitle 2">
            <a:extLst>
              <a:ext uri="{FF2B5EF4-FFF2-40B4-BE49-F238E27FC236}">
                <a16:creationId xmlns:a16="http://schemas.microsoft.com/office/drawing/2014/main" id="{20F786A6-0F23-D54A-BF35-6DF3DADBABB5}"/>
              </a:ext>
            </a:extLst>
          </p:cNvPr>
          <p:cNvSpPr>
            <a:spLocks noGrp="1"/>
          </p:cNvSpPr>
          <p:nvPr>
            <p:ph type="subTitle" idx="1"/>
          </p:nvPr>
        </p:nvSpPr>
        <p:spPr>
          <a:xfrm>
            <a:off x="1143000" y="4129238"/>
            <a:ext cx="6858000" cy="1128562"/>
          </a:xfrm>
        </p:spPr>
        <p:txBody>
          <a:bodyPr/>
          <a:lstStyle/>
          <a:p>
            <a:r>
              <a:rPr lang="en-US" dirty="0"/>
              <a:t>Fish 290</a:t>
            </a:r>
          </a:p>
          <a:p>
            <a:r>
              <a:rPr lang="en-US" dirty="0"/>
              <a:t>Tuesday Jan 28, 2025</a:t>
            </a:r>
          </a:p>
        </p:txBody>
      </p:sp>
    </p:spTree>
    <p:extLst>
      <p:ext uri="{BB962C8B-B14F-4D97-AF65-F5344CB8AC3E}">
        <p14:creationId xmlns:p14="http://schemas.microsoft.com/office/powerpoint/2010/main" val="2750055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53435C-E634-4643-96C9-6875D9F9880B}"/>
              </a:ext>
            </a:extLst>
          </p:cNvPr>
          <p:cNvSpPr>
            <a:spLocks noGrp="1"/>
          </p:cNvSpPr>
          <p:nvPr>
            <p:ph idx="1"/>
          </p:nvPr>
        </p:nvSpPr>
        <p:spPr>
          <a:xfrm>
            <a:off x="457200" y="2239766"/>
            <a:ext cx="8229600" cy="3996312"/>
          </a:xfrm>
        </p:spPr>
        <p:txBody>
          <a:bodyPr>
            <a:normAutofit/>
          </a:bodyPr>
          <a:lstStyle/>
          <a:p>
            <a:pPr marL="0" indent="0">
              <a:buNone/>
            </a:pPr>
            <a:r>
              <a:rPr lang="en-US" sz="3200" dirty="0"/>
              <a:t>The Methods section is the most straightforward section of the body to write.</a:t>
            </a:r>
          </a:p>
          <a:p>
            <a:pPr marL="0" indent="0">
              <a:buNone/>
            </a:pPr>
            <a:endParaRPr lang="en-US" dirty="0"/>
          </a:p>
        </p:txBody>
      </p:sp>
      <p:sp>
        <p:nvSpPr>
          <p:cNvPr id="4" name="Rectangle 2">
            <a:extLst>
              <a:ext uri="{FF2B5EF4-FFF2-40B4-BE49-F238E27FC236}">
                <a16:creationId xmlns:a16="http://schemas.microsoft.com/office/drawing/2014/main" id="{C6EBC409-1A18-9C48-ABBB-C1BA408086AA}"/>
              </a:ext>
            </a:extLst>
          </p:cNvPr>
          <p:cNvSpPr>
            <a:spLocks noGrp="1" noChangeArrowheads="1"/>
          </p:cNvSpPr>
          <p:nvPr>
            <p:ph type="title"/>
          </p:nvPr>
        </p:nvSpPr>
        <p:spPr>
          <a:xfrm>
            <a:off x="457200" y="109537"/>
            <a:ext cx="8229600" cy="1143000"/>
          </a:xfrm>
        </p:spPr>
        <p:txBody>
          <a:bodyPr>
            <a:normAutofit/>
          </a:bodyPr>
          <a:lstStyle/>
          <a:p>
            <a:r>
              <a:rPr lang="en-US" sz="3600" b="1" dirty="0">
                <a:solidFill>
                  <a:srgbClr val="C00000"/>
                </a:solidFill>
              </a:rPr>
              <a:t>The Methods (or Materials and Methods)</a:t>
            </a:r>
          </a:p>
        </p:txBody>
      </p:sp>
    </p:spTree>
    <p:extLst>
      <p:ext uri="{BB962C8B-B14F-4D97-AF65-F5344CB8AC3E}">
        <p14:creationId xmlns:p14="http://schemas.microsoft.com/office/powerpoint/2010/main" val="1730445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53435C-E634-4643-96C9-6875D9F9880B}"/>
              </a:ext>
            </a:extLst>
          </p:cNvPr>
          <p:cNvSpPr>
            <a:spLocks noGrp="1"/>
          </p:cNvSpPr>
          <p:nvPr>
            <p:ph idx="1"/>
          </p:nvPr>
        </p:nvSpPr>
        <p:spPr>
          <a:xfrm>
            <a:off x="380172" y="1616903"/>
            <a:ext cx="8229600" cy="4793836"/>
          </a:xfrm>
        </p:spPr>
        <p:txBody>
          <a:bodyPr>
            <a:normAutofit fontScale="85000" lnSpcReduction="20000"/>
          </a:bodyPr>
          <a:lstStyle/>
          <a:p>
            <a:pPr marL="0" indent="0">
              <a:buNone/>
            </a:pPr>
            <a:r>
              <a:rPr lang="en-US" sz="3600" b="1" dirty="0"/>
              <a:t>Functions of the M&amp;M:</a:t>
            </a:r>
          </a:p>
          <a:p>
            <a:pPr marL="914400" lvl="1" indent="-457200">
              <a:buFont typeface="+mj-lt"/>
              <a:buAutoNum type="arabicPeriod"/>
            </a:pPr>
            <a:r>
              <a:rPr lang="en-US" sz="3600" dirty="0"/>
              <a:t>Allow replication of the study in the future</a:t>
            </a:r>
          </a:p>
          <a:p>
            <a:pPr lvl="2"/>
            <a:r>
              <a:rPr lang="en-US" sz="3400" dirty="0"/>
              <a:t>However, most readers are not interested in replicating your study. What </a:t>
            </a:r>
            <a:r>
              <a:rPr lang="en-US" sz="3400" i="1" dirty="0"/>
              <a:t>are</a:t>
            </a:r>
            <a:r>
              <a:rPr lang="en-US" sz="3400" dirty="0"/>
              <a:t> they interested in?</a:t>
            </a:r>
          </a:p>
          <a:p>
            <a:pPr marL="914400" lvl="1" indent="-457200">
              <a:buFont typeface="+mj-lt"/>
              <a:buAutoNum type="arabicPeriod"/>
            </a:pPr>
            <a:endParaRPr lang="en-US" sz="3600" dirty="0"/>
          </a:p>
          <a:p>
            <a:pPr marL="914400" lvl="1" indent="-457200">
              <a:buFont typeface="+mj-lt"/>
              <a:buAutoNum type="arabicPeriod"/>
            </a:pPr>
            <a:r>
              <a:rPr lang="en-US" sz="3600" dirty="0"/>
              <a:t>Give readers the information they need to contextualize the Results. Each result should have a set of methods attached to it.</a:t>
            </a:r>
          </a:p>
          <a:p>
            <a:pPr marL="914400" lvl="1" indent="-457200">
              <a:buFont typeface="+mj-lt"/>
              <a:buAutoNum type="arabicPeriod"/>
            </a:pPr>
            <a:endParaRPr lang="en-US" sz="3600" dirty="0"/>
          </a:p>
          <a:p>
            <a:pPr marL="914400" lvl="1" indent="-457200">
              <a:buFont typeface="+mj-lt"/>
              <a:buAutoNum type="arabicPeriod"/>
            </a:pPr>
            <a:r>
              <a:rPr lang="en-US" sz="3600" dirty="0"/>
              <a:t>Allow readers to judge the credibility of the science. Is your approach defensible and appropriate to answer the question?</a:t>
            </a:r>
          </a:p>
          <a:p>
            <a:pPr marL="0" indent="0">
              <a:buNone/>
            </a:pPr>
            <a:endParaRPr lang="en-US" dirty="0"/>
          </a:p>
        </p:txBody>
      </p:sp>
      <p:sp>
        <p:nvSpPr>
          <p:cNvPr id="4" name="Rectangle 2">
            <a:extLst>
              <a:ext uri="{FF2B5EF4-FFF2-40B4-BE49-F238E27FC236}">
                <a16:creationId xmlns:a16="http://schemas.microsoft.com/office/drawing/2014/main" id="{C6EBC409-1A18-9C48-ABBB-C1BA408086AA}"/>
              </a:ext>
            </a:extLst>
          </p:cNvPr>
          <p:cNvSpPr>
            <a:spLocks noGrp="1" noChangeArrowheads="1"/>
          </p:cNvSpPr>
          <p:nvPr>
            <p:ph type="title"/>
          </p:nvPr>
        </p:nvSpPr>
        <p:spPr>
          <a:xfrm>
            <a:off x="457200" y="109537"/>
            <a:ext cx="8229600" cy="1143000"/>
          </a:xfrm>
        </p:spPr>
        <p:txBody>
          <a:bodyPr>
            <a:normAutofit/>
          </a:bodyPr>
          <a:lstStyle/>
          <a:p>
            <a:r>
              <a:rPr lang="en-US" sz="3600" b="1" dirty="0">
                <a:solidFill>
                  <a:srgbClr val="C00000"/>
                </a:solidFill>
              </a:rPr>
              <a:t>The Methods (or Materials and Methods)</a:t>
            </a:r>
          </a:p>
        </p:txBody>
      </p:sp>
    </p:spTree>
    <p:extLst>
      <p:ext uri="{BB962C8B-B14F-4D97-AF65-F5344CB8AC3E}">
        <p14:creationId xmlns:p14="http://schemas.microsoft.com/office/powerpoint/2010/main" val="3045981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5ECC24-A8A6-C94A-A65E-4B1DAB3F121F}"/>
              </a:ext>
            </a:extLst>
          </p:cNvPr>
          <p:cNvSpPr>
            <a:spLocks noGrp="1"/>
          </p:cNvSpPr>
          <p:nvPr>
            <p:ph idx="1"/>
          </p:nvPr>
        </p:nvSpPr>
        <p:spPr>
          <a:xfrm>
            <a:off x="628650" y="1366464"/>
            <a:ext cx="7886700" cy="5280916"/>
          </a:xfrm>
        </p:spPr>
        <p:txBody>
          <a:bodyPr/>
          <a:lstStyle/>
          <a:p>
            <a:pPr marL="0" indent="0">
              <a:buNone/>
            </a:pPr>
            <a:r>
              <a:rPr lang="en-US" i="1" dirty="0"/>
              <a:t>How to order: </a:t>
            </a:r>
            <a:r>
              <a:rPr lang="en-US" dirty="0"/>
              <a:t>there is no one-size-fits-all structure of the Methods.</a:t>
            </a:r>
          </a:p>
          <a:p>
            <a:pPr lvl="1"/>
            <a:r>
              <a:rPr lang="en-US" dirty="0"/>
              <a:t>What does the writer need to know, (and in what order) to be able to understand and judge your results?</a:t>
            </a:r>
          </a:p>
          <a:p>
            <a:pPr lvl="1"/>
            <a:r>
              <a:rPr lang="en-US" dirty="0"/>
              <a:t>The way you group things will depend on your study</a:t>
            </a:r>
          </a:p>
          <a:p>
            <a:pPr lvl="1"/>
            <a:r>
              <a:rPr lang="en-US" dirty="0"/>
              <a:t>Should not be strictly chronological: </a:t>
            </a:r>
            <a:r>
              <a:rPr lang="en-US" b="1" dirty="0"/>
              <a:t>group like with like</a:t>
            </a:r>
            <a:r>
              <a:rPr lang="en-US" dirty="0"/>
              <a:t>, even if you did things at different times IRL</a:t>
            </a:r>
          </a:p>
          <a:p>
            <a:pPr lvl="1"/>
            <a:endParaRPr lang="en-US" dirty="0"/>
          </a:p>
          <a:p>
            <a:pPr marL="0" indent="0">
              <a:buNone/>
            </a:pPr>
            <a:r>
              <a:rPr lang="en-US" dirty="0"/>
              <a:t>Still, there are good practices to help readers follow the methods.</a:t>
            </a:r>
          </a:p>
          <a:p>
            <a:pPr lvl="1"/>
            <a:r>
              <a:rPr lang="en-US" dirty="0"/>
              <a:t>Subheadings are key</a:t>
            </a:r>
          </a:p>
          <a:p>
            <a:pPr lvl="1"/>
            <a:r>
              <a:rPr lang="en-US" dirty="0"/>
              <a:t>You can even use matching subheadings in the Results section</a:t>
            </a:r>
          </a:p>
        </p:txBody>
      </p:sp>
      <p:sp>
        <p:nvSpPr>
          <p:cNvPr id="6" name="Rectangle 2">
            <a:extLst>
              <a:ext uri="{FF2B5EF4-FFF2-40B4-BE49-F238E27FC236}">
                <a16:creationId xmlns:a16="http://schemas.microsoft.com/office/drawing/2014/main" id="{FBED644D-22F9-344C-BB9B-45105E7F61E8}"/>
              </a:ext>
            </a:extLst>
          </p:cNvPr>
          <p:cNvSpPr>
            <a:spLocks noGrp="1" noChangeArrowheads="1"/>
          </p:cNvSpPr>
          <p:nvPr>
            <p:ph type="title"/>
          </p:nvPr>
        </p:nvSpPr>
        <p:spPr>
          <a:xfrm>
            <a:off x="457200" y="109537"/>
            <a:ext cx="8229600" cy="1143000"/>
          </a:xfrm>
        </p:spPr>
        <p:txBody>
          <a:bodyPr>
            <a:normAutofit/>
          </a:bodyPr>
          <a:lstStyle/>
          <a:p>
            <a:r>
              <a:rPr lang="en-US" sz="3600" b="1" dirty="0">
                <a:solidFill>
                  <a:srgbClr val="C00000"/>
                </a:solidFill>
              </a:rPr>
              <a:t>How to write the Methods</a:t>
            </a:r>
          </a:p>
        </p:txBody>
      </p:sp>
    </p:spTree>
    <p:extLst>
      <p:ext uri="{BB962C8B-B14F-4D97-AF65-F5344CB8AC3E}">
        <p14:creationId xmlns:p14="http://schemas.microsoft.com/office/powerpoint/2010/main" val="2274730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5ECC24-A8A6-C94A-A65E-4B1DAB3F121F}"/>
              </a:ext>
            </a:extLst>
          </p:cNvPr>
          <p:cNvSpPr>
            <a:spLocks noGrp="1"/>
          </p:cNvSpPr>
          <p:nvPr>
            <p:ph idx="1"/>
          </p:nvPr>
        </p:nvSpPr>
        <p:spPr>
          <a:xfrm>
            <a:off x="628650" y="1366464"/>
            <a:ext cx="7886700" cy="5280916"/>
          </a:xfrm>
        </p:spPr>
        <p:txBody>
          <a:bodyPr>
            <a:normAutofit fontScale="77500" lnSpcReduction="20000"/>
          </a:bodyPr>
          <a:lstStyle/>
          <a:p>
            <a:pPr marL="0" indent="0">
              <a:buNone/>
            </a:pPr>
            <a:r>
              <a:rPr lang="en-US" sz="2600" b="1" dirty="0"/>
              <a:t>Formatting rules to follow</a:t>
            </a:r>
            <a:r>
              <a:rPr lang="en-US" sz="2600" dirty="0"/>
              <a:t>:</a:t>
            </a:r>
          </a:p>
          <a:p>
            <a:pPr marL="514350" indent="-514350">
              <a:buFont typeface="+mj-lt"/>
              <a:buAutoNum type="arabicPeriod"/>
            </a:pPr>
            <a:r>
              <a:rPr lang="en-US" sz="2600" dirty="0"/>
              <a:t>Use past tense in the Methods</a:t>
            </a:r>
          </a:p>
          <a:p>
            <a:pPr marL="514350" indent="-514350">
              <a:buFont typeface="+mj-lt"/>
              <a:buAutoNum type="arabicPeriod"/>
            </a:pPr>
            <a:r>
              <a:rPr lang="en-US" sz="2600" dirty="0"/>
              <a:t>Use different font formatting for subheadings</a:t>
            </a:r>
          </a:p>
          <a:p>
            <a:pPr marL="514350" indent="-514350">
              <a:buFont typeface="+mj-lt"/>
              <a:buAutoNum type="arabicPeriod"/>
            </a:pPr>
            <a:r>
              <a:rPr lang="en-US" sz="2600" dirty="0"/>
              <a:t>Use metric system for all units. Abbreviate units -- 10.5 cm</a:t>
            </a:r>
          </a:p>
          <a:p>
            <a:pPr marL="514350" indent="-514350">
              <a:buFont typeface="+mj-lt"/>
              <a:buAutoNum type="arabicPeriod"/>
            </a:pPr>
            <a:r>
              <a:rPr lang="en-US" sz="2600" dirty="0"/>
              <a:t>Use military time instead of AM-PM, e.g. 14:30 rather than 2:20 pm</a:t>
            </a:r>
          </a:p>
          <a:p>
            <a:pPr marL="514350" indent="-514350">
              <a:buFont typeface="+mj-lt"/>
              <a:buAutoNum type="arabicPeriod"/>
            </a:pPr>
            <a:r>
              <a:rPr lang="en-US" sz="2600" dirty="0"/>
              <a:t>When beginning a sentence with a number, always write the number out (“Twenty fish were caught.”). In the middle of a sentence, only write out numbers less than ten (”We caught 20 fish.”)</a:t>
            </a:r>
          </a:p>
          <a:p>
            <a:pPr marL="514350" indent="-514350">
              <a:buFont typeface="+mj-lt"/>
              <a:buAutoNum type="arabicPeriod"/>
            </a:pPr>
            <a:r>
              <a:rPr lang="en-US" sz="2600" dirty="0"/>
              <a:t>The level of detail needed depends on your study and the customs of your field. Some details are trivial while others are critical.</a:t>
            </a:r>
          </a:p>
          <a:p>
            <a:pPr marL="514350" indent="-514350">
              <a:buFont typeface="+mj-lt"/>
              <a:buAutoNum type="arabicPeriod"/>
            </a:pPr>
            <a:r>
              <a:rPr lang="en-US" sz="2600" dirty="0"/>
              <a:t>Spell out abbreviations the first time they are used (except units which are standard)</a:t>
            </a:r>
          </a:p>
          <a:p>
            <a:pPr marL="514350" indent="-514350">
              <a:buFont typeface="+mj-lt"/>
              <a:buAutoNum type="arabicPeriod"/>
            </a:pPr>
            <a:r>
              <a:rPr lang="en-US" sz="2600" dirty="0"/>
              <a:t>While we’re at it, always format all scientific names correctly. Higher taxa are capitalized but not italicized. (</a:t>
            </a:r>
            <a:r>
              <a:rPr lang="en-US" sz="2600" dirty="0" err="1"/>
              <a:t>Cichlidae</a:t>
            </a:r>
            <a:r>
              <a:rPr lang="en-US" sz="2600" dirty="0"/>
              <a:t>). Genera and species are always italicized (</a:t>
            </a:r>
            <a:r>
              <a:rPr lang="en-US" sz="2600" i="1" dirty="0"/>
              <a:t>Salmo </a:t>
            </a:r>
            <a:r>
              <a:rPr lang="en-US" sz="2600" i="1" dirty="0" err="1"/>
              <a:t>salar</a:t>
            </a:r>
            <a:r>
              <a:rPr lang="en-US" sz="2600" dirty="0"/>
              <a:t>). After first mention, can abbreviate the genus (</a:t>
            </a:r>
            <a:r>
              <a:rPr lang="en-US" sz="2600" i="1" dirty="0"/>
              <a:t>S. </a:t>
            </a:r>
            <a:r>
              <a:rPr lang="en-US" sz="2600" i="1" dirty="0" err="1"/>
              <a:t>salar</a:t>
            </a:r>
            <a:r>
              <a:rPr lang="en-US" sz="2600" dirty="0"/>
              <a:t>). </a:t>
            </a:r>
          </a:p>
          <a:p>
            <a:pPr marL="514350" indent="-514350">
              <a:buFont typeface="+mj-lt"/>
              <a:buAutoNum type="arabicPeriod"/>
            </a:pPr>
            <a:r>
              <a:rPr lang="en-US" sz="2600" dirty="0"/>
              <a:t>“Fish” = multiple individuals of the same species. “Fishes” = multiple species</a:t>
            </a:r>
          </a:p>
        </p:txBody>
      </p:sp>
      <p:sp>
        <p:nvSpPr>
          <p:cNvPr id="6" name="Rectangle 2">
            <a:extLst>
              <a:ext uri="{FF2B5EF4-FFF2-40B4-BE49-F238E27FC236}">
                <a16:creationId xmlns:a16="http://schemas.microsoft.com/office/drawing/2014/main" id="{FBED644D-22F9-344C-BB9B-45105E7F61E8}"/>
              </a:ext>
            </a:extLst>
          </p:cNvPr>
          <p:cNvSpPr>
            <a:spLocks noGrp="1" noChangeArrowheads="1"/>
          </p:cNvSpPr>
          <p:nvPr>
            <p:ph type="title"/>
          </p:nvPr>
        </p:nvSpPr>
        <p:spPr>
          <a:xfrm>
            <a:off x="457200" y="109537"/>
            <a:ext cx="8229600" cy="1143000"/>
          </a:xfrm>
        </p:spPr>
        <p:txBody>
          <a:bodyPr>
            <a:normAutofit/>
          </a:bodyPr>
          <a:lstStyle/>
          <a:p>
            <a:r>
              <a:rPr lang="en-US" sz="3600" b="1" dirty="0">
                <a:solidFill>
                  <a:srgbClr val="C00000"/>
                </a:solidFill>
              </a:rPr>
              <a:t>How to write the Methods</a:t>
            </a:r>
          </a:p>
        </p:txBody>
      </p:sp>
    </p:spTree>
    <p:extLst>
      <p:ext uri="{BB962C8B-B14F-4D97-AF65-F5344CB8AC3E}">
        <p14:creationId xmlns:p14="http://schemas.microsoft.com/office/powerpoint/2010/main" val="3205834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691C1E-8942-0E49-8748-BDD608EF7685}"/>
              </a:ext>
            </a:extLst>
          </p:cNvPr>
          <p:cNvSpPr>
            <a:spLocks noGrp="1"/>
          </p:cNvSpPr>
          <p:nvPr>
            <p:ph idx="1"/>
          </p:nvPr>
        </p:nvSpPr>
        <p:spPr>
          <a:xfrm>
            <a:off x="561561" y="1531127"/>
            <a:ext cx="7886700" cy="5126183"/>
          </a:xfrm>
        </p:spPr>
        <p:txBody>
          <a:bodyPr>
            <a:normAutofit/>
          </a:bodyPr>
          <a:lstStyle/>
          <a:p>
            <a:pPr marL="0" indent="0">
              <a:buNone/>
            </a:pPr>
            <a:r>
              <a:rPr lang="en-US" dirty="0"/>
              <a:t>Hint #1: Active vs. Passive voice</a:t>
            </a:r>
          </a:p>
          <a:p>
            <a:pPr marL="0" indent="0">
              <a:buNone/>
            </a:pPr>
            <a:endParaRPr lang="en-US" sz="1000" dirty="0"/>
          </a:p>
          <a:p>
            <a:pPr marL="0" indent="0">
              <a:buNone/>
            </a:pPr>
            <a:r>
              <a:rPr lang="en-US" dirty="0">
                <a:solidFill>
                  <a:srgbClr val="C00000"/>
                </a:solidFill>
              </a:rPr>
              <a:t>Passive: </a:t>
            </a:r>
          </a:p>
          <a:p>
            <a:r>
              <a:rPr lang="en-US" sz="2400" dirty="0"/>
              <a:t>Six sites were selected for surveys.</a:t>
            </a:r>
          </a:p>
          <a:p>
            <a:r>
              <a:rPr lang="en-US" sz="2400" dirty="0"/>
              <a:t>It was determined that phytoplankton were increasing.</a:t>
            </a:r>
            <a:endParaRPr lang="en-US" dirty="0"/>
          </a:p>
          <a:p>
            <a:pPr marL="0" indent="0">
              <a:buNone/>
            </a:pPr>
            <a:r>
              <a:rPr lang="en-US" dirty="0">
                <a:solidFill>
                  <a:srgbClr val="C00000"/>
                </a:solidFill>
              </a:rPr>
              <a:t>Active:</a:t>
            </a:r>
          </a:p>
          <a:p>
            <a:r>
              <a:rPr lang="en-US" sz="2400" dirty="0"/>
              <a:t>We selected six sites for surveys.</a:t>
            </a:r>
          </a:p>
          <a:p>
            <a:r>
              <a:rPr lang="en-US" sz="2400" dirty="0"/>
              <a:t>We determined that phytoplankton were increasing.</a:t>
            </a:r>
          </a:p>
          <a:p>
            <a:endParaRPr lang="en-US" sz="2400" dirty="0"/>
          </a:p>
          <a:p>
            <a:pPr marL="0" indent="0">
              <a:buNone/>
            </a:pPr>
            <a:r>
              <a:rPr lang="en-US" sz="2400" dirty="0"/>
              <a:t>Describe the difference? </a:t>
            </a:r>
          </a:p>
          <a:p>
            <a:pPr marL="0" indent="0">
              <a:buNone/>
            </a:pPr>
            <a:r>
              <a:rPr lang="en-US" sz="2400" dirty="0"/>
              <a:t>Which is better? There are pros and cons. Choose carefully!</a:t>
            </a:r>
          </a:p>
        </p:txBody>
      </p:sp>
      <p:sp>
        <p:nvSpPr>
          <p:cNvPr id="6" name="Rectangle 2">
            <a:extLst>
              <a:ext uri="{FF2B5EF4-FFF2-40B4-BE49-F238E27FC236}">
                <a16:creationId xmlns:a16="http://schemas.microsoft.com/office/drawing/2014/main" id="{60AEBC5A-2A39-7145-93CD-570E96E639AA}"/>
              </a:ext>
            </a:extLst>
          </p:cNvPr>
          <p:cNvSpPr>
            <a:spLocks noGrp="1" noChangeArrowheads="1"/>
          </p:cNvSpPr>
          <p:nvPr>
            <p:ph type="title"/>
          </p:nvPr>
        </p:nvSpPr>
        <p:spPr/>
        <p:txBody>
          <a:bodyPr>
            <a:normAutofit/>
          </a:bodyPr>
          <a:lstStyle/>
          <a:p>
            <a:r>
              <a:rPr lang="en-US" sz="3600" b="1" dirty="0">
                <a:solidFill>
                  <a:srgbClr val="C00000"/>
                </a:solidFill>
              </a:rPr>
              <a:t>Some more hints for writing:</a:t>
            </a:r>
          </a:p>
        </p:txBody>
      </p:sp>
    </p:spTree>
    <p:extLst>
      <p:ext uri="{BB962C8B-B14F-4D97-AF65-F5344CB8AC3E}">
        <p14:creationId xmlns:p14="http://schemas.microsoft.com/office/powerpoint/2010/main" val="1283367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691C1E-8942-0E49-8748-BDD608EF7685}"/>
              </a:ext>
            </a:extLst>
          </p:cNvPr>
          <p:cNvSpPr>
            <a:spLocks noGrp="1"/>
          </p:cNvSpPr>
          <p:nvPr>
            <p:ph idx="1"/>
          </p:nvPr>
        </p:nvSpPr>
        <p:spPr>
          <a:xfrm>
            <a:off x="628650" y="1560944"/>
            <a:ext cx="7886700" cy="5126183"/>
          </a:xfrm>
        </p:spPr>
        <p:txBody>
          <a:bodyPr>
            <a:normAutofit fontScale="92500" lnSpcReduction="20000"/>
          </a:bodyPr>
          <a:lstStyle/>
          <a:p>
            <a:pPr marL="0" indent="0">
              <a:buNone/>
            </a:pPr>
            <a:r>
              <a:rPr lang="en-US" dirty="0"/>
              <a:t>Hint #1: Active vs. Passive voice</a:t>
            </a:r>
          </a:p>
          <a:p>
            <a:pPr marL="0" indent="0">
              <a:buNone/>
            </a:pPr>
            <a:endParaRPr lang="en-US" sz="1000" dirty="0"/>
          </a:p>
          <a:p>
            <a:pPr marL="0" indent="0">
              <a:buNone/>
            </a:pPr>
            <a:r>
              <a:rPr lang="en-US" dirty="0">
                <a:solidFill>
                  <a:srgbClr val="C00000"/>
                </a:solidFill>
              </a:rPr>
              <a:t>Active: </a:t>
            </a:r>
          </a:p>
          <a:p>
            <a:r>
              <a:rPr lang="en-US" sz="2000" dirty="0"/>
              <a:t>Usually shorter and easier to understand- </a:t>
            </a:r>
            <a:r>
              <a:rPr lang="en-US" sz="2000" b="1" dirty="0"/>
              <a:t>that’s what we want!</a:t>
            </a:r>
          </a:p>
          <a:p>
            <a:r>
              <a:rPr lang="en-US" sz="2000" dirty="0"/>
              <a:t>More engaging: relates the science to the human who did it (you!)</a:t>
            </a:r>
          </a:p>
          <a:p>
            <a:r>
              <a:rPr lang="en-US" sz="2000" dirty="0"/>
              <a:t>More specific- we know who did what, the actor is clear</a:t>
            </a:r>
          </a:p>
          <a:p>
            <a:r>
              <a:rPr lang="en-US" sz="2000" dirty="0"/>
              <a:t>Can be repetitive</a:t>
            </a:r>
          </a:p>
          <a:p>
            <a:pPr marL="0" indent="0">
              <a:buNone/>
            </a:pPr>
            <a:endParaRPr lang="en-US" sz="1000" dirty="0"/>
          </a:p>
          <a:p>
            <a:pPr marL="0" indent="0">
              <a:buNone/>
            </a:pPr>
            <a:r>
              <a:rPr lang="en-US" dirty="0">
                <a:solidFill>
                  <a:srgbClr val="C00000"/>
                </a:solidFill>
              </a:rPr>
              <a:t>Passive:</a:t>
            </a:r>
          </a:p>
          <a:p>
            <a:r>
              <a:rPr lang="en-US" sz="2000" dirty="0"/>
              <a:t>Can be used to draw attention to an object (“Fish were identified to species, but other taxa only to genus”).</a:t>
            </a:r>
          </a:p>
          <a:p>
            <a:r>
              <a:rPr lang="en-US" sz="2000" dirty="0"/>
              <a:t>Obscures the actor when the actor is irrelevant (“Nonparametric statistics are preferred when data violate assumptions.”)</a:t>
            </a:r>
          </a:p>
          <a:p>
            <a:r>
              <a:rPr lang="en-US" sz="2000" dirty="0"/>
              <a:t>Sometimes the actor is complex, and sentence is clearer in passive (Compare “Beetles, wasps, and several other insects attacked trees.” vs “Trees were attacked by beetles, wasps, and several other insects.”)</a:t>
            </a:r>
          </a:p>
        </p:txBody>
      </p:sp>
      <p:sp>
        <p:nvSpPr>
          <p:cNvPr id="6" name="Rectangle 2">
            <a:extLst>
              <a:ext uri="{FF2B5EF4-FFF2-40B4-BE49-F238E27FC236}">
                <a16:creationId xmlns:a16="http://schemas.microsoft.com/office/drawing/2014/main" id="{60AEBC5A-2A39-7145-93CD-570E96E639AA}"/>
              </a:ext>
            </a:extLst>
          </p:cNvPr>
          <p:cNvSpPr>
            <a:spLocks noGrp="1" noChangeArrowheads="1"/>
          </p:cNvSpPr>
          <p:nvPr>
            <p:ph type="title"/>
          </p:nvPr>
        </p:nvSpPr>
        <p:spPr/>
        <p:txBody>
          <a:bodyPr>
            <a:normAutofit/>
          </a:bodyPr>
          <a:lstStyle/>
          <a:p>
            <a:r>
              <a:rPr lang="en-US" sz="3600" b="1" dirty="0">
                <a:solidFill>
                  <a:srgbClr val="C00000"/>
                </a:solidFill>
              </a:rPr>
              <a:t>Some more hints for writing:</a:t>
            </a:r>
          </a:p>
        </p:txBody>
      </p:sp>
    </p:spTree>
    <p:extLst>
      <p:ext uri="{BB962C8B-B14F-4D97-AF65-F5344CB8AC3E}">
        <p14:creationId xmlns:p14="http://schemas.microsoft.com/office/powerpoint/2010/main" val="2818234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691C1E-8942-0E49-8748-BDD608EF7685}"/>
              </a:ext>
            </a:extLst>
          </p:cNvPr>
          <p:cNvSpPr>
            <a:spLocks noGrp="1"/>
          </p:cNvSpPr>
          <p:nvPr>
            <p:ph idx="1"/>
          </p:nvPr>
        </p:nvSpPr>
        <p:spPr>
          <a:xfrm>
            <a:off x="628650" y="1560944"/>
            <a:ext cx="7886700" cy="5126183"/>
          </a:xfrm>
        </p:spPr>
        <p:txBody>
          <a:bodyPr>
            <a:normAutofit fontScale="92500" lnSpcReduction="20000"/>
          </a:bodyPr>
          <a:lstStyle/>
          <a:p>
            <a:pPr marL="0" indent="0">
              <a:buNone/>
            </a:pPr>
            <a:r>
              <a:rPr lang="en-US" dirty="0"/>
              <a:t>Hint #2: </a:t>
            </a:r>
          </a:p>
          <a:p>
            <a:pPr marL="0" indent="0">
              <a:buNone/>
            </a:pPr>
            <a:endParaRPr lang="en-US" dirty="0"/>
          </a:p>
          <a:p>
            <a:pPr marL="0" indent="0">
              <a:buNone/>
            </a:pPr>
            <a:r>
              <a:rPr lang="en-US" b="1" dirty="0"/>
              <a:t>Theatre of mind </a:t>
            </a:r>
            <a:r>
              <a:rPr lang="en-US" dirty="0"/>
              <a:t>– painting a picture in somebody else’s imagination through words.   </a:t>
            </a:r>
          </a:p>
          <a:p>
            <a:pPr marL="0" indent="0">
              <a:buNone/>
            </a:pPr>
            <a:endParaRPr lang="en-US" dirty="0"/>
          </a:p>
          <a:p>
            <a:pPr marL="0" indent="0">
              <a:buNone/>
            </a:pPr>
            <a:r>
              <a:rPr lang="en-US" dirty="0"/>
              <a:t>Useful when:</a:t>
            </a:r>
          </a:p>
          <a:p>
            <a:pPr>
              <a:buFontTx/>
              <a:buChar char="-"/>
            </a:pPr>
            <a:r>
              <a:rPr lang="en-US" dirty="0"/>
              <a:t>Describing study sites</a:t>
            </a:r>
          </a:p>
          <a:p>
            <a:pPr>
              <a:buFontTx/>
              <a:buChar char="-"/>
            </a:pPr>
            <a:r>
              <a:rPr lang="en-US" dirty="0"/>
              <a:t>Describing experimental design</a:t>
            </a:r>
          </a:p>
          <a:p>
            <a:pPr>
              <a:buFontTx/>
              <a:buChar char="-"/>
            </a:pPr>
            <a:r>
              <a:rPr lang="en-US" dirty="0"/>
              <a:t>Describing an apparatus or complicated experimental tool</a:t>
            </a:r>
          </a:p>
          <a:p>
            <a:pPr marL="0" indent="0">
              <a:buNone/>
            </a:pPr>
            <a:br>
              <a:rPr lang="en-US" dirty="0"/>
            </a:br>
            <a:r>
              <a:rPr lang="en-US" dirty="0"/>
              <a:t>Often will accompany a figure</a:t>
            </a:r>
            <a:br>
              <a:rPr lang="en-US" dirty="0"/>
            </a:br>
            <a:endParaRPr lang="en-US" dirty="0"/>
          </a:p>
        </p:txBody>
      </p:sp>
      <p:sp>
        <p:nvSpPr>
          <p:cNvPr id="6" name="Rectangle 2">
            <a:extLst>
              <a:ext uri="{FF2B5EF4-FFF2-40B4-BE49-F238E27FC236}">
                <a16:creationId xmlns:a16="http://schemas.microsoft.com/office/drawing/2014/main" id="{60AEBC5A-2A39-7145-93CD-570E96E639AA}"/>
              </a:ext>
            </a:extLst>
          </p:cNvPr>
          <p:cNvSpPr>
            <a:spLocks noGrp="1" noChangeArrowheads="1"/>
          </p:cNvSpPr>
          <p:nvPr>
            <p:ph type="title"/>
          </p:nvPr>
        </p:nvSpPr>
        <p:spPr/>
        <p:txBody>
          <a:bodyPr>
            <a:normAutofit/>
          </a:bodyPr>
          <a:lstStyle/>
          <a:p>
            <a:r>
              <a:rPr lang="en-US" sz="3600" b="1" dirty="0">
                <a:solidFill>
                  <a:srgbClr val="C00000"/>
                </a:solidFill>
              </a:rPr>
              <a:t>Some more hints for writing:</a:t>
            </a:r>
          </a:p>
        </p:txBody>
      </p:sp>
    </p:spTree>
    <p:extLst>
      <p:ext uri="{BB962C8B-B14F-4D97-AF65-F5344CB8AC3E}">
        <p14:creationId xmlns:p14="http://schemas.microsoft.com/office/powerpoint/2010/main" val="71206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691C1E-8942-0E49-8748-BDD608EF7685}"/>
              </a:ext>
            </a:extLst>
          </p:cNvPr>
          <p:cNvSpPr>
            <a:spLocks noGrp="1"/>
          </p:cNvSpPr>
          <p:nvPr>
            <p:ph idx="1"/>
          </p:nvPr>
        </p:nvSpPr>
        <p:spPr>
          <a:xfrm>
            <a:off x="555763" y="1613262"/>
            <a:ext cx="8223802" cy="4879612"/>
          </a:xfrm>
        </p:spPr>
        <p:txBody>
          <a:bodyPr>
            <a:normAutofit lnSpcReduction="10000"/>
          </a:bodyPr>
          <a:lstStyle/>
          <a:p>
            <a:pPr marL="0" indent="0">
              <a:buNone/>
            </a:pPr>
            <a:r>
              <a:rPr lang="en-US" sz="3000" dirty="0"/>
              <a:t>Hint #2: </a:t>
            </a:r>
            <a:r>
              <a:rPr lang="en-US" sz="3000" b="1" dirty="0"/>
              <a:t>Theory of mind</a:t>
            </a:r>
          </a:p>
          <a:p>
            <a:pPr marL="0" indent="0">
              <a:buNone/>
            </a:pPr>
            <a:endParaRPr lang="en-US" dirty="0"/>
          </a:p>
          <a:p>
            <a:pPr marL="0" indent="0">
              <a:buNone/>
            </a:pPr>
            <a:r>
              <a:rPr lang="en-US" sz="2600" dirty="0"/>
              <a:t>“Theory of mind” means putting yourself in the reader’s mindset when writing.   What would they be thinking? What do they know right now? </a:t>
            </a:r>
            <a:br>
              <a:rPr lang="en-US" sz="2600" dirty="0"/>
            </a:br>
            <a:endParaRPr lang="en-US" sz="2600" dirty="0"/>
          </a:p>
          <a:p>
            <a:pPr marL="0" indent="0">
              <a:buNone/>
            </a:pPr>
            <a:r>
              <a:rPr lang="en-US" sz="2600" dirty="0"/>
              <a:t>Always keep this in mind when writing (any section!). Some things may be obvious to you but not to the reader.</a:t>
            </a:r>
          </a:p>
          <a:p>
            <a:pPr marL="0" indent="0">
              <a:buNone/>
            </a:pPr>
            <a:r>
              <a:rPr lang="en-US" sz="2600" dirty="0"/>
              <a:t>Examples in writing: “It was taken to the lab…” “Temperature affected them…”  What is it? Who are them? </a:t>
            </a:r>
            <a:br>
              <a:rPr lang="en-US" sz="2600" dirty="0"/>
            </a:br>
            <a:br>
              <a:rPr lang="en-US" sz="2600" dirty="0"/>
            </a:br>
            <a:endParaRPr lang="en-US" sz="2600" dirty="0"/>
          </a:p>
        </p:txBody>
      </p:sp>
      <p:sp>
        <p:nvSpPr>
          <p:cNvPr id="6" name="Rectangle 2">
            <a:extLst>
              <a:ext uri="{FF2B5EF4-FFF2-40B4-BE49-F238E27FC236}">
                <a16:creationId xmlns:a16="http://schemas.microsoft.com/office/drawing/2014/main" id="{60AEBC5A-2A39-7145-93CD-570E96E639AA}"/>
              </a:ext>
            </a:extLst>
          </p:cNvPr>
          <p:cNvSpPr>
            <a:spLocks noGrp="1" noChangeArrowheads="1"/>
          </p:cNvSpPr>
          <p:nvPr>
            <p:ph type="title"/>
          </p:nvPr>
        </p:nvSpPr>
        <p:spPr/>
        <p:txBody>
          <a:bodyPr>
            <a:normAutofit/>
          </a:bodyPr>
          <a:lstStyle/>
          <a:p>
            <a:r>
              <a:rPr lang="en-US" sz="3600" b="1" dirty="0">
                <a:solidFill>
                  <a:srgbClr val="C00000"/>
                </a:solidFill>
              </a:rPr>
              <a:t>Some more hints for writing:</a:t>
            </a:r>
          </a:p>
        </p:txBody>
      </p:sp>
    </p:spTree>
    <p:extLst>
      <p:ext uri="{BB962C8B-B14F-4D97-AF65-F5344CB8AC3E}">
        <p14:creationId xmlns:p14="http://schemas.microsoft.com/office/powerpoint/2010/main" val="3382865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83FB9F-3FEE-4948-AA38-3E29066C9A3C}"/>
              </a:ext>
            </a:extLst>
          </p:cNvPr>
          <p:cNvSpPr>
            <a:spLocks noGrp="1"/>
          </p:cNvSpPr>
          <p:nvPr>
            <p:ph idx="1"/>
          </p:nvPr>
        </p:nvSpPr>
        <p:spPr/>
        <p:txBody>
          <a:bodyPr/>
          <a:lstStyle/>
          <a:p>
            <a:r>
              <a:rPr lang="en-US" b="1" dirty="0">
                <a:solidFill>
                  <a:srgbClr val="FF0000"/>
                </a:solidFill>
              </a:rPr>
              <a:t>Look at the de Wit and Johnson 2024 paper on canvas</a:t>
            </a:r>
          </a:p>
          <a:p>
            <a:r>
              <a:rPr lang="en-US" dirty="0"/>
              <a:t>Examine the Materials and Methods</a:t>
            </a:r>
          </a:p>
          <a:p>
            <a:r>
              <a:rPr lang="en-US" dirty="0"/>
              <a:t>Note the structure and subheadings</a:t>
            </a:r>
          </a:p>
          <a:p>
            <a:r>
              <a:rPr lang="en-US" dirty="0"/>
              <a:t>Note any active or passive voice</a:t>
            </a:r>
          </a:p>
          <a:p>
            <a:r>
              <a:rPr lang="en-US" dirty="0"/>
              <a:t>What do you find helpful? </a:t>
            </a:r>
          </a:p>
          <a:p>
            <a:r>
              <a:rPr lang="en-US" dirty="0"/>
              <a:t>What would you like to see, but is not there? </a:t>
            </a:r>
          </a:p>
          <a:p>
            <a:r>
              <a:rPr lang="en-US" dirty="0"/>
              <a:t>What level of detail is not given, and is that OK?</a:t>
            </a:r>
          </a:p>
        </p:txBody>
      </p:sp>
      <p:sp>
        <p:nvSpPr>
          <p:cNvPr id="4" name="Title 1">
            <a:extLst>
              <a:ext uri="{FF2B5EF4-FFF2-40B4-BE49-F238E27FC236}">
                <a16:creationId xmlns:a16="http://schemas.microsoft.com/office/drawing/2014/main" id="{E65A67AA-1E11-8746-83A0-5AE127222BD6}"/>
              </a:ext>
            </a:extLst>
          </p:cNvPr>
          <p:cNvSpPr txBox="1">
            <a:spLocks/>
          </p:cNvSpPr>
          <p:nvPr/>
        </p:nvSpPr>
        <p:spPr>
          <a:xfrm>
            <a:off x="781050" y="517526"/>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rgbClr val="C00000"/>
                </a:solidFill>
              </a:rPr>
              <a:t>Examine Published Methods</a:t>
            </a:r>
          </a:p>
        </p:txBody>
      </p:sp>
    </p:spTree>
    <p:extLst>
      <p:ext uri="{BB962C8B-B14F-4D97-AF65-F5344CB8AC3E}">
        <p14:creationId xmlns:p14="http://schemas.microsoft.com/office/powerpoint/2010/main" val="3559831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86B22-0116-CC4C-9E64-FB03E5D5708C}"/>
              </a:ext>
            </a:extLst>
          </p:cNvPr>
          <p:cNvSpPr>
            <a:spLocks noGrp="1"/>
          </p:cNvSpPr>
          <p:nvPr>
            <p:ph type="title"/>
          </p:nvPr>
        </p:nvSpPr>
        <p:spPr/>
        <p:txBody>
          <a:bodyPr>
            <a:normAutofit/>
          </a:bodyPr>
          <a:lstStyle/>
          <a:p>
            <a:r>
              <a:rPr lang="en-US" sz="4000" dirty="0">
                <a:solidFill>
                  <a:srgbClr val="FF0000"/>
                </a:solidFill>
              </a:rPr>
              <a:t>Assignments for today and for home</a:t>
            </a:r>
          </a:p>
        </p:txBody>
      </p:sp>
      <p:sp>
        <p:nvSpPr>
          <p:cNvPr id="3" name="Content Placeholder 2">
            <a:extLst>
              <a:ext uri="{FF2B5EF4-FFF2-40B4-BE49-F238E27FC236}">
                <a16:creationId xmlns:a16="http://schemas.microsoft.com/office/drawing/2014/main" id="{56964DE2-5A73-9D4C-A73F-1CBE237852F6}"/>
              </a:ext>
            </a:extLst>
          </p:cNvPr>
          <p:cNvSpPr>
            <a:spLocks noGrp="1"/>
          </p:cNvSpPr>
          <p:nvPr>
            <p:ph idx="1"/>
          </p:nvPr>
        </p:nvSpPr>
        <p:spPr>
          <a:xfrm>
            <a:off x="628650" y="1617394"/>
            <a:ext cx="7886700" cy="5032376"/>
          </a:xfrm>
        </p:spPr>
        <p:txBody>
          <a:bodyPr>
            <a:normAutofit/>
          </a:bodyPr>
          <a:lstStyle/>
          <a:p>
            <a:r>
              <a:rPr lang="en-US" dirty="0"/>
              <a:t>Download the </a:t>
            </a:r>
            <a:r>
              <a:rPr lang="en-US" b="1" dirty="0">
                <a:solidFill>
                  <a:srgbClr val="FF0000"/>
                </a:solidFill>
              </a:rPr>
              <a:t>Methods to Edit 2025 </a:t>
            </a:r>
            <a:r>
              <a:rPr lang="en-US" dirty="0"/>
              <a:t>document, and make comments and edits to improve the document</a:t>
            </a:r>
          </a:p>
          <a:p>
            <a:r>
              <a:rPr lang="en-US" dirty="0"/>
              <a:t>Attempt to download data for your research project. </a:t>
            </a:r>
            <a:r>
              <a:rPr lang="en-US" b="1" u="sng" dirty="0"/>
              <a:t>If you have issues let me know.</a:t>
            </a:r>
          </a:p>
          <a:p>
            <a:r>
              <a:rPr lang="en-US" dirty="0"/>
              <a:t>Start writing your </a:t>
            </a:r>
            <a:r>
              <a:rPr lang="en-US" dirty="0">
                <a:solidFill>
                  <a:srgbClr val="FF0000"/>
                </a:solidFill>
              </a:rPr>
              <a:t>Introduction – </a:t>
            </a:r>
            <a:r>
              <a:rPr lang="en-US" b="1" dirty="0">
                <a:solidFill>
                  <a:srgbClr val="FF0000"/>
                </a:solidFill>
              </a:rPr>
              <a:t>due Friday at 11:59 pm</a:t>
            </a:r>
            <a:r>
              <a:rPr lang="en-US" b="1" dirty="0"/>
              <a:t>.  </a:t>
            </a:r>
            <a:r>
              <a:rPr lang="en-US" dirty="0"/>
              <a:t>An outline is a good place to start. </a:t>
            </a:r>
          </a:p>
          <a:p>
            <a:r>
              <a:rPr lang="en-US" dirty="0"/>
              <a:t>Read “The Methods Section” on Canvas</a:t>
            </a:r>
          </a:p>
          <a:p>
            <a:r>
              <a:rPr lang="en-US" dirty="0"/>
              <a:t>Think about writing your Methods section. You will most likely begin with describing the data you just downloaded, including how it was collected. </a:t>
            </a:r>
          </a:p>
        </p:txBody>
      </p:sp>
    </p:spTree>
    <p:extLst>
      <p:ext uri="{BB962C8B-B14F-4D97-AF65-F5344CB8AC3E}">
        <p14:creationId xmlns:p14="http://schemas.microsoft.com/office/powerpoint/2010/main" val="218144698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1610</TotalTime>
  <Words>910</Words>
  <Application>Microsoft Macintosh PowerPoint</Application>
  <PresentationFormat>On-screen Show (4:3)</PresentationFormat>
  <Paragraphs>88</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The Methods section</vt:lpstr>
      <vt:lpstr>The Methods (or Materials and Methods)</vt:lpstr>
      <vt:lpstr>The Methods (or Materials and Methods)</vt:lpstr>
      <vt:lpstr>How to write the Methods</vt:lpstr>
      <vt:lpstr>How to write the Methods</vt:lpstr>
      <vt:lpstr>Some more hints for writing:</vt:lpstr>
      <vt:lpstr>Some more hints for writing:</vt:lpstr>
      <vt:lpstr>Some more hints for writing:</vt:lpstr>
      <vt:lpstr>Some more hints for writing:</vt:lpstr>
      <vt:lpstr>PowerPoint Presentation</vt:lpstr>
      <vt:lpstr>Assignments for today and for home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Miller, Elizabeth Christina - (ecmiller)</dc:creator>
  <cp:lastModifiedBy>Luke M. Tornabene</cp:lastModifiedBy>
  <cp:revision>47</cp:revision>
  <dcterms:created xsi:type="dcterms:W3CDTF">2020-01-21T02:32:40Z</dcterms:created>
  <dcterms:modified xsi:type="dcterms:W3CDTF">2025-01-28T21:48:05Z</dcterms:modified>
</cp:coreProperties>
</file>
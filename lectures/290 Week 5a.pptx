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1" i="0" strike="noStrike" sz="1400" u="none">
                <a:solidFill>
                  <a:srgbClr val="000000"/>
                </a:solidFill>
                <a:latin typeface="Calibri"/>
              </a:defRPr>
            </a:pPr>
            <a:r>
              <a:rPr b="1" i="0" strike="noStrike" sz="1400" u="none">
                <a:solidFill>
                  <a:srgbClr val="000000"/>
                </a:solidFill>
                <a:latin typeface="Calibri"/>
              </a:rPr>
              <a:t>Anglerfish capture depth and fork length</a:t>
            </a:r>
          </a:p>
        </c:rich>
      </c:tx>
      <c:layout>
        <c:manualLayout>
          <c:xMode val="edge"/>
          <c:yMode val="edge"/>
          <c:x val="0.185499"/>
          <c:y val="0"/>
          <c:w val="0.629001"/>
          <c:h val="0.118926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107211"/>
          <c:y val="0.118926"/>
          <c:w val="0.871248"/>
          <c:h val="0.71596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fangtooth</c:v>
                </c:pt>
              </c:strCache>
            </c:strRef>
          </c:tx>
          <c:spPr>
            <a:solidFill>
              <a:srgbClr val="A6A6A6"/>
            </a:solidFill>
            <a:ln w="12700" cap="flat">
              <a:noFill/>
              <a:miter lim="400000"/>
            </a:ln>
            <a:effectLst/>
          </c:spPr>
          <c:marker>
            <c:symbol val="diamond"/>
            <c:size val="3"/>
            <c:spPr>
              <a:solidFill>
                <a:srgbClr val="A6A6A6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trendline>
            <c:spPr>
              <a:noFill/>
              <a:ln w="31750" cap="flat">
                <a:solidFill>
                  <a:srgbClr val="000000"/>
                </a:solidFill>
                <a:prstDash val="solid"/>
                <a:miter lim="800000"/>
              </a:ln>
              <a:effectLst/>
            </c:spPr>
            <c:trendlineType val="linear"/>
            <c:forward val="0"/>
            <c:backward val="0"/>
            <c:dispRSqr val="1"/>
            <c:dispEq val="0"/>
            <c:trendlineLbl>
              <c:layout/>
              <c:tx>
                <c:rich>
                  <a:bodyPr rot="0"/>
                  <a:lstStyle/>
                  <a:p>
                    <a:pPr>
                      <a:defRPr b="0" i="0" strike="noStrike" sz="1000" u="none">
                        <a:solidFill>
                          <a:srgbClr val="000000"/>
                        </a:solidFill>
                        <a:latin typeface="Calibri"/>
                      </a:defRPr>
                    </a:pPr>
                    <a:r>
                      <a:rPr b="0" i="0" strike="noStrike" sz="1000" u="none">
                        <a:solidFill>
                          <a:srgbClr val="000000"/>
                        </a:solidFill>
                        <a:latin typeface="Calibri"/>
                      </a:rPr>
                      <a:t>R² = 0.0013</a:t>
                    </a:r>
                  </a:p>
                </c:rich>
              </c:tx>
            </c:trendlineLbl>
          </c:trendline>
          <c:xVal>
            <c:numRef>
              <c:f>Sheet1!$B$2:$CW$2</c:f>
              <c:numCache>
                <c:ptCount val="100"/>
                <c:pt idx="0">
                  <c:v>725.000000</c:v>
                </c:pt>
                <c:pt idx="1">
                  <c:v>487.000000</c:v>
                </c:pt>
                <c:pt idx="2">
                  <c:v>710.000000</c:v>
                </c:pt>
                <c:pt idx="3">
                  <c:v>647.000000</c:v>
                </c:pt>
                <c:pt idx="4">
                  <c:v>402.000000</c:v>
                </c:pt>
                <c:pt idx="5">
                  <c:v>696.000000</c:v>
                </c:pt>
                <c:pt idx="6">
                  <c:v>418.000000</c:v>
                </c:pt>
                <c:pt idx="7">
                  <c:v>718.000000</c:v>
                </c:pt>
                <c:pt idx="8">
                  <c:v>523.000000</c:v>
                </c:pt>
                <c:pt idx="9">
                  <c:v>660.000000</c:v>
                </c:pt>
                <c:pt idx="10">
                  <c:v>611.000000</c:v>
                </c:pt>
                <c:pt idx="11">
                  <c:v>678.000000</c:v>
                </c:pt>
                <c:pt idx="12">
                  <c:v>422.000000</c:v>
                </c:pt>
                <c:pt idx="13">
                  <c:v>588.000000</c:v>
                </c:pt>
                <c:pt idx="14">
                  <c:v>517.000000</c:v>
                </c:pt>
                <c:pt idx="15">
                  <c:v>681.000000</c:v>
                </c:pt>
                <c:pt idx="16">
                  <c:v>463.000000</c:v>
                </c:pt>
                <c:pt idx="17">
                  <c:v>490.000000</c:v>
                </c:pt>
                <c:pt idx="18">
                  <c:v>501.000000</c:v>
                </c:pt>
                <c:pt idx="19">
                  <c:v>462.000000</c:v>
                </c:pt>
                <c:pt idx="20">
                  <c:v>585.000000</c:v>
                </c:pt>
                <c:pt idx="21">
                  <c:v>657.000000</c:v>
                </c:pt>
                <c:pt idx="22">
                  <c:v>521.000000</c:v>
                </c:pt>
                <c:pt idx="23">
                  <c:v>467.000000</c:v>
                </c:pt>
                <c:pt idx="24">
                  <c:v>488.000000</c:v>
                </c:pt>
                <c:pt idx="25">
                  <c:v>519.000000</c:v>
                </c:pt>
                <c:pt idx="26">
                  <c:v>525.000000</c:v>
                </c:pt>
                <c:pt idx="27">
                  <c:v>600.000000</c:v>
                </c:pt>
                <c:pt idx="28">
                  <c:v>622.000000</c:v>
                </c:pt>
                <c:pt idx="29">
                  <c:v>550.000000</c:v>
                </c:pt>
                <c:pt idx="30">
                  <c:v>656.000000</c:v>
                </c:pt>
                <c:pt idx="31">
                  <c:v>540.000000</c:v>
                </c:pt>
                <c:pt idx="32">
                  <c:v>711.000000</c:v>
                </c:pt>
                <c:pt idx="33">
                  <c:v>629.000000</c:v>
                </c:pt>
                <c:pt idx="34">
                  <c:v>500.000000</c:v>
                </c:pt>
                <c:pt idx="35">
                  <c:v>512.000000</c:v>
                </c:pt>
                <c:pt idx="36">
                  <c:v>406.000000</c:v>
                </c:pt>
                <c:pt idx="37">
                  <c:v>743.000000</c:v>
                </c:pt>
                <c:pt idx="38">
                  <c:v>444.000000</c:v>
                </c:pt>
                <c:pt idx="39">
                  <c:v>522.000000</c:v>
                </c:pt>
                <c:pt idx="40">
                  <c:v>588.000000</c:v>
                </c:pt>
                <c:pt idx="41">
                  <c:v>517.000000</c:v>
                </c:pt>
                <c:pt idx="42">
                  <c:v>411.000000</c:v>
                </c:pt>
                <c:pt idx="43">
                  <c:v>439.000000</c:v>
                </c:pt>
                <c:pt idx="44">
                  <c:v>741.000000</c:v>
                </c:pt>
                <c:pt idx="45">
                  <c:v>541.000000</c:v>
                </c:pt>
                <c:pt idx="46">
                  <c:v>686.000000</c:v>
                </c:pt>
                <c:pt idx="47">
                  <c:v>710.000000</c:v>
                </c:pt>
                <c:pt idx="48">
                  <c:v>634.000000</c:v>
                </c:pt>
                <c:pt idx="49">
                  <c:v>566.000000</c:v>
                </c:pt>
                <c:pt idx="50">
                  <c:v>695.000000</c:v>
                </c:pt>
                <c:pt idx="51">
                  <c:v>726.000000</c:v>
                </c:pt>
                <c:pt idx="52">
                  <c:v>434.000000</c:v>
                </c:pt>
                <c:pt idx="53">
                  <c:v>581.000000</c:v>
                </c:pt>
                <c:pt idx="54">
                  <c:v>733.000000</c:v>
                </c:pt>
                <c:pt idx="55">
                  <c:v>719.000000</c:v>
                </c:pt>
                <c:pt idx="56">
                  <c:v>497.000000</c:v>
                </c:pt>
                <c:pt idx="57">
                  <c:v>728.000000</c:v>
                </c:pt>
                <c:pt idx="58">
                  <c:v>634.000000</c:v>
                </c:pt>
                <c:pt idx="59">
                  <c:v>728.000000</c:v>
                </c:pt>
                <c:pt idx="60">
                  <c:v>647.000000</c:v>
                </c:pt>
                <c:pt idx="61">
                  <c:v>623.000000</c:v>
                </c:pt>
                <c:pt idx="62">
                  <c:v>497.000000</c:v>
                </c:pt>
                <c:pt idx="63">
                  <c:v>530.000000</c:v>
                </c:pt>
                <c:pt idx="64">
                  <c:v>499.000000</c:v>
                </c:pt>
                <c:pt idx="65">
                  <c:v>605.000000</c:v>
                </c:pt>
                <c:pt idx="66">
                  <c:v>582.000000</c:v>
                </c:pt>
                <c:pt idx="67">
                  <c:v>649.000000</c:v>
                </c:pt>
                <c:pt idx="68">
                  <c:v>596.000000</c:v>
                </c:pt>
                <c:pt idx="69">
                  <c:v>619.000000</c:v>
                </c:pt>
                <c:pt idx="70">
                  <c:v>725.000000</c:v>
                </c:pt>
                <c:pt idx="71">
                  <c:v>533.000000</c:v>
                </c:pt>
                <c:pt idx="72">
                  <c:v>662.000000</c:v>
                </c:pt>
                <c:pt idx="73">
                  <c:v>585.000000</c:v>
                </c:pt>
                <c:pt idx="74">
                  <c:v>672.000000</c:v>
                </c:pt>
                <c:pt idx="75">
                  <c:v>632.000000</c:v>
                </c:pt>
                <c:pt idx="76">
                  <c:v>651.000000</c:v>
                </c:pt>
                <c:pt idx="77">
                  <c:v>669.000000</c:v>
                </c:pt>
                <c:pt idx="78">
                  <c:v>654.000000</c:v>
                </c:pt>
                <c:pt idx="79">
                  <c:v>552.000000</c:v>
                </c:pt>
                <c:pt idx="80">
                  <c:v>440.000000</c:v>
                </c:pt>
                <c:pt idx="81">
                  <c:v>505.000000</c:v>
                </c:pt>
                <c:pt idx="82">
                  <c:v>717.000000</c:v>
                </c:pt>
                <c:pt idx="83">
                  <c:v>489.000000</c:v>
                </c:pt>
                <c:pt idx="84">
                  <c:v>600.000000</c:v>
                </c:pt>
                <c:pt idx="85">
                  <c:v>529.000000</c:v>
                </c:pt>
                <c:pt idx="86">
                  <c:v>570.000000</c:v>
                </c:pt>
                <c:pt idx="87">
                  <c:v>473.000000</c:v>
                </c:pt>
                <c:pt idx="88">
                  <c:v>588.000000</c:v>
                </c:pt>
                <c:pt idx="89">
                  <c:v>520.000000</c:v>
                </c:pt>
                <c:pt idx="90">
                  <c:v>558.000000</c:v>
                </c:pt>
                <c:pt idx="91">
                  <c:v>637.000000</c:v>
                </c:pt>
                <c:pt idx="92">
                  <c:v>509.000000</c:v>
                </c:pt>
                <c:pt idx="93">
                  <c:v>538.000000</c:v>
                </c:pt>
                <c:pt idx="94">
                  <c:v>691.000000</c:v>
                </c:pt>
                <c:pt idx="95">
                  <c:v>688.000000</c:v>
                </c:pt>
                <c:pt idx="96">
                  <c:v>465.000000</c:v>
                </c:pt>
                <c:pt idx="97">
                  <c:v>715.000000</c:v>
                </c:pt>
                <c:pt idx="98">
                  <c:v>514.000000</c:v>
                </c:pt>
                <c:pt idx="99">
                  <c:v>664.000000</c:v>
                </c:pt>
              </c:numCache>
            </c:numRef>
          </c:xVal>
          <c:yVal>
            <c:numRef>
              <c:f>Sheet1!$B$3:$CW$3</c:f>
              <c:numCache>
                <c:ptCount val="100"/>
                <c:pt idx="0">
                  <c:v>1.004056</c:v>
                </c:pt>
                <c:pt idx="1">
                  <c:v>20.272207</c:v>
                </c:pt>
                <c:pt idx="2">
                  <c:v>18.476065</c:v>
                </c:pt>
                <c:pt idx="3">
                  <c:v>31.725476</c:v>
                </c:pt>
                <c:pt idx="4">
                  <c:v>9.219587</c:v>
                </c:pt>
                <c:pt idx="5">
                  <c:v>11.949322</c:v>
                </c:pt>
                <c:pt idx="6">
                  <c:v>25.855926</c:v>
                </c:pt>
                <c:pt idx="7">
                  <c:v>9.900465</c:v>
                </c:pt>
                <c:pt idx="8">
                  <c:v>19.197849</c:v>
                </c:pt>
                <c:pt idx="9">
                  <c:v>15.950894</c:v>
                </c:pt>
                <c:pt idx="10">
                  <c:v>19.112450</c:v>
                </c:pt>
                <c:pt idx="11">
                  <c:v>23.484551</c:v>
                </c:pt>
                <c:pt idx="12">
                  <c:v>12.287693</c:v>
                </c:pt>
                <c:pt idx="13">
                  <c:v>15.244264</c:v>
                </c:pt>
                <c:pt idx="14">
                  <c:v>10.682359</c:v>
                </c:pt>
                <c:pt idx="15">
                  <c:v>16.982714</c:v>
                </c:pt>
                <c:pt idx="16">
                  <c:v>18.996538</c:v>
                </c:pt>
                <c:pt idx="17">
                  <c:v>38.811849</c:v>
                </c:pt>
                <c:pt idx="18">
                  <c:v>23.882117</c:v>
                </c:pt>
                <c:pt idx="19">
                  <c:v>20.693977</c:v>
                </c:pt>
                <c:pt idx="20">
                  <c:v>38.726925</c:v>
                </c:pt>
                <c:pt idx="21">
                  <c:v>14.575422</c:v>
                </c:pt>
                <c:pt idx="22">
                  <c:v>24.371667</c:v>
                </c:pt>
                <c:pt idx="23">
                  <c:v>38.690374</c:v>
                </c:pt>
                <c:pt idx="24">
                  <c:v>24.052337</c:v>
                </c:pt>
                <c:pt idx="25">
                  <c:v>37.956342</c:v>
                </c:pt>
                <c:pt idx="26">
                  <c:v>27.564493</c:v>
                </c:pt>
                <c:pt idx="27">
                  <c:v>35.631002</c:v>
                </c:pt>
                <c:pt idx="28">
                  <c:v>44.437735</c:v>
                </c:pt>
                <c:pt idx="29">
                  <c:v>37.383742</c:v>
                </c:pt>
                <c:pt idx="30">
                  <c:v>18.980516</c:v>
                </c:pt>
                <c:pt idx="31">
                  <c:v>11.195706</c:v>
                </c:pt>
                <c:pt idx="32">
                  <c:v>38.621036</c:v>
                </c:pt>
                <c:pt idx="33">
                  <c:v>43.452016</c:v>
                </c:pt>
                <c:pt idx="34">
                  <c:v>47.767118</c:v>
                </c:pt>
                <c:pt idx="35">
                  <c:v>19.247613</c:v>
                </c:pt>
                <c:pt idx="36">
                  <c:v>44.477630</c:v>
                </c:pt>
                <c:pt idx="37">
                  <c:v>48.988771</c:v>
                </c:pt>
                <c:pt idx="38">
                  <c:v>48.157830</c:v>
                </c:pt>
                <c:pt idx="39">
                  <c:v>5.574617</c:v>
                </c:pt>
                <c:pt idx="40">
                  <c:v>30.862387</c:v>
                </c:pt>
                <c:pt idx="41">
                  <c:v>50.814758</c:v>
                </c:pt>
                <c:pt idx="42">
                  <c:v>32.282642</c:v>
                </c:pt>
                <c:pt idx="43">
                  <c:v>24.127429</c:v>
                </c:pt>
                <c:pt idx="44">
                  <c:v>11.682545</c:v>
                </c:pt>
                <c:pt idx="45">
                  <c:v>41.763497</c:v>
                </c:pt>
                <c:pt idx="46">
                  <c:v>18.976571</c:v>
                </c:pt>
                <c:pt idx="47">
                  <c:v>51.000844</c:v>
                </c:pt>
                <c:pt idx="48">
                  <c:v>58.816273</c:v>
                </c:pt>
                <c:pt idx="49">
                  <c:v>39.483635</c:v>
                </c:pt>
                <c:pt idx="50">
                  <c:v>37.732991</c:v>
                </c:pt>
                <c:pt idx="51">
                  <c:v>25.248305</c:v>
                </c:pt>
                <c:pt idx="52">
                  <c:v>31.868886</c:v>
                </c:pt>
                <c:pt idx="53">
                  <c:v>29.945630</c:v>
                </c:pt>
                <c:pt idx="54">
                  <c:v>25.199544</c:v>
                </c:pt>
                <c:pt idx="55">
                  <c:v>47.997720</c:v>
                </c:pt>
                <c:pt idx="56">
                  <c:v>57.570114</c:v>
                </c:pt>
                <c:pt idx="57">
                  <c:v>40.859203</c:v>
                </c:pt>
                <c:pt idx="58">
                  <c:v>42.325693</c:v>
                </c:pt>
                <c:pt idx="59">
                  <c:v>47.028426</c:v>
                </c:pt>
                <c:pt idx="60">
                  <c:v>28.580703</c:v>
                </c:pt>
                <c:pt idx="61">
                  <c:v>21.243402</c:v>
                </c:pt>
                <c:pt idx="62">
                  <c:v>27.329415</c:v>
                </c:pt>
                <c:pt idx="63">
                  <c:v>52.913943</c:v>
                </c:pt>
                <c:pt idx="64">
                  <c:v>19.058992</c:v>
                </c:pt>
                <c:pt idx="65">
                  <c:v>14.206342</c:v>
                </c:pt>
                <c:pt idx="66">
                  <c:v>10.551984</c:v>
                </c:pt>
                <c:pt idx="67">
                  <c:v>38.624574</c:v>
                </c:pt>
                <c:pt idx="68">
                  <c:v>48.173159</c:v>
                </c:pt>
                <c:pt idx="69">
                  <c:v>41.798384</c:v>
                </c:pt>
                <c:pt idx="70">
                  <c:v>19.006873</c:v>
                </c:pt>
                <c:pt idx="71">
                  <c:v>61.686332</c:v>
                </c:pt>
                <c:pt idx="72">
                  <c:v>37.116204</c:v>
                </c:pt>
                <c:pt idx="73">
                  <c:v>19.817800</c:v>
                </c:pt>
                <c:pt idx="74">
                  <c:v>3.812766</c:v>
                </c:pt>
                <c:pt idx="75">
                  <c:v>57.393193</c:v>
                </c:pt>
                <c:pt idx="76">
                  <c:v>33.221378</c:v>
                </c:pt>
                <c:pt idx="77">
                  <c:v>36.378518</c:v>
                </c:pt>
                <c:pt idx="78">
                  <c:v>52.479857</c:v>
                </c:pt>
                <c:pt idx="79">
                  <c:v>20.866555</c:v>
                </c:pt>
                <c:pt idx="80">
                  <c:v>24.422082</c:v>
                </c:pt>
                <c:pt idx="81">
                  <c:v>51.405162</c:v>
                </c:pt>
                <c:pt idx="82">
                  <c:v>29.821654</c:v>
                </c:pt>
                <c:pt idx="83">
                  <c:v>17.839402</c:v>
                </c:pt>
                <c:pt idx="84">
                  <c:v>74.266467</c:v>
                </c:pt>
                <c:pt idx="85">
                  <c:v>27.970560</c:v>
                </c:pt>
                <c:pt idx="86">
                  <c:v>26.996070</c:v>
                </c:pt>
                <c:pt idx="87">
                  <c:v>41.736023</c:v>
                </c:pt>
                <c:pt idx="88">
                  <c:v>59.632587</c:v>
                </c:pt>
                <c:pt idx="89">
                  <c:v>61.319477</c:v>
                </c:pt>
                <c:pt idx="90">
                  <c:v>53.976737</c:v>
                </c:pt>
                <c:pt idx="91">
                  <c:v>3.262470</c:v>
                </c:pt>
                <c:pt idx="92">
                  <c:v>26.405644</c:v>
                </c:pt>
                <c:pt idx="93">
                  <c:v>9.851995</c:v>
                </c:pt>
                <c:pt idx="94">
                  <c:v>59.919012</c:v>
                </c:pt>
                <c:pt idx="95">
                  <c:v>57.759510</c:v>
                </c:pt>
                <c:pt idx="96">
                  <c:v>8.832448</c:v>
                </c:pt>
                <c:pt idx="97">
                  <c:v>44.463836</c:v>
                </c:pt>
                <c:pt idx="98">
                  <c:v>40.266661</c:v>
                </c:pt>
                <c:pt idx="99">
                  <c:v>15.597930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viperfish</c:v>
                </c:pt>
              </c:strCache>
            </c:strRef>
          </c:tx>
          <c:spPr>
            <a:solidFill>
              <a:srgbClr val="181717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"/>
            <c:spPr>
              <a:solidFill>
                <a:srgbClr val="181717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trendline>
            <c:spPr>
              <a:noFill/>
              <a:ln w="31750" cap="flat">
                <a:solidFill>
                  <a:srgbClr val="000000"/>
                </a:solidFill>
                <a:prstDash val="solid"/>
                <a:miter lim="800000"/>
              </a:ln>
              <a:effectLst/>
            </c:spPr>
            <c:trendlineType val="linear"/>
            <c:forward val="0"/>
            <c:backward val="0"/>
            <c:dispRSqr val="1"/>
            <c:dispEq val="0"/>
            <c:trendlineLbl>
              <c:layout/>
              <c:tx>
                <c:rich>
                  <a:bodyPr rot="0"/>
                  <a:lstStyle/>
                  <a:p>
                    <a:pPr>
                      <a:defRPr b="0" i="0" strike="noStrike" sz="1000" u="none">
                        <a:solidFill>
                          <a:srgbClr val="000000"/>
                        </a:solidFill>
                        <a:latin typeface="Calibri"/>
                      </a:defRPr>
                    </a:pPr>
                    <a:r>
                      <a:rPr b="0" i="0" strike="noStrike" sz="1000" u="none">
                        <a:solidFill>
                          <a:srgbClr val="000000"/>
                        </a:solidFill>
                        <a:latin typeface="Calibri"/>
                      </a:rPr>
                      <a:t>R² = 0.0719</a:t>
                    </a:r>
                  </a:p>
                </c:rich>
              </c:tx>
            </c:trendlineLbl>
          </c:trendline>
          <c:xVal>
            <c:numRef>
              <c:f>Sheet1!$B$4:$CW$4</c:f>
              <c:numCache>
                <c:ptCount val="99"/>
                <c:pt idx="0">
                  <c:v>312.414887</c:v>
                </c:pt>
                <c:pt idx="1">
                  <c:v>382.589297</c:v>
                </c:pt>
                <c:pt idx="2">
                  <c:v>381.462511</c:v>
                </c:pt>
                <c:pt idx="3">
                  <c:v>300.885502</c:v>
                </c:pt>
                <c:pt idx="4">
                  <c:v>446.711658</c:v>
                </c:pt>
                <c:pt idx="5">
                  <c:v>475.811613</c:v>
                </c:pt>
                <c:pt idx="6">
                  <c:v>322.579185</c:v>
                </c:pt>
                <c:pt idx="7">
                  <c:v>524.173623</c:v>
                </c:pt>
                <c:pt idx="8">
                  <c:v>147.218163</c:v>
                </c:pt>
                <c:pt idx="9">
                  <c:v>128.074960</c:v>
                </c:pt>
                <c:pt idx="10">
                  <c:v>462.288444</c:v>
                </c:pt>
                <c:pt idx="11">
                  <c:v>516.981312</c:v>
                </c:pt>
                <c:pt idx="12">
                  <c:v>489.368532</c:v>
                </c:pt>
                <c:pt idx="13">
                  <c:v>256.103293</c:v>
                </c:pt>
                <c:pt idx="14">
                  <c:v>597.259998</c:v>
                </c:pt>
                <c:pt idx="15">
                  <c:v>472.716219</c:v>
                </c:pt>
                <c:pt idx="16">
                  <c:v>204.688082</c:v>
                </c:pt>
                <c:pt idx="17">
                  <c:v>266.957461</c:v>
                </c:pt>
                <c:pt idx="18">
                  <c:v>247.606255</c:v>
                </c:pt>
                <c:pt idx="19">
                  <c:v>404.256324</c:v>
                </c:pt>
                <c:pt idx="20">
                  <c:v>445.622244</c:v>
                </c:pt>
                <c:pt idx="21">
                  <c:v>416.376221</c:v>
                </c:pt>
                <c:pt idx="22">
                  <c:v>396.916809</c:v>
                </c:pt>
                <c:pt idx="23">
                  <c:v>493.346096</c:v>
                </c:pt>
                <c:pt idx="24">
                  <c:v>593.836844</c:v>
                </c:pt>
                <c:pt idx="25">
                  <c:v>371.796867</c:v>
                </c:pt>
                <c:pt idx="26">
                  <c:v>509.818362</c:v>
                </c:pt>
                <c:pt idx="27">
                  <c:v>298.007626</c:v>
                </c:pt>
                <c:pt idx="28">
                  <c:v>144.043238</c:v>
                </c:pt>
                <c:pt idx="29">
                  <c:v>282.436018</c:v>
                </c:pt>
                <c:pt idx="30">
                  <c:v>296.932090</c:v>
                </c:pt>
                <c:pt idx="31">
                  <c:v>398.306973</c:v>
                </c:pt>
                <c:pt idx="32">
                  <c:v>207.914340</c:v>
                </c:pt>
                <c:pt idx="33">
                  <c:v>193.642322</c:v>
                </c:pt>
                <c:pt idx="34">
                  <c:v>250.439565</c:v>
                </c:pt>
                <c:pt idx="35">
                  <c:v>256.190545</c:v>
                </c:pt>
                <c:pt idx="36">
                  <c:v>574.001606</c:v>
                </c:pt>
                <c:pt idx="37">
                  <c:v>176.902029</c:v>
                </c:pt>
                <c:pt idx="38">
                  <c:v>460.996701</c:v>
                </c:pt>
                <c:pt idx="39">
                  <c:v>528.709464</c:v>
                </c:pt>
                <c:pt idx="40">
                  <c:v>156.275580</c:v>
                </c:pt>
                <c:pt idx="41">
                  <c:v>240.613960</c:v>
                </c:pt>
                <c:pt idx="42">
                  <c:v>465.809372</c:v>
                </c:pt>
                <c:pt idx="43">
                  <c:v>161.003432</c:v>
                </c:pt>
                <c:pt idx="44">
                  <c:v>210.860626</c:v>
                </c:pt>
                <c:pt idx="45">
                  <c:v>348.103987</c:v>
                </c:pt>
                <c:pt idx="46">
                  <c:v>241.972778</c:v>
                </c:pt>
                <c:pt idx="47">
                  <c:v>355.914321</c:v>
                </c:pt>
                <c:pt idx="48">
                  <c:v>296.606775</c:v>
                </c:pt>
                <c:pt idx="49">
                  <c:v>554.725515</c:v>
                </c:pt>
                <c:pt idx="50">
                  <c:v>254.863552</c:v>
                </c:pt>
                <c:pt idx="51">
                  <c:v>159.117355</c:v>
                </c:pt>
                <c:pt idx="52">
                  <c:v>280.651385</c:v>
                </c:pt>
                <c:pt idx="53">
                  <c:v>470.709788</c:v>
                </c:pt>
                <c:pt idx="54">
                  <c:v>137.219082</c:v>
                </c:pt>
                <c:pt idx="55">
                  <c:v>581.374510</c:v>
                </c:pt>
                <c:pt idx="56">
                  <c:v>346.654126</c:v>
                </c:pt>
                <c:pt idx="57">
                  <c:v>594.374055</c:v>
                </c:pt>
                <c:pt idx="58">
                  <c:v>190.740389</c:v>
                </c:pt>
                <c:pt idx="59">
                  <c:v>240.874034</c:v>
                </c:pt>
                <c:pt idx="60">
                  <c:v>139.109873</c:v>
                </c:pt>
                <c:pt idx="61">
                  <c:v>238.997780</c:v>
                </c:pt>
                <c:pt idx="62">
                  <c:v>542.416819</c:v>
                </c:pt>
                <c:pt idx="63">
                  <c:v>321.727750</c:v>
                </c:pt>
                <c:pt idx="64">
                  <c:v>449.683274</c:v>
                </c:pt>
                <c:pt idx="65">
                  <c:v>360.617800</c:v>
                </c:pt>
                <c:pt idx="66">
                  <c:v>103.638184</c:v>
                </c:pt>
                <c:pt idx="67">
                  <c:v>340.228849</c:v>
                </c:pt>
                <c:pt idx="68">
                  <c:v>593.803921</c:v>
                </c:pt>
                <c:pt idx="69">
                  <c:v>123.908828</c:v>
                </c:pt>
                <c:pt idx="70">
                  <c:v>148.519580</c:v>
                </c:pt>
                <c:pt idx="71">
                  <c:v>280.255701</c:v>
                </c:pt>
                <c:pt idx="72">
                  <c:v>438.309093</c:v>
                </c:pt>
                <c:pt idx="73">
                  <c:v>187.436626</c:v>
                </c:pt>
                <c:pt idx="74">
                  <c:v>329.514487</c:v>
                </c:pt>
                <c:pt idx="75">
                  <c:v>479.622387</c:v>
                </c:pt>
                <c:pt idx="76">
                  <c:v>169.807515</c:v>
                </c:pt>
                <c:pt idx="77">
                  <c:v>185.021432</c:v>
                </c:pt>
                <c:pt idx="78">
                  <c:v>440.779424</c:v>
                </c:pt>
                <c:pt idx="79">
                  <c:v>157.047771</c:v>
                </c:pt>
                <c:pt idx="80">
                  <c:v>464.734337</c:v>
                </c:pt>
                <c:pt idx="81">
                  <c:v>155.005702</c:v>
                </c:pt>
                <c:pt idx="82">
                  <c:v>312.378350</c:v>
                </c:pt>
                <c:pt idx="83">
                  <c:v>137.939511</c:v>
                </c:pt>
                <c:pt idx="84">
                  <c:v>322.674725</c:v>
                </c:pt>
                <c:pt idx="85">
                  <c:v>474.577214</c:v>
                </c:pt>
                <c:pt idx="86">
                  <c:v>554.691121</c:v>
                </c:pt>
                <c:pt idx="87">
                  <c:v>405.136396</c:v>
                </c:pt>
                <c:pt idx="88">
                  <c:v>213.054937</c:v>
                </c:pt>
                <c:pt idx="89">
                  <c:v>107.814830</c:v>
                </c:pt>
                <c:pt idx="90">
                  <c:v>180.588751</c:v>
                </c:pt>
                <c:pt idx="91">
                  <c:v>155.278442</c:v>
                </c:pt>
                <c:pt idx="92">
                  <c:v>112.586946</c:v>
                </c:pt>
                <c:pt idx="93">
                  <c:v>155.945673</c:v>
                </c:pt>
                <c:pt idx="94">
                  <c:v>467.198074</c:v>
                </c:pt>
                <c:pt idx="95">
                  <c:v>351.095796</c:v>
                </c:pt>
                <c:pt idx="96">
                  <c:v>375.617929</c:v>
                </c:pt>
                <c:pt idx="97">
                  <c:v>295.627819</c:v>
                </c:pt>
                <c:pt idx="98">
                  <c:v>362.905534</c:v>
                </c:pt>
              </c:numCache>
            </c:numRef>
          </c:xVal>
          <c:yVal>
            <c:numRef>
              <c:f>Sheet1!$B$5:$CW$5</c:f>
              <c:numCache>
                <c:ptCount val="99"/>
                <c:pt idx="0">
                  <c:v>1.993006</c:v>
                </c:pt>
                <c:pt idx="1">
                  <c:v>3.329789</c:v>
                </c:pt>
                <c:pt idx="2">
                  <c:v>4.436662</c:v>
                </c:pt>
                <c:pt idx="3">
                  <c:v>4.158255</c:v>
                </c:pt>
                <c:pt idx="4">
                  <c:v>1.194590</c:v>
                </c:pt>
                <c:pt idx="5">
                  <c:v>4.044574</c:v>
                </c:pt>
                <c:pt idx="6">
                  <c:v>5.056684</c:v>
                </c:pt>
                <c:pt idx="7">
                  <c:v>2.144283</c:v>
                </c:pt>
                <c:pt idx="8">
                  <c:v>4.883049</c:v>
                </c:pt>
                <c:pt idx="9">
                  <c:v>3.878102</c:v>
                </c:pt>
                <c:pt idx="10">
                  <c:v>5.967239</c:v>
                </c:pt>
                <c:pt idx="11">
                  <c:v>5.090042</c:v>
                </c:pt>
                <c:pt idx="12">
                  <c:v>6.015989</c:v>
                </c:pt>
                <c:pt idx="13">
                  <c:v>3.758342</c:v>
                </c:pt>
                <c:pt idx="14">
                  <c:v>4.574191</c:v>
                </c:pt>
                <c:pt idx="15">
                  <c:v>5.303064</c:v>
                </c:pt>
                <c:pt idx="16">
                  <c:v>8.873812</c:v>
                </c:pt>
                <c:pt idx="17">
                  <c:v>11.088174</c:v>
                </c:pt>
                <c:pt idx="18">
                  <c:v>12.201898</c:v>
                </c:pt>
                <c:pt idx="19">
                  <c:v>6.731252</c:v>
                </c:pt>
                <c:pt idx="20">
                  <c:v>3.277763</c:v>
                </c:pt>
                <c:pt idx="21">
                  <c:v>9.448305</c:v>
                </c:pt>
                <c:pt idx="22">
                  <c:v>6.814787</c:v>
                </c:pt>
                <c:pt idx="23">
                  <c:v>9.322958</c:v>
                </c:pt>
                <c:pt idx="24">
                  <c:v>9.096343</c:v>
                </c:pt>
                <c:pt idx="25">
                  <c:v>5.626426</c:v>
                </c:pt>
                <c:pt idx="26">
                  <c:v>2.484139</c:v>
                </c:pt>
                <c:pt idx="27">
                  <c:v>16.411152</c:v>
                </c:pt>
                <c:pt idx="28">
                  <c:v>10.831710</c:v>
                </c:pt>
                <c:pt idx="29">
                  <c:v>18.631203</c:v>
                </c:pt>
                <c:pt idx="30">
                  <c:v>16.580143</c:v>
                </c:pt>
                <c:pt idx="31">
                  <c:v>2.542301</c:v>
                </c:pt>
                <c:pt idx="32">
                  <c:v>18.066936</c:v>
                </c:pt>
                <c:pt idx="33">
                  <c:v>9.359833</c:v>
                </c:pt>
                <c:pt idx="34">
                  <c:v>17.398939</c:v>
                </c:pt>
                <c:pt idx="35">
                  <c:v>8.339674</c:v>
                </c:pt>
                <c:pt idx="36">
                  <c:v>8.320745</c:v>
                </c:pt>
                <c:pt idx="37">
                  <c:v>13.984951</c:v>
                </c:pt>
                <c:pt idx="38">
                  <c:v>4.450729</c:v>
                </c:pt>
                <c:pt idx="39">
                  <c:v>13.170837</c:v>
                </c:pt>
                <c:pt idx="40">
                  <c:v>21.349563</c:v>
                </c:pt>
                <c:pt idx="41">
                  <c:v>20.940499</c:v>
                </c:pt>
                <c:pt idx="42">
                  <c:v>21.536024</c:v>
                </c:pt>
                <c:pt idx="43">
                  <c:v>25.210324</c:v>
                </c:pt>
                <c:pt idx="44">
                  <c:v>21.792534</c:v>
                </c:pt>
                <c:pt idx="45">
                  <c:v>24.868027</c:v>
                </c:pt>
                <c:pt idx="46">
                  <c:v>9.844450</c:v>
                </c:pt>
                <c:pt idx="47">
                  <c:v>22.596298</c:v>
                </c:pt>
                <c:pt idx="48">
                  <c:v>14.164284</c:v>
                </c:pt>
                <c:pt idx="49">
                  <c:v>5.954889</c:v>
                </c:pt>
                <c:pt idx="50">
                  <c:v>7.457157</c:v>
                </c:pt>
                <c:pt idx="51">
                  <c:v>19.165593</c:v>
                </c:pt>
                <c:pt idx="52">
                  <c:v>11.685654</c:v>
                </c:pt>
                <c:pt idx="53">
                  <c:v>15.227000</c:v>
                </c:pt>
                <c:pt idx="54">
                  <c:v>15.014501</c:v>
                </c:pt>
                <c:pt idx="55">
                  <c:v>8.365042</c:v>
                </c:pt>
                <c:pt idx="56">
                  <c:v>17.234143</c:v>
                </c:pt>
                <c:pt idx="57">
                  <c:v>13.329099</c:v>
                </c:pt>
                <c:pt idx="58">
                  <c:v>7.395667</c:v>
                </c:pt>
                <c:pt idx="59">
                  <c:v>16.516903</c:v>
                </c:pt>
                <c:pt idx="60">
                  <c:v>18.906888</c:v>
                </c:pt>
                <c:pt idx="61">
                  <c:v>13.670207</c:v>
                </c:pt>
                <c:pt idx="62">
                  <c:v>13.953181</c:v>
                </c:pt>
                <c:pt idx="63">
                  <c:v>19.636677</c:v>
                </c:pt>
                <c:pt idx="64">
                  <c:v>18.465329</c:v>
                </c:pt>
                <c:pt idx="65">
                  <c:v>18.861617</c:v>
                </c:pt>
                <c:pt idx="66">
                  <c:v>11.606476</c:v>
                </c:pt>
                <c:pt idx="67">
                  <c:v>27.415097</c:v>
                </c:pt>
                <c:pt idx="68">
                  <c:v>4.929553</c:v>
                </c:pt>
                <c:pt idx="69">
                  <c:v>25.377020</c:v>
                </c:pt>
                <c:pt idx="70">
                  <c:v>42.353449</c:v>
                </c:pt>
                <c:pt idx="71">
                  <c:v>35.096163</c:v>
                </c:pt>
                <c:pt idx="72">
                  <c:v>17.191777</c:v>
                </c:pt>
                <c:pt idx="73">
                  <c:v>14.540129</c:v>
                </c:pt>
                <c:pt idx="74">
                  <c:v>26.485975</c:v>
                </c:pt>
                <c:pt idx="75">
                  <c:v>23.948839</c:v>
                </c:pt>
                <c:pt idx="76">
                  <c:v>24.415244</c:v>
                </c:pt>
                <c:pt idx="77">
                  <c:v>36.464909</c:v>
                </c:pt>
                <c:pt idx="78">
                  <c:v>20.003086</c:v>
                </c:pt>
                <c:pt idx="79">
                  <c:v>23.933204</c:v>
                </c:pt>
                <c:pt idx="80">
                  <c:v>25.730727</c:v>
                </c:pt>
                <c:pt idx="81">
                  <c:v>19.986668</c:v>
                </c:pt>
                <c:pt idx="82">
                  <c:v>36.300883</c:v>
                </c:pt>
                <c:pt idx="83">
                  <c:v>29.304426</c:v>
                </c:pt>
                <c:pt idx="84">
                  <c:v>23.417300</c:v>
                </c:pt>
                <c:pt idx="85">
                  <c:v>25.558799</c:v>
                </c:pt>
                <c:pt idx="86">
                  <c:v>49.337804</c:v>
                </c:pt>
                <c:pt idx="87">
                  <c:v>19.044051</c:v>
                </c:pt>
                <c:pt idx="88">
                  <c:v>33.476942</c:v>
                </c:pt>
                <c:pt idx="89">
                  <c:v>24.238057</c:v>
                </c:pt>
                <c:pt idx="90">
                  <c:v>26.275164</c:v>
                </c:pt>
                <c:pt idx="91">
                  <c:v>23.519714</c:v>
                </c:pt>
                <c:pt idx="92">
                  <c:v>14.031813</c:v>
                </c:pt>
                <c:pt idx="93">
                  <c:v>17.060029</c:v>
                </c:pt>
                <c:pt idx="94">
                  <c:v>14.303441</c:v>
                </c:pt>
                <c:pt idx="95">
                  <c:v>15.155039</c:v>
                </c:pt>
                <c:pt idx="96">
                  <c:v>28.848156</c:v>
                </c:pt>
                <c:pt idx="97">
                  <c:v>7.886326</c:v>
                </c:pt>
                <c:pt idx="98">
                  <c:v>46.078537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  <a:r>
                  <a:rPr b="1" i="0" strike="noStrike" sz="1000" u="none">
                    <a:solidFill>
                      <a:srgbClr val="000000"/>
                    </a:solidFill>
                    <a:latin typeface="Calibri"/>
                  </a:rPr>
                  <a:t>Depth (m)</a:t>
                </a:r>
              </a:p>
            </c:rich>
          </c:tx>
          <c:layout/>
          <c:overlay val="1"/>
        </c:title>
        <c:numFmt formatCode="0" sourceLinked="0"/>
        <c:majorTickMark val="out"/>
        <c:minorTickMark val="out"/>
        <c:tickLblPos val="nextTo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3"/>
        <c:crosses val="autoZero"/>
        <c:crossBetween val="between"/>
        <c:majorUnit val="200"/>
        <c:minorUnit val="100"/>
      </c:val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  <a:r>
                  <a:rPr b="1" i="0" strike="noStrike" sz="1000" u="none">
                    <a:solidFill>
                      <a:srgbClr val="000000"/>
                    </a:solidFill>
                    <a:latin typeface="Calibri"/>
                  </a:rPr>
                  <a:t>Fish Length (cm)</a:t>
                </a:r>
              </a:p>
            </c:rich>
          </c:tx>
          <c:layout/>
          <c:overlay val="1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0571723"/>
          <c:y val="0.137252"/>
          <c:w val="0.179295"/>
          <c:h val="0.124877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000" u="non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solidFill>
      <a:srgbClr val="E7E6E6"/>
    </a:solidFill>
    <a:ln w="12700" cap="flat">
      <a:solidFill>
        <a:srgbClr val="000000"/>
      </a:solidFill>
      <a:prstDash val="solid"/>
      <a:round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00949"/>
          <c:y val="0.0456023"/>
          <c:w val="0.894051"/>
          <c:h val="0.8025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Sharks</c:v>
                </c:pt>
              </c:strCache>
            </c:strRef>
          </c:tx>
          <c:spPr>
            <a:noFill/>
            <a:ln w="19050" cap="flat">
              <a:solidFill>
                <a:srgbClr val="000000"/>
              </a:solidFill>
              <a:prstDash val="solid"/>
              <a:miter lim="800000"/>
            </a:ln>
            <a:effectLst/>
          </c:spPr>
          <c:marker>
            <c:symbol val="none"/>
            <c:size val="4"/>
            <c:spPr>
              <a:noFill/>
              <a:ln w="19050" cap="flat">
                <a:solidFill>
                  <a:srgbClr val="000000"/>
                </a:solidFill>
                <a:prstDash val="solid"/>
                <a:miter lim="8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Sheet1!$B$1:$AA$1</c:f>
              <c:strCache>
                <c:ptCount val="26"/>
                <c:pt idx="0">
                  <c:v>1987</c:v>
                </c:pt>
                <c:pt idx="1">
                  <c:v>1988</c:v>
                </c:pt>
                <c:pt idx="2">
                  <c:v>1989</c:v>
                </c:pt>
                <c:pt idx="3">
                  <c:v>1990</c:v>
                </c:pt>
                <c:pt idx="4">
                  <c:v>1991</c:v>
                </c:pt>
                <c:pt idx="5">
                  <c:v>1992</c:v>
                </c:pt>
                <c:pt idx="6">
                  <c:v>1993</c:v>
                </c:pt>
                <c:pt idx="7">
                  <c:v>1994</c:v>
                </c:pt>
                <c:pt idx="8">
                  <c:v>1995</c:v>
                </c:pt>
                <c:pt idx="9">
                  <c:v>1996</c:v>
                </c:pt>
                <c:pt idx="10">
                  <c:v>1997</c:v>
                </c:pt>
                <c:pt idx="11">
                  <c:v>1998</c:v>
                </c:pt>
                <c:pt idx="12">
                  <c:v>1999</c:v>
                </c:pt>
                <c:pt idx="13">
                  <c:v>2000</c:v>
                </c:pt>
                <c:pt idx="14">
                  <c:v>2001</c:v>
                </c:pt>
                <c:pt idx="15">
                  <c:v>2002</c:v>
                </c:pt>
                <c:pt idx="16">
                  <c:v>2003</c:v>
                </c:pt>
                <c:pt idx="17">
                  <c:v>2004</c:v>
                </c:pt>
                <c:pt idx="18">
                  <c:v>2005</c:v>
                </c:pt>
                <c:pt idx="19">
                  <c:v>2006</c:v>
                </c:pt>
                <c:pt idx="20">
                  <c:v>2007</c:v>
                </c:pt>
                <c:pt idx="21">
                  <c:v>2008</c:v>
                </c:pt>
                <c:pt idx="22">
                  <c:v>2009</c:v>
                </c:pt>
                <c:pt idx="23">
                  <c:v>2010</c:v>
                </c:pt>
                <c:pt idx="24">
                  <c:v>2011</c:v>
                </c:pt>
                <c:pt idx="25">
                  <c:v>2012</c:v>
                </c:pt>
              </c:strCache>
            </c:strRef>
          </c:cat>
          <c:val>
            <c:numRef>
              <c:f>Sheet1!$B$2:$AA$2</c:f>
              <c:numCache>
                <c:ptCount val="26"/>
                <c:pt idx="0">
                  <c:v>1693.000000</c:v>
                </c:pt>
                <c:pt idx="1">
                  <c:v>1537.000000</c:v>
                </c:pt>
                <c:pt idx="2">
                  <c:v>1927.000000</c:v>
                </c:pt>
                <c:pt idx="3">
                  <c:v>1658.000000</c:v>
                </c:pt>
                <c:pt idx="4">
                  <c:v>1956.000000</c:v>
                </c:pt>
                <c:pt idx="5">
                  <c:v>2447.000000</c:v>
                </c:pt>
                <c:pt idx="6">
                  <c:v>2486.000000</c:v>
                </c:pt>
                <c:pt idx="7">
                  <c:v>2197.000000</c:v>
                </c:pt>
                <c:pt idx="8">
                  <c:v>2541.000000</c:v>
                </c:pt>
                <c:pt idx="9">
                  <c:v>2450.000000</c:v>
                </c:pt>
                <c:pt idx="10">
                  <c:v>2888.000000</c:v>
                </c:pt>
                <c:pt idx="11">
                  <c:v>2597.000000</c:v>
                </c:pt>
                <c:pt idx="12">
                  <c:v>3136.000000</c:v>
                </c:pt>
                <c:pt idx="13">
                  <c:v>3355.000000</c:v>
                </c:pt>
                <c:pt idx="14">
                  <c:v>3010.000000</c:v>
                </c:pt>
                <c:pt idx="15">
                  <c:v>3566.000000</c:v>
                </c:pt>
                <c:pt idx="16">
                  <c:v>3204.000000</c:v>
                </c:pt>
                <c:pt idx="17">
                  <c:v>3681.000000</c:v>
                </c:pt>
                <c:pt idx="18">
                  <c:v>3353.000000</c:v>
                </c:pt>
                <c:pt idx="19">
                  <c:v>3361.000000</c:v>
                </c:pt>
                <c:pt idx="20">
                  <c:v>3932.000000</c:v>
                </c:pt>
                <c:pt idx="21">
                  <c:v>3847.000000</c:v>
                </c:pt>
                <c:pt idx="22">
                  <c:v>3614.000000</c:v>
                </c:pt>
                <c:pt idx="23">
                  <c:v>3632.000000</c:v>
                </c:pt>
                <c:pt idx="24">
                  <c:v>3930.000000</c:v>
                </c:pt>
                <c:pt idx="25">
                  <c:v>4070.000000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Rays</c:v>
                </c:pt>
              </c:strCache>
            </c:strRef>
          </c:tx>
          <c:spPr>
            <a:noFill/>
            <a:ln w="19050" cap="flat">
              <a:solidFill>
                <a:srgbClr val="A6A6A6"/>
              </a:solidFill>
              <a:prstDash val="solid"/>
              <a:miter lim="800000"/>
            </a:ln>
            <a:effectLst/>
          </c:spPr>
          <c:marker>
            <c:symbol val="none"/>
            <c:size val="4"/>
            <c:spPr>
              <a:noFill/>
              <a:ln w="19050" cap="flat">
                <a:solidFill>
                  <a:srgbClr val="A6A6A6"/>
                </a:solidFill>
                <a:prstDash val="solid"/>
                <a:miter lim="8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Sheet1!$B$1:$AA$1</c:f>
              <c:strCache>
                <c:ptCount val="26"/>
                <c:pt idx="0">
                  <c:v>1987</c:v>
                </c:pt>
                <c:pt idx="1">
                  <c:v>1988</c:v>
                </c:pt>
                <c:pt idx="2">
                  <c:v>1989</c:v>
                </c:pt>
                <c:pt idx="3">
                  <c:v>1990</c:v>
                </c:pt>
                <c:pt idx="4">
                  <c:v>1991</c:v>
                </c:pt>
                <c:pt idx="5">
                  <c:v>1992</c:v>
                </c:pt>
                <c:pt idx="6">
                  <c:v>1993</c:v>
                </c:pt>
                <c:pt idx="7">
                  <c:v>1994</c:v>
                </c:pt>
                <c:pt idx="8">
                  <c:v>1995</c:v>
                </c:pt>
                <c:pt idx="9">
                  <c:v>1996</c:v>
                </c:pt>
                <c:pt idx="10">
                  <c:v>1997</c:v>
                </c:pt>
                <c:pt idx="11">
                  <c:v>1998</c:v>
                </c:pt>
                <c:pt idx="12">
                  <c:v>1999</c:v>
                </c:pt>
                <c:pt idx="13">
                  <c:v>2000</c:v>
                </c:pt>
                <c:pt idx="14">
                  <c:v>2001</c:v>
                </c:pt>
                <c:pt idx="15">
                  <c:v>2002</c:v>
                </c:pt>
                <c:pt idx="16">
                  <c:v>2003</c:v>
                </c:pt>
                <c:pt idx="17">
                  <c:v>2004</c:v>
                </c:pt>
                <c:pt idx="18">
                  <c:v>2005</c:v>
                </c:pt>
                <c:pt idx="19">
                  <c:v>2006</c:v>
                </c:pt>
                <c:pt idx="20">
                  <c:v>2007</c:v>
                </c:pt>
                <c:pt idx="21">
                  <c:v>2008</c:v>
                </c:pt>
                <c:pt idx="22">
                  <c:v>2009</c:v>
                </c:pt>
                <c:pt idx="23">
                  <c:v>2010</c:v>
                </c:pt>
                <c:pt idx="24">
                  <c:v>2011</c:v>
                </c:pt>
                <c:pt idx="25">
                  <c:v>2012</c:v>
                </c:pt>
              </c:strCache>
            </c:strRef>
          </c:cat>
          <c:val>
            <c:numRef>
              <c:f>Sheet1!$B$3:$AA$3</c:f>
              <c:numCache>
                <c:ptCount val="26"/>
                <c:pt idx="0">
                  <c:v>743.000000</c:v>
                </c:pt>
                <c:pt idx="1">
                  <c:v>833.000000</c:v>
                </c:pt>
                <c:pt idx="2">
                  <c:v>1916.000000</c:v>
                </c:pt>
                <c:pt idx="3">
                  <c:v>1636.000000</c:v>
                </c:pt>
                <c:pt idx="4">
                  <c:v>2048.000000</c:v>
                </c:pt>
                <c:pt idx="5">
                  <c:v>1907.000000</c:v>
                </c:pt>
                <c:pt idx="6">
                  <c:v>1586.000000</c:v>
                </c:pt>
                <c:pt idx="7">
                  <c:v>2246.000000</c:v>
                </c:pt>
                <c:pt idx="8">
                  <c:v>1706.000000</c:v>
                </c:pt>
                <c:pt idx="9">
                  <c:v>2234.000000</c:v>
                </c:pt>
                <c:pt idx="10">
                  <c:v>2175.000000</c:v>
                </c:pt>
                <c:pt idx="11">
                  <c:v>2812.000000</c:v>
                </c:pt>
                <c:pt idx="12">
                  <c:v>2560.000000</c:v>
                </c:pt>
                <c:pt idx="13">
                  <c:v>2939.000000</c:v>
                </c:pt>
                <c:pt idx="14">
                  <c:v>2710.000000</c:v>
                </c:pt>
                <c:pt idx="15">
                  <c:v>2796.000000</c:v>
                </c:pt>
                <c:pt idx="16">
                  <c:v>2839.000000</c:v>
                </c:pt>
                <c:pt idx="17">
                  <c:v>2530.000000</c:v>
                </c:pt>
                <c:pt idx="18">
                  <c:v>2762.000000</c:v>
                </c:pt>
                <c:pt idx="19">
                  <c:v>2962.000000</c:v>
                </c:pt>
                <c:pt idx="20">
                  <c:v>2929.000000</c:v>
                </c:pt>
                <c:pt idx="21">
                  <c:v>3843.000000</c:v>
                </c:pt>
                <c:pt idx="22">
                  <c:v>3992.000000</c:v>
                </c:pt>
                <c:pt idx="23">
                  <c:v>3703.000000</c:v>
                </c:pt>
                <c:pt idx="24">
                  <c:v>3824.000000</c:v>
                </c:pt>
                <c:pt idx="25">
                  <c:v>4198.000000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  <a:r>
                  <a:rPr b="1" i="0" strike="noStrike" sz="1000" u="none">
                    <a:solidFill>
                      <a:srgbClr val="000000"/>
                    </a:solidFill>
                    <a:latin typeface="Calibri"/>
                  </a:rPr>
                  <a:t>Year</a:t>
                </a:r>
              </a:p>
            </c:rich>
          </c:tx>
          <c:layout/>
          <c:overlay val="1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  <a:r>
                  <a:rPr b="1" i="0" strike="noStrike" sz="1000" u="none">
                    <a:solidFill>
                      <a:srgbClr val="000000"/>
                    </a:solidFill>
                    <a:latin typeface="Calibri"/>
                  </a:rPr>
                  <a:t>Number of fish</a:t>
                </a:r>
              </a:p>
            </c:rich>
          </c:tx>
          <c:layout/>
          <c:overlay val="1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1250"/>
        <c:minorUnit val="625"/>
      </c:valAx>
      <c:spPr>
        <a:solidFill>
          <a:srgbClr val="E7E6E6"/>
        </a:solidFill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870563"/>
          <c:y val="0.661093"/>
          <c:w val="0.121055"/>
          <c:h val="0.116205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000" u="non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solidFill>
      <a:srgbClr val="E7E6E6"/>
    </a:solidFill>
    <a:ln w="12700" cap="flat">
      <a:solidFill>
        <a:srgbClr val="000000"/>
      </a:solidFill>
      <a:prstDash val="solid"/>
      <a:round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14483"/>
          <c:y val="0.0505663"/>
          <c:w val="0.880517"/>
          <c:h val="0.7824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total catch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Atlantic</c:v>
                </c:pt>
                <c:pt idx="1">
                  <c:v>Pacifc</c:v>
                </c:pt>
                <c:pt idx="2">
                  <c:v>Indian</c:v>
                </c:pt>
              </c:strCache>
            </c:strRef>
          </c:cat>
          <c:val>
            <c:numRef>
              <c:f>Sheet1!$B$2:$D$2</c:f>
              <c:numCache>
                <c:ptCount val="3"/>
                <c:pt idx="0">
                  <c:v>50.000000</c:v>
                </c:pt>
                <c:pt idx="1">
                  <c:v>70.000000</c:v>
                </c:pt>
                <c:pt idx="2">
                  <c:v>30.000000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  <a:r>
                  <a:rPr b="1" i="0" strike="noStrike" sz="1000" u="none">
                    <a:solidFill>
                      <a:srgbClr val="000000"/>
                    </a:solidFill>
                    <a:latin typeface="Calibri"/>
                  </a:rPr>
                  <a:t>ocean</a:t>
                </a:r>
              </a:p>
            </c:rich>
          </c:tx>
          <c:layout/>
          <c:overlay val="1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  <a:r>
                  <a:rPr b="1" i="0" strike="noStrike" sz="1000" u="none">
                    <a:solidFill>
                      <a:srgbClr val="000000"/>
                    </a:solidFill>
                    <a:latin typeface="Calibri"/>
                  </a:rPr>
                  <a:t>Number of fish (millions)</a:t>
                </a:r>
              </a:p>
            </c:rich>
          </c:tx>
          <c:layout/>
          <c:overlay val="1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17.5"/>
        <c:minorUnit val="8.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E7E6E6"/>
    </a:solidFill>
    <a:ln w="12700" cap="flat">
      <a:solidFill>
        <a:srgbClr val="000000"/>
      </a:solidFill>
      <a:prstDash val="solid"/>
      <a:round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" name="Shape 1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let’s walk though some examples of plots that we might use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29149" y="1681163"/>
            <a:ext cx="3887393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eckoboard.com/blog/pie-charts/" TargetMode="Externa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2652006"/>
            <a:ext cx="7772400" cy="1128563"/>
          </a:xfrm>
          <a:prstGeom prst="rect">
            <a:avLst/>
          </a:prstGeom>
        </p:spPr>
        <p:txBody>
          <a:bodyPr/>
          <a:lstStyle/>
          <a:p>
            <a:pPr defTabSz="484631">
              <a:defRPr sz="2862">
                <a:solidFill>
                  <a:srgbClr val="C00000"/>
                </a:solidFill>
              </a:defRPr>
            </a:pPr>
            <a:r>
              <a:t>Figures and Tables</a:t>
            </a:r>
            <a:br/>
            <a:br/>
            <a:r>
              <a:rPr sz="1907"/>
              <a:t>The Results section: part 1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1143000" y="4268385"/>
            <a:ext cx="6858000" cy="1128563"/>
          </a:xfrm>
          <a:prstGeom prst="rect">
            <a:avLst/>
          </a:prstGeom>
        </p:spPr>
        <p:txBody>
          <a:bodyPr/>
          <a:lstStyle/>
          <a:p>
            <a:pPr/>
            <a:r>
              <a:t>Fish 290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/>
            <a:r>
              <a:t>Reading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628650" y="1918250"/>
            <a:ext cx="7886700" cy="438315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We will spend the next 3 class periods on the Results section, including figures and tables.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Our time in class is limited.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The readings on Canvas* are chosen to fill in gaps we might not cover in class.</a:t>
            </a:r>
          </a:p>
          <a:p>
            <a:pPr marL="0" indent="0">
              <a:buSzTx/>
              <a:buNone/>
            </a:pPr>
          </a:p>
          <a:p>
            <a:pPr marL="0" indent="0" algn="r">
              <a:buSzTx/>
              <a:buNone/>
              <a:defRPr sz="2000"/>
            </a:pPr>
            <a:r>
              <a:t>*readings from </a:t>
            </a:r>
            <a:r>
              <a:rPr i="1"/>
              <a:t>The Scientist’s Guide to Writing </a:t>
            </a:r>
            <a:r>
              <a:t>by Stephen Heard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 txBox="1"/>
          <p:nvPr/>
        </p:nvSpPr>
        <p:spPr>
          <a:xfrm>
            <a:off x="655319" y="228600"/>
            <a:ext cx="7909562" cy="429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Three complementary approaches</a:t>
            </a: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sz="3200"/>
            </a:pPr>
            <a:r>
              <a:t>Today’s agenda:</a:t>
            </a:r>
          </a:p>
          <a:p>
            <a:pPr marL="514350" indent="-514350">
              <a:buSzPct val="100000"/>
              <a:buAutoNum type="arabicPeriod" startAt="1"/>
              <a:defRPr b="1" sz="3200"/>
            </a:pPr>
            <a:r>
              <a:t>When to use a figure, table, or neither?</a:t>
            </a:r>
          </a:p>
          <a:p>
            <a:pPr marL="514350" indent="-514350">
              <a:buSzPct val="100000"/>
              <a:buAutoNum type="arabicPeriod" startAt="1"/>
              <a:defRPr sz="3200"/>
            </a:pPr>
            <a:r>
              <a:t>What options do I have for figures?</a:t>
            </a:r>
          </a:p>
          <a:p>
            <a:pPr marL="514350" indent="-514350">
              <a:buSzPct val="100000"/>
              <a:buAutoNum type="arabicPeriod" startAt="1"/>
              <a:defRPr sz="3200"/>
            </a:pPr>
            <a:r>
              <a:t>How to make an </a:t>
            </a:r>
            <a:r>
              <a:rPr i="1"/>
              <a:t>effective </a:t>
            </a:r>
            <a:r>
              <a:t>figure or table?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 txBox="1"/>
          <p:nvPr/>
        </p:nvSpPr>
        <p:spPr>
          <a:xfrm>
            <a:off x="655319" y="228599"/>
            <a:ext cx="7909562" cy="6797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sz="3600">
                <a:solidFill>
                  <a:srgbClr val="C00000"/>
                </a:solidFill>
              </a:defRPr>
            </a:pPr>
            <a:r>
              <a:t>Three complementary approaches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 marL="457200" indent="-457200">
              <a:buSzPct val="100000"/>
              <a:buAutoNum type="arabicParenR" startAt="1"/>
              <a:defRPr b="1" sz="2400">
                <a:solidFill>
                  <a:srgbClr val="C00000"/>
                </a:solidFill>
              </a:defRPr>
            </a:pPr>
            <a:r>
              <a:t>Text</a:t>
            </a:r>
            <a:r>
              <a:rPr b="0"/>
              <a:t>: </a:t>
            </a:r>
            <a:r>
              <a:rPr b="0">
                <a:solidFill>
                  <a:srgbClr val="000000"/>
                </a:solidFill>
              </a:rPr>
              <a:t>We state in words what we found - what happened.</a:t>
            </a:r>
            <a:endParaRPr b="0">
              <a:solidFill>
                <a:srgbClr val="000000"/>
              </a:solidFill>
            </a:endParaRPr>
          </a:p>
          <a:p>
            <a:pPr lvl="1" marL="914400" indent="-457200">
              <a:buSzPct val="100000"/>
              <a:buFont typeface="Arial"/>
              <a:buChar char="•"/>
              <a:defRPr sz="2400"/>
            </a:pPr>
            <a:r>
              <a:t>We will cover text in more detail later</a:t>
            </a:r>
          </a:p>
          <a:p>
            <a:pPr marL="457200" indent="-457200">
              <a:buSzPct val="100000"/>
              <a:buAutoNum type="arabicParenR" startAt="1"/>
              <a:defRPr sz="2400"/>
            </a:pPr>
          </a:p>
          <a:p>
            <a:pPr marL="457200" indent="-457200">
              <a:buSzPct val="100000"/>
              <a:buAutoNum type="arabicParenR" startAt="2"/>
              <a:defRPr b="1" sz="2400">
                <a:solidFill>
                  <a:srgbClr val="C00000"/>
                </a:solidFill>
              </a:defRPr>
            </a:pPr>
            <a:r>
              <a:t>Figures</a:t>
            </a:r>
            <a:r>
              <a:rPr b="0"/>
              <a:t>: </a:t>
            </a:r>
            <a:r>
              <a:rPr b="0">
                <a:solidFill>
                  <a:srgbClr val="000000"/>
                </a:solidFill>
              </a:rPr>
              <a:t>Graphs help </a:t>
            </a:r>
            <a:r>
              <a:rPr>
                <a:solidFill>
                  <a:srgbClr val="000000"/>
                </a:solidFill>
              </a:rPr>
              <a:t>visualize</a:t>
            </a:r>
            <a:r>
              <a:rPr b="0">
                <a:solidFill>
                  <a:srgbClr val="000000"/>
                </a:solidFill>
              </a:rPr>
              <a:t> complex relationships and draw the reader’s attention to the most important findings.</a:t>
            </a:r>
            <a:endParaRPr b="0">
              <a:solidFill>
                <a:srgbClr val="000000"/>
              </a:solidFill>
            </a:endParaRPr>
          </a:p>
          <a:p>
            <a:pPr marL="457200" indent="-457200">
              <a:buSzPct val="100000"/>
              <a:buAutoNum type="arabicParenR" startAt="2"/>
              <a:defRPr sz="2400"/>
            </a:pPr>
          </a:p>
          <a:p>
            <a:pPr marL="457200" indent="-457200">
              <a:buSzPct val="100000"/>
              <a:buAutoNum type="arabicParenR" startAt="3"/>
              <a:defRPr b="1" sz="2400">
                <a:solidFill>
                  <a:srgbClr val="C00000"/>
                </a:solidFill>
              </a:defRPr>
            </a:pPr>
            <a:r>
              <a:t>Tables</a:t>
            </a:r>
            <a:r>
              <a:rPr b="0"/>
              <a:t>: </a:t>
            </a:r>
            <a:r>
              <a:rPr b="0">
                <a:solidFill>
                  <a:srgbClr val="000000"/>
                </a:solidFill>
              </a:rPr>
              <a:t>Provide </a:t>
            </a:r>
            <a:r>
              <a:rPr>
                <a:solidFill>
                  <a:srgbClr val="000000"/>
                </a:solidFill>
              </a:rPr>
              <a:t>details</a:t>
            </a:r>
            <a:r>
              <a:rPr b="0">
                <a:solidFill>
                  <a:srgbClr val="000000"/>
                </a:solidFill>
              </a:rPr>
              <a:t> on the results that are important</a:t>
            </a:r>
            <a:endParaRPr b="0">
              <a:solidFill>
                <a:srgbClr val="000000"/>
              </a:solidFill>
            </a:endParaRPr>
          </a:p>
          <a:p>
            <a:pPr>
              <a:defRPr sz="2400"/>
            </a:pPr>
          </a:p>
          <a:p>
            <a:pPr>
              <a:defRPr sz="2400"/>
            </a:pPr>
            <a:r>
              <a:t>Most journals encourage “supplemental” or “appendix” tables for more details. Journals also encourage electronic storage of raw data for public access (this is a new feature of science).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For your studies, including raw data as a table is Fine.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 txBox="1"/>
          <p:nvPr/>
        </p:nvSpPr>
        <p:spPr>
          <a:xfrm>
            <a:off x="655319" y="228599"/>
            <a:ext cx="7909562" cy="6007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sz="3600">
                <a:solidFill>
                  <a:srgbClr val="C00000"/>
                </a:solidFill>
              </a:defRPr>
            </a:pPr>
            <a:r>
              <a:t>Three complementary approaches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b="1" sz="2800"/>
            </a:pPr>
            <a:r>
              <a:t>Not every result needs a figure or table. </a:t>
            </a:r>
            <a:r>
              <a:rPr b="0"/>
              <a:t>Too many graphics will dilute your main points and confuse your reader. If everything is important than nothing is.</a:t>
            </a:r>
            <a:endParaRPr b="0"/>
          </a:p>
          <a:p>
            <a:pPr>
              <a:defRPr sz="2800"/>
            </a:pPr>
          </a:p>
          <a:p>
            <a:pPr>
              <a:defRPr sz="2800"/>
            </a:pPr>
            <a:r>
              <a:t>When do I use a figure? </a:t>
            </a:r>
          </a:p>
          <a:p>
            <a:pPr>
              <a:defRPr sz="2800"/>
            </a:pPr>
          </a:p>
          <a:p>
            <a:pPr>
              <a:defRPr sz="2800"/>
            </a:pPr>
            <a:r>
              <a:t>When do I use a table? </a:t>
            </a:r>
          </a:p>
          <a:p>
            <a:pPr>
              <a:defRPr sz="2800"/>
            </a:pPr>
          </a:p>
          <a:p>
            <a:pPr>
              <a:defRPr sz="2800"/>
            </a:pPr>
            <a:r>
              <a:t>When do I not bother with either and just write a sentence?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655319" y="228600"/>
            <a:ext cx="7909562" cy="1878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When to use just a sentence: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400"/>
            </a:pPr>
            <a:r>
              <a:t>Remember that graphics compete for your reader’s attention. Use a sentence or two for simple results with few numbers.</a:t>
            </a:r>
          </a:p>
        </p:txBody>
      </p:sp>
      <p:sp>
        <p:nvSpPr>
          <p:cNvPr id="107" name="TextBox 5"/>
          <p:cNvSpPr txBox="1"/>
          <p:nvPr/>
        </p:nvSpPr>
        <p:spPr>
          <a:xfrm>
            <a:off x="350519" y="6198513"/>
            <a:ext cx="8442962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600"/>
            </a:lvl1pPr>
          </a:lstStyle>
          <a:p>
            <a:pPr/>
            <a:r>
              <a:t>How many data points are shown in this figure?</a:t>
            </a:r>
          </a:p>
        </p:txBody>
      </p:sp>
      <p:pic>
        <p:nvPicPr>
          <p:cNvPr id="10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0414" y="2653222"/>
            <a:ext cx="6463171" cy="34260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 txBox="1"/>
          <p:nvPr/>
        </p:nvSpPr>
        <p:spPr>
          <a:xfrm>
            <a:off x="655319" y="228600"/>
            <a:ext cx="7909562" cy="1878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When to use just a sentence: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400"/>
            </a:pPr>
            <a:r>
              <a:t>Remember that graphics compete for your reader’s attention. Use a sentence or two for simple results with few numbers.</a:t>
            </a:r>
          </a:p>
        </p:txBody>
      </p:sp>
      <p:sp>
        <p:nvSpPr>
          <p:cNvPr id="111" name="TextBox 5"/>
          <p:cNvSpPr txBox="1"/>
          <p:nvPr/>
        </p:nvSpPr>
        <p:spPr>
          <a:xfrm>
            <a:off x="655319" y="3653711"/>
            <a:ext cx="8363449" cy="253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/>
            </a:pPr>
            <a:r>
              <a:t>“Copepods comprised the highest proportion of prey items (75%). Caldocerans comprised 12% of prey items, and the remaining 13% of items were unidentified.”</a:t>
            </a:r>
          </a:p>
          <a:p>
            <a:pPr>
              <a:defRPr sz="2600"/>
            </a:pPr>
          </a:p>
          <a:p>
            <a:pPr>
              <a:defRPr sz="2600"/>
            </a:pPr>
          </a:p>
          <a:p>
            <a:pPr>
              <a:defRPr sz="2600"/>
            </a:pPr>
            <a:r>
              <a:t>Do you need a figure to understand this result?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 txBox="1"/>
          <p:nvPr/>
        </p:nvSpPr>
        <p:spPr>
          <a:xfrm>
            <a:off x="655319" y="228600"/>
            <a:ext cx="7909562" cy="5689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When to use a graphic (either figure or table):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Try this sentence on for size:</a:t>
            </a:r>
          </a:p>
          <a:p>
            <a:pPr>
              <a:defRPr sz="2800"/>
            </a:pPr>
          </a:p>
          <a:p>
            <a:pPr>
              <a:defRPr sz="2400"/>
            </a:pPr>
            <a:r>
              <a:t>“For lakebottom sediments collected at the inflow, average grain size was 1.3 mm (± 0.4 mm standard deviation). Smaller grains predominated farther out: average 0.8 mm (± 0.2 mm) at 5 m from the inflow, 0.2 mm (± 0.004 mm) at 40 m, and 0.002 mm (± 0.0005 mm) at 60 m.”</a:t>
            </a:r>
          </a:p>
          <a:p>
            <a:pPr>
              <a:defRPr sz="2800"/>
            </a:pPr>
          </a:p>
          <a:p>
            <a:pPr>
              <a:defRPr b="1" sz="2800">
                <a:solidFill>
                  <a:srgbClr val="C00000"/>
                </a:solidFill>
              </a:defRPr>
            </a:pPr>
            <a:r>
              <a:t>UGH SO COMPLICATED!!!!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 txBox="1"/>
          <p:nvPr/>
        </p:nvSpPr>
        <p:spPr>
          <a:xfrm>
            <a:off x="655319" y="228599"/>
            <a:ext cx="7909562" cy="655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When to use a graphic (either figure or table):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Try this sentence on for size:</a:t>
            </a:r>
          </a:p>
          <a:p>
            <a:pPr>
              <a:defRPr sz="2800"/>
            </a:pPr>
          </a:p>
          <a:p>
            <a:pPr>
              <a:defRPr sz="2400"/>
            </a:pPr>
            <a:r>
              <a:t>“For lakebottom sediments collected at the inflow, average grain size was 1.3 mm (± 0.4 mm standard deviation). Smaller grains predominated farther out: average 0.8 mm (± 0.2 mm) at 5 m from the inflow, 0.2 mm (± 0.004 mm) at 40 m, and 0.002 mm (± 0.0005 mm) at 60 m.”</a:t>
            </a:r>
          </a:p>
          <a:p>
            <a:pPr>
              <a:defRPr sz="2800"/>
            </a:pPr>
          </a:p>
          <a:p>
            <a:pPr>
              <a:defRPr sz="2800"/>
            </a:pPr>
            <a:r>
              <a:t>Numbers are inherently demanding to read. </a:t>
            </a:r>
          </a:p>
          <a:p>
            <a:pPr>
              <a:defRPr b="1" sz="2800"/>
            </a:pPr>
            <a:r>
              <a:t>Use a graphic to display complicated relationships or numerical information.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655319" y="228600"/>
            <a:ext cx="7909562" cy="2552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When to use a graphic (either figure or table):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“Grain size was large at the inflow and decreased farther out (Fig. 1).”</a:t>
            </a:r>
          </a:p>
        </p:txBody>
      </p:sp>
      <p:pic>
        <p:nvPicPr>
          <p:cNvPr id="11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60000">
            <a:off x="3829050" y="2588413"/>
            <a:ext cx="4781550" cy="4269587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Box 4"/>
          <p:cNvSpPr txBox="1"/>
          <p:nvPr/>
        </p:nvSpPr>
        <p:spPr>
          <a:xfrm>
            <a:off x="579119" y="4492373"/>
            <a:ext cx="2702562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pPr/>
            <a:r>
              <a:t>A breath of fresh air!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 txBox="1"/>
          <p:nvPr/>
        </p:nvSpPr>
        <p:spPr>
          <a:xfrm>
            <a:off x="655319" y="228600"/>
            <a:ext cx="7909562" cy="6254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When to use a Figure versus a Table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Figures are best at showing </a:t>
            </a:r>
            <a:r>
              <a:rPr i="1"/>
              <a:t>relationships </a:t>
            </a:r>
            <a:r>
              <a:t>and</a:t>
            </a:r>
            <a:r>
              <a:rPr i="1"/>
              <a:t> trends.</a:t>
            </a:r>
            <a:endParaRPr i="1"/>
          </a:p>
          <a:p>
            <a:pPr>
              <a:defRPr sz="2800"/>
            </a:pPr>
          </a:p>
          <a:p>
            <a:pPr>
              <a:defRPr sz="2800">
                <a:solidFill>
                  <a:srgbClr val="FFFFFF"/>
                </a:solidFill>
              </a:defRPr>
            </a:pPr>
            <a:r>
              <a:t>However, tables are good at showing </a:t>
            </a:r>
            <a:r>
              <a:rPr i="1"/>
              <a:t>precise numbers </a:t>
            </a:r>
            <a:r>
              <a:t>and </a:t>
            </a:r>
            <a:r>
              <a:rPr i="1"/>
              <a:t>multiple variables at once.</a:t>
            </a:r>
          </a:p>
          <a:p>
            <a:pPr>
              <a:defRPr i="1" sz="2800"/>
            </a:pPr>
          </a:p>
          <a:p>
            <a:pPr>
              <a:defRPr b="1" sz="2800"/>
            </a:pPr>
            <a:r>
              <a:t>Think: what do I want the reader to take away from this graphic?</a:t>
            </a:r>
          </a:p>
          <a:p>
            <a:pPr marL="457200" indent="-457200">
              <a:buSzPct val="100000"/>
              <a:buFont typeface="Arial"/>
              <a:buChar char="•"/>
              <a:defRPr sz="2600"/>
            </a:pPr>
            <a:r>
              <a:t>If it’s a </a:t>
            </a:r>
            <a:r>
              <a:rPr b="1">
                <a:solidFill>
                  <a:srgbClr val="FF0000"/>
                </a:solidFill>
              </a:rPr>
              <a:t>trend</a:t>
            </a:r>
            <a:r>
              <a:t> (an increase or decrease) or a relationship (two variables interact) then use a </a:t>
            </a:r>
            <a:r>
              <a:rPr b="1">
                <a:solidFill>
                  <a:srgbClr val="FF0000"/>
                </a:solidFill>
              </a:rPr>
              <a:t>figure</a:t>
            </a:r>
            <a:r>
              <a:rPr b="1"/>
              <a:t>.</a:t>
            </a:r>
            <a:endParaRPr b="1"/>
          </a:p>
          <a:p>
            <a:pPr marL="457200" indent="-457200">
              <a:buSzPct val="100000"/>
              <a:buFont typeface="Arial"/>
              <a:buChar char="•"/>
              <a:defRPr sz="2600">
                <a:solidFill>
                  <a:srgbClr val="FFFFFF"/>
                </a:solidFill>
              </a:defRPr>
            </a:pPr>
            <a:r>
              <a:t>If it’s the exact value (like a p-value) and there are too many entries for one sentence, then use a </a:t>
            </a:r>
            <a:r>
              <a:rPr b="1"/>
              <a:t>table.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 txBox="1"/>
          <p:nvPr/>
        </p:nvSpPr>
        <p:spPr>
          <a:xfrm>
            <a:off x="655319" y="228600"/>
            <a:ext cx="7909562" cy="6254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When to use a Figure versus a Table</a:t>
            </a:r>
          </a:p>
          <a:p>
            <a:pPr>
              <a:defRPr b="1" sz="3600">
                <a:solidFill>
                  <a:srgbClr val="FF0000"/>
                </a:solidFill>
              </a:defRPr>
            </a:pPr>
          </a:p>
          <a:p>
            <a:pPr>
              <a:defRPr sz="2800"/>
            </a:pPr>
            <a:r>
              <a:t>Figures are best at showing </a:t>
            </a:r>
            <a:r>
              <a:rPr i="1"/>
              <a:t>relationships </a:t>
            </a:r>
            <a:r>
              <a:t>and</a:t>
            </a:r>
            <a:r>
              <a:rPr i="1"/>
              <a:t> trends.</a:t>
            </a:r>
            <a:endParaRPr i="1"/>
          </a:p>
          <a:p>
            <a:pPr>
              <a:defRPr sz="2800"/>
            </a:pPr>
          </a:p>
          <a:p>
            <a:pPr>
              <a:defRPr sz="2800"/>
            </a:pPr>
            <a:r>
              <a:t>However, tables are good at showing </a:t>
            </a:r>
            <a:r>
              <a:rPr i="1"/>
              <a:t>precise numbers </a:t>
            </a:r>
            <a:r>
              <a:t>and </a:t>
            </a:r>
            <a:r>
              <a:rPr i="1"/>
              <a:t>multiple variables at once.</a:t>
            </a:r>
          </a:p>
          <a:p>
            <a:pPr>
              <a:defRPr i="1" sz="2800"/>
            </a:pPr>
          </a:p>
          <a:p>
            <a:pPr>
              <a:defRPr b="1" sz="2800"/>
            </a:pPr>
            <a:r>
              <a:t>Think: what do I want the reader to take away from this graphic?</a:t>
            </a:r>
          </a:p>
          <a:p>
            <a:pPr marL="457200" indent="-457200">
              <a:buSzPct val="100000"/>
              <a:buFont typeface="Arial"/>
              <a:buChar char="•"/>
              <a:defRPr sz="2600"/>
            </a:pPr>
            <a:r>
              <a:t>If it’s a </a:t>
            </a:r>
            <a:r>
              <a:rPr b="1">
                <a:solidFill>
                  <a:srgbClr val="FF0000"/>
                </a:solidFill>
              </a:rPr>
              <a:t>trend</a:t>
            </a:r>
            <a:r>
              <a:t> (an increase or decrease) or a relationship (two variables interact) then use a </a:t>
            </a:r>
            <a:r>
              <a:rPr b="1">
                <a:solidFill>
                  <a:srgbClr val="FF0000"/>
                </a:solidFill>
              </a:rPr>
              <a:t>figure</a:t>
            </a:r>
            <a:r>
              <a:rPr b="1"/>
              <a:t>.</a:t>
            </a:r>
            <a:endParaRPr b="1"/>
          </a:p>
          <a:p>
            <a:pPr marL="457200" indent="-457200">
              <a:buSzPct val="100000"/>
              <a:buFont typeface="Arial"/>
              <a:buChar char="•"/>
              <a:defRPr sz="2600"/>
            </a:pPr>
            <a:r>
              <a:t>If it’s the </a:t>
            </a:r>
            <a:r>
              <a:rPr b="1">
                <a:solidFill>
                  <a:srgbClr val="00B0F0"/>
                </a:solidFill>
              </a:rPr>
              <a:t>exact value </a:t>
            </a:r>
            <a:r>
              <a:t>(like a p-value) and there are too many entries for one sentence, then use a </a:t>
            </a:r>
            <a:r>
              <a:rPr b="1">
                <a:solidFill>
                  <a:srgbClr val="00B0F0"/>
                </a:solidFill>
              </a:rPr>
              <a:t>table</a:t>
            </a:r>
            <a:r>
              <a:rPr b="1"/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 txBox="1"/>
          <p:nvPr/>
        </p:nvSpPr>
        <p:spPr>
          <a:xfrm>
            <a:off x="655319" y="228600"/>
            <a:ext cx="7909562" cy="429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Three complementary approaches</a:t>
            </a: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sz="3200"/>
            </a:pPr>
            <a:r>
              <a:t>Today’s agenda:</a:t>
            </a:r>
          </a:p>
          <a:p>
            <a:pPr marL="514350" indent="-514350">
              <a:buSzPct val="100000"/>
              <a:buAutoNum type="arabicPeriod" startAt="1"/>
              <a:defRPr sz="3200"/>
            </a:pPr>
            <a:r>
              <a:t>When to use a figure, table, or neither?</a:t>
            </a:r>
          </a:p>
          <a:p>
            <a:pPr marL="514350" indent="-514350">
              <a:buSzPct val="100000"/>
              <a:buAutoNum type="arabicPeriod" startAt="1"/>
              <a:defRPr b="1" sz="3200"/>
            </a:pPr>
            <a:r>
              <a:t>What options do I have for figures?</a:t>
            </a:r>
          </a:p>
          <a:p>
            <a:pPr marL="514350" indent="-514350">
              <a:buSzPct val="100000"/>
              <a:buAutoNum type="arabicPeriod" startAt="1"/>
              <a:defRPr sz="3200"/>
            </a:pPr>
            <a:r>
              <a:t>How to make an </a:t>
            </a:r>
            <a:r>
              <a:rPr i="1"/>
              <a:t>effective </a:t>
            </a:r>
            <a:r>
              <a:t>figure or table?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xfrm>
            <a:off x="457200" y="-1"/>
            <a:ext cx="8229600" cy="715964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C00000"/>
                </a:solidFill>
              </a:defRPr>
            </a:lvl1pPr>
          </a:lstStyle>
          <a:p>
            <a:pPr/>
            <a:r>
              <a:t>Types of figures: scatterplots </a:t>
            </a:r>
          </a:p>
        </p:txBody>
      </p:sp>
      <p:graphicFrame>
        <p:nvGraphicFramePr>
          <p:cNvPr id="128" name="Chart 3"/>
          <p:cNvGraphicFramePr/>
          <p:nvPr/>
        </p:nvGraphicFramePr>
        <p:xfrm>
          <a:off x="2183519" y="1384683"/>
          <a:ext cx="4776962" cy="274480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9" name="TextBox 6"/>
          <p:cNvSpPr txBox="1"/>
          <p:nvPr/>
        </p:nvSpPr>
        <p:spPr>
          <a:xfrm>
            <a:off x="274319" y="4241898"/>
            <a:ext cx="4251962" cy="2974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Attributes: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Shows relationship between data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Independent data (x axis) influences dependent data (y axis) 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Good when both variables are continuous data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Can show trends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Shows exact data points, not summary statistics (what is a summary statistic?)</a:t>
            </a:r>
          </a:p>
        </p:txBody>
      </p:sp>
      <p:sp>
        <p:nvSpPr>
          <p:cNvPr id="130" name="TextBox 7"/>
          <p:cNvSpPr txBox="1"/>
          <p:nvPr/>
        </p:nvSpPr>
        <p:spPr>
          <a:xfrm>
            <a:off x="4389119" y="4211504"/>
            <a:ext cx="4251962" cy="151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Warnings: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Both variables MUST be continuous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Make sure multiple series on graph are comparable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Do not have too many different data sets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6"/>
          <p:cNvSpPr txBox="1"/>
          <p:nvPr/>
        </p:nvSpPr>
        <p:spPr>
          <a:xfrm>
            <a:off x="274319" y="4555006"/>
            <a:ext cx="4251962" cy="180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Attributes: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Good if one variable is continuous and one is numerical but discrete (e.g. time)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Can compare multiple series of data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Suggests values between data points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Patterns are readily apparent</a:t>
            </a:r>
          </a:p>
        </p:txBody>
      </p:sp>
      <p:sp>
        <p:nvSpPr>
          <p:cNvPr id="135" name="TextBox 7"/>
          <p:cNvSpPr txBox="1"/>
          <p:nvPr/>
        </p:nvSpPr>
        <p:spPr>
          <a:xfrm>
            <a:off x="4717111" y="4506541"/>
            <a:ext cx="4251961" cy="2098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Warnings: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Data must be continuous!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For each line, one datum per observation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Intermediate values must be valid 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Poor choice if few data points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Make sure multiple series on graph are comparable (same scale)</a:t>
            </a:r>
          </a:p>
        </p:txBody>
      </p:sp>
      <p:graphicFrame>
        <p:nvGraphicFramePr>
          <p:cNvPr id="136" name="Chart 5"/>
          <p:cNvGraphicFramePr/>
          <p:nvPr/>
        </p:nvGraphicFramePr>
        <p:xfrm>
          <a:off x="1267480" y="988517"/>
          <a:ext cx="6348563" cy="300578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7" name="Title 1"/>
          <p:cNvSpPr txBox="1"/>
          <p:nvPr>
            <p:ph type="title"/>
          </p:nvPr>
        </p:nvSpPr>
        <p:spPr>
          <a:xfrm>
            <a:off x="457200" y="-1"/>
            <a:ext cx="8229600" cy="715964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C00000"/>
                </a:solidFill>
              </a:defRPr>
            </a:lvl1pPr>
          </a:lstStyle>
          <a:p>
            <a:pPr/>
            <a:r>
              <a:t>Types of figures: line plots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6"/>
          <p:cNvSpPr txBox="1"/>
          <p:nvPr/>
        </p:nvSpPr>
        <p:spPr>
          <a:xfrm>
            <a:off x="194808" y="4511695"/>
            <a:ext cx="4251961" cy="151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Attributes: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Each bar represents a discrete data point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Patterns are visually striking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The order of the bars can reveal patterns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Can compare categories</a:t>
            </a:r>
          </a:p>
        </p:txBody>
      </p:sp>
      <p:sp>
        <p:nvSpPr>
          <p:cNvPr id="140" name="TextBox 7"/>
          <p:cNvSpPr txBox="1"/>
          <p:nvPr/>
        </p:nvSpPr>
        <p:spPr>
          <a:xfrm>
            <a:off x="4730363" y="4511695"/>
            <a:ext cx="4251961" cy="209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Warnings: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Not great for continuous data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May not reveal variation around the mean or bar value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Bars order can suggest false trends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Takes up a </a:t>
            </a:r>
            <a:r>
              <a:rPr i="1"/>
              <a:t>lot </a:t>
            </a:r>
            <a:r>
              <a:t>of space to show a few data points- use wisely</a:t>
            </a:r>
          </a:p>
        </p:txBody>
      </p:sp>
      <p:graphicFrame>
        <p:nvGraphicFramePr>
          <p:cNvPr id="141" name="Chart 8"/>
          <p:cNvGraphicFramePr/>
          <p:nvPr/>
        </p:nvGraphicFramePr>
        <p:xfrm>
          <a:off x="2355192" y="875555"/>
          <a:ext cx="4473543" cy="271071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2" name="TextBox 2"/>
          <p:cNvSpPr txBox="1"/>
          <p:nvPr/>
        </p:nvSpPr>
        <p:spPr>
          <a:xfrm>
            <a:off x="2179319" y="3733800"/>
            <a:ext cx="4785362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Numbers of fish caught per year in commercial fisheries in the Atlantic, Pacific, and Indian oceans.</a:t>
            </a:r>
          </a:p>
        </p:txBody>
      </p:sp>
      <p:sp>
        <p:nvSpPr>
          <p:cNvPr id="143" name="Title 1"/>
          <p:cNvSpPr txBox="1"/>
          <p:nvPr>
            <p:ph type="title"/>
          </p:nvPr>
        </p:nvSpPr>
        <p:spPr>
          <a:xfrm>
            <a:off x="457200" y="-1"/>
            <a:ext cx="8229600" cy="715964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C00000"/>
                </a:solidFill>
              </a:defRPr>
            </a:lvl1pPr>
          </a:lstStyle>
          <a:p>
            <a:pPr/>
            <a:r>
              <a:t>Types of figures: bar graphs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34341" y="1561407"/>
            <a:ext cx="4699463" cy="375957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Rectangle 4"/>
          <p:cNvSpPr txBox="1"/>
          <p:nvPr/>
        </p:nvSpPr>
        <p:spPr>
          <a:xfrm>
            <a:off x="2208294" y="1054398"/>
            <a:ext cx="4480561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t>Boxplots: </a:t>
            </a:r>
            <a:r>
              <a:rPr b="0"/>
              <a:t>shows data spread including median, quartiles and outliers</a:t>
            </a:r>
          </a:p>
        </p:txBody>
      </p:sp>
      <p:sp>
        <p:nvSpPr>
          <p:cNvPr id="147" name="Title 1"/>
          <p:cNvSpPr txBox="1"/>
          <p:nvPr>
            <p:ph type="title"/>
          </p:nvPr>
        </p:nvSpPr>
        <p:spPr>
          <a:xfrm>
            <a:off x="207816" y="338435"/>
            <a:ext cx="8229601" cy="715964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C00000"/>
                </a:solidFill>
              </a:defRPr>
            </a:lvl1pPr>
          </a:lstStyle>
          <a:p>
            <a:pPr/>
            <a:r>
              <a:t>Types of figures: boxplots (box and whisker)</a:t>
            </a:r>
          </a:p>
        </p:txBody>
      </p:sp>
      <p:sp>
        <p:nvSpPr>
          <p:cNvPr id="148" name="TextBox 6"/>
          <p:cNvSpPr txBox="1"/>
          <p:nvPr/>
        </p:nvSpPr>
        <p:spPr>
          <a:xfrm>
            <a:off x="253536" y="5320977"/>
            <a:ext cx="5636030" cy="151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Attributes: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Bars show variation, including summary statistics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Patterns are visually striking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The order of the bars can reveal patterns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Can compare categories</a:t>
            </a:r>
          </a:p>
        </p:txBody>
      </p:sp>
      <p:sp>
        <p:nvSpPr>
          <p:cNvPr id="149" name="TextBox 7"/>
          <p:cNvSpPr txBox="1"/>
          <p:nvPr/>
        </p:nvSpPr>
        <p:spPr>
          <a:xfrm>
            <a:off x="5382491" y="5320977"/>
            <a:ext cx="3724103" cy="151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 u="sng">
                <a:solidFill>
                  <a:srgbClr val="7030A0"/>
                </a:solidFill>
              </a:defRPr>
            </a:pPr>
            <a:r>
              <a:t>Warnings: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Bars order can suggest false trends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“whiskers” can mean different things (standard deviation, vs quartiles vs. total range, etc.)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ontent Placeholder 2"/>
          <p:cNvSpPr txBox="1"/>
          <p:nvPr>
            <p:ph type="body" idx="1"/>
          </p:nvPr>
        </p:nvSpPr>
        <p:spPr>
          <a:xfrm>
            <a:off x="628650" y="1205947"/>
            <a:ext cx="7886700" cy="4971017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Maps, photographs, or flowcharts: </a:t>
            </a:r>
            <a:r>
              <a:rPr b="0"/>
              <a:t>Usually does not show data or results. Instead, used to give the reader a sense of what you did (Methods)</a:t>
            </a:r>
          </a:p>
          <a:p>
            <a:pPr>
              <a:defRPr b="1"/>
            </a:pPr>
            <a:r>
              <a:t>Histogram: </a:t>
            </a:r>
            <a:r>
              <a:rPr b="0"/>
              <a:t>uses bars to show counts of one variable.</a:t>
            </a:r>
            <a:endParaRPr b="0"/>
          </a:p>
          <a:p>
            <a:pPr>
              <a:defRPr b="1"/>
            </a:pPr>
            <a:r>
              <a:t>Pie chart*: </a:t>
            </a:r>
            <a:r>
              <a:rPr b="0"/>
              <a:t>shows proportions of a whole</a:t>
            </a:r>
            <a:endParaRPr b="0"/>
          </a:p>
          <a:p>
            <a:pPr marL="0" indent="0">
              <a:buSzTx/>
              <a:buNone/>
              <a:defRPr b="1"/>
            </a:pPr>
          </a:p>
          <a:p>
            <a:pPr marL="0" indent="0">
              <a:buSzTx/>
              <a:buNone/>
              <a:defRPr sz="2400"/>
            </a:pPr>
            <a:r>
              <a:t>* The case for/against pie charts: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https://www.geckoboard.com/blog/pie-charts/</a:t>
            </a:r>
          </a:p>
        </p:txBody>
      </p:sp>
      <p:sp>
        <p:nvSpPr>
          <p:cNvPr id="152" name="Title 1"/>
          <p:cNvSpPr txBox="1"/>
          <p:nvPr>
            <p:ph type="title"/>
          </p:nvPr>
        </p:nvSpPr>
        <p:spPr>
          <a:xfrm>
            <a:off x="457200" y="225286"/>
            <a:ext cx="8229600" cy="715964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C00000"/>
                </a:solidFill>
              </a:defRPr>
            </a:lvl1pPr>
          </a:lstStyle>
          <a:p>
            <a:pPr/>
            <a:r>
              <a:t>Other types of figures to consider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 txBox="1"/>
          <p:nvPr/>
        </p:nvSpPr>
        <p:spPr>
          <a:xfrm>
            <a:off x="655319" y="228600"/>
            <a:ext cx="7909562" cy="429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Presentation of Results: </a:t>
            </a:r>
          </a:p>
          <a:p>
            <a:pPr>
              <a:defRPr sz="3600">
                <a:solidFill>
                  <a:srgbClr val="FFFFFF"/>
                </a:solidFill>
              </a:defRPr>
            </a:pPr>
            <a:r>
              <a:t>Three complementary approaches</a:t>
            </a: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b="1" sz="2800">
                <a:solidFill>
                  <a:srgbClr val="FF0000"/>
                </a:solidFill>
              </a:defRPr>
            </a:pPr>
          </a:p>
          <a:p>
            <a:pPr>
              <a:defRPr sz="3200"/>
            </a:pPr>
            <a:r>
              <a:t>Today’s agenda:</a:t>
            </a:r>
          </a:p>
          <a:p>
            <a:pPr marL="514350" indent="-514350">
              <a:buSzPct val="100000"/>
              <a:buAutoNum type="arabicPeriod" startAt="1"/>
              <a:defRPr sz="3200"/>
            </a:pPr>
            <a:r>
              <a:t>When to use a figure, table, or neither?</a:t>
            </a:r>
          </a:p>
          <a:p>
            <a:pPr marL="514350" indent="-514350">
              <a:buSzPct val="100000"/>
              <a:buAutoNum type="arabicPeriod" startAt="1"/>
              <a:defRPr sz="3200"/>
            </a:pPr>
            <a:r>
              <a:t>What options do I have for figures?</a:t>
            </a:r>
          </a:p>
          <a:p>
            <a:pPr marL="514350" indent="-514350">
              <a:buSzPct val="100000"/>
              <a:buAutoNum type="arabicPeriod" startAt="1"/>
              <a:defRPr b="1" sz="3200"/>
            </a:pPr>
            <a:r>
              <a:t>How to make an </a:t>
            </a:r>
            <a:r>
              <a:rPr i="1"/>
              <a:t>effective </a:t>
            </a:r>
            <a:r>
              <a:t>figure or table?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 txBox="1"/>
          <p:nvPr/>
        </p:nvSpPr>
        <p:spPr>
          <a:xfrm>
            <a:off x="476903" y="228600"/>
            <a:ext cx="8270684" cy="3594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Making effective figures</a:t>
            </a:r>
          </a:p>
          <a:p>
            <a:pPr>
              <a:defRPr sz="2800"/>
            </a:pPr>
          </a:p>
          <a:p>
            <a:pPr>
              <a:defRPr sz="2800"/>
            </a:pPr>
            <a:r>
              <a:t>There are many possible ways to display the same result. </a:t>
            </a:r>
          </a:p>
          <a:p>
            <a:pPr>
              <a:defRPr sz="2800"/>
            </a:pPr>
          </a:p>
          <a:p>
            <a:pPr>
              <a:defRPr sz="2800"/>
            </a:pPr>
            <a:r>
              <a:t>Just because a program can make it, </a:t>
            </a:r>
          </a:p>
          <a:p>
            <a:pPr>
              <a:defRPr sz="2800"/>
            </a:pPr>
            <a:r>
              <a:t>doesn’t mean it’s correct or the best option.</a:t>
            </a:r>
            <a:endParaRPr sz="3200"/>
          </a:p>
          <a:p>
            <a:pPr>
              <a:defRPr b="1" sz="2800">
                <a:solidFill>
                  <a:srgbClr val="FF0000"/>
                </a:solidFill>
              </a:defRPr>
            </a:pPr>
          </a:p>
        </p:txBody>
      </p:sp>
      <p:sp>
        <p:nvSpPr>
          <p:cNvPr id="157" name="TextBox 2"/>
          <p:cNvSpPr txBox="1"/>
          <p:nvPr/>
        </p:nvSpPr>
        <p:spPr>
          <a:xfrm>
            <a:off x="496293" y="3444864"/>
            <a:ext cx="8270683" cy="2530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/>
            </a:pPr>
            <a:r>
              <a:t>The golden rule of figures and table design:</a:t>
            </a:r>
          </a:p>
          <a:p>
            <a:pPr>
              <a:defRPr sz="2800"/>
            </a:pPr>
          </a:p>
          <a:p>
            <a:pPr algn="ctr">
              <a:defRPr sz="3600"/>
            </a:pPr>
            <a:r>
              <a:t>Give readers the </a:t>
            </a:r>
            <a:r>
              <a:rPr b="1">
                <a:solidFill>
                  <a:srgbClr val="C00000"/>
                </a:solidFill>
              </a:rPr>
              <a:t>most information capable of being digested </a:t>
            </a:r>
            <a:r>
              <a:t>in the </a:t>
            </a:r>
            <a:r>
              <a:rPr b="1">
                <a:solidFill>
                  <a:srgbClr val="C00000"/>
                </a:solidFill>
              </a:rPr>
              <a:t>shortest time </a:t>
            </a:r>
            <a:r>
              <a:t>with the </a:t>
            </a:r>
            <a:r>
              <a:rPr b="1">
                <a:solidFill>
                  <a:srgbClr val="C00000"/>
                </a:solidFill>
              </a:rPr>
              <a:t>least ink </a:t>
            </a:r>
            <a:r>
              <a:t>in the </a:t>
            </a:r>
            <a:r>
              <a:rPr b="1">
                <a:solidFill>
                  <a:srgbClr val="C00000"/>
                </a:solidFill>
              </a:rPr>
              <a:t>smallest space </a:t>
            </a:r>
            <a:r>
              <a:t>possible.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2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  <p:sp>
        <p:nvSpPr>
          <p:cNvPr id="160" name="TextBox 4"/>
          <p:cNvSpPr txBox="1"/>
          <p:nvPr/>
        </p:nvSpPr>
        <p:spPr>
          <a:xfrm>
            <a:off x="960119" y="2921168"/>
            <a:ext cx="7833362" cy="972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000"/>
            </a:lvl1pPr>
          </a:lstStyle>
          <a:p>
            <a:pPr/>
            <a:r>
              <a:t>Critique the following figures. Avoid critiquing captions for now (we’ll come back to that)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1211" y="1134070"/>
            <a:ext cx="6468789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Rectangle 1"/>
          <p:cNvSpPr txBox="1"/>
          <p:nvPr/>
        </p:nvSpPr>
        <p:spPr>
          <a:xfrm>
            <a:off x="1417319" y="4563069"/>
            <a:ext cx="6156962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Graph showing average prey proportions in Lake Washington. Calculated from data collected from 1993-2011.</a:t>
            </a:r>
          </a:p>
        </p:txBody>
      </p:sp>
      <p:sp>
        <p:nvSpPr>
          <p:cNvPr id="164" name="Rectangle 2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1211" y="1134070"/>
            <a:ext cx="6468789" cy="3429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Rectangle 1"/>
          <p:cNvSpPr txBox="1"/>
          <p:nvPr/>
        </p:nvSpPr>
        <p:spPr>
          <a:xfrm>
            <a:off x="1417319" y="4563069"/>
            <a:ext cx="6156962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Graph showing average prey proportions in Lake Washington. Calculated from data collected from 1993-2011.</a:t>
            </a:r>
          </a:p>
        </p:txBody>
      </p:sp>
      <p:sp>
        <p:nvSpPr>
          <p:cNvPr id="168" name="Rectangle 2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  <p:sp>
        <p:nvSpPr>
          <p:cNvPr id="169" name="TextBox 4"/>
          <p:cNvSpPr txBox="1"/>
          <p:nvPr/>
        </p:nvSpPr>
        <p:spPr>
          <a:xfrm>
            <a:off x="941534" y="5454725"/>
            <a:ext cx="7833361" cy="1096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FF0000"/>
                </a:solidFill>
              </a:defRPr>
            </a:lvl1pPr>
          </a:lstStyle>
          <a:p>
            <a:pPr/>
            <a:r>
              <a:t>Critique:  This figure contains only three data points: the proportions of the three prey species.  This can easily be expressed in a single sentence.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9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5416" y="651539"/>
            <a:ext cx="5375554" cy="3974572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Rectangle 1"/>
          <p:cNvSpPr txBox="1"/>
          <p:nvPr/>
        </p:nvSpPr>
        <p:spPr>
          <a:xfrm>
            <a:off x="1874519" y="4543095"/>
            <a:ext cx="5242562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Average stream velocity of habitat where fish were captured in Rock Creek</a:t>
            </a:r>
          </a:p>
        </p:txBody>
      </p:sp>
      <p:sp>
        <p:nvSpPr>
          <p:cNvPr id="173" name="Rectangle 4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5416" y="651539"/>
            <a:ext cx="5375554" cy="3974572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Rectangle 1"/>
          <p:cNvSpPr txBox="1"/>
          <p:nvPr/>
        </p:nvSpPr>
        <p:spPr>
          <a:xfrm>
            <a:off x="1874519" y="4543095"/>
            <a:ext cx="5242562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Average stream velocity of habitat where fish were captured in Rock Creek</a:t>
            </a:r>
          </a:p>
        </p:txBody>
      </p:sp>
      <p:sp>
        <p:nvSpPr>
          <p:cNvPr id="177" name="TextBox 3"/>
          <p:cNvSpPr txBox="1"/>
          <p:nvPr/>
        </p:nvSpPr>
        <p:spPr>
          <a:xfrm>
            <a:off x="655319" y="5462444"/>
            <a:ext cx="7833362" cy="1129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0000"/>
                </a:solidFill>
              </a:defRPr>
            </a:lvl1pPr>
          </a:lstStyle>
          <a:p>
            <a:pPr/>
            <a:r>
              <a:t>Critique:  Better, but the figure has the data in numerical form and this is redundant with the height of the bars.  In addition, there is no indication of variation around the means.</a:t>
            </a:r>
          </a:p>
        </p:txBody>
      </p:sp>
      <p:sp>
        <p:nvSpPr>
          <p:cNvPr id="178" name="Rectangle 4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7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821" y="76200"/>
            <a:ext cx="7668579" cy="4756307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Rectangle 1"/>
          <p:cNvSpPr txBox="1"/>
          <p:nvPr/>
        </p:nvSpPr>
        <p:spPr>
          <a:xfrm>
            <a:off x="911542" y="4952999"/>
            <a:ext cx="765333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Stream velocity vs. depth of habitat occupied by captured fish in Rock Creek (fall)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821" y="76200"/>
            <a:ext cx="7668579" cy="4756307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Rectangle 1"/>
          <p:cNvSpPr txBox="1"/>
          <p:nvPr/>
        </p:nvSpPr>
        <p:spPr>
          <a:xfrm>
            <a:off x="911542" y="4952999"/>
            <a:ext cx="765333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Stream velocity vs. depth of habitat occupied by captured fish in Rock Creek (fall) </a:t>
            </a:r>
          </a:p>
        </p:txBody>
      </p:sp>
      <p:sp>
        <p:nvSpPr>
          <p:cNvPr id="185" name="TextBox 3"/>
          <p:cNvSpPr txBox="1"/>
          <p:nvPr/>
        </p:nvSpPr>
        <p:spPr>
          <a:xfrm>
            <a:off x="821530" y="5705993"/>
            <a:ext cx="7833361" cy="760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0000"/>
                </a:solidFill>
              </a:defRPr>
            </a:lvl1pPr>
          </a:lstStyle>
          <a:p>
            <a:pPr/>
            <a:r>
              <a:t>Critique:  This is better, but the two sets of points need more distinct symbols to tell them apart.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 txBox="1"/>
          <p:nvPr/>
        </p:nvSpPr>
        <p:spPr>
          <a:xfrm>
            <a:off x="1341119" y="4659867"/>
            <a:ext cx="669036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The average velocity (m/s) of where the instream species were found.</a:t>
            </a:r>
          </a:p>
        </p:txBody>
      </p:sp>
      <p:sp>
        <p:nvSpPr>
          <p:cNvPr id="188" name="Rectangle 3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  <p:pic>
        <p:nvPicPr>
          <p:cNvPr id="18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2355" y="1179444"/>
            <a:ext cx="7044845" cy="32315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 txBox="1"/>
          <p:nvPr/>
        </p:nvSpPr>
        <p:spPr>
          <a:xfrm>
            <a:off x="1341119" y="4659867"/>
            <a:ext cx="669036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The average velocity (m/s) of where the instream species were found.</a:t>
            </a:r>
          </a:p>
        </p:txBody>
      </p:sp>
      <p:sp>
        <p:nvSpPr>
          <p:cNvPr id="192" name="Rectangle 3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  <p:sp>
        <p:nvSpPr>
          <p:cNvPr id="193" name="TextBox 4"/>
          <p:cNvSpPr txBox="1"/>
          <p:nvPr/>
        </p:nvSpPr>
        <p:spPr>
          <a:xfrm>
            <a:off x="769619" y="5529350"/>
            <a:ext cx="7833362" cy="1096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solidFill>
                  <a:srgbClr val="FF0000"/>
                </a:solidFill>
              </a:defRPr>
            </a:lvl1pPr>
          </a:lstStyle>
          <a:p>
            <a:pPr/>
            <a:r>
              <a:t>Critique:  The x-axis has the label that belongs on the y-axis. Why are the species listed in this order?  It is alphabetical but so what?  What is the message here? Also, no variation among means shown.</a:t>
            </a:r>
          </a:p>
        </p:txBody>
      </p:sp>
      <p:pic>
        <p:nvPicPr>
          <p:cNvPr id="1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2355" y="1179444"/>
            <a:ext cx="7044845" cy="32315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3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 txBox="1"/>
          <p:nvPr/>
        </p:nvSpPr>
        <p:spPr>
          <a:xfrm>
            <a:off x="1303020" y="1632322"/>
            <a:ext cx="6735086" cy="378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/>
            </a:pPr>
            <a:r>
              <a:t>The figures you just saw violate parts of the golden rule:</a:t>
            </a:r>
          </a:p>
          <a:p>
            <a:pPr>
              <a:defRPr sz="2800"/>
            </a:pPr>
          </a:p>
          <a:p>
            <a:pPr algn="ctr">
              <a:defRPr sz="2800"/>
            </a:pPr>
            <a:r>
              <a:t>	 Give readers the </a:t>
            </a:r>
            <a:r>
              <a:rPr b="1">
                <a:solidFill>
                  <a:srgbClr val="C00000"/>
                </a:solidFill>
              </a:rPr>
              <a:t>most information* capable of being digested </a:t>
            </a:r>
            <a:r>
              <a:t>in the </a:t>
            </a:r>
            <a:r>
              <a:rPr b="1">
                <a:solidFill>
                  <a:srgbClr val="C00000"/>
                </a:solidFill>
              </a:rPr>
              <a:t>shortest time </a:t>
            </a:r>
            <a:r>
              <a:t>with the </a:t>
            </a:r>
            <a:r>
              <a:rPr b="1">
                <a:solidFill>
                  <a:srgbClr val="C00000"/>
                </a:solidFill>
              </a:rPr>
              <a:t>least ink </a:t>
            </a:r>
            <a:r>
              <a:t>in the </a:t>
            </a:r>
            <a:r>
              <a:rPr b="1">
                <a:solidFill>
                  <a:srgbClr val="C00000"/>
                </a:solidFill>
              </a:rPr>
              <a:t>smallest space </a:t>
            </a:r>
            <a:r>
              <a:t>possible.</a:t>
            </a:r>
          </a:p>
          <a:p>
            <a:pPr algn="ctr">
              <a:defRPr sz="2400"/>
            </a:pPr>
            <a:r>
              <a:t>*incorrect information doesn’t count. </a:t>
            </a:r>
          </a:p>
          <a:p>
            <a:pPr algn="ctr">
              <a:defRPr sz="2400"/>
            </a:pPr>
            <a:r>
              <a:t>Do not mislead!</a:t>
            </a:r>
          </a:p>
        </p:txBody>
      </p:sp>
      <p:sp>
        <p:nvSpPr>
          <p:cNvPr id="197" name="Rectangle 3"/>
          <p:cNvSpPr txBox="1"/>
          <p:nvPr/>
        </p:nvSpPr>
        <p:spPr>
          <a:xfrm>
            <a:off x="191024" y="128320"/>
            <a:ext cx="3557004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pPr/>
            <a:r>
              <a:t>Making effective figures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itle 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Assignments for today and for home</a:t>
            </a:r>
          </a:p>
        </p:txBody>
      </p:sp>
      <p:sp>
        <p:nvSpPr>
          <p:cNvPr id="200" name="Content Placeholder 2"/>
          <p:cNvSpPr txBox="1"/>
          <p:nvPr>
            <p:ph type="body" idx="1"/>
          </p:nvPr>
        </p:nvSpPr>
        <p:spPr>
          <a:xfrm>
            <a:off x="308113" y="1958008"/>
            <a:ext cx="8716617" cy="4691761"/>
          </a:xfrm>
          <a:prstGeom prst="rect">
            <a:avLst/>
          </a:prstGeom>
        </p:spPr>
        <p:txBody>
          <a:bodyPr/>
          <a:lstStyle/>
          <a:p>
            <a:pPr marL="0" indent="0" defTabSz="832104">
              <a:spcBef>
                <a:spcPts val="900"/>
              </a:spcBef>
              <a:buSzTx/>
              <a:buNone/>
              <a:defRPr b="1" sz="2366"/>
            </a:pPr>
            <a:r>
              <a:t>In class: 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Work on some data to get used to making graphs in Excel / R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Draw out ideas for figures and tables for your own data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Make figures and tables for your own data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Work on peer reviews</a:t>
            </a:r>
          </a:p>
          <a:p>
            <a:pPr lvl="1" marL="0" indent="416052" defTabSz="832104">
              <a:spcBef>
                <a:spcPts val="400"/>
              </a:spcBef>
              <a:buSzTx/>
              <a:buNone/>
              <a:defRPr sz="2366"/>
            </a:pPr>
          </a:p>
          <a:p>
            <a:pPr marL="0" indent="0" defTabSz="832104">
              <a:spcBef>
                <a:spcPts val="900"/>
              </a:spcBef>
              <a:buSzTx/>
              <a:buNone/>
              <a:defRPr b="1" sz="2366"/>
            </a:pPr>
            <a:r>
              <a:t>At home: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Read “The Results Section” on Canvas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Continue data analysis/graphics on your own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Complete </a:t>
            </a:r>
            <a:r>
              <a:rPr b="1"/>
              <a:t>peer reviews </a:t>
            </a:r>
            <a:r>
              <a:t>by end-of-day </a:t>
            </a:r>
            <a:r>
              <a:rPr b="1"/>
              <a:t>Wednesday</a:t>
            </a:r>
          </a:p>
          <a:p>
            <a:pPr lvl="1" marL="884110" indent="-468058" defTabSz="832104">
              <a:spcBef>
                <a:spcPts val="400"/>
              </a:spcBef>
              <a:buFontTx/>
              <a:buAutoNum type="arabicPeriod" startAt="1"/>
              <a:defRPr sz="2184"/>
            </a:pPr>
            <a:r>
              <a:t>Continue working on your Intro+Methods (</a:t>
            </a:r>
            <a:r>
              <a:rPr b="1"/>
              <a:t>Methods due Friday</a:t>
            </a:r>
            <a:r>
              <a:t>)</a:t>
            </a:r>
            <a:endParaRPr b="1" sz="2366"/>
          </a:p>
          <a:p>
            <a:pPr marL="0" indent="0" defTabSz="832104">
              <a:spcBef>
                <a:spcPts val="900"/>
              </a:spcBef>
              <a:buSzTx/>
              <a:buNone/>
              <a:defRPr sz="2366"/>
            </a:pPr>
            <a:r>
              <a:t>Next time in class, we will cover Tables and Captions.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
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347" r:id="rId3"/>
    <p:sldId id="259" r:id="rId4"/>
    <p:sldId id="350" r:id="rId5"/>
    <p:sldId id="272" r:id="rId6"/>
    <p:sldId id="274" r:id="rId7"/>
    <p:sldId id="289" r:id="rId8"/>
    <p:sldId id="290" r:id="rId9"/>
    <p:sldId id="275" r:id="rId10"/>
    <p:sldId id="279" r:id="rId11"/>
    <p:sldId id="276" r:id="rId12"/>
    <p:sldId id="277" r:id="rId13"/>
    <p:sldId id="292" r:id="rId14"/>
    <p:sldId id="359" r:id="rId15"/>
    <p:sldId id="360" r:id="rId16"/>
    <p:sldId id="338" r:id="rId17"/>
    <p:sldId id="363" r:id="rId18"/>
    <p:sldId id="349" r:id="rId19"/>
    <p:sldId id="348" r:id="rId20"/>
    <p:sldId id="364" r:id="rId21"/>
    <p:sldId id="365" r:id="rId22"/>
    <p:sldId id="366" r:id="rId23"/>
    <p:sldId id="367" r:id="rId24"/>
    <p:sldId id="368" r:id="rId25"/>
    <p:sldId id="313" r:id="rId26"/>
    <p:sldId id="341" r:id="rId27"/>
    <p:sldId id="342" r:id="rId28"/>
    <p:sldId id="343" r:id="rId29"/>
    <p:sldId id="344" r:id="rId30"/>
    <p:sldId id="345" r:id="rId31"/>
    <p:sldId id="30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8"/>
    <p:restoredTop sz="94694"/>
  </p:normalViewPr>
  <p:slideViewPr>
    <p:cSldViewPr snapToGrid="0" snapToObjects="1">
      <p:cViewPr varScale="1">
        <p:scale>
          <a:sx n="128" d="100"/>
          <a:sy n="128" d="100"/>
        </p:scale>
        <p:origin x="1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88985A-88BF-004F-BA12-638866C13F29}" type="datetimeFigureOut">
              <a:rPr lang="en-US" smtClean="0"/>
              <a:t>2/6/25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67B6A-E34B-7A46-B131-6D45C9BB2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8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49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7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7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79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5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2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9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3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3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2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7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CF10A-D855-8646-8EA4-D529A085C181}" type="datetimeFigureOut">
              <a:rPr lang="en-US" smtClean="0"/>
              <a:t>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95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8F12-F311-C14D-A015-38A5E9739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67424"/>
            <a:ext cx="7772400" cy="1128562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rgbClr val="C00000"/>
                </a:solidFill>
              </a:rPr>
            </a:br>
            <a:br>
              <a:rPr lang="en-US" dirty="0">
                <a:solidFill>
                  <a:srgbClr val="C00000"/>
                </a:solidFill>
              </a:rPr>
            </a:br>
            <a:r>
              <a:rPr lang="en-US" sz="4000" dirty="0">
                <a:solidFill>
                  <a:srgbClr val="C00000"/>
                </a:solidFill>
              </a:rPr>
              <a:t>The Results section: 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F786A6-0F23-D54A-BF35-6DF3DADBA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268386"/>
            <a:ext cx="6858000" cy="1128562"/>
          </a:xfrm>
        </p:spPr>
        <p:txBody>
          <a:bodyPr/>
          <a:lstStyle/>
          <a:p>
            <a:r>
              <a:rPr lang="en-US" dirty="0"/>
              <a:t>Fish 290</a:t>
            </a:r>
          </a:p>
          <a:p>
            <a:r>
              <a:rPr lang="en-US" dirty="0"/>
              <a:t>Thursday February 6</a:t>
            </a:r>
            <a:r>
              <a:rPr lang="en-US" baseline="30000" dirty="0"/>
              <a:t>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055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A7EE-7EA0-2A4D-A4B4-B125A6CB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Posters are coming up!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04D04-9DCD-D84B-8CD7-87C70DBB7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33067" cy="4504837"/>
          </a:xfrm>
        </p:spPr>
        <p:txBody>
          <a:bodyPr>
            <a:normAutofit/>
          </a:bodyPr>
          <a:lstStyle/>
          <a:p>
            <a:r>
              <a:rPr lang="en-US" dirty="0"/>
              <a:t>Poster session is Thursday Feb. 20</a:t>
            </a:r>
            <a:r>
              <a:rPr lang="en-US" baseline="30000" dirty="0"/>
              <a:t>h </a:t>
            </a:r>
            <a:r>
              <a:rPr lang="en-US" dirty="0"/>
              <a:t>(two weeks from today). </a:t>
            </a:r>
          </a:p>
          <a:p>
            <a:r>
              <a:rPr lang="en-US" dirty="0"/>
              <a:t>Attendance in class will be mandatory.</a:t>
            </a:r>
          </a:p>
          <a:p>
            <a:r>
              <a:rPr lang="en-US" dirty="0"/>
              <a:t>Your poster is worth 20% of your final grade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 can you prepare now?</a:t>
            </a:r>
          </a:p>
          <a:p>
            <a:pPr lvl="1"/>
            <a:r>
              <a:rPr lang="en-US" dirty="0"/>
              <a:t>Continue re-reading your chosen paper and get to know it well</a:t>
            </a:r>
          </a:p>
          <a:p>
            <a:pPr lvl="1"/>
            <a:r>
              <a:rPr lang="en-US" dirty="0"/>
              <a:t>Observe the posters from actual studies (see Canvas) and past student posters.  What works, what doesn’t?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306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Presentation of Results: </a:t>
            </a:r>
          </a:p>
          <a:p>
            <a:r>
              <a:rPr lang="en-US" sz="3600" dirty="0">
                <a:solidFill>
                  <a:schemeClr val="bg1"/>
                </a:solidFill>
              </a:rPr>
              <a:t>Three complementary approaches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3200" dirty="0"/>
              <a:t>Today’s agenda:</a:t>
            </a:r>
          </a:p>
          <a:p>
            <a:r>
              <a:rPr lang="en-US" sz="3200" dirty="0"/>
              <a:t>1.  Review of statistics in excel</a:t>
            </a:r>
          </a:p>
          <a:p>
            <a:pPr marL="514350" indent="-514350">
              <a:buAutoNum type="arabicPeriod" startAt="2"/>
            </a:pPr>
            <a:r>
              <a:rPr lang="en-US" sz="3200" dirty="0"/>
              <a:t>Reporting results in text</a:t>
            </a:r>
          </a:p>
          <a:p>
            <a:pPr marL="514350" indent="-514350">
              <a:buAutoNum type="arabicPeriod" startAt="2"/>
            </a:pPr>
            <a:r>
              <a:rPr lang="en-US" sz="3200" dirty="0"/>
              <a:t>Basics of tables</a:t>
            </a:r>
          </a:p>
          <a:p>
            <a:pPr marL="514350" indent="-514350">
              <a:buAutoNum type="arabicPeriod" startAt="2"/>
            </a:pPr>
            <a:endParaRPr lang="en-US" sz="3200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55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E23066-F084-234B-B861-1CC9609390BC}"/>
              </a:ext>
            </a:extLst>
          </p:cNvPr>
          <p:cNvSpPr txBox="1"/>
          <p:nvPr/>
        </p:nvSpPr>
        <p:spPr>
          <a:xfrm>
            <a:off x="1400536" y="1689902"/>
            <a:ext cx="63429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Let’s detour for a moment to talk about statistics.</a:t>
            </a:r>
          </a:p>
          <a:p>
            <a:pPr algn="ctr"/>
            <a:endParaRPr lang="en-US" sz="3200" dirty="0">
              <a:solidFill>
                <a:srgbClr val="C00000"/>
              </a:solidFill>
            </a:endParaRPr>
          </a:p>
          <a:p>
            <a:pPr algn="ctr"/>
            <a:endParaRPr lang="en-US" sz="3200" dirty="0">
              <a:solidFill>
                <a:srgbClr val="C00000"/>
              </a:solidFill>
            </a:endParaRPr>
          </a:p>
          <a:p>
            <a:pPr algn="ctr"/>
            <a:r>
              <a:rPr lang="en-US" sz="3200" dirty="0">
                <a:solidFill>
                  <a:srgbClr val="C00000"/>
                </a:solidFill>
              </a:rPr>
              <a:t>What is the purpose of using a statistical test?</a:t>
            </a:r>
          </a:p>
        </p:txBody>
      </p:sp>
    </p:spTree>
    <p:extLst>
      <p:ext uri="{BB962C8B-B14F-4D97-AF65-F5344CB8AC3E}">
        <p14:creationId xmlns:p14="http://schemas.microsoft.com/office/powerpoint/2010/main" val="3361263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44482"/>
            <a:ext cx="701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Basics of statistics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EC68F8-8ABE-B548-A422-B6EBB9C061DF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363453"/>
            <a:ext cx="8382000" cy="61648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We collect data to test or “falsify” a null hypothesis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E8546F9F-B0B0-AF4E-915E-F4EE6A4F4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266" y="2231553"/>
            <a:ext cx="829181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Null hypothesis: 		Male and female fish are of similar length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Approach: 				Measure lengths of males and females  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Data: 					Length measurements by sex 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Attributes: 			Mean, standard deviation, sample size 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Statistical test:			Two-sample t-test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Output:				Probability of obtaining the data 									distribution if the null hypothesis were true</a:t>
            </a:r>
          </a:p>
        </p:txBody>
      </p:sp>
    </p:spTree>
    <p:extLst>
      <p:ext uri="{BB962C8B-B14F-4D97-AF65-F5344CB8AC3E}">
        <p14:creationId xmlns:p14="http://schemas.microsoft.com/office/powerpoint/2010/main" val="1344057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314" y="1238885"/>
            <a:ext cx="8057886" cy="4857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971800" y="5943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Length (cm)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-1145233" y="3121968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Frequency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28599"/>
            <a:ext cx="6477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Male mean = 	6.5, SD = 0.94, n = 60</a:t>
            </a:r>
          </a:p>
          <a:p>
            <a:r>
              <a:rPr lang="en-US" sz="2000" dirty="0"/>
              <a:t>Female mean = 	7.5, SD = 0.94, n = 60</a:t>
            </a:r>
          </a:p>
          <a:p>
            <a:r>
              <a:rPr lang="en-US" sz="2000" dirty="0"/>
              <a:t>		t = 5.57, </a:t>
            </a:r>
            <a:r>
              <a:rPr lang="en-US" sz="2000" dirty="0" err="1"/>
              <a:t>df</a:t>
            </a:r>
            <a:r>
              <a:rPr lang="en-US" sz="2000" dirty="0"/>
              <a:t> = 118, P &lt; 0.001</a:t>
            </a:r>
          </a:p>
        </p:txBody>
      </p:sp>
    </p:spTree>
    <p:extLst>
      <p:ext uri="{BB962C8B-B14F-4D97-AF65-F5344CB8AC3E}">
        <p14:creationId xmlns:p14="http://schemas.microsoft.com/office/powerpoint/2010/main" val="3654828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19200" y="1371600"/>
            <a:ext cx="6477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Male mean     = 	6.5 cm, SD = 0.94, n = 60</a:t>
            </a:r>
          </a:p>
          <a:p>
            <a:r>
              <a:rPr lang="en-US" sz="2000" dirty="0"/>
              <a:t>Female mean = 	7.5 cm, SD = 0.94, n = 60</a:t>
            </a:r>
          </a:p>
          <a:p>
            <a:r>
              <a:rPr lang="en-US" sz="2000" dirty="0"/>
              <a:t>		t = 5.57, </a:t>
            </a:r>
            <a:r>
              <a:rPr lang="en-US" sz="2000" dirty="0" err="1"/>
              <a:t>df</a:t>
            </a:r>
            <a:r>
              <a:rPr lang="en-US" sz="2000" dirty="0"/>
              <a:t> = 118, P &lt; 0.001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99" y="2888039"/>
            <a:ext cx="7924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SD = </a:t>
            </a:r>
            <a:r>
              <a:rPr lang="en-US" sz="2200" dirty="0"/>
              <a:t>standard deviation, a measure of variation around the mean; the bigger the number, the more variation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n =</a:t>
            </a:r>
            <a:r>
              <a:rPr lang="en-US" sz="2200" dirty="0"/>
              <a:t> sample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t =</a:t>
            </a:r>
            <a:r>
              <a:rPr lang="en-US" sz="2200" dirty="0"/>
              <a:t> the test statistic, this is calculated from the data and compared to a null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df =</a:t>
            </a:r>
            <a:r>
              <a:rPr lang="en-US" sz="2200" dirty="0"/>
              <a:t> degrees of freedom (a function of sample size: (n(males) – 1) + (n(females) -1)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P =</a:t>
            </a:r>
            <a:r>
              <a:rPr lang="en-US" sz="2200" dirty="0"/>
              <a:t> the probability of obtaining these data if the null hypothesis were true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199" y="2819400"/>
            <a:ext cx="8229601" cy="3276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14400" y="304800"/>
            <a:ext cx="739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How do we read this?</a:t>
            </a:r>
          </a:p>
        </p:txBody>
      </p:sp>
    </p:spTree>
    <p:extLst>
      <p:ext uri="{BB962C8B-B14F-4D97-AF65-F5344CB8AC3E}">
        <p14:creationId xmlns:p14="http://schemas.microsoft.com/office/powerpoint/2010/main" val="2068930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8289" y="1527346"/>
            <a:ext cx="830742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Here we can be confident that the lengths of males and females differ. That is, there is a &lt;0.1% chance that their length distributions were drawn from the same pool.</a:t>
            </a:r>
          </a:p>
          <a:p>
            <a:endParaRPr lang="en-US" sz="2600" dirty="0"/>
          </a:p>
          <a:p>
            <a:r>
              <a:rPr lang="en-US" sz="2600" dirty="0"/>
              <a:t>Remember that this assumes that the fish were collected in a random (non-biased manner), and so the sampling methods are important.</a:t>
            </a:r>
          </a:p>
          <a:p>
            <a:endParaRPr lang="en-US" sz="2600" dirty="0"/>
          </a:p>
          <a:p>
            <a:r>
              <a:rPr lang="en-US" sz="2600" dirty="0"/>
              <a:t>How would our confidence change if the mean values were the same, </a:t>
            </a:r>
            <a:r>
              <a:rPr lang="en-US" sz="2600" b="1" dirty="0"/>
              <a:t>but the data were more variable?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270076"/>
            <a:ext cx="739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What does it mean?</a:t>
            </a:r>
          </a:p>
        </p:txBody>
      </p:sp>
    </p:spTree>
    <p:extLst>
      <p:ext uri="{BB962C8B-B14F-4D97-AF65-F5344CB8AC3E}">
        <p14:creationId xmlns:p14="http://schemas.microsoft.com/office/powerpoint/2010/main" val="3494409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1800" y="5943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Length (cm)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-1145233" y="3121968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Frequency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567" y="1600200"/>
            <a:ext cx="7226433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600200" y="533400"/>
            <a:ext cx="6477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Male mean = 		6.5, </a:t>
            </a:r>
            <a:r>
              <a:rPr lang="en-US" sz="2400" b="1" dirty="0">
                <a:solidFill>
                  <a:srgbClr val="FF0000"/>
                </a:solidFill>
              </a:rPr>
              <a:t>SD = 2.73</a:t>
            </a:r>
            <a:r>
              <a:rPr lang="en-US" sz="2400" dirty="0"/>
              <a:t>, n = 60</a:t>
            </a:r>
          </a:p>
          <a:p>
            <a:r>
              <a:rPr lang="en-US" sz="2400" dirty="0"/>
              <a:t>Female mean = 	7.5, </a:t>
            </a:r>
            <a:r>
              <a:rPr lang="en-US" sz="2400" b="1" dirty="0">
                <a:solidFill>
                  <a:srgbClr val="FF0000"/>
                </a:solidFill>
              </a:rPr>
              <a:t>SD = 2.73</a:t>
            </a:r>
            <a:r>
              <a:rPr lang="en-US" sz="2400" dirty="0"/>
              <a:t>, n = 60</a:t>
            </a:r>
          </a:p>
          <a:p>
            <a:r>
              <a:rPr lang="en-US" sz="2400" dirty="0"/>
              <a:t>			</a:t>
            </a:r>
            <a:r>
              <a:rPr lang="en-US" sz="2400" b="1" dirty="0"/>
              <a:t>t = 2.00, </a:t>
            </a:r>
            <a:r>
              <a:rPr lang="en-US" sz="2400" b="1" dirty="0" err="1"/>
              <a:t>df</a:t>
            </a:r>
            <a:r>
              <a:rPr lang="en-US" sz="2400" b="1" dirty="0"/>
              <a:t> = 118, P = 0.02</a:t>
            </a:r>
          </a:p>
        </p:txBody>
      </p:sp>
    </p:spTree>
    <p:extLst>
      <p:ext uri="{BB962C8B-B14F-4D97-AF65-F5344CB8AC3E}">
        <p14:creationId xmlns:p14="http://schemas.microsoft.com/office/powerpoint/2010/main" val="1394948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9536" y="1481846"/>
            <a:ext cx="7620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this case we can still be confident that the lengths of males and females differ. The statistical test indicates that there is a &lt;2% chance that their distributions were drawn from the same pool.</a:t>
            </a:r>
          </a:p>
          <a:p>
            <a:endParaRPr lang="en-US" sz="2800" dirty="0"/>
          </a:p>
          <a:p>
            <a:r>
              <a:rPr lang="en-US" sz="2800" dirty="0"/>
              <a:t>Suppose </a:t>
            </a:r>
            <a:r>
              <a:rPr lang="en-US" sz="2800" b="1" dirty="0"/>
              <a:t>we increase the variation in the data even more</a:t>
            </a:r>
            <a:r>
              <a:rPr lang="en-US" sz="2800" dirty="0"/>
              <a:t> but keep the means the same? </a:t>
            </a:r>
          </a:p>
        </p:txBody>
      </p:sp>
    </p:spTree>
    <p:extLst>
      <p:ext uri="{BB962C8B-B14F-4D97-AF65-F5344CB8AC3E}">
        <p14:creationId xmlns:p14="http://schemas.microsoft.com/office/powerpoint/2010/main" val="3718246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1800" y="59436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Length (cm)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-1145233" y="3121968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33400"/>
            <a:ext cx="6477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Male mean = 		6.5, </a:t>
            </a:r>
            <a:r>
              <a:rPr lang="en-US" sz="2400" b="1" dirty="0">
                <a:solidFill>
                  <a:srgbClr val="FF0000"/>
                </a:solidFill>
              </a:rPr>
              <a:t>SD = 4.19</a:t>
            </a:r>
            <a:r>
              <a:rPr lang="en-US" sz="2400" dirty="0"/>
              <a:t>, n = 60</a:t>
            </a:r>
          </a:p>
          <a:p>
            <a:r>
              <a:rPr lang="en-US" sz="2400" dirty="0"/>
              <a:t>Female mean = 	7.5, </a:t>
            </a:r>
            <a:r>
              <a:rPr lang="en-US" sz="2400" b="1" dirty="0">
                <a:solidFill>
                  <a:srgbClr val="FF0000"/>
                </a:solidFill>
              </a:rPr>
              <a:t>SD = 4.19</a:t>
            </a:r>
            <a:r>
              <a:rPr lang="en-US" sz="2400" dirty="0"/>
              <a:t>, n = 60</a:t>
            </a:r>
          </a:p>
          <a:p>
            <a:r>
              <a:rPr lang="en-US" sz="2400" b="1" dirty="0"/>
              <a:t>			t = 1.31, </a:t>
            </a:r>
            <a:r>
              <a:rPr lang="en-US" sz="2400" b="1" dirty="0" err="1"/>
              <a:t>df</a:t>
            </a:r>
            <a:r>
              <a:rPr lang="en-US" sz="2400" b="1" dirty="0"/>
              <a:t> = 118, P = 0.10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52600"/>
            <a:ext cx="69850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8756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600200" y="2685871"/>
            <a:ext cx="6477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Male mean = 		6.5, SD = 4.19, </a:t>
            </a:r>
            <a:r>
              <a:rPr lang="en-US" sz="2400" dirty="0">
                <a:solidFill>
                  <a:srgbClr val="FF0000"/>
                </a:solidFill>
              </a:rPr>
              <a:t>n = 60</a:t>
            </a:r>
          </a:p>
          <a:p>
            <a:r>
              <a:rPr lang="en-US" sz="2400" dirty="0"/>
              <a:t>Female mean = 	7.5, SD = 4.19, </a:t>
            </a:r>
            <a:r>
              <a:rPr lang="en-US" sz="2400" dirty="0">
                <a:solidFill>
                  <a:srgbClr val="FF0000"/>
                </a:solidFill>
              </a:rPr>
              <a:t>n = 60</a:t>
            </a:r>
          </a:p>
          <a:p>
            <a:r>
              <a:rPr lang="en-US" sz="2400" dirty="0"/>
              <a:t>			</a:t>
            </a:r>
            <a:r>
              <a:rPr lang="en-US" sz="2400" b="1" dirty="0"/>
              <a:t>t = 1.31, </a:t>
            </a:r>
            <a:r>
              <a:rPr lang="en-US" sz="2400" b="1" dirty="0" err="1"/>
              <a:t>df</a:t>
            </a:r>
            <a:r>
              <a:rPr lang="en-US" sz="2400" b="1" dirty="0"/>
              <a:t> = 118, P = 0.10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602902"/>
            <a:ext cx="63635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rgbClr val="7030A0"/>
              </a:solidFill>
            </a:endParaRPr>
          </a:p>
          <a:p>
            <a:r>
              <a:rPr lang="en-US" sz="2800" dirty="0"/>
              <a:t>Suppose we take the last data set and </a:t>
            </a:r>
            <a:r>
              <a:rPr lang="en-US" sz="2800" b="1" dirty="0"/>
              <a:t>double the sample size.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1600200" y="4362271"/>
            <a:ext cx="6477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Male mean = 		6.5, SD = 4.19, </a:t>
            </a:r>
            <a:r>
              <a:rPr lang="en-US" sz="2400" dirty="0">
                <a:solidFill>
                  <a:srgbClr val="FF0000"/>
                </a:solidFill>
              </a:rPr>
              <a:t>n = 120</a:t>
            </a:r>
          </a:p>
          <a:p>
            <a:r>
              <a:rPr lang="en-US" sz="2400" dirty="0"/>
              <a:t>Female mean = 	7.5, SD = 4.19, </a:t>
            </a:r>
            <a:r>
              <a:rPr lang="en-US" sz="2400" dirty="0">
                <a:solidFill>
                  <a:srgbClr val="FF0000"/>
                </a:solidFill>
              </a:rPr>
              <a:t>n = 120</a:t>
            </a:r>
          </a:p>
          <a:p>
            <a:r>
              <a:rPr lang="en-US" sz="2400" dirty="0"/>
              <a:t>			</a:t>
            </a:r>
            <a:r>
              <a:rPr lang="en-US" sz="2400" b="1" dirty="0"/>
              <a:t>t = 1.86, </a:t>
            </a:r>
            <a:r>
              <a:rPr lang="en-US" sz="2400" b="1" dirty="0" err="1"/>
              <a:t>df</a:t>
            </a:r>
            <a:r>
              <a:rPr lang="en-US" sz="2400" b="1" dirty="0"/>
              <a:t> = 238, P = 0.03</a:t>
            </a:r>
          </a:p>
        </p:txBody>
      </p:sp>
      <p:sp>
        <p:nvSpPr>
          <p:cNvPr id="2" name="Curved Right Arrow 1"/>
          <p:cNvSpPr/>
          <p:nvPr/>
        </p:nvSpPr>
        <p:spPr>
          <a:xfrm>
            <a:off x="304800" y="2971800"/>
            <a:ext cx="990600" cy="2057400"/>
          </a:xfrm>
          <a:prstGeom prst="curv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91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3400" y="1143000"/>
            <a:ext cx="8229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So, our ability to confidently detect a difference when there is one:</a:t>
            </a:r>
          </a:p>
          <a:p>
            <a:endParaRPr lang="en-US" sz="3200" dirty="0">
              <a:solidFill>
                <a:srgbClr val="FF0000"/>
              </a:solidFill>
            </a:endParaRPr>
          </a:p>
          <a:p>
            <a:pPr marL="514350" indent="-514350">
              <a:buAutoNum type="arabicParenR"/>
            </a:pPr>
            <a:r>
              <a:rPr lang="en-US" sz="3200" dirty="0"/>
              <a:t>Sample size: more is better</a:t>
            </a:r>
          </a:p>
          <a:p>
            <a:pPr marL="514350" indent="-514350">
              <a:buAutoNum type="arabicParenR"/>
            </a:pPr>
            <a:r>
              <a:rPr lang="en-US" sz="3200" dirty="0"/>
              <a:t>Difference between means: bigger is better</a:t>
            </a:r>
          </a:p>
          <a:p>
            <a:pPr marL="514350" indent="-514350">
              <a:buAutoNum type="arabicParenR"/>
            </a:pPr>
            <a:r>
              <a:rPr lang="en-US" sz="3200" dirty="0"/>
              <a:t>Variation: less is better</a:t>
            </a:r>
          </a:p>
        </p:txBody>
      </p:sp>
    </p:spTree>
    <p:extLst>
      <p:ext uri="{BB962C8B-B14F-4D97-AF65-F5344CB8AC3E}">
        <p14:creationId xmlns:p14="http://schemas.microsoft.com/office/powerpoint/2010/main" val="3475471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9C2D-7CF2-BE44-A8C2-301E0100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Thinking about your results...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637D5-8BB0-3540-B1FE-A15D80B44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343" y="1913175"/>
            <a:ext cx="7886700" cy="47989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Is statistical significance the same thing as biological importance?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3600" dirty="0"/>
              <a:t>NO!!!*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600" dirty="0"/>
              <a:t>Can have a sig. difference, but difference is small and/or biologically trivial</a:t>
            </a:r>
          </a:p>
          <a:p>
            <a:r>
              <a:rPr lang="en-US" sz="2600" dirty="0"/>
              <a:t>Can have a non-sig. difference with important biological implications</a:t>
            </a:r>
          </a:p>
          <a:p>
            <a:endParaRPr lang="en-US" sz="2600" dirty="0"/>
          </a:p>
          <a:p>
            <a:pPr marL="0" indent="0" algn="r">
              <a:buNone/>
            </a:pPr>
            <a:r>
              <a:rPr lang="en-US" sz="2400" dirty="0"/>
              <a:t>*You have a short reading on this idea this week!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95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AD433-448D-9544-932D-6A7722BD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Common types of statistical tests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66341A-23A5-3242-B68C-F5AAFD9D7578}"/>
              </a:ext>
            </a:extLst>
          </p:cNvPr>
          <p:cNvGraphicFramePr>
            <a:graphicFrameLocks noGrp="1"/>
          </p:cNvGraphicFramePr>
          <p:nvPr/>
        </p:nvGraphicFramePr>
        <p:xfrm>
          <a:off x="800911" y="1889056"/>
          <a:ext cx="7386535" cy="348331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276927">
                  <a:extLst>
                    <a:ext uri="{9D8B030D-6E8A-4147-A177-3AD203B41FA5}">
                      <a16:colId xmlns:a16="http://schemas.microsoft.com/office/drawing/2014/main" val="3929424072"/>
                    </a:ext>
                  </a:extLst>
                </a:gridCol>
                <a:gridCol w="3109608">
                  <a:extLst>
                    <a:ext uri="{9D8B030D-6E8A-4147-A177-3AD203B41FA5}">
                      <a16:colId xmlns:a16="http://schemas.microsoft.com/office/drawing/2014/main" val="1857555906"/>
                    </a:ext>
                  </a:extLst>
                </a:gridCol>
              </a:tblGrid>
              <a:tr h="612464">
                <a:tc>
                  <a:txBody>
                    <a:bodyPr/>
                    <a:lstStyle/>
                    <a:p>
                      <a:r>
                        <a:rPr lang="en-US" sz="2400" dirty="0"/>
                        <a:t>If you want to…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Use a…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73588"/>
                  </a:ext>
                </a:extLst>
              </a:tr>
              <a:tr h="612464">
                <a:tc>
                  <a:txBody>
                    <a:bodyPr/>
                    <a:lstStyle/>
                    <a:p>
                      <a:r>
                        <a:rPr lang="en-US" sz="2400" dirty="0"/>
                        <a:t>Compare proportions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Chi-squared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843613"/>
                  </a:ext>
                </a:extLst>
              </a:tr>
              <a:tr h="612464">
                <a:tc>
                  <a:txBody>
                    <a:bodyPr/>
                    <a:lstStyle/>
                    <a:p>
                      <a:r>
                        <a:rPr lang="en-US" sz="2400" dirty="0"/>
                        <a:t>Compare means of two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T-test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587978"/>
                  </a:ext>
                </a:extLst>
              </a:tr>
              <a:tr h="612464">
                <a:tc>
                  <a:txBody>
                    <a:bodyPr/>
                    <a:lstStyle/>
                    <a:p>
                      <a:r>
                        <a:rPr lang="en-US" sz="2400" dirty="0"/>
                        <a:t>Compare means of more than two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ANOVA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497203"/>
                  </a:ext>
                </a:extLst>
              </a:tr>
              <a:tr h="612464">
                <a:tc>
                  <a:txBody>
                    <a:bodyPr/>
                    <a:lstStyle/>
                    <a:p>
                      <a:r>
                        <a:rPr lang="en-US" sz="2400" dirty="0"/>
                        <a:t>Test dependence of two continuous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Linear regression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25248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FB9446-4931-E646-AE4B-4169CC1DE6C3}"/>
              </a:ext>
            </a:extLst>
          </p:cNvPr>
          <p:cNvSpPr txBox="1"/>
          <p:nvPr/>
        </p:nvSpPr>
        <p:spPr>
          <a:xfrm>
            <a:off x="731195" y="5723433"/>
            <a:ext cx="75259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/>
              <a:t>Lots of other statistical tests exist, but are more complex and beyond the scope of this class </a:t>
            </a:r>
          </a:p>
        </p:txBody>
      </p:sp>
    </p:spTree>
    <p:extLst>
      <p:ext uri="{BB962C8B-B14F-4D97-AF65-F5344CB8AC3E}">
        <p14:creationId xmlns:p14="http://schemas.microsoft.com/office/powerpoint/2010/main" val="2320235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38539"/>
            <a:ext cx="82448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Presentation of Results: </a:t>
            </a:r>
          </a:p>
          <a:p>
            <a:r>
              <a:rPr lang="en-US" sz="3600" dirty="0">
                <a:solidFill>
                  <a:srgbClr val="C00000"/>
                </a:solidFill>
              </a:rPr>
              <a:t>Three complementary approaches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rgbClr val="C00000"/>
                </a:solidFill>
              </a:rPr>
              <a:t>Text</a:t>
            </a:r>
            <a:r>
              <a:rPr lang="en-US" sz="2400" dirty="0">
                <a:solidFill>
                  <a:srgbClr val="C00000"/>
                </a:solidFill>
              </a:rPr>
              <a:t>: </a:t>
            </a:r>
            <a:r>
              <a:rPr lang="en-US" sz="2400" dirty="0"/>
              <a:t>We state in words what we found - what happened.</a:t>
            </a:r>
          </a:p>
          <a:p>
            <a:pPr marL="457200" indent="-457200">
              <a:buAutoNum type="arabicParenR"/>
            </a:pPr>
            <a:endParaRPr lang="en-US" sz="2400" dirty="0"/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rgbClr val="C00000"/>
                </a:solidFill>
              </a:rPr>
              <a:t>Figures</a:t>
            </a:r>
            <a:r>
              <a:rPr lang="en-US" sz="2400" dirty="0">
                <a:solidFill>
                  <a:srgbClr val="C00000"/>
                </a:solidFill>
              </a:rPr>
              <a:t>: </a:t>
            </a:r>
            <a:r>
              <a:rPr lang="en-US" sz="2400" dirty="0"/>
              <a:t>Graphs help visualize complex relationships and draw the reader’s attention to the most important findings.</a:t>
            </a:r>
          </a:p>
          <a:p>
            <a:pPr marL="457200" indent="-457200">
              <a:buAutoNum type="arabicParenR"/>
            </a:pPr>
            <a:endParaRPr lang="en-US" sz="2400" dirty="0"/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rgbClr val="C00000"/>
                </a:solidFill>
              </a:rPr>
              <a:t>Tables</a:t>
            </a:r>
            <a:r>
              <a:rPr lang="en-US" sz="2400" dirty="0">
                <a:solidFill>
                  <a:srgbClr val="C00000"/>
                </a:solidFill>
              </a:rPr>
              <a:t>: </a:t>
            </a:r>
            <a:r>
              <a:rPr lang="en-US" sz="2400" dirty="0"/>
              <a:t>Provide details on the results that are important</a:t>
            </a:r>
          </a:p>
          <a:p>
            <a:pPr marL="457200" indent="-457200">
              <a:buAutoNum type="arabicParenR"/>
            </a:pPr>
            <a:endParaRPr lang="en-US" sz="2400" dirty="0"/>
          </a:p>
          <a:p>
            <a:pPr marL="457200" indent="-457200">
              <a:buAutoNum type="arabicParenR"/>
            </a:pPr>
            <a:endParaRPr lang="en-US" sz="2400" dirty="0"/>
          </a:p>
          <a:p>
            <a:r>
              <a:rPr lang="en-US" dirty="0"/>
              <a:t>(also supplementary material/appendices)</a:t>
            </a:r>
          </a:p>
        </p:txBody>
      </p:sp>
    </p:spTree>
    <p:extLst>
      <p:ext uri="{BB962C8B-B14F-4D97-AF65-F5344CB8AC3E}">
        <p14:creationId xmlns:p14="http://schemas.microsoft.com/office/powerpoint/2010/main" val="3078238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B397952-BD92-C345-A4C7-D916E2CBDA4F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98783"/>
            <a:ext cx="852114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</a:rPr>
              <a:t>What </a:t>
            </a:r>
            <a:r>
              <a:rPr lang="en-US" sz="3600" b="1" i="1" dirty="0">
                <a:solidFill>
                  <a:srgbClr val="C00000"/>
                </a:solidFill>
              </a:rPr>
              <a:t>is </a:t>
            </a:r>
            <a:r>
              <a:rPr lang="en-US" sz="3600" b="1" dirty="0">
                <a:solidFill>
                  <a:srgbClr val="C00000"/>
                </a:solidFill>
              </a:rPr>
              <a:t>a result?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066A97-2020-7E44-9324-9DF4F78FC2A7}"/>
              </a:ext>
            </a:extLst>
          </p:cNvPr>
          <p:cNvSpPr txBox="1"/>
          <p:nvPr/>
        </p:nvSpPr>
        <p:spPr>
          <a:xfrm>
            <a:off x="408332" y="1434548"/>
            <a:ext cx="832733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b="1" dirty="0"/>
              <a:t>Raw data: </a:t>
            </a:r>
            <a:r>
              <a:rPr lang="en-US" sz="2600" dirty="0"/>
              <a:t>data collected from observations or experiments as described in the Methods</a:t>
            </a:r>
            <a:endParaRPr lang="en-US" sz="2600" i="1" dirty="0"/>
          </a:p>
          <a:p>
            <a:pPr marL="514350" indent="-514350">
              <a:buFont typeface="+mj-lt"/>
              <a:buAutoNum type="arabicPeriod"/>
            </a:pPr>
            <a:endParaRPr lang="en-US" sz="1500" b="1" i="1" dirty="0"/>
          </a:p>
          <a:p>
            <a:pPr marL="514350" indent="-514350">
              <a:buFont typeface="+mj-lt"/>
              <a:buAutoNum type="arabicPeriod"/>
            </a:pPr>
            <a:r>
              <a:rPr lang="en-US" sz="2600" b="1" dirty="0"/>
              <a:t>Summary statistics: </a:t>
            </a:r>
            <a:r>
              <a:rPr lang="en-US" sz="2600" dirty="0"/>
              <a:t>A number representing a summary of raw data, such as: sample size, mean, median, standard deviation</a:t>
            </a:r>
          </a:p>
          <a:p>
            <a:pPr marL="514350" indent="-514350">
              <a:buFont typeface="+mj-lt"/>
              <a:buAutoNum type="arabicPeriod"/>
            </a:pPr>
            <a:endParaRPr lang="en-US" sz="1500" dirty="0"/>
          </a:p>
          <a:p>
            <a:pPr marL="514350" indent="-514350">
              <a:buFont typeface="+mj-lt"/>
              <a:buAutoNum type="arabicPeriod"/>
            </a:pPr>
            <a:r>
              <a:rPr lang="en-US" sz="2600" b="1" dirty="0"/>
              <a:t>Patterns: </a:t>
            </a:r>
            <a:r>
              <a:rPr lang="en-US" sz="2600" dirty="0"/>
              <a:t>an increase or decrease, larger or smaller, etc.</a:t>
            </a:r>
          </a:p>
          <a:p>
            <a:pPr marL="514350" indent="-514350">
              <a:buFont typeface="+mj-lt"/>
              <a:buAutoNum type="arabicPeriod"/>
            </a:pPr>
            <a:endParaRPr lang="en-US" sz="1500" dirty="0"/>
          </a:p>
          <a:p>
            <a:pPr marL="514350" indent="-514350">
              <a:buFont typeface="+mj-lt"/>
              <a:buAutoNum type="arabicPeriod"/>
            </a:pPr>
            <a:r>
              <a:rPr lang="en-US" sz="2600" b="1" dirty="0"/>
              <a:t>Results of statistical tests: </a:t>
            </a:r>
            <a:r>
              <a:rPr lang="en-US" sz="2600" dirty="0"/>
              <a:t>test statistic, p-value, r</a:t>
            </a:r>
            <a:r>
              <a:rPr lang="en-US" sz="2600" baseline="30000" dirty="0"/>
              <a:t>2</a:t>
            </a:r>
            <a:r>
              <a:rPr lang="en-US" sz="2600" dirty="0"/>
              <a:t> value, etc.</a:t>
            </a:r>
          </a:p>
          <a:p>
            <a:endParaRPr lang="en-US" sz="1500" b="1" dirty="0"/>
          </a:p>
          <a:p>
            <a:r>
              <a:rPr lang="en-US" sz="2600" b="1" dirty="0"/>
              <a:t>What is reported in the Results section? </a:t>
            </a:r>
            <a:r>
              <a:rPr lang="en-US" sz="2600" dirty="0"/>
              <a:t>Usually the latter three items (why not raw data?)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300628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54F69089-1AB3-1C45-BB19-E718B28AE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0289"/>
            <a:ext cx="9144000" cy="43307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EB874D-909D-0442-A7D3-47868B0429C9}"/>
              </a:ext>
            </a:extLst>
          </p:cNvPr>
          <p:cNvSpPr txBox="1"/>
          <p:nvPr/>
        </p:nvSpPr>
        <p:spPr>
          <a:xfrm>
            <a:off x="2835965" y="176933"/>
            <a:ext cx="54598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Try to identify: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Raw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Summary statistics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00B050"/>
                </a:solidFill>
              </a:rPr>
              <a:t>Patterns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Results of statistical tests</a:t>
            </a:r>
          </a:p>
        </p:txBody>
      </p:sp>
    </p:spTree>
    <p:extLst>
      <p:ext uri="{BB962C8B-B14F-4D97-AF65-F5344CB8AC3E}">
        <p14:creationId xmlns:p14="http://schemas.microsoft.com/office/powerpoint/2010/main" val="2738145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54F69089-1AB3-1C45-BB19-E718B28AE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8706"/>
            <a:ext cx="9144000" cy="43307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EB874D-909D-0442-A7D3-47868B0429C9}"/>
              </a:ext>
            </a:extLst>
          </p:cNvPr>
          <p:cNvSpPr txBox="1"/>
          <p:nvPr/>
        </p:nvSpPr>
        <p:spPr>
          <a:xfrm>
            <a:off x="2835965" y="176933"/>
            <a:ext cx="54598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Try to identify: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C00000"/>
                </a:solidFill>
              </a:rPr>
              <a:t>Raw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Summary statistics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00B050"/>
                </a:solidFill>
              </a:rPr>
              <a:t>Patterns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Results of statistical tests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D2CAF0-6356-9E49-A4DA-68596D8B5574}"/>
              </a:ext>
            </a:extLst>
          </p:cNvPr>
          <p:cNvSpPr/>
          <p:nvPr/>
        </p:nvSpPr>
        <p:spPr>
          <a:xfrm>
            <a:off x="609600" y="2926080"/>
            <a:ext cx="1828800" cy="335280"/>
          </a:xfrm>
          <a:prstGeom prst="rect">
            <a:avLst/>
          </a:prstGeom>
          <a:solidFill>
            <a:srgbClr val="4472C4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7AC3A7-A01C-4041-995B-BE0F68C21726}"/>
              </a:ext>
            </a:extLst>
          </p:cNvPr>
          <p:cNvSpPr/>
          <p:nvPr/>
        </p:nvSpPr>
        <p:spPr>
          <a:xfrm>
            <a:off x="4561840" y="3334231"/>
            <a:ext cx="1828800" cy="335280"/>
          </a:xfrm>
          <a:prstGeom prst="rect">
            <a:avLst/>
          </a:prstGeom>
          <a:solidFill>
            <a:srgbClr val="4472C4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24BFCE-0BD3-C34E-B0A1-802EAABB4AB1}"/>
              </a:ext>
            </a:extLst>
          </p:cNvPr>
          <p:cNvSpPr/>
          <p:nvPr/>
        </p:nvSpPr>
        <p:spPr>
          <a:xfrm>
            <a:off x="3495040" y="2926080"/>
            <a:ext cx="1828800" cy="335280"/>
          </a:xfrm>
          <a:prstGeom prst="rect">
            <a:avLst/>
          </a:prstGeom>
          <a:solidFill>
            <a:srgbClr val="4472C4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B3875F-711C-254F-B198-BC7F3264680A}"/>
              </a:ext>
            </a:extLst>
          </p:cNvPr>
          <p:cNvSpPr/>
          <p:nvPr/>
        </p:nvSpPr>
        <p:spPr>
          <a:xfrm>
            <a:off x="6207760" y="2889644"/>
            <a:ext cx="2773680" cy="408151"/>
          </a:xfrm>
          <a:prstGeom prst="rect">
            <a:avLst/>
          </a:prstGeom>
          <a:solidFill>
            <a:srgbClr val="4472C4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5AEFF4-1037-4E47-9513-610FE962C788}"/>
              </a:ext>
            </a:extLst>
          </p:cNvPr>
          <p:cNvSpPr/>
          <p:nvPr/>
        </p:nvSpPr>
        <p:spPr>
          <a:xfrm>
            <a:off x="0" y="3633075"/>
            <a:ext cx="2540000" cy="400445"/>
          </a:xfrm>
          <a:prstGeom prst="rect">
            <a:avLst/>
          </a:prstGeom>
          <a:solidFill>
            <a:srgbClr val="4472C4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A0EB9D-5E0F-BA4B-BA93-55E4BFB8CB04}"/>
              </a:ext>
            </a:extLst>
          </p:cNvPr>
          <p:cNvSpPr/>
          <p:nvPr/>
        </p:nvSpPr>
        <p:spPr>
          <a:xfrm>
            <a:off x="6898640" y="4033521"/>
            <a:ext cx="2245360" cy="375920"/>
          </a:xfrm>
          <a:prstGeom prst="rect">
            <a:avLst/>
          </a:prstGeom>
          <a:solidFill>
            <a:srgbClr val="4472C4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B50AFA-B85B-8B48-A4F8-B037AB7D1529}"/>
              </a:ext>
            </a:extLst>
          </p:cNvPr>
          <p:cNvSpPr/>
          <p:nvPr/>
        </p:nvSpPr>
        <p:spPr>
          <a:xfrm>
            <a:off x="10160" y="3334231"/>
            <a:ext cx="1402080" cy="406751"/>
          </a:xfrm>
          <a:prstGeom prst="rect">
            <a:avLst/>
          </a:prstGeom>
          <a:solidFill>
            <a:srgbClr val="4472C4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D8B2F9-1E3C-2048-8C84-9FC2CF7AAE27}"/>
              </a:ext>
            </a:extLst>
          </p:cNvPr>
          <p:cNvSpPr/>
          <p:nvPr/>
        </p:nvSpPr>
        <p:spPr>
          <a:xfrm>
            <a:off x="5080000" y="4399281"/>
            <a:ext cx="3413760" cy="386079"/>
          </a:xfrm>
          <a:prstGeom prst="rect">
            <a:avLst/>
          </a:prstGeom>
          <a:solidFill>
            <a:srgbClr val="4472C4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20E28D-392E-734B-8FAE-032EC6BA5453}"/>
              </a:ext>
            </a:extLst>
          </p:cNvPr>
          <p:cNvSpPr/>
          <p:nvPr/>
        </p:nvSpPr>
        <p:spPr>
          <a:xfrm>
            <a:off x="6812280" y="5897006"/>
            <a:ext cx="2418080" cy="396239"/>
          </a:xfrm>
          <a:prstGeom prst="rect">
            <a:avLst/>
          </a:prstGeom>
          <a:solidFill>
            <a:srgbClr val="4472C4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FD557D-DB6A-3043-8B2F-54C0170A3DD0}"/>
              </a:ext>
            </a:extLst>
          </p:cNvPr>
          <p:cNvSpPr/>
          <p:nvPr/>
        </p:nvSpPr>
        <p:spPr>
          <a:xfrm>
            <a:off x="20320" y="6293245"/>
            <a:ext cx="1473200" cy="396239"/>
          </a:xfrm>
          <a:prstGeom prst="rect">
            <a:avLst/>
          </a:prstGeom>
          <a:solidFill>
            <a:srgbClr val="4472C4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9AACE7-F414-6145-98CB-885843235D16}"/>
              </a:ext>
            </a:extLst>
          </p:cNvPr>
          <p:cNvSpPr/>
          <p:nvPr/>
        </p:nvSpPr>
        <p:spPr>
          <a:xfrm>
            <a:off x="1229360" y="4773095"/>
            <a:ext cx="2692400" cy="367866"/>
          </a:xfrm>
          <a:prstGeom prst="rect">
            <a:avLst/>
          </a:prstGeom>
          <a:solidFill>
            <a:schemeClr val="accent4">
              <a:lumMod val="75000"/>
              <a:alpha val="2196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B9D9FA-7179-A340-B967-9C62EDDCE58F}"/>
              </a:ext>
            </a:extLst>
          </p:cNvPr>
          <p:cNvSpPr/>
          <p:nvPr/>
        </p:nvSpPr>
        <p:spPr>
          <a:xfrm>
            <a:off x="1493520" y="6307431"/>
            <a:ext cx="2692400" cy="367866"/>
          </a:xfrm>
          <a:prstGeom prst="rect">
            <a:avLst/>
          </a:prstGeom>
          <a:solidFill>
            <a:schemeClr val="accent4">
              <a:lumMod val="75000"/>
              <a:alpha val="21961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548657-7A8A-644F-82C6-D9B2D4805040}"/>
              </a:ext>
            </a:extLst>
          </p:cNvPr>
          <p:cNvSpPr/>
          <p:nvPr/>
        </p:nvSpPr>
        <p:spPr>
          <a:xfrm>
            <a:off x="5770880" y="3673711"/>
            <a:ext cx="3210560" cy="329331"/>
          </a:xfrm>
          <a:prstGeom prst="rect">
            <a:avLst/>
          </a:prstGeom>
          <a:solidFill>
            <a:srgbClr val="00B050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145C6C-16B7-5F44-80F9-5CBD9AD081F1}"/>
              </a:ext>
            </a:extLst>
          </p:cNvPr>
          <p:cNvSpPr/>
          <p:nvPr/>
        </p:nvSpPr>
        <p:spPr>
          <a:xfrm>
            <a:off x="20320" y="4095345"/>
            <a:ext cx="6791960" cy="289749"/>
          </a:xfrm>
          <a:prstGeom prst="rect">
            <a:avLst/>
          </a:prstGeom>
          <a:solidFill>
            <a:srgbClr val="00B050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2EB3A2-FBC3-A843-B1CE-F351224D1D82}"/>
              </a:ext>
            </a:extLst>
          </p:cNvPr>
          <p:cNvSpPr/>
          <p:nvPr/>
        </p:nvSpPr>
        <p:spPr>
          <a:xfrm>
            <a:off x="4785360" y="4833333"/>
            <a:ext cx="4196080" cy="348266"/>
          </a:xfrm>
          <a:prstGeom prst="rect">
            <a:avLst/>
          </a:prstGeom>
          <a:solidFill>
            <a:srgbClr val="00B050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BE593A-0254-8043-BCC6-2177A5C454EC}"/>
              </a:ext>
            </a:extLst>
          </p:cNvPr>
          <p:cNvSpPr/>
          <p:nvPr/>
        </p:nvSpPr>
        <p:spPr>
          <a:xfrm>
            <a:off x="213360" y="5199989"/>
            <a:ext cx="8686800" cy="361735"/>
          </a:xfrm>
          <a:prstGeom prst="rect">
            <a:avLst/>
          </a:prstGeom>
          <a:solidFill>
            <a:srgbClr val="00B050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456016-D71D-CB4E-BFE8-A86D1E04B9FF}"/>
              </a:ext>
            </a:extLst>
          </p:cNvPr>
          <p:cNvSpPr/>
          <p:nvPr/>
        </p:nvSpPr>
        <p:spPr>
          <a:xfrm>
            <a:off x="66040" y="5565749"/>
            <a:ext cx="8986520" cy="331257"/>
          </a:xfrm>
          <a:prstGeom prst="rect">
            <a:avLst/>
          </a:prstGeom>
          <a:solidFill>
            <a:srgbClr val="00B050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CD332B-C4CA-244B-937C-F65D010E82BE}"/>
              </a:ext>
            </a:extLst>
          </p:cNvPr>
          <p:cNvSpPr/>
          <p:nvPr/>
        </p:nvSpPr>
        <p:spPr>
          <a:xfrm>
            <a:off x="675640" y="5897005"/>
            <a:ext cx="3357880" cy="424611"/>
          </a:xfrm>
          <a:prstGeom prst="rect">
            <a:avLst/>
          </a:prstGeom>
          <a:solidFill>
            <a:srgbClr val="4472C4">
              <a:alpha val="21961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74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34353-288B-0B4E-8395-993027987941}"/>
              </a:ext>
            </a:extLst>
          </p:cNvPr>
          <p:cNvSpPr txBox="1"/>
          <p:nvPr/>
        </p:nvSpPr>
        <p:spPr>
          <a:xfrm>
            <a:off x="609599" y="228600"/>
            <a:ext cx="8390710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Presentation of Results: 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800" dirty="0"/>
              <a:t>Compare these sentences describing the same result:</a:t>
            </a:r>
          </a:p>
          <a:p>
            <a:endParaRPr lang="en-US" sz="2200" b="1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size of seeds is shown in Fig. 1.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We don’t know what the pattern is- text doesn’t stand alone!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Vague, not credible- needs details to back it up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 (Fig. 1).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Better, but comes at an opportunity cost- reader needs to find Fig. 1 and break from reading text (e.g. how much larger?)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mean weight of fertilized seeds was 1.8 g. The mean weight of unfertilized seeds was 0.9 g.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Asking reader to interpret for you- that is your job!!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 (mean 1.8 vs. 0.9 g, p=0.019; Fig. 1).</a:t>
            </a:r>
            <a:endParaRPr lang="en-US" sz="2400" dirty="0">
              <a:solidFill>
                <a:srgbClr val="C00000"/>
              </a:solidFill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Best: gives both the interpretation and the detail needed.</a:t>
            </a:r>
          </a:p>
        </p:txBody>
      </p:sp>
    </p:spTree>
    <p:extLst>
      <p:ext uri="{BB962C8B-B14F-4D97-AF65-F5344CB8AC3E}">
        <p14:creationId xmlns:p14="http://schemas.microsoft.com/office/powerpoint/2010/main" val="2470507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34353-288B-0B4E-8395-993027987941}"/>
              </a:ext>
            </a:extLst>
          </p:cNvPr>
          <p:cNvSpPr txBox="1"/>
          <p:nvPr/>
        </p:nvSpPr>
        <p:spPr>
          <a:xfrm>
            <a:off x="609599" y="228600"/>
            <a:ext cx="8390710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Presentation of Results: 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800" dirty="0"/>
              <a:t>Compare these sentences describing the same result:</a:t>
            </a:r>
          </a:p>
          <a:p>
            <a:endParaRPr lang="en-US" sz="2200" b="1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size of seeds is shown in Fig. 1.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We don’t know what the pattern is- text doesn’t stand alone!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Vague, not credible- needs details to back it up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 (Fig. 1).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Better, but comes at an opportunity cost- reader needs to find Fig. 1 and break from reading text (e.g. how much larger?)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mean weight of fertilized seeds was 1.8 g. The mean weight of unfertilized seeds was 0.9 g.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Asking reader to interpret for you- that is your job!!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 (mean 1.8 vs. 0.9 g, p=0.019; Fig. 1).</a:t>
            </a:r>
            <a:endParaRPr lang="en-US" sz="2400" dirty="0">
              <a:solidFill>
                <a:srgbClr val="C00000"/>
              </a:solidFill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Best: gives both the interpretation and the detail needed.</a:t>
            </a:r>
          </a:p>
        </p:txBody>
      </p:sp>
    </p:spTree>
    <p:extLst>
      <p:ext uri="{BB962C8B-B14F-4D97-AF65-F5344CB8AC3E}">
        <p14:creationId xmlns:p14="http://schemas.microsoft.com/office/powerpoint/2010/main" val="436678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34353-288B-0B4E-8395-993027987941}"/>
              </a:ext>
            </a:extLst>
          </p:cNvPr>
          <p:cNvSpPr txBox="1"/>
          <p:nvPr/>
        </p:nvSpPr>
        <p:spPr>
          <a:xfrm>
            <a:off x="609599" y="228600"/>
            <a:ext cx="8390710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Presentation of Results: 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800" dirty="0"/>
              <a:t>Compare these sentences describing the same result:</a:t>
            </a:r>
          </a:p>
          <a:p>
            <a:endParaRPr lang="en-US" sz="2200" b="1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size of seeds is shown in Fig. 1.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We don’t know what the pattern is- text doesn’t stand alone!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Vague, not credible- needs details to back it up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 (Fig. 1).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Better, but comes at an opportunity cost- reader needs to find Fig. 1 and break from reading text (e.g. how much larger?)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mean weight of fertilized seeds was 1.8 g. The mean weight of unfertilized seeds was 0.9 g.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Asking reader to interpret for you- that is your job!!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 (mean 1.8 vs. 0.9 g, p=0.019; Fig. 1).</a:t>
            </a:r>
            <a:endParaRPr lang="en-US" sz="2400" dirty="0">
              <a:solidFill>
                <a:srgbClr val="C00000"/>
              </a:solidFill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Best: gives both the interpretation and the detail needed.</a:t>
            </a:r>
          </a:p>
        </p:txBody>
      </p:sp>
    </p:spTree>
    <p:extLst>
      <p:ext uri="{BB962C8B-B14F-4D97-AF65-F5344CB8AC3E}">
        <p14:creationId xmlns:p14="http://schemas.microsoft.com/office/powerpoint/2010/main" val="3130313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34353-288B-0B4E-8395-993027987941}"/>
              </a:ext>
            </a:extLst>
          </p:cNvPr>
          <p:cNvSpPr txBox="1"/>
          <p:nvPr/>
        </p:nvSpPr>
        <p:spPr>
          <a:xfrm>
            <a:off x="609599" y="228600"/>
            <a:ext cx="8390710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Presentation of Results: 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800" dirty="0"/>
              <a:t>Compare these sentences describing the same result:</a:t>
            </a:r>
          </a:p>
          <a:p>
            <a:endParaRPr lang="en-US" sz="2200" b="1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size of seeds is shown in Fig. 1.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We don’t know what the pattern is- text doesn’t stand alone!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Vague, not credible- needs details to back it up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 (Fig. 1).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Better, but reader needs to find Fig. 1 and break from reading text (e.g. how much larger?)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mean weight of fertilized seeds was 1.8 g. The mean weight of unfertilized seeds was 0.9 g.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Asking reader to interpret for you- that is your job!!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 (mean 1.8 vs. 0.9 g, p=0.019; Fig. 1).</a:t>
            </a:r>
            <a:endParaRPr lang="en-US" sz="2400" dirty="0">
              <a:solidFill>
                <a:srgbClr val="C00000"/>
              </a:solidFill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Best: gives both the interpretation and the detail needed.</a:t>
            </a:r>
          </a:p>
        </p:txBody>
      </p:sp>
    </p:spTree>
    <p:extLst>
      <p:ext uri="{BB962C8B-B14F-4D97-AF65-F5344CB8AC3E}">
        <p14:creationId xmlns:p14="http://schemas.microsoft.com/office/powerpoint/2010/main" val="2948646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34353-288B-0B4E-8395-993027987941}"/>
              </a:ext>
            </a:extLst>
          </p:cNvPr>
          <p:cNvSpPr txBox="1"/>
          <p:nvPr/>
        </p:nvSpPr>
        <p:spPr>
          <a:xfrm>
            <a:off x="609599" y="228600"/>
            <a:ext cx="8390710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Presentation of Results: 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800" dirty="0"/>
              <a:t>Compare these sentences describing the same result:</a:t>
            </a:r>
          </a:p>
          <a:p>
            <a:endParaRPr lang="en-US" sz="2200" b="1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size of seeds is shown in Fig. 1.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We don’t know what the pattern is- text doesn’t stand alone!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Vague, not credible- needs details to back it up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 (Fig. 1).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Better, but reader needs to find Fig. 1 and break from reading text (e.g. how much larger?)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mean weight of fertilized seeds was 1.8 g. The mean weight of unfertilized seeds was 0.9 g.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Asking reader to interpret for you- that is your job!!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 (mean 1.8 vs. 0.9 g, p=0.019; Table 3; Fig. 1).</a:t>
            </a:r>
            <a:endParaRPr lang="en-US" sz="2400" dirty="0">
              <a:solidFill>
                <a:srgbClr val="C00000"/>
              </a:solidFill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Best: gives both the interpretation and the detail needed.</a:t>
            </a:r>
          </a:p>
        </p:txBody>
      </p:sp>
    </p:spTree>
    <p:extLst>
      <p:ext uri="{BB962C8B-B14F-4D97-AF65-F5344CB8AC3E}">
        <p14:creationId xmlns:p14="http://schemas.microsoft.com/office/powerpoint/2010/main" val="2823566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34353-288B-0B4E-8395-993027987941}"/>
              </a:ext>
            </a:extLst>
          </p:cNvPr>
          <p:cNvSpPr txBox="1"/>
          <p:nvPr/>
        </p:nvSpPr>
        <p:spPr>
          <a:xfrm>
            <a:off x="609599" y="228600"/>
            <a:ext cx="8390710" cy="658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Presentation of Results: 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800" dirty="0"/>
              <a:t>Compare these sentences describing the same result:</a:t>
            </a:r>
          </a:p>
          <a:p>
            <a:endParaRPr lang="en-US" sz="2200" b="1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size of seeds is shown in Fig. 1.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We don’t know what the pattern is- text doesn’t stand alone!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Vague, not credible- needs details to back it up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Fertilized seeds were larger than unfertilized seeds (Fig. 1).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Better, but comes at an opportunity cost- reader needs to find Fig. 1 and break from reading text (e.g. how much larger?)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mean weight of fertilized seeds was 1.8 g. The mean weight of unfertilized seeds was 0.9 g.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Asking reader to interpret for you- that is your job!!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Fertilized seeds were larger than unfertilized seeds </a:t>
            </a:r>
            <a:r>
              <a:rPr lang="en-US" sz="2400" dirty="0"/>
              <a:t>(</a:t>
            </a: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mean 1.8 vs. 0.9 g,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p=0.019</a:t>
            </a:r>
            <a:r>
              <a:rPr lang="en-US" sz="2400" dirty="0"/>
              <a:t>; Table 3;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Fig. 1</a:t>
            </a:r>
            <a:r>
              <a:rPr lang="en-US" sz="2400" dirty="0"/>
              <a:t>).</a:t>
            </a:r>
            <a:endParaRPr lang="en-US" sz="2400" dirty="0">
              <a:solidFill>
                <a:srgbClr val="C00000"/>
              </a:solidFill>
            </a:endParaRP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Best: gives both the interpretation and the detail needed.</a:t>
            </a:r>
          </a:p>
        </p:txBody>
      </p:sp>
    </p:spTree>
    <p:extLst>
      <p:ext uri="{BB962C8B-B14F-4D97-AF65-F5344CB8AC3E}">
        <p14:creationId xmlns:p14="http://schemas.microsoft.com/office/powerpoint/2010/main" val="1437132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Making effective tables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400" dirty="0"/>
              <a:t>Tables are appropriate when the precision of a value matters (like a p-value) </a:t>
            </a:r>
            <a:r>
              <a:rPr lang="en-US" sz="2400" i="1" u="sng" dirty="0"/>
              <a:t>and</a:t>
            </a:r>
            <a:r>
              <a:rPr lang="en-US" sz="2400" dirty="0"/>
              <a:t> you have many variables to display. </a:t>
            </a:r>
          </a:p>
          <a:p>
            <a:endParaRPr lang="en-US" sz="2400" dirty="0"/>
          </a:p>
          <a:p>
            <a:r>
              <a:rPr lang="en-US" sz="2400" dirty="0"/>
              <a:t>Tables are also good for background information (comparing field sites, results from prior literature, or species)</a:t>
            </a:r>
          </a:p>
          <a:p>
            <a:endParaRPr lang="en-US" sz="2400" dirty="0"/>
          </a:p>
          <a:p>
            <a:r>
              <a:rPr lang="en-US" sz="2400" dirty="0"/>
              <a:t>For example: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A list of species used in study and their locations and diets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A list of relevant past studies and their key findings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The results of multiple statistical tests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14420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Making effective tables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400" dirty="0"/>
              <a:t>We read from left-to-right, so put context-setting information on the left and dependent information on the right.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E59E12F-A9F0-7E45-9261-E761ABA68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160153"/>
              </p:ext>
            </p:extLst>
          </p:nvPr>
        </p:nvGraphicFramePr>
        <p:xfrm>
          <a:off x="375744" y="3391396"/>
          <a:ext cx="3691759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0842">
                  <a:extLst>
                    <a:ext uri="{9D8B030D-6E8A-4147-A177-3AD203B41FA5}">
                      <a16:colId xmlns:a16="http://schemas.microsoft.com/office/drawing/2014/main" val="88870521"/>
                    </a:ext>
                  </a:extLst>
                </a:gridCol>
                <a:gridCol w="1820917">
                  <a:extLst>
                    <a:ext uri="{9D8B030D-6E8A-4147-A177-3AD203B41FA5}">
                      <a16:colId xmlns:a16="http://schemas.microsoft.com/office/drawing/2014/main" val="3103699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 (minutes)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Temperature (°C)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85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93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90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217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36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26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23275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B64754C-3371-3D40-8812-39746CE45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425513"/>
              </p:ext>
            </p:extLst>
          </p:nvPr>
        </p:nvGraphicFramePr>
        <p:xfrm>
          <a:off x="5076499" y="3391396"/>
          <a:ext cx="3691759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0842">
                  <a:extLst>
                    <a:ext uri="{9D8B030D-6E8A-4147-A177-3AD203B41FA5}">
                      <a16:colId xmlns:a16="http://schemas.microsoft.com/office/drawing/2014/main" val="88870521"/>
                    </a:ext>
                  </a:extLst>
                </a:gridCol>
                <a:gridCol w="1820917">
                  <a:extLst>
                    <a:ext uri="{9D8B030D-6E8A-4147-A177-3AD203B41FA5}">
                      <a16:colId xmlns:a16="http://schemas.microsoft.com/office/drawing/2014/main" val="3103699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Temperature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 (minutes)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85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93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90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217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36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26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23275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360753F-0A40-A04C-9E4A-097EF44F8F84}"/>
              </a:ext>
            </a:extLst>
          </p:cNvPr>
          <p:cNvSpPr txBox="1"/>
          <p:nvPr/>
        </p:nvSpPr>
        <p:spPr>
          <a:xfrm>
            <a:off x="270640" y="2813923"/>
            <a:ext cx="69578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These tables show the same data. Which is easier to read?</a:t>
            </a:r>
          </a:p>
        </p:txBody>
      </p:sp>
    </p:spTree>
    <p:extLst>
      <p:ext uri="{BB962C8B-B14F-4D97-AF65-F5344CB8AC3E}">
        <p14:creationId xmlns:p14="http://schemas.microsoft.com/office/powerpoint/2010/main" val="3511284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23602"/>
            <a:ext cx="80010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Making effective tables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200" dirty="0"/>
              <a:t>Be judicious about significant figures: just because Excel says the mean is 0.4684504, doesn’t mean we need that many numbers.</a:t>
            </a:r>
          </a:p>
          <a:p>
            <a:r>
              <a:rPr lang="en-US" sz="2200" dirty="0"/>
              <a:t> </a:t>
            </a:r>
          </a:p>
          <a:p>
            <a:r>
              <a:rPr lang="en-US" sz="2200" dirty="0"/>
              <a:t>Pay attention to how others report similar types of values.</a:t>
            </a:r>
          </a:p>
          <a:p>
            <a:endParaRPr lang="en-US" sz="22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1779A6-37E9-C84B-B0AC-5AE99AC01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207969"/>
              </p:ext>
            </p:extLst>
          </p:nvPr>
        </p:nvGraphicFramePr>
        <p:xfrm>
          <a:off x="5218386" y="3610305"/>
          <a:ext cx="3392214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0710">
                  <a:extLst>
                    <a:ext uri="{9D8B030D-6E8A-4147-A177-3AD203B41FA5}">
                      <a16:colId xmlns:a16="http://schemas.microsoft.com/office/drawing/2014/main" val="88870521"/>
                    </a:ext>
                  </a:extLst>
                </a:gridCol>
                <a:gridCol w="1781504">
                  <a:extLst>
                    <a:ext uri="{9D8B030D-6E8A-4147-A177-3AD203B41FA5}">
                      <a16:colId xmlns:a16="http://schemas.microsoft.com/office/drawing/2014/main" val="3103699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85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93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90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131.8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0.146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217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36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26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23275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6EEB2D2-6A06-CC4D-9CE6-DEBA9DA1B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588936"/>
              </p:ext>
            </p:extLst>
          </p:nvPr>
        </p:nvGraphicFramePr>
        <p:xfrm>
          <a:off x="533400" y="3610305"/>
          <a:ext cx="3428998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7494">
                  <a:extLst>
                    <a:ext uri="{9D8B030D-6E8A-4147-A177-3AD203B41FA5}">
                      <a16:colId xmlns:a16="http://schemas.microsoft.com/office/drawing/2014/main" val="88870521"/>
                    </a:ext>
                  </a:extLst>
                </a:gridCol>
                <a:gridCol w="1781504">
                  <a:extLst>
                    <a:ext uri="{9D8B030D-6E8A-4147-A177-3AD203B41FA5}">
                      <a16:colId xmlns:a16="http://schemas.microsoft.com/office/drawing/2014/main" val="3103699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85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45.754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0.131543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93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31.157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0.032698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90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131.845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0.146644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217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14.064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0.0022465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36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113.254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0.1202454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26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0.791545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23275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6AA1B88-5B20-5C45-AF5E-AFF592CC875A}"/>
              </a:ext>
            </a:extLst>
          </p:cNvPr>
          <p:cNvSpPr txBox="1"/>
          <p:nvPr/>
        </p:nvSpPr>
        <p:spPr>
          <a:xfrm>
            <a:off x="270640" y="2995228"/>
            <a:ext cx="7982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These tables show the same results. Which is easier to read?</a:t>
            </a:r>
          </a:p>
        </p:txBody>
      </p:sp>
    </p:spTree>
    <p:extLst>
      <p:ext uri="{BB962C8B-B14F-4D97-AF65-F5344CB8AC3E}">
        <p14:creationId xmlns:p14="http://schemas.microsoft.com/office/powerpoint/2010/main" val="19823173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5962" y="101652"/>
            <a:ext cx="833207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Making effective tables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200" dirty="0"/>
              <a:t>Some more advice: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Bold significant p-values so they stand out from non-significant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Similar values should match in the # of significant figures (notice the 14.0 and 9.0 values- I added a zero so it matches the others)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endParaRPr lang="en-US" sz="22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9DFFE7B-CA55-344C-B646-B3298704D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710886"/>
              </p:ext>
            </p:extLst>
          </p:nvPr>
        </p:nvGraphicFramePr>
        <p:xfrm>
          <a:off x="5218386" y="3610305"/>
          <a:ext cx="3392214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0710">
                  <a:extLst>
                    <a:ext uri="{9D8B030D-6E8A-4147-A177-3AD203B41FA5}">
                      <a16:colId xmlns:a16="http://schemas.microsoft.com/office/drawing/2014/main" val="88870521"/>
                    </a:ext>
                  </a:extLst>
                </a:gridCol>
                <a:gridCol w="1781504">
                  <a:extLst>
                    <a:ext uri="{9D8B030D-6E8A-4147-A177-3AD203B41FA5}">
                      <a16:colId xmlns:a16="http://schemas.microsoft.com/office/drawing/2014/main" val="3103699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85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93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90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131.8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0.146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217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14.0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36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0.120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26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23275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5B34058-9D68-0647-91EC-945F48ED1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11446"/>
              </p:ext>
            </p:extLst>
          </p:nvPr>
        </p:nvGraphicFramePr>
        <p:xfrm>
          <a:off x="533400" y="3610305"/>
          <a:ext cx="3428998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7494">
                  <a:extLst>
                    <a:ext uri="{9D8B030D-6E8A-4147-A177-3AD203B41FA5}">
                      <a16:colId xmlns:a16="http://schemas.microsoft.com/office/drawing/2014/main" val="88870521"/>
                    </a:ext>
                  </a:extLst>
                </a:gridCol>
                <a:gridCol w="1781504">
                  <a:extLst>
                    <a:ext uri="{9D8B030D-6E8A-4147-A177-3AD203B41FA5}">
                      <a16:colId xmlns:a16="http://schemas.microsoft.com/office/drawing/2014/main" val="3103699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85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45.754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0.131543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93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31.157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0.032698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90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131.845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0.146644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217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14.064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0.0022465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367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113.254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0.1202454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266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0.791545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23275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09E417B-254F-D94B-A62D-8A5F879C6DC6}"/>
              </a:ext>
            </a:extLst>
          </p:cNvPr>
          <p:cNvSpPr txBox="1"/>
          <p:nvPr/>
        </p:nvSpPr>
        <p:spPr>
          <a:xfrm>
            <a:off x="533400" y="2998113"/>
            <a:ext cx="7982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These tables show the same results. Which is easier to read?</a:t>
            </a:r>
          </a:p>
        </p:txBody>
      </p:sp>
    </p:spTree>
    <p:extLst>
      <p:ext uri="{BB962C8B-B14F-4D97-AF65-F5344CB8AC3E}">
        <p14:creationId xmlns:p14="http://schemas.microsoft.com/office/powerpoint/2010/main" val="13056393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9317" y="228600"/>
            <a:ext cx="833207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Making effective tables</a:t>
            </a:r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200" dirty="0"/>
              <a:t>It is convention to use horizontal borders on the header row and last row, but not all borders.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9E417B-254F-D94B-A62D-8A5F879C6DC6}"/>
              </a:ext>
            </a:extLst>
          </p:cNvPr>
          <p:cNvSpPr txBox="1"/>
          <p:nvPr/>
        </p:nvSpPr>
        <p:spPr>
          <a:xfrm>
            <a:off x="348976" y="1497266"/>
            <a:ext cx="85958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These tables show the same data. Which is more pleasing to the eye?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8B2872C-2115-6B47-B6DC-00172FE4E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509462"/>
              </p:ext>
            </p:extLst>
          </p:nvPr>
        </p:nvGraphicFramePr>
        <p:xfrm>
          <a:off x="2354893" y="4617719"/>
          <a:ext cx="3970775" cy="20116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87706">
                  <a:extLst>
                    <a:ext uri="{9D8B030D-6E8A-4147-A177-3AD203B41FA5}">
                      <a16:colId xmlns:a16="http://schemas.microsoft.com/office/drawing/2014/main" val="859252019"/>
                    </a:ext>
                  </a:extLst>
                </a:gridCol>
                <a:gridCol w="851338">
                  <a:extLst>
                    <a:ext uri="{9D8B030D-6E8A-4147-A177-3AD203B41FA5}">
                      <a16:colId xmlns:a16="http://schemas.microsoft.com/office/drawing/2014/main" val="3444257989"/>
                    </a:ext>
                  </a:extLst>
                </a:gridCol>
                <a:gridCol w="819807">
                  <a:extLst>
                    <a:ext uri="{9D8B030D-6E8A-4147-A177-3AD203B41FA5}">
                      <a16:colId xmlns:a16="http://schemas.microsoft.com/office/drawing/2014/main" val="2410976560"/>
                    </a:ext>
                  </a:extLst>
                </a:gridCol>
                <a:gridCol w="811924">
                  <a:extLst>
                    <a:ext uri="{9D8B030D-6E8A-4147-A177-3AD203B41FA5}">
                      <a16:colId xmlns:a16="http://schemas.microsoft.com/office/drawing/2014/main" val="7912412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Order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Variable 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Variable 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Variable C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21750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Acipenseriformes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12374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Amiiformes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53576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Lepisosteiformes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69029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Albuliformes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858029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Anguilliformes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933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197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191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64062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Elopiformes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42443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Notacanthiformes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00941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Lepidogalaxiiformes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50096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Ateleopodiformes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813947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340F9A0-D9BF-AA47-8CE8-1F57F109A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386694"/>
              </p:ext>
            </p:extLst>
          </p:nvPr>
        </p:nvGraphicFramePr>
        <p:xfrm>
          <a:off x="199204" y="2053536"/>
          <a:ext cx="3970775" cy="20116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87706">
                  <a:extLst>
                    <a:ext uri="{9D8B030D-6E8A-4147-A177-3AD203B41FA5}">
                      <a16:colId xmlns:a16="http://schemas.microsoft.com/office/drawing/2014/main" val="859252019"/>
                    </a:ext>
                  </a:extLst>
                </a:gridCol>
                <a:gridCol w="851338">
                  <a:extLst>
                    <a:ext uri="{9D8B030D-6E8A-4147-A177-3AD203B41FA5}">
                      <a16:colId xmlns:a16="http://schemas.microsoft.com/office/drawing/2014/main" val="3444257989"/>
                    </a:ext>
                  </a:extLst>
                </a:gridCol>
                <a:gridCol w="819807">
                  <a:extLst>
                    <a:ext uri="{9D8B030D-6E8A-4147-A177-3AD203B41FA5}">
                      <a16:colId xmlns:a16="http://schemas.microsoft.com/office/drawing/2014/main" val="2410976560"/>
                    </a:ext>
                  </a:extLst>
                </a:gridCol>
                <a:gridCol w="811924">
                  <a:extLst>
                    <a:ext uri="{9D8B030D-6E8A-4147-A177-3AD203B41FA5}">
                      <a16:colId xmlns:a16="http://schemas.microsoft.com/office/drawing/2014/main" val="7912412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Order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Variable 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Variable 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Variable C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21750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Acipenseriformes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12374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Amiiformes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053576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Lepisosteiformes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69029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Albuliformes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858029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Anguilliformes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933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197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191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64062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Elopiformes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42443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Notacanthiformes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500941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Lepidogalaxiiformes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50096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Ateleopodiformes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813947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9D86A30-C98F-7444-A013-23614F7ED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302543"/>
              </p:ext>
            </p:extLst>
          </p:nvPr>
        </p:nvGraphicFramePr>
        <p:xfrm>
          <a:off x="4810617" y="2034724"/>
          <a:ext cx="3970775" cy="20116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87706">
                  <a:extLst>
                    <a:ext uri="{9D8B030D-6E8A-4147-A177-3AD203B41FA5}">
                      <a16:colId xmlns:a16="http://schemas.microsoft.com/office/drawing/2014/main" val="859252019"/>
                    </a:ext>
                  </a:extLst>
                </a:gridCol>
                <a:gridCol w="851338">
                  <a:extLst>
                    <a:ext uri="{9D8B030D-6E8A-4147-A177-3AD203B41FA5}">
                      <a16:colId xmlns:a16="http://schemas.microsoft.com/office/drawing/2014/main" val="3444257989"/>
                    </a:ext>
                  </a:extLst>
                </a:gridCol>
                <a:gridCol w="819807">
                  <a:extLst>
                    <a:ext uri="{9D8B030D-6E8A-4147-A177-3AD203B41FA5}">
                      <a16:colId xmlns:a16="http://schemas.microsoft.com/office/drawing/2014/main" val="2410976560"/>
                    </a:ext>
                  </a:extLst>
                </a:gridCol>
                <a:gridCol w="811924">
                  <a:extLst>
                    <a:ext uri="{9D8B030D-6E8A-4147-A177-3AD203B41FA5}">
                      <a16:colId xmlns:a16="http://schemas.microsoft.com/office/drawing/2014/main" val="7912412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Order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Variable A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Variable B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Variable C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21750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Acipenseriformes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12374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Amiiformes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53576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Lepisosteiformes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69029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Albuliformes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858029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Anguilliformes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933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197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191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640623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Elopiformes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9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424433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Notacanthiformes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500941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Lepidogalaxiiformes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50096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Ateleopodiformes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813947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FADB476-12EA-204C-BCD9-B7EE725C6146}"/>
              </a:ext>
            </a:extLst>
          </p:cNvPr>
          <p:cNvSpPr txBox="1"/>
          <p:nvPr/>
        </p:nvSpPr>
        <p:spPr>
          <a:xfrm>
            <a:off x="5613445" y="4130812"/>
            <a:ext cx="3167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Your tables should look like this</a:t>
            </a:r>
          </a:p>
        </p:txBody>
      </p:sp>
      <p:sp>
        <p:nvSpPr>
          <p:cNvPr id="4" name="Up Arrow 3">
            <a:extLst>
              <a:ext uri="{FF2B5EF4-FFF2-40B4-BE49-F238E27FC236}">
                <a16:creationId xmlns:a16="http://schemas.microsoft.com/office/drawing/2014/main" id="{3F4DDCB9-6711-BC4A-82EF-48907F9ACACB}"/>
              </a:ext>
            </a:extLst>
          </p:cNvPr>
          <p:cNvSpPr/>
          <p:nvPr/>
        </p:nvSpPr>
        <p:spPr>
          <a:xfrm>
            <a:off x="5405512" y="4129333"/>
            <a:ext cx="207933" cy="293905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3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6B22-0116-CC4C-9E64-FB03E5D57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224" y="91748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Assignments for today and for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64DE2-5A73-9D4C-A73F-1CBE23785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771" y="1247628"/>
            <a:ext cx="8716616" cy="48188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dirty="0"/>
              <a:t>In class: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Continue to make figures and tables for your own data</a:t>
            </a:r>
          </a:p>
          <a:p>
            <a:pPr marL="457200" lvl="1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/>
              <a:t>At home:</a:t>
            </a:r>
            <a:endParaRPr lang="en-US" sz="2600" dirty="0"/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By tonight at 11:59 pm upload your peer reviews of Introductions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b="1" dirty="0"/>
              <a:t>By tomorrow at 11:59, upload your Methods (with intro for context), and your most up to date Data</a:t>
            </a:r>
          </a:p>
          <a:p>
            <a:pPr marL="971550" lvl="1" indent="-514350">
              <a:buFont typeface="+mj-lt"/>
              <a:buAutoNum type="arabicPeriod"/>
            </a:pPr>
            <a:endParaRPr lang="en-US" b="1" dirty="0"/>
          </a:p>
          <a:p>
            <a:pPr marL="971550" lvl="1" indent="-51435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81446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1268</TotalTime>
  <Words>2540</Words>
  <Application>Microsoft Macintosh PowerPoint</Application>
  <PresentationFormat>On-screen Show (4:3)</PresentationFormat>
  <Paragraphs>454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Office Theme</vt:lpstr>
      <vt:lpstr>  The Results section: part 2</vt:lpstr>
      <vt:lpstr>Posters are coming up!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Thinking about your results...</vt:lpstr>
      <vt:lpstr>Common types of statistical tests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Assignments for today and for home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Miller, Elizabeth Christina - (ecmiller)</dc:creator>
  <cp:lastModifiedBy>Luke M. Tornabene</cp:lastModifiedBy>
  <cp:revision>222</cp:revision>
  <dcterms:created xsi:type="dcterms:W3CDTF">2020-01-21T02:32:40Z</dcterms:created>
  <dcterms:modified xsi:type="dcterms:W3CDTF">2025-02-06T21:52:20Z</dcterms:modified>
</cp:coreProperties>
</file>
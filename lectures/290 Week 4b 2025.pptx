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8"/>
  </p:notesMasterIdLst>
  <p:sldIdLst>
    <p:sldId id="256" r:id="rId2"/>
    <p:sldId id="315" r:id="rId3"/>
    <p:sldId id="317" r:id="rId4"/>
    <p:sldId id="318" r:id="rId5"/>
    <p:sldId id="319" r:id="rId6"/>
    <p:sldId id="320" r:id="rId7"/>
    <p:sldId id="321" r:id="rId8"/>
    <p:sldId id="322" r:id="rId9"/>
    <p:sldId id="323" r:id="rId10"/>
    <p:sldId id="324" r:id="rId11"/>
    <p:sldId id="325" r:id="rId12"/>
    <p:sldId id="326" r:id="rId13"/>
    <p:sldId id="327" r:id="rId14"/>
    <p:sldId id="328" r:id="rId15"/>
    <p:sldId id="329" r:id="rId16"/>
    <p:sldId id="301"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837"/>
    <p:restoredTop sz="94694"/>
  </p:normalViewPr>
  <p:slideViewPr>
    <p:cSldViewPr snapToGrid="0" snapToObjects="1">
      <p:cViewPr varScale="1">
        <p:scale>
          <a:sx n="128" d="100"/>
          <a:sy n="128" d="100"/>
        </p:scale>
        <p:origin x="9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522FF9-FAEA-A94E-AFEC-9C51E93C92BF}" type="datetimeFigureOut">
              <a:rPr lang="en-US" smtClean="0"/>
              <a:t>1/30/25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A40FE5-157B-8D4A-918F-97A81D79D3C4}" type="slidenum">
              <a:rPr lang="en-US" smtClean="0"/>
              <a:t>‹#›</a:t>
            </a:fld>
            <a:endParaRPr lang="en-US"/>
          </a:p>
        </p:txBody>
      </p:sp>
    </p:spTree>
    <p:extLst>
      <p:ext uri="{BB962C8B-B14F-4D97-AF65-F5344CB8AC3E}">
        <p14:creationId xmlns:p14="http://schemas.microsoft.com/office/powerpoint/2010/main" val="4239128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A40FE5-157B-8D4A-918F-97A81D79D3C4}" type="slidenum">
              <a:rPr lang="en-US" smtClean="0"/>
              <a:t>1</a:t>
            </a:fld>
            <a:endParaRPr lang="en-US"/>
          </a:p>
        </p:txBody>
      </p:sp>
    </p:spTree>
    <p:extLst>
      <p:ext uri="{BB962C8B-B14F-4D97-AF65-F5344CB8AC3E}">
        <p14:creationId xmlns:p14="http://schemas.microsoft.com/office/powerpoint/2010/main" val="2701769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A40FE5-157B-8D4A-918F-97A81D79D3C4}" type="slidenum">
              <a:rPr lang="en-US" smtClean="0"/>
              <a:t>2</a:t>
            </a:fld>
            <a:endParaRPr lang="en-US"/>
          </a:p>
        </p:txBody>
      </p:sp>
    </p:spTree>
    <p:extLst>
      <p:ext uri="{BB962C8B-B14F-4D97-AF65-F5344CB8AC3E}">
        <p14:creationId xmlns:p14="http://schemas.microsoft.com/office/powerpoint/2010/main" val="4284654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A40FE5-157B-8D4A-918F-97A81D79D3C4}" type="slidenum">
              <a:rPr lang="en-US" smtClean="0"/>
              <a:t>3</a:t>
            </a:fld>
            <a:endParaRPr lang="en-US"/>
          </a:p>
        </p:txBody>
      </p:sp>
    </p:spTree>
    <p:extLst>
      <p:ext uri="{BB962C8B-B14F-4D97-AF65-F5344CB8AC3E}">
        <p14:creationId xmlns:p14="http://schemas.microsoft.com/office/powerpoint/2010/main" val="1547413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A40FE5-157B-8D4A-918F-97A81D79D3C4}" type="slidenum">
              <a:rPr lang="en-US" smtClean="0"/>
              <a:t>4</a:t>
            </a:fld>
            <a:endParaRPr lang="en-US"/>
          </a:p>
        </p:txBody>
      </p:sp>
    </p:spTree>
    <p:extLst>
      <p:ext uri="{BB962C8B-B14F-4D97-AF65-F5344CB8AC3E}">
        <p14:creationId xmlns:p14="http://schemas.microsoft.com/office/powerpoint/2010/main" val="34253850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A40FE5-157B-8D4A-918F-97A81D79D3C4}" type="slidenum">
              <a:rPr lang="en-US" smtClean="0"/>
              <a:t>5</a:t>
            </a:fld>
            <a:endParaRPr lang="en-US"/>
          </a:p>
        </p:txBody>
      </p:sp>
    </p:spTree>
    <p:extLst>
      <p:ext uri="{BB962C8B-B14F-4D97-AF65-F5344CB8AC3E}">
        <p14:creationId xmlns:p14="http://schemas.microsoft.com/office/powerpoint/2010/main" val="3966257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A40FE5-157B-8D4A-918F-97A81D79D3C4}" type="slidenum">
              <a:rPr lang="en-US" smtClean="0"/>
              <a:t>6</a:t>
            </a:fld>
            <a:endParaRPr lang="en-US"/>
          </a:p>
        </p:txBody>
      </p:sp>
    </p:spTree>
    <p:extLst>
      <p:ext uri="{BB962C8B-B14F-4D97-AF65-F5344CB8AC3E}">
        <p14:creationId xmlns:p14="http://schemas.microsoft.com/office/powerpoint/2010/main" val="12891529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A40FE5-157B-8D4A-918F-97A81D79D3C4}" type="slidenum">
              <a:rPr lang="en-US" smtClean="0"/>
              <a:t>7</a:t>
            </a:fld>
            <a:endParaRPr lang="en-US"/>
          </a:p>
        </p:txBody>
      </p:sp>
    </p:spTree>
    <p:extLst>
      <p:ext uri="{BB962C8B-B14F-4D97-AF65-F5344CB8AC3E}">
        <p14:creationId xmlns:p14="http://schemas.microsoft.com/office/powerpoint/2010/main" val="35677094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A40FE5-157B-8D4A-918F-97A81D79D3C4}" type="slidenum">
              <a:rPr lang="en-US" smtClean="0"/>
              <a:t>8</a:t>
            </a:fld>
            <a:endParaRPr lang="en-US"/>
          </a:p>
        </p:txBody>
      </p:sp>
    </p:spTree>
    <p:extLst>
      <p:ext uri="{BB962C8B-B14F-4D97-AF65-F5344CB8AC3E}">
        <p14:creationId xmlns:p14="http://schemas.microsoft.com/office/powerpoint/2010/main" val="35607913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A40FE5-157B-8D4A-918F-97A81D79D3C4}" type="slidenum">
              <a:rPr lang="en-US" smtClean="0"/>
              <a:t>9</a:t>
            </a:fld>
            <a:endParaRPr lang="en-US"/>
          </a:p>
        </p:txBody>
      </p:sp>
    </p:spTree>
    <p:extLst>
      <p:ext uri="{BB962C8B-B14F-4D97-AF65-F5344CB8AC3E}">
        <p14:creationId xmlns:p14="http://schemas.microsoft.com/office/powerpoint/2010/main" val="32013933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A40FE5-157B-8D4A-918F-97A81D79D3C4}" type="slidenum">
              <a:rPr lang="en-US" smtClean="0"/>
              <a:t>10</a:t>
            </a:fld>
            <a:endParaRPr lang="en-US"/>
          </a:p>
        </p:txBody>
      </p:sp>
    </p:spTree>
    <p:extLst>
      <p:ext uri="{BB962C8B-B14F-4D97-AF65-F5344CB8AC3E}">
        <p14:creationId xmlns:p14="http://schemas.microsoft.com/office/powerpoint/2010/main" val="24929290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A40FE5-157B-8D4A-918F-97A81D79D3C4}" type="slidenum">
              <a:rPr lang="en-US" smtClean="0"/>
              <a:t>11</a:t>
            </a:fld>
            <a:endParaRPr lang="en-US"/>
          </a:p>
        </p:txBody>
      </p:sp>
    </p:spTree>
    <p:extLst>
      <p:ext uri="{BB962C8B-B14F-4D97-AF65-F5344CB8AC3E}">
        <p14:creationId xmlns:p14="http://schemas.microsoft.com/office/powerpoint/2010/main" val="142860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A40FE5-157B-8D4A-918F-97A81D79D3C4}" type="slidenum">
              <a:rPr lang="en-US" smtClean="0"/>
              <a:t>12</a:t>
            </a:fld>
            <a:endParaRPr lang="en-US"/>
          </a:p>
        </p:txBody>
      </p:sp>
    </p:spTree>
    <p:extLst>
      <p:ext uri="{BB962C8B-B14F-4D97-AF65-F5344CB8AC3E}">
        <p14:creationId xmlns:p14="http://schemas.microsoft.com/office/powerpoint/2010/main" val="4544093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A40FE5-157B-8D4A-918F-97A81D79D3C4}" type="slidenum">
              <a:rPr lang="en-US" smtClean="0"/>
              <a:t>13</a:t>
            </a:fld>
            <a:endParaRPr lang="en-US"/>
          </a:p>
        </p:txBody>
      </p:sp>
    </p:spTree>
    <p:extLst>
      <p:ext uri="{BB962C8B-B14F-4D97-AF65-F5344CB8AC3E}">
        <p14:creationId xmlns:p14="http://schemas.microsoft.com/office/powerpoint/2010/main" val="2980714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A40FE5-157B-8D4A-918F-97A81D79D3C4}" type="slidenum">
              <a:rPr lang="en-US" smtClean="0"/>
              <a:t>14</a:t>
            </a:fld>
            <a:endParaRPr lang="en-US"/>
          </a:p>
        </p:txBody>
      </p:sp>
    </p:spTree>
    <p:extLst>
      <p:ext uri="{BB962C8B-B14F-4D97-AF65-F5344CB8AC3E}">
        <p14:creationId xmlns:p14="http://schemas.microsoft.com/office/powerpoint/2010/main" val="33716450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A40FE5-157B-8D4A-918F-97A81D79D3C4}" type="slidenum">
              <a:rPr lang="en-US" smtClean="0"/>
              <a:t>15</a:t>
            </a:fld>
            <a:endParaRPr lang="en-US"/>
          </a:p>
        </p:txBody>
      </p:sp>
    </p:spTree>
    <p:extLst>
      <p:ext uri="{BB962C8B-B14F-4D97-AF65-F5344CB8AC3E}">
        <p14:creationId xmlns:p14="http://schemas.microsoft.com/office/powerpoint/2010/main" val="32408544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A40FE5-157B-8D4A-918F-97A81D79D3C4}" type="slidenum">
              <a:rPr lang="en-US" smtClean="0"/>
              <a:t>16</a:t>
            </a:fld>
            <a:endParaRPr lang="en-US"/>
          </a:p>
        </p:txBody>
      </p:sp>
    </p:spTree>
    <p:extLst>
      <p:ext uri="{BB962C8B-B14F-4D97-AF65-F5344CB8AC3E}">
        <p14:creationId xmlns:p14="http://schemas.microsoft.com/office/powerpoint/2010/main" val="3005522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34CF10A-D855-8646-8EA4-D529A085C181}" type="datetimeFigureOut">
              <a:rPr lang="en-US" smtClean="0"/>
              <a:t>1/30/25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1806449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4CF10A-D855-8646-8EA4-D529A085C181}" type="datetimeFigureOut">
              <a:rPr lang="en-US" smtClean="0"/>
              <a:t>1/30/25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4058477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4CF10A-D855-8646-8EA4-D529A085C181}" type="datetimeFigureOut">
              <a:rPr lang="en-US" smtClean="0"/>
              <a:t>1/30/25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2544071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4CF10A-D855-8646-8EA4-D529A085C181}" type="datetimeFigureOut">
              <a:rPr lang="en-US" smtClean="0"/>
              <a:t>1/30/25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3995079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4CF10A-D855-8646-8EA4-D529A085C181}" type="datetimeFigureOut">
              <a:rPr lang="en-US" smtClean="0"/>
              <a:t>1/30/25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1807953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34CF10A-D855-8646-8EA4-D529A085C181}" type="datetimeFigureOut">
              <a:rPr lang="en-US" smtClean="0"/>
              <a:t>1/30/25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3164228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4CF10A-D855-8646-8EA4-D529A085C181}" type="datetimeFigureOut">
              <a:rPr lang="en-US" smtClean="0"/>
              <a:t>1/30/25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1946296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4CF10A-D855-8646-8EA4-D529A085C181}" type="datetimeFigureOut">
              <a:rPr lang="en-US" smtClean="0"/>
              <a:t>1/30/25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1470333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4CF10A-D855-8646-8EA4-D529A085C181}" type="datetimeFigureOut">
              <a:rPr lang="en-US" smtClean="0"/>
              <a:t>1/30/25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4278938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4CF10A-D855-8646-8EA4-D529A085C181}" type="datetimeFigureOut">
              <a:rPr lang="en-US" smtClean="0"/>
              <a:t>1/30/25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838820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4CF10A-D855-8646-8EA4-D529A085C181}" type="datetimeFigureOut">
              <a:rPr lang="en-US" smtClean="0"/>
              <a:t>1/30/25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3585571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4CF10A-D855-8646-8EA4-D529A085C181}" type="datetimeFigureOut">
              <a:rPr lang="en-US" smtClean="0"/>
              <a:t>1/30/25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9169D4-F6D5-5848-9DF9-89818D83AB5B}" type="slidenum">
              <a:rPr lang="en-US" smtClean="0"/>
              <a:t>‹#›</a:t>
            </a:fld>
            <a:endParaRPr lang="en-US"/>
          </a:p>
        </p:txBody>
      </p:sp>
    </p:spTree>
    <p:extLst>
      <p:ext uri="{BB962C8B-B14F-4D97-AF65-F5344CB8AC3E}">
        <p14:creationId xmlns:p14="http://schemas.microsoft.com/office/powerpoint/2010/main" val="32378950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scribbr.com/citing-sources/apa-vs-mla/"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onlinelibrary.wiley.com/page/journal/10958649/homepage/forauthors.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hyperlink" Target="https://ethos.bl.uk/Home.do;jsessionid=DA702A005B56B131D4E776CD6A605544"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open.library.ubc.ca/"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38F12-F311-C14D-A015-38A5E9739897}"/>
              </a:ext>
            </a:extLst>
          </p:cNvPr>
          <p:cNvSpPr>
            <a:spLocks noGrp="1"/>
          </p:cNvSpPr>
          <p:nvPr>
            <p:ph type="ctrTitle"/>
          </p:nvPr>
        </p:nvSpPr>
        <p:spPr>
          <a:xfrm>
            <a:off x="685800" y="2652007"/>
            <a:ext cx="7772400" cy="1128562"/>
          </a:xfrm>
        </p:spPr>
        <p:txBody>
          <a:bodyPr>
            <a:normAutofit fontScale="90000"/>
          </a:bodyPr>
          <a:lstStyle/>
          <a:p>
            <a:r>
              <a:rPr lang="en-US" dirty="0">
                <a:solidFill>
                  <a:srgbClr val="C00000"/>
                </a:solidFill>
              </a:rPr>
              <a:t>Crediting others</a:t>
            </a:r>
            <a:br>
              <a:rPr lang="en-US" dirty="0">
                <a:solidFill>
                  <a:srgbClr val="C00000"/>
                </a:solidFill>
              </a:rPr>
            </a:br>
            <a:br>
              <a:rPr lang="en-US" dirty="0">
                <a:solidFill>
                  <a:srgbClr val="C00000"/>
                </a:solidFill>
              </a:rPr>
            </a:br>
            <a:r>
              <a:rPr lang="en-US" sz="4000" dirty="0">
                <a:solidFill>
                  <a:srgbClr val="C00000"/>
                </a:solidFill>
              </a:rPr>
              <a:t>References</a:t>
            </a:r>
          </a:p>
        </p:txBody>
      </p:sp>
      <p:sp>
        <p:nvSpPr>
          <p:cNvPr id="3" name="Subtitle 2">
            <a:extLst>
              <a:ext uri="{FF2B5EF4-FFF2-40B4-BE49-F238E27FC236}">
                <a16:creationId xmlns:a16="http://schemas.microsoft.com/office/drawing/2014/main" id="{20F786A6-0F23-D54A-BF35-6DF3DADBABB5}"/>
              </a:ext>
            </a:extLst>
          </p:cNvPr>
          <p:cNvSpPr>
            <a:spLocks noGrp="1"/>
          </p:cNvSpPr>
          <p:nvPr>
            <p:ph type="subTitle" idx="1"/>
          </p:nvPr>
        </p:nvSpPr>
        <p:spPr>
          <a:xfrm>
            <a:off x="1143000" y="4268386"/>
            <a:ext cx="6858000" cy="1128562"/>
          </a:xfrm>
        </p:spPr>
        <p:txBody>
          <a:bodyPr/>
          <a:lstStyle/>
          <a:p>
            <a:r>
              <a:rPr lang="en-US" dirty="0"/>
              <a:t>Fish 290</a:t>
            </a:r>
          </a:p>
          <a:p>
            <a:r>
              <a:rPr lang="en-US" dirty="0"/>
              <a:t>Thursday Jan 30th</a:t>
            </a:r>
          </a:p>
        </p:txBody>
      </p:sp>
    </p:spTree>
    <p:extLst>
      <p:ext uri="{BB962C8B-B14F-4D97-AF65-F5344CB8AC3E}">
        <p14:creationId xmlns:p14="http://schemas.microsoft.com/office/powerpoint/2010/main" val="2750055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39CB-FC90-5C45-B490-ED74FF4731F7}"/>
              </a:ext>
            </a:extLst>
          </p:cNvPr>
          <p:cNvSpPr>
            <a:spLocks noGrp="1"/>
          </p:cNvSpPr>
          <p:nvPr>
            <p:ph type="title"/>
          </p:nvPr>
        </p:nvSpPr>
        <p:spPr/>
        <p:txBody>
          <a:bodyPr/>
          <a:lstStyle/>
          <a:p>
            <a:r>
              <a:rPr lang="en-US" dirty="0">
                <a:solidFill>
                  <a:srgbClr val="C00000"/>
                </a:solidFill>
              </a:rPr>
              <a:t>3. References</a:t>
            </a:r>
          </a:p>
        </p:txBody>
      </p:sp>
      <p:sp>
        <p:nvSpPr>
          <p:cNvPr id="3" name="TextBox 2">
            <a:extLst>
              <a:ext uri="{FF2B5EF4-FFF2-40B4-BE49-F238E27FC236}">
                <a16:creationId xmlns:a16="http://schemas.microsoft.com/office/drawing/2014/main" id="{2148280F-A0F5-A04B-9857-328309F684FA}"/>
              </a:ext>
            </a:extLst>
          </p:cNvPr>
          <p:cNvSpPr txBox="1"/>
          <p:nvPr/>
        </p:nvSpPr>
        <p:spPr>
          <a:xfrm>
            <a:off x="628650" y="1800808"/>
            <a:ext cx="8033659" cy="2862322"/>
          </a:xfrm>
          <a:prstGeom prst="rect">
            <a:avLst/>
          </a:prstGeom>
          <a:noFill/>
        </p:spPr>
        <p:txBody>
          <a:bodyPr wrap="square" rtlCol="0">
            <a:spAutoFit/>
          </a:bodyPr>
          <a:lstStyle/>
          <a:p>
            <a:r>
              <a:rPr lang="en-US" dirty="0"/>
              <a:t>Scientific papers use APA (American Psychological Association) format.</a:t>
            </a:r>
          </a:p>
          <a:p>
            <a:endParaRPr lang="en-US" dirty="0"/>
          </a:p>
          <a:p>
            <a:r>
              <a:rPr lang="en-US" dirty="0"/>
              <a:t>In contrast, you may have used MLA (Modern Language Association) format in Humanities courses.</a:t>
            </a:r>
          </a:p>
          <a:p>
            <a:endParaRPr lang="en-US" dirty="0"/>
          </a:p>
          <a:p>
            <a:r>
              <a:rPr lang="en-US" dirty="0"/>
              <a:t>Differences: </a:t>
            </a:r>
            <a:r>
              <a:rPr lang="en-US" dirty="0">
                <a:hlinkClick r:id="rId3"/>
              </a:rPr>
              <a:t>https://</a:t>
            </a:r>
            <a:r>
              <a:rPr lang="en-US" dirty="0" err="1">
                <a:hlinkClick r:id="rId3"/>
              </a:rPr>
              <a:t>www.scribbr.com</a:t>
            </a:r>
            <a:r>
              <a:rPr lang="en-US" dirty="0">
                <a:hlinkClick r:id="rId3"/>
              </a:rPr>
              <a:t>/citing-sources/</a:t>
            </a:r>
            <a:r>
              <a:rPr lang="en-US" dirty="0" err="1">
                <a:hlinkClick r:id="rId3"/>
              </a:rPr>
              <a:t>apa</a:t>
            </a:r>
            <a:r>
              <a:rPr lang="en-US" dirty="0">
                <a:hlinkClick r:id="rId3"/>
              </a:rPr>
              <a:t>-vs-</a:t>
            </a:r>
            <a:r>
              <a:rPr lang="en-US" dirty="0" err="1">
                <a:hlinkClick r:id="rId3"/>
              </a:rPr>
              <a:t>mla</a:t>
            </a:r>
            <a:r>
              <a:rPr lang="en-US" dirty="0">
                <a:hlinkClick r:id="rId3"/>
              </a:rPr>
              <a:t>/</a:t>
            </a:r>
            <a:endParaRPr lang="en-US" dirty="0"/>
          </a:p>
          <a:p>
            <a:endParaRPr lang="en-US" dirty="0"/>
          </a:p>
          <a:p>
            <a:endParaRPr lang="en-US" dirty="0"/>
          </a:p>
          <a:p>
            <a:r>
              <a:rPr lang="en-US" dirty="0"/>
              <a:t>Note that </a:t>
            </a:r>
            <a:r>
              <a:rPr lang="en-US" b="1" dirty="0"/>
              <a:t>in-text quotations </a:t>
            </a:r>
            <a:r>
              <a:rPr lang="en-US" dirty="0"/>
              <a:t>of other references</a:t>
            </a:r>
            <a:r>
              <a:rPr lang="en-US" b="1" dirty="0"/>
              <a:t> </a:t>
            </a:r>
            <a:r>
              <a:rPr lang="en-US" dirty="0"/>
              <a:t>are common in Humanities, but </a:t>
            </a:r>
            <a:r>
              <a:rPr lang="en-US" b="1" dirty="0"/>
              <a:t>are not customary in scientific writing.</a:t>
            </a:r>
            <a:endParaRPr lang="en-US" dirty="0"/>
          </a:p>
        </p:txBody>
      </p:sp>
    </p:spTree>
    <p:extLst>
      <p:ext uri="{BB962C8B-B14F-4D97-AF65-F5344CB8AC3E}">
        <p14:creationId xmlns:p14="http://schemas.microsoft.com/office/powerpoint/2010/main" val="740442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39CB-FC90-5C45-B490-ED74FF4731F7}"/>
              </a:ext>
            </a:extLst>
          </p:cNvPr>
          <p:cNvSpPr>
            <a:spLocks noGrp="1"/>
          </p:cNvSpPr>
          <p:nvPr>
            <p:ph type="title"/>
          </p:nvPr>
        </p:nvSpPr>
        <p:spPr/>
        <p:txBody>
          <a:bodyPr/>
          <a:lstStyle/>
          <a:p>
            <a:r>
              <a:rPr lang="en-US" dirty="0">
                <a:solidFill>
                  <a:srgbClr val="C00000"/>
                </a:solidFill>
              </a:rPr>
              <a:t>3. References</a:t>
            </a:r>
          </a:p>
        </p:txBody>
      </p:sp>
      <p:sp>
        <p:nvSpPr>
          <p:cNvPr id="3" name="TextBox 2">
            <a:extLst>
              <a:ext uri="{FF2B5EF4-FFF2-40B4-BE49-F238E27FC236}">
                <a16:creationId xmlns:a16="http://schemas.microsoft.com/office/drawing/2014/main" id="{2148280F-A0F5-A04B-9857-328309F684FA}"/>
              </a:ext>
            </a:extLst>
          </p:cNvPr>
          <p:cNvSpPr txBox="1"/>
          <p:nvPr/>
        </p:nvSpPr>
        <p:spPr>
          <a:xfrm>
            <a:off x="628650" y="1810139"/>
            <a:ext cx="8033659" cy="4462760"/>
          </a:xfrm>
          <a:prstGeom prst="rect">
            <a:avLst/>
          </a:prstGeom>
          <a:noFill/>
        </p:spPr>
        <p:txBody>
          <a:bodyPr wrap="square" rtlCol="0">
            <a:spAutoFit/>
          </a:bodyPr>
          <a:lstStyle/>
          <a:p>
            <a:r>
              <a:rPr lang="en-US" sz="2800" b="1" dirty="0"/>
              <a:t>In-Text citations:</a:t>
            </a:r>
          </a:p>
          <a:p>
            <a:r>
              <a:rPr lang="en-US" sz="2400" dirty="0"/>
              <a:t>Cite in-text to:</a:t>
            </a:r>
          </a:p>
          <a:p>
            <a:pPr marL="342900" indent="-342900">
              <a:buFont typeface="Arial" panose="020B0604020202020204" pitchFamily="34" charset="0"/>
              <a:buChar char="•"/>
            </a:pPr>
            <a:r>
              <a:rPr lang="en-US" sz="2400" dirty="0"/>
              <a:t>Give credit to ideas that precede your study</a:t>
            </a:r>
          </a:p>
          <a:p>
            <a:pPr marL="342900" indent="-342900">
              <a:buFont typeface="Arial" panose="020B0604020202020204" pitchFamily="34" charset="0"/>
              <a:buChar char="•"/>
            </a:pPr>
            <a:r>
              <a:rPr lang="en-US" sz="2400" dirty="0"/>
              <a:t>Add credibility (you’re not making things up!)</a:t>
            </a:r>
          </a:p>
          <a:p>
            <a:pPr marL="342900" indent="-342900">
              <a:buFont typeface="Arial" panose="020B0604020202020204" pitchFamily="34" charset="0"/>
              <a:buChar char="•"/>
            </a:pPr>
            <a:r>
              <a:rPr lang="en-US" sz="2400" dirty="0"/>
              <a:t>Allow the reader to learn more</a:t>
            </a:r>
          </a:p>
          <a:p>
            <a:pPr marL="342900" indent="-342900">
              <a:buFont typeface="Arial" panose="020B0604020202020204" pitchFamily="34" charset="0"/>
              <a:buChar char="•"/>
            </a:pPr>
            <a:endParaRPr lang="en-US" sz="2400" dirty="0"/>
          </a:p>
          <a:p>
            <a:r>
              <a:rPr lang="en-US" sz="2400" dirty="0"/>
              <a:t>Always include the authors and year:</a:t>
            </a:r>
          </a:p>
          <a:p>
            <a:pPr marL="457200" indent="-457200">
              <a:buFont typeface="+mj-lt"/>
              <a:buAutoNum type="arabicPeriod"/>
            </a:pPr>
            <a:r>
              <a:rPr lang="en-US" sz="2400" dirty="0"/>
              <a:t>One author: </a:t>
            </a:r>
            <a:r>
              <a:rPr lang="en-US" sz="2400" dirty="0" err="1"/>
              <a:t>Moua</a:t>
            </a:r>
            <a:r>
              <a:rPr lang="en-US" sz="2400" dirty="0"/>
              <a:t> (2019)</a:t>
            </a:r>
          </a:p>
          <a:p>
            <a:pPr marL="457200" indent="-457200">
              <a:buFont typeface="+mj-lt"/>
              <a:buAutoNum type="arabicPeriod"/>
            </a:pPr>
            <a:r>
              <a:rPr lang="en-US" sz="2400" dirty="0"/>
              <a:t>Two authors: </a:t>
            </a:r>
            <a:r>
              <a:rPr lang="en-US" sz="2400" dirty="0" err="1"/>
              <a:t>Moua</a:t>
            </a:r>
            <a:r>
              <a:rPr lang="en-US" sz="2400" dirty="0"/>
              <a:t> and Clawson (2019)</a:t>
            </a:r>
          </a:p>
          <a:p>
            <a:pPr marL="457200" indent="-457200">
              <a:buFont typeface="+mj-lt"/>
              <a:buAutoNum type="arabicPeriod"/>
            </a:pPr>
            <a:r>
              <a:rPr lang="en-US" sz="2400" dirty="0"/>
              <a:t>Three or more authors: </a:t>
            </a:r>
            <a:r>
              <a:rPr lang="en-US" sz="2400" dirty="0" err="1"/>
              <a:t>Moua</a:t>
            </a:r>
            <a:r>
              <a:rPr lang="en-US" sz="2400" dirty="0"/>
              <a:t> et al. (2019)</a:t>
            </a:r>
          </a:p>
          <a:p>
            <a:pPr marL="914400" lvl="1" indent="-457200">
              <a:buFont typeface="Arial" panose="020B0604020202020204" pitchFamily="34" charset="0"/>
              <a:buChar char="•"/>
            </a:pPr>
            <a:r>
              <a:rPr lang="en-US" sz="2000" dirty="0"/>
              <a:t>et al. is Latin for “and others”. Notice it is lowercase with period after “al”. This is an abbreviation for “alia” meaning others.</a:t>
            </a:r>
          </a:p>
        </p:txBody>
      </p:sp>
    </p:spTree>
    <p:extLst>
      <p:ext uri="{BB962C8B-B14F-4D97-AF65-F5344CB8AC3E}">
        <p14:creationId xmlns:p14="http://schemas.microsoft.com/office/powerpoint/2010/main" val="2738563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39CB-FC90-5C45-B490-ED74FF4731F7}"/>
              </a:ext>
            </a:extLst>
          </p:cNvPr>
          <p:cNvSpPr>
            <a:spLocks noGrp="1"/>
          </p:cNvSpPr>
          <p:nvPr>
            <p:ph type="title"/>
          </p:nvPr>
        </p:nvSpPr>
        <p:spPr/>
        <p:txBody>
          <a:bodyPr/>
          <a:lstStyle/>
          <a:p>
            <a:r>
              <a:rPr lang="en-US" dirty="0">
                <a:solidFill>
                  <a:srgbClr val="C00000"/>
                </a:solidFill>
              </a:rPr>
              <a:t>3. References</a:t>
            </a:r>
          </a:p>
        </p:txBody>
      </p:sp>
      <p:sp>
        <p:nvSpPr>
          <p:cNvPr id="3" name="TextBox 2">
            <a:extLst>
              <a:ext uri="{FF2B5EF4-FFF2-40B4-BE49-F238E27FC236}">
                <a16:creationId xmlns:a16="http://schemas.microsoft.com/office/drawing/2014/main" id="{2148280F-A0F5-A04B-9857-328309F684FA}"/>
              </a:ext>
            </a:extLst>
          </p:cNvPr>
          <p:cNvSpPr txBox="1"/>
          <p:nvPr/>
        </p:nvSpPr>
        <p:spPr>
          <a:xfrm>
            <a:off x="628650" y="1549495"/>
            <a:ext cx="8033659" cy="2985433"/>
          </a:xfrm>
          <a:prstGeom prst="rect">
            <a:avLst/>
          </a:prstGeom>
          <a:noFill/>
        </p:spPr>
        <p:txBody>
          <a:bodyPr wrap="square" rtlCol="0">
            <a:spAutoFit/>
          </a:bodyPr>
          <a:lstStyle/>
          <a:p>
            <a:r>
              <a:rPr lang="en-US" sz="2800" b="1" dirty="0"/>
              <a:t>In-Text citations:</a:t>
            </a:r>
          </a:p>
          <a:p>
            <a:r>
              <a:rPr lang="en-US" sz="2400" dirty="0"/>
              <a:t>Always include the authors and year:</a:t>
            </a:r>
          </a:p>
          <a:p>
            <a:pPr marL="457200" indent="-457200">
              <a:buFont typeface="+mj-lt"/>
              <a:buAutoNum type="arabicPeriod"/>
            </a:pPr>
            <a:r>
              <a:rPr lang="en-US" sz="2400" dirty="0"/>
              <a:t>One author: </a:t>
            </a:r>
            <a:r>
              <a:rPr lang="en-US" sz="2400" dirty="0" err="1"/>
              <a:t>Moua</a:t>
            </a:r>
            <a:r>
              <a:rPr lang="en-US" sz="2400" dirty="0"/>
              <a:t> (2019)</a:t>
            </a:r>
          </a:p>
          <a:p>
            <a:pPr marL="457200" indent="-457200">
              <a:buFont typeface="+mj-lt"/>
              <a:buAutoNum type="arabicPeriod"/>
            </a:pPr>
            <a:r>
              <a:rPr lang="en-US" sz="2400" dirty="0"/>
              <a:t>Two authors: </a:t>
            </a:r>
            <a:r>
              <a:rPr lang="en-US" sz="2400" dirty="0" err="1"/>
              <a:t>Moua</a:t>
            </a:r>
            <a:r>
              <a:rPr lang="en-US" sz="2400" dirty="0"/>
              <a:t> and Clawson (2019)</a:t>
            </a:r>
          </a:p>
          <a:p>
            <a:pPr marL="457200" indent="-457200">
              <a:buFont typeface="+mj-lt"/>
              <a:buAutoNum type="arabicPeriod"/>
            </a:pPr>
            <a:r>
              <a:rPr lang="en-US" sz="2400" dirty="0"/>
              <a:t>Three or more authors: </a:t>
            </a:r>
            <a:r>
              <a:rPr lang="en-US" sz="2400" dirty="0" err="1"/>
              <a:t>Moua</a:t>
            </a:r>
            <a:r>
              <a:rPr lang="en-US" sz="2400" dirty="0"/>
              <a:t> et al. (2019)</a:t>
            </a:r>
          </a:p>
          <a:p>
            <a:pPr marL="914400" lvl="1" indent="-457200">
              <a:buFont typeface="Arial" panose="020B0604020202020204" pitchFamily="34" charset="0"/>
              <a:buChar char="•"/>
            </a:pPr>
            <a:r>
              <a:rPr lang="en-US" sz="2000" dirty="0"/>
              <a:t>et al. is Latin for “and others”. Notice it is lowercase with period after “al”. This is an abbreviation for “alia” meaning others.</a:t>
            </a:r>
          </a:p>
          <a:p>
            <a:pPr marL="457200" indent="-457200">
              <a:buFont typeface="+mj-lt"/>
              <a:buAutoNum type="arabicPeriod"/>
            </a:pPr>
            <a:r>
              <a:rPr lang="en-US" sz="2400" dirty="0"/>
              <a:t>Note that each journal has minor variation on the format:</a:t>
            </a:r>
          </a:p>
        </p:txBody>
      </p:sp>
      <p:pic>
        <p:nvPicPr>
          <p:cNvPr id="5" name="Picture 4">
            <a:extLst>
              <a:ext uri="{FF2B5EF4-FFF2-40B4-BE49-F238E27FC236}">
                <a16:creationId xmlns:a16="http://schemas.microsoft.com/office/drawing/2014/main" id="{32C98AEF-293E-1746-969F-45DB6218927B}"/>
              </a:ext>
            </a:extLst>
          </p:cNvPr>
          <p:cNvPicPr>
            <a:picLocks noChangeAspect="1"/>
          </p:cNvPicPr>
          <p:nvPr/>
        </p:nvPicPr>
        <p:blipFill>
          <a:blip r:embed="rId3"/>
          <a:stretch>
            <a:fillRect/>
          </a:stretch>
        </p:blipFill>
        <p:spPr>
          <a:xfrm>
            <a:off x="1706972" y="4774695"/>
            <a:ext cx="6196590" cy="944602"/>
          </a:xfrm>
          <a:prstGeom prst="rect">
            <a:avLst/>
          </a:prstGeom>
        </p:spPr>
      </p:pic>
      <p:pic>
        <p:nvPicPr>
          <p:cNvPr id="11" name="Picture 10" descr="A picture containing knife&#10;&#10;Description automatically generated">
            <a:extLst>
              <a:ext uri="{FF2B5EF4-FFF2-40B4-BE49-F238E27FC236}">
                <a16:creationId xmlns:a16="http://schemas.microsoft.com/office/drawing/2014/main" id="{BB827448-4C04-6F45-8683-52CE1C5F6FE9}"/>
              </a:ext>
            </a:extLst>
          </p:cNvPr>
          <p:cNvPicPr>
            <a:picLocks noChangeAspect="1"/>
          </p:cNvPicPr>
          <p:nvPr/>
        </p:nvPicPr>
        <p:blipFill>
          <a:blip r:embed="rId4"/>
          <a:stretch>
            <a:fillRect/>
          </a:stretch>
        </p:blipFill>
        <p:spPr>
          <a:xfrm>
            <a:off x="2407246" y="5976220"/>
            <a:ext cx="6751918" cy="881780"/>
          </a:xfrm>
          <a:prstGeom prst="rect">
            <a:avLst/>
          </a:prstGeom>
        </p:spPr>
      </p:pic>
      <p:sp>
        <p:nvSpPr>
          <p:cNvPr id="12" name="TextBox 11">
            <a:extLst>
              <a:ext uri="{FF2B5EF4-FFF2-40B4-BE49-F238E27FC236}">
                <a16:creationId xmlns:a16="http://schemas.microsoft.com/office/drawing/2014/main" id="{DE575538-75CC-5C47-AED8-10301039CD7D}"/>
              </a:ext>
            </a:extLst>
          </p:cNvPr>
          <p:cNvSpPr txBox="1"/>
          <p:nvPr/>
        </p:nvSpPr>
        <p:spPr>
          <a:xfrm>
            <a:off x="1350625" y="4774695"/>
            <a:ext cx="712694" cy="461665"/>
          </a:xfrm>
          <a:prstGeom prst="rect">
            <a:avLst/>
          </a:prstGeom>
          <a:noFill/>
        </p:spPr>
        <p:txBody>
          <a:bodyPr wrap="square" rtlCol="0">
            <a:spAutoFit/>
          </a:bodyPr>
          <a:lstStyle/>
          <a:p>
            <a:r>
              <a:rPr lang="en-US" sz="2400" b="1" dirty="0">
                <a:solidFill>
                  <a:srgbClr val="FF0000"/>
                </a:solidFill>
              </a:rPr>
              <a:t>1:</a:t>
            </a:r>
          </a:p>
        </p:txBody>
      </p:sp>
      <p:sp>
        <p:nvSpPr>
          <p:cNvPr id="13" name="TextBox 12">
            <a:extLst>
              <a:ext uri="{FF2B5EF4-FFF2-40B4-BE49-F238E27FC236}">
                <a16:creationId xmlns:a16="http://schemas.microsoft.com/office/drawing/2014/main" id="{964C50CB-793C-A145-B038-46C54AFFF51D}"/>
              </a:ext>
            </a:extLst>
          </p:cNvPr>
          <p:cNvSpPr txBox="1"/>
          <p:nvPr/>
        </p:nvSpPr>
        <p:spPr>
          <a:xfrm>
            <a:off x="1985585" y="5830284"/>
            <a:ext cx="712694" cy="461665"/>
          </a:xfrm>
          <a:prstGeom prst="rect">
            <a:avLst/>
          </a:prstGeom>
          <a:noFill/>
        </p:spPr>
        <p:txBody>
          <a:bodyPr wrap="square" rtlCol="0">
            <a:spAutoFit/>
          </a:bodyPr>
          <a:lstStyle/>
          <a:p>
            <a:r>
              <a:rPr lang="en-US" sz="2400" b="1" dirty="0">
                <a:solidFill>
                  <a:srgbClr val="FF0000"/>
                </a:solidFill>
              </a:rPr>
              <a:t>2:</a:t>
            </a:r>
          </a:p>
        </p:txBody>
      </p:sp>
    </p:spTree>
    <p:extLst>
      <p:ext uri="{BB962C8B-B14F-4D97-AF65-F5344CB8AC3E}">
        <p14:creationId xmlns:p14="http://schemas.microsoft.com/office/powerpoint/2010/main" val="1864090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39CB-FC90-5C45-B490-ED74FF4731F7}"/>
              </a:ext>
            </a:extLst>
          </p:cNvPr>
          <p:cNvSpPr>
            <a:spLocks noGrp="1"/>
          </p:cNvSpPr>
          <p:nvPr>
            <p:ph type="title"/>
          </p:nvPr>
        </p:nvSpPr>
        <p:spPr/>
        <p:txBody>
          <a:bodyPr/>
          <a:lstStyle/>
          <a:p>
            <a:r>
              <a:rPr lang="en-US" dirty="0">
                <a:solidFill>
                  <a:srgbClr val="C00000"/>
                </a:solidFill>
              </a:rPr>
              <a:t>3. References</a:t>
            </a:r>
          </a:p>
        </p:txBody>
      </p:sp>
      <p:sp>
        <p:nvSpPr>
          <p:cNvPr id="3" name="TextBox 2">
            <a:extLst>
              <a:ext uri="{FF2B5EF4-FFF2-40B4-BE49-F238E27FC236}">
                <a16:creationId xmlns:a16="http://schemas.microsoft.com/office/drawing/2014/main" id="{2148280F-A0F5-A04B-9857-328309F684FA}"/>
              </a:ext>
            </a:extLst>
          </p:cNvPr>
          <p:cNvSpPr txBox="1"/>
          <p:nvPr/>
        </p:nvSpPr>
        <p:spPr>
          <a:xfrm>
            <a:off x="628650" y="1549495"/>
            <a:ext cx="8033659" cy="3724096"/>
          </a:xfrm>
          <a:prstGeom prst="rect">
            <a:avLst/>
          </a:prstGeom>
          <a:noFill/>
        </p:spPr>
        <p:txBody>
          <a:bodyPr wrap="square" rtlCol="0">
            <a:spAutoFit/>
          </a:bodyPr>
          <a:lstStyle/>
          <a:p>
            <a:r>
              <a:rPr lang="en-US" sz="2800" b="1" dirty="0"/>
              <a:t>The References section:</a:t>
            </a:r>
          </a:p>
          <a:p>
            <a:r>
              <a:rPr lang="en-US" sz="2400" b="1" dirty="0">
                <a:solidFill>
                  <a:srgbClr val="FF0000"/>
                </a:solidFill>
              </a:rPr>
              <a:t>ALL</a:t>
            </a:r>
            <a:r>
              <a:rPr lang="en-US" sz="2400" dirty="0">
                <a:solidFill>
                  <a:srgbClr val="FF0000"/>
                </a:solidFill>
              </a:rPr>
              <a:t> </a:t>
            </a:r>
            <a:r>
              <a:rPr lang="en-US" sz="2400" dirty="0"/>
              <a:t>references that you cited in-text </a:t>
            </a:r>
            <a:r>
              <a:rPr lang="en-US" sz="2400" b="1" dirty="0">
                <a:solidFill>
                  <a:srgbClr val="FF0000"/>
                </a:solidFill>
              </a:rPr>
              <a:t>MUST</a:t>
            </a:r>
            <a:r>
              <a:rPr lang="en-US" sz="2400" b="1" dirty="0"/>
              <a:t> </a:t>
            </a:r>
            <a:r>
              <a:rPr lang="en-US" sz="2400" dirty="0"/>
              <a:t>be added here with full-length citation, and </a:t>
            </a:r>
            <a:r>
              <a:rPr lang="en-US" sz="2400" b="1" dirty="0">
                <a:solidFill>
                  <a:srgbClr val="FF0000"/>
                </a:solidFill>
              </a:rPr>
              <a:t>NOTHING ELSE</a:t>
            </a:r>
          </a:p>
          <a:p>
            <a:endParaRPr lang="en-US" sz="2400" b="1" dirty="0">
              <a:solidFill>
                <a:srgbClr val="FF0000"/>
              </a:solidFill>
            </a:endParaRPr>
          </a:p>
          <a:p>
            <a:endParaRPr lang="en-US" sz="2400" b="1" dirty="0">
              <a:solidFill>
                <a:srgbClr val="FF0000"/>
              </a:solidFill>
            </a:endParaRPr>
          </a:p>
          <a:p>
            <a:r>
              <a:rPr lang="en-US" sz="2000" dirty="0"/>
              <a:t>Journals using APA format include the following information in the references, </a:t>
            </a:r>
            <a:r>
              <a:rPr lang="en-US" sz="2000" i="1" dirty="0"/>
              <a:t>usually </a:t>
            </a:r>
            <a:r>
              <a:rPr lang="en-US" sz="2000" dirty="0"/>
              <a:t>in this order:</a:t>
            </a:r>
            <a:endParaRPr lang="en-US" sz="2400" dirty="0"/>
          </a:p>
          <a:p>
            <a:r>
              <a:rPr lang="en-US" sz="2400" dirty="0"/>
              <a:t>Jones, R. J. and S. T. Smith. 2005.  Mass mortality of long-spine 	sea urchins: epidemiology and ecological consequences.  	Marine Biology, 74: 345-356. </a:t>
            </a:r>
          </a:p>
        </p:txBody>
      </p:sp>
    </p:spTree>
    <p:extLst>
      <p:ext uri="{BB962C8B-B14F-4D97-AF65-F5344CB8AC3E}">
        <p14:creationId xmlns:p14="http://schemas.microsoft.com/office/powerpoint/2010/main" val="3855859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39CB-FC90-5C45-B490-ED74FF4731F7}"/>
              </a:ext>
            </a:extLst>
          </p:cNvPr>
          <p:cNvSpPr>
            <a:spLocks noGrp="1"/>
          </p:cNvSpPr>
          <p:nvPr>
            <p:ph type="title"/>
          </p:nvPr>
        </p:nvSpPr>
        <p:spPr/>
        <p:txBody>
          <a:bodyPr/>
          <a:lstStyle/>
          <a:p>
            <a:r>
              <a:rPr lang="en-US" dirty="0">
                <a:solidFill>
                  <a:srgbClr val="C00000"/>
                </a:solidFill>
              </a:rPr>
              <a:t>3. References</a:t>
            </a:r>
          </a:p>
        </p:txBody>
      </p:sp>
      <p:sp>
        <p:nvSpPr>
          <p:cNvPr id="3" name="TextBox 2">
            <a:extLst>
              <a:ext uri="{FF2B5EF4-FFF2-40B4-BE49-F238E27FC236}">
                <a16:creationId xmlns:a16="http://schemas.microsoft.com/office/drawing/2014/main" id="{2148280F-A0F5-A04B-9857-328309F684FA}"/>
              </a:ext>
            </a:extLst>
          </p:cNvPr>
          <p:cNvSpPr txBox="1"/>
          <p:nvPr/>
        </p:nvSpPr>
        <p:spPr>
          <a:xfrm>
            <a:off x="628650" y="1549495"/>
            <a:ext cx="8033659" cy="4462760"/>
          </a:xfrm>
          <a:prstGeom prst="rect">
            <a:avLst/>
          </a:prstGeom>
          <a:noFill/>
        </p:spPr>
        <p:txBody>
          <a:bodyPr wrap="square" rtlCol="0">
            <a:spAutoFit/>
          </a:bodyPr>
          <a:lstStyle/>
          <a:p>
            <a:r>
              <a:rPr lang="en-US" sz="2800" b="1" dirty="0"/>
              <a:t>The References section:</a:t>
            </a:r>
          </a:p>
          <a:p>
            <a:r>
              <a:rPr lang="en-US" sz="2400" b="1" dirty="0">
                <a:solidFill>
                  <a:srgbClr val="FF0000"/>
                </a:solidFill>
              </a:rPr>
              <a:t>ALL</a:t>
            </a:r>
            <a:r>
              <a:rPr lang="en-US" sz="2400" dirty="0">
                <a:solidFill>
                  <a:srgbClr val="FF0000"/>
                </a:solidFill>
              </a:rPr>
              <a:t> </a:t>
            </a:r>
            <a:r>
              <a:rPr lang="en-US" sz="2400" dirty="0"/>
              <a:t>references that you cited in-text </a:t>
            </a:r>
            <a:r>
              <a:rPr lang="en-US" sz="2400" b="1" dirty="0">
                <a:solidFill>
                  <a:srgbClr val="FF0000"/>
                </a:solidFill>
              </a:rPr>
              <a:t>MUST</a:t>
            </a:r>
            <a:r>
              <a:rPr lang="en-US" sz="2400" b="1" dirty="0"/>
              <a:t> </a:t>
            </a:r>
            <a:r>
              <a:rPr lang="en-US" sz="2400" dirty="0"/>
              <a:t>be added here with full-length citation, and </a:t>
            </a:r>
            <a:r>
              <a:rPr lang="en-US" sz="2400" b="1" dirty="0">
                <a:solidFill>
                  <a:srgbClr val="FF0000"/>
                </a:solidFill>
              </a:rPr>
              <a:t>NOTHING ELSE</a:t>
            </a:r>
          </a:p>
          <a:p>
            <a:endParaRPr lang="en-US" sz="2400" b="1" dirty="0">
              <a:solidFill>
                <a:srgbClr val="FF0000"/>
              </a:solidFill>
            </a:endParaRPr>
          </a:p>
          <a:p>
            <a:endParaRPr lang="en-US" sz="2400" b="1" dirty="0">
              <a:solidFill>
                <a:srgbClr val="FF0000"/>
              </a:solidFill>
            </a:endParaRPr>
          </a:p>
          <a:p>
            <a:r>
              <a:rPr lang="en-US" sz="2000" dirty="0"/>
              <a:t>Journals using APA format include the following information in the references, </a:t>
            </a:r>
            <a:r>
              <a:rPr lang="en-US" sz="2000" i="1" dirty="0"/>
              <a:t>usually </a:t>
            </a:r>
            <a:r>
              <a:rPr lang="en-US" sz="2000" dirty="0"/>
              <a:t>in this order:</a:t>
            </a:r>
            <a:endParaRPr lang="en-US" sz="2400" dirty="0"/>
          </a:p>
          <a:p>
            <a:r>
              <a:rPr lang="en-US" sz="2400" dirty="0">
                <a:solidFill>
                  <a:srgbClr val="FF0000"/>
                </a:solidFill>
              </a:rPr>
              <a:t>Jones, R. J. and S. T. Smith.</a:t>
            </a:r>
            <a:r>
              <a:rPr lang="en-US" sz="2400" dirty="0"/>
              <a:t> 2005.  Mass mortality of long-spine 	sea urchins: epidemiology and ecological consequences.  	Marine Biology, 74: 345-356. </a:t>
            </a:r>
          </a:p>
          <a:p>
            <a:endParaRPr lang="en-US" sz="2400" dirty="0"/>
          </a:p>
          <a:p>
            <a:r>
              <a:rPr lang="en-US" sz="2400" dirty="0">
                <a:solidFill>
                  <a:srgbClr val="FF0000"/>
                </a:solidFill>
              </a:rPr>
              <a:t>First and middle initials and last names of authors</a:t>
            </a:r>
          </a:p>
        </p:txBody>
      </p:sp>
    </p:spTree>
    <p:extLst>
      <p:ext uri="{BB962C8B-B14F-4D97-AF65-F5344CB8AC3E}">
        <p14:creationId xmlns:p14="http://schemas.microsoft.com/office/powerpoint/2010/main" val="2838058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39CB-FC90-5C45-B490-ED74FF4731F7}"/>
              </a:ext>
            </a:extLst>
          </p:cNvPr>
          <p:cNvSpPr>
            <a:spLocks noGrp="1"/>
          </p:cNvSpPr>
          <p:nvPr>
            <p:ph type="title"/>
          </p:nvPr>
        </p:nvSpPr>
        <p:spPr/>
        <p:txBody>
          <a:bodyPr/>
          <a:lstStyle/>
          <a:p>
            <a:r>
              <a:rPr lang="en-US" dirty="0">
                <a:solidFill>
                  <a:srgbClr val="C00000"/>
                </a:solidFill>
              </a:rPr>
              <a:t>3. References</a:t>
            </a:r>
          </a:p>
        </p:txBody>
      </p:sp>
      <p:sp>
        <p:nvSpPr>
          <p:cNvPr id="3" name="TextBox 2">
            <a:extLst>
              <a:ext uri="{FF2B5EF4-FFF2-40B4-BE49-F238E27FC236}">
                <a16:creationId xmlns:a16="http://schemas.microsoft.com/office/drawing/2014/main" id="{2148280F-A0F5-A04B-9857-328309F684FA}"/>
              </a:ext>
            </a:extLst>
          </p:cNvPr>
          <p:cNvSpPr txBox="1"/>
          <p:nvPr/>
        </p:nvSpPr>
        <p:spPr>
          <a:xfrm>
            <a:off x="628650" y="1549495"/>
            <a:ext cx="8033659" cy="4462760"/>
          </a:xfrm>
          <a:prstGeom prst="rect">
            <a:avLst/>
          </a:prstGeom>
          <a:noFill/>
        </p:spPr>
        <p:txBody>
          <a:bodyPr wrap="square" rtlCol="0">
            <a:spAutoFit/>
          </a:bodyPr>
          <a:lstStyle/>
          <a:p>
            <a:r>
              <a:rPr lang="en-US" sz="2800" b="1" dirty="0"/>
              <a:t>The References section:</a:t>
            </a:r>
          </a:p>
          <a:p>
            <a:r>
              <a:rPr lang="en-US" sz="2400" b="1" dirty="0">
                <a:solidFill>
                  <a:srgbClr val="FF0000"/>
                </a:solidFill>
              </a:rPr>
              <a:t>ALL</a:t>
            </a:r>
            <a:r>
              <a:rPr lang="en-US" sz="2400" dirty="0">
                <a:solidFill>
                  <a:srgbClr val="FF0000"/>
                </a:solidFill>
              </a:rPr>
              <a:t> </a:t>
            </a:r>
            <a:r>
              <a:rPr lang="en-US" sz="2400" dirty="0"/>
              <a:t>references that you cited in-text </a:t>
            </a:r>
            <a:r>
              <a:rPr lang="en-US" sz="2400" b="1" dirty="0">
                <a:solidFill>
                  <a:srgbClr val="FF0000"/>
                </a:solidFill>
              </a:rPr>
              <a:t>MUST</a:t>
            </a:r>
            <a:r>
              <a:rPr lang="en-US" sz="2400" b="1" dirty="0"/>
              <a:t> </a:t>
            </a:r>
            <a:r>
              <a:rPr lang="en-US" sz="2400" dirty="0"/>
              <a:t>be added here with full-length citation, and </a:t>
            </a:r>
            <a:r>
              <a:rPr lang="en-US" sz="2400" b="1" dirty="0">
                <a:solidFill>
                  <a:srgbClr val="FF0000"/>
                </a:solidFill>
              </a:rPr>
              <a:t>NOTHING ELSE</a:t>
            </a:r>
          </a:p>
          <a:p>
            <a:endParaRPr lang="en-US" sz="2400" b="1" dirty="0">
              <a:solidFill>
                <a:srgbClr val="FF0000"/>
              </a:solidFill>
            </a:endParaRPr>
          </a:p>
          <a:p>
            <a:endParaRPr lang="en-US" sz="2400" b="1" dirty="0">
              <a:solidFill>
                <a:srgbClr val="FF0000"/>
              </a:solidFill>
            </a:endParaRPr>
          </a:p>
          <a:p>
            <a:r>
              <a:rPr lang="en-US" sz="2000" dirty="0"/>
              <a:t>Journals using APA format include the following information in the references, </a:t>
            </a:r>
            <a:r>
              <a:rPr lang="en-US" sz="2000" i="1" dirty="0"/>
              <a:t>usually </a:t>
            </a:r>
            <a:r>
              <a:rPr lang="en-US" sz="2000" dirty="0"/>
              <a:t>in this order:</a:t>
            </a:r>
            <a:endParaRPr lang="en-US" sz="2400" dirty="0"/>
          </a:p>
          <a:p>
            <a:r>
              <a:rPr lang="en-US" sz="2400" dirty="0"/>
              <a:t>Jones, R. J. and S. T. Smith. </a:t>
            </a:r>
            <a:r>
              <a:rPr lang="en-US" sz="2400" dirty="0">
                <a:solidFill>
                  <a:srgbClr val="FF0000"/>
                </a:solidFill>
              </a:rPr>
              <a:t>2005.</a:t>
            </a:r>
            <a:r>
              <a:rPr lang="en-US" sz="2400" dirty="0"/>
              <a:t>  Mass mortality of long-spine 	sea urchins: epidemiology and ecological consequences.  	Marine Biology, 74: 345-356. </a:t>
            </a:r>
          </a:p>
          <a:p>
            <a:endParaRPr lang="en-US" sz="2400" dirty="0"/>
          </a:p>
          <a:p>
            <a:r>
              <a:rPr lang="en-US" sz="2400" dirty="0">
                <a:solidFill>
                  <a:srgbClr val="FF0000"/>
                </a:solidFill>
              </a:rPr>
              <a:t>Publication year</a:t>
            </a:r>
          </a:p>
        </p:txBody>
      </p:sp>
    </p:spTree>
    <p:extLst>
      <p:ext uri="{BB962C8B-B14F-4D97-AF65-F5344CB8AC3E}">
        <p14:creationId xmlns:p14="http://schemas.microsoft.com/office/powerpoint/2010/main" val="3585458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39CB-FC90-5C45-B490-ED74FF4731F7}"/>
              </a:ext>
            </a:extLst>
          </p:cNvPr>
          <p:cNvSpPr>
            <a:spLocks noGrp="1"/>
          </p:cNvSpPr>
          <p:nvPr>
            <p:ph type="title"/>
          </p:nvPr>
        </p:nvSpPr>
        <p:spPr/>
        <p:txBody>
          <a:bodyPr/>
          <a:lstStyle/>
          <a:p>
            <a:r>
              <a:rPr lang="en-US" dirty="0">
                <a:solidFill>
                  <a:srgbClr val="C00000"/>
                </a:solidFill>
              </a:rPr>
              <a:t>3. References</a:t>
            </a:r>
          </a:p>
        </p:txBody>
      </p:sp>
      <p:sp>
        <p:nvSpPr>
          <p:cNvPr id="3" name="TextBox 2">
            <a:extLst>
              <a:ext uri="{FF2B5EF4-FFF2-40B4-BE49-F238E27FC236}">
                <a16:creationId xmlns:a16="http://schemas.microsoft.com/office/drawing/2014/main" id="{2148280F-A0F5-A04B-9857-328309F684FA}"/>
              </a:ext>
            </a:extLst>
          </p:cNvPr>
          <p:cNvSpPr txBox="1"/>
          <p:nvPr/>
        </p:nvSpPr>
        <p:spPr>
          <a:xfrm>
            <a:off x="628650" y="1549495"/>
            <a:ext cx="8033659" cy="4462760"/>
          </a:xfrm>
          <a:prstGeom prst="rect">
            <a:avLst/>
          </a:prstGeom>
          <a:noFill/>
        </p:spPr>
        <p:txBody>
          <a:bodyPr wrap="square" rtlCol="0">
            <a:spAutoFit/>
          </a:bodyPr>
          <a:lstStyle/>
          <a:p>
            <a:r>
              <a:rPr lang="en-US" sz="2800" b="1" dirty="0"/>
              <a:t>The References section:</a:t>
            </a:r>
          </a:p>
          <a:p>
            <a:r>
              <a:rPr lang="en-US" sz="2400" b="1" dirty="0">
                <a:solidFill>
                  <a:srgbClr val="FF0000"/>
                </a:solidFill>
              </a:rPr>
              <a:t>ALL</a:t>
            </a:r>
            <a:r>
              <a:rPr lang="en-US" sz="2400" dirty="0">
                <a:solidFill>
                  <a:srgbClr val="FF0000"/>
                </a:solidFill>
              </a:rPr>
              <a:t> </a:t>
            </a:r>
            <a:r>
              <a:rPr lang="en-US" sz="2400" dirty="0"/>
              <a:t>references that you cited in-text </a:t>
            </a:r>
            <a:r>
              <a:rPr lang="en-US" sz="2400" b="1" dirty="0">
                <a:solidFill>
                  <a:srgbClr val="FF0000"/>
                </a:solidFill>
              </a:rPr>
              <a:t>MUST</a:t>
            </a:r>
            <a:r>
              <a:rPr lang="en-US" sz="2400" b="1" dirty="0"/>
              <a:t> </a:t>
            </a:r>
            <a:r>
              <a:rPr lang="en-US" sz="2400" dirty="0"/>
              <a:t>be added here with full-length citation, and </a:t>
            </a:r>
            <a:r>
              <a:rPr lang="en-US" sz="2400" b="1" dirty="0">
                <a:solidFill>
                  <a:srgbClr val="FF0000"/>
                </a:solidFill>
              </a:rPr>
              <a:t>NOTHING ELSE</a:t>
            </a:r>
          </a:p>
          <a:p>
            <a:endParaRPr lang="en-US" sz="2400" b="1" dirty="0">
              <a:solidFill>
                <a:srgbClr val="FF0000"/>
              </a:solidFill>
            </a:endParaRPr>
          </a:p>
          <a:p>
            <a:endParaRPr lang="en-US" sz="2400" b="1" dirty="0">
              <a:solidFill>
                <a:srgbClr val="FF0000"/>
              </a:solidFill>
            </a:endParaRPr>
          </a:p>
          <a:p>
            <a:r>
              <a:rPr lang="en-US" sz="2000" dirty="0"/>
              <a:t>Journals using APA format include the following information in the references, </a:t>
            </a:r>
            <a:r>
              <a:rPr lang="en-US" sz="2000" i="1" dirty="0"/>
              <a:t>usually </a:t>
            </a:r>
            <a:r>
              <a:rPr lang="en-US" sz="2000" dirty="0"/>
              <a:t>in this order:</a:t>
            </a:r>
            <a:endParaRPr lang="en-US" sz="2400" dirty="0"/>
          </a:p>
          <a:p>
            <a:r>
              <a:rPr lang="en-US" sz="2400" dirty="0"/>
              <a:t>Jones, R. J. and S. T. Smith. 2005.  </a:t>
            </a:r>
            <a:r>
              <a:rPr lang="en-US" sz="2400" dirty="0">
                <a:solidFill>
                  <a:srgbClr val="FF0000"/>
                </a:solidFill>
              </a:rPr>
              <a:t>Mass mortality of long-spine 	sea urchins: epidemiology and ecological consequences.  </a:t>
            </a:r>
            <a:r>
              <a:rPr lang="en-US" sz="2400" dirty="0"/>
              <a:t>	Marine Biology, 74: 345-356. </a:t>
            </a:r>
          </a:p>
          <a:p>
            <a:endParaRPr lang="en-US" sz="2400" dirty="0"/>
          </a:p>
          <a:p>
            <a:r>
              <a:rPr lang="en-US" sz="2400" dirty="0">
                <a:solidFill>
                  <a:srgbClr val="FF0000"/>
                </a:solidFill>
              </a:rPr>
              <a:t>Title</a:t>
            </a:r>
          </a:p>
        </p:txBody>
      </p:sp>
    </p:spTree>
    <p:extLst>
      <p:ext uri="{BB962C8B-B14F-4D97-AF65-F5344CB8AC3E}">
        <p14:creationId xmlns:p14="http://schemas.microsoft.com/office/powerpoint/2010/main" val="2858558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39CB-FC90-5C45-B490-ED74FF4731F7}"/>
              </a:ext>
            </a:extLst>
          </p:cNvPr>
          <p:cNvSpPr>
            <a:spLocks noGrp="1"/>
          </p:cNvSpPr>
          <p:nvPr>
            <p:ph type="title"/>
          </p:nvPr>
        </p:nvSpPr>
        <p:spPr/>
        <p:txBody>
          <a:bodyPr/>
          <a:lstStyle/>
          <a:p>
            <a:r>
              <a:rPr lang="en-US" dirty="0">
                <a:solidFill>
                  <a:srgbClr val="C00000"/>
                </a:solidFill>
              </a:rPr>
              <a:t>3. References</a:t>
            </a:r>
          </a:p>
        </p:txBody>
      </p:sp>
      <p:sp>
        <p:nvSpPr>
          <p:cNvPr id="3" name="TextBox 2">
            <a:extLst>
              <a:ext uri="{FF2B5EF4-FFF2-40B4-BE49-F238E27FC236}">
                <a16:creationId xmlns:a16="http://schemas.microsoft.com/office/drawing/2014/main" id="{2148280F-A0F5-A04B-9857-328309F684FA}"/>
              </a:ext>
            </a:extLst>
          </p:cNvPr>
          <p:cNvSpPr txBox="1"/>
          <p:nvPr/>
        </p:nvSpPr>
        <p:spPr>
          <a:xfrm>
            <a:off x="628650" y="1549495"/>
            <a:ext cx="8033659" cy="4462760"/>
          </a:xfrm>
          <a:prstGeom prst="rect">
            <a:avLst/>
          </a:prstGeom>
          <a:noFill/>
        </p:spPr>
        <p:txBody>
          <a:bodyPr wrap="square" rtlCol="0">
            <a:spAutoFit/>
          </a:bodyPr>
          <a:lstStyle/>
          <a:p>
            <a:r>
              <a:rPr lang="en-US" sz="2800" b="1" dirty="0"/>
              <a:t>The References section:</a:t>
            </a:r>
          </a:p>
          <a:p>
            <a:r>
              <a:rPr lang="en-US" sz="2400" b="1" dirty="0">
                <a:solidFill>
                  <a:srgbClr val="FF0000"/>
                </a:solidFill>
              </a:rPr>
              <a:t>ALL</a:t>
            </a:r>
            <a:r>
              <a:rPr lang="en-US" sz="2400" dirty="0">
                <a:solidFill>
                  <a:srgbClr val="FF0000"/>
                </a:solidFill>
              </a:rPr>
              <a:t> </a:t>
            </a:r>
            <a:r>
              <a:rPr lang="en-US" sz="2400" dirty="0"/>
              <a:t>references that you cited in-text </a:t>
            </a:r>
            <a:r>
              <a:rPr lang="en-US" sz="2400" b="1" dirty="0">
                <a:solidFill>
                  <a:srgbClr val="FF0000"/>
                </a:solidFill>
              </a:rPr>
              <a:t>MUST</a:t>
            </a:r>
            <a:r>
              <a:rPr lang="en-US" sz="2400" b="1" dirty="0"/>
              <a:t> </a:t>
            </a:r>
            <a:r>
              <a:rPr lang="en-US" sz="2400" dirty="0"/>
              <a:t>be added here with full-length citation, and </a:t>
            </a:r>
            <a:r>
              <a:rPr lang="en-US" sz="2400" b="1" dirty="0">
                <a:solidFill>
                  <a:srgbClr val="FF0000"/>
                </a:solidFill>
              </a:rPr>
              <a:t>NOTHING ELSE</a:t>
            </a:r>
          </a:p>
          <a:p>
            <a:endParaRPr lang="en-US" sz="2400" b="1" dirty="0">
              <a:solidFill>
                <a:srgbClr val="FF0000"/>
              </a:solidFill>
            </a:endParaRPr>
          </a:p>
          <a:p>
            <a:endParaRPr lang="en-US" sz="2400" b="1" dirty="0">
              <a:solidFill>
                <a:srgbClr val="FF0000"/>
              </a:solidFill>
            </a:endParaRPr>
          </a:p>
          <a:p>
            <a:r>
              <a:rPr lang="en-US" sz="2000" dirty="0"/>
              <a:t>Journals using APA format include the following information in the references, </a:t>
            </a:r>
            <a:r>
              <a:rPr lang="en-US" sz="2000" i="1" dirty="0"/>
              <a:t>usually </a:t>
            </a:r>
            <a:r>
              <a:rPr lang="en-US" sz="2000" dirty="0"/>
              <a:t>in this order:</a:t>
            </a:r>
            <a:endParaRPr lang="en-US" sz="2400" dirty="0"/>
          </a:p>
          <a:p>
            <a:r>
              <a:rPr lang="en-US" sz="2400" dirty="0"/>
              <a:t>Jones, R. J. and S. T. Smith. 2005.  Mass mortality of long-spine 	sea urchins: epidemiology and ecological consequences.  	</a:t>
            </a:r>
            <a:r>
              <a:rPr lang="en-US" sz="2400" dirty="0">
                <a:solidFill>
                  <a:srgbClr val="FF0000"/>
                </a:solidFill>
              </a:rPr>
              <a:t>Marine Biology</a:t>
            </a:r>
            <a:r>
              <a:rPr lang="en-US" sz="2400" dirty="0"/>
              <a:t>, 74: 345-356. </a:t>
            </a:r>
          </a:p>
          <a:p>
            <a:endParaRPr lang="en-US" sz="2400" dirty="0"/>
          </a:p>
          <a:p>
            <a:r>
              <a:rPr lang="en-US" sz="2400" dirty="0">
                <a:solidFill>
                  <a:srgbClr val="FF0000"/>
                </a:solidFill>
              </a:rPr>
              <a:t>Journal</a:t>
            </a:r>
          </a:p>
        </p:txBody>
      </p:sp>
    </p:spTree>
    <p:extLst>
      <p:ext uri="{BB962C8B-B14F-4D97-AF65-F5344CB8AC3E}">
        <p14:creationId xmlns:p14="http://schemas.microsoft.com/office/powerpoint/2010/main" val="4049560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39CB-FC90-5C45-B490-ED74FF4731F7}"/>
              </a:ext>
            </a:extLst>
          </p:cNvPr>
          <p:cNvSpPr>
            <a:spLocks noGrp="1"/>
          </p:cNvSpPr>
          <p:nvPr>
            <p:ph type="title"/>
          </p:nvPr>
        </p:nvSpPr>
        <p:spPr/>
        <p:txBody>
          <a:bodyPr/>
          <a:lstStyle/>
          <a:p>
            <a:r>
              <a:rPr lang="en-US" dirty="0">
                <a:solidFill>
                  <a:srgbClr val="C00000"/>
                </a:solidFill>
              </a:rPr>
              <a:t>3. References</a:t>
            </a:r>
          </a:p>
        </p:txBody>
      </p:sp>
      <p:sp>
        <p:nvSpPr>
          <p:cNvPr id="3" name="TextBox 2">
            <a:extLst>
              <a:ext uri="{FF2B5EF4-FFF2-40B4-BE49-F238E27FC236}">
                <a16:creationId xmlns:a16="http://schemas.microsoft.com/office/drawing/2014/main" id="{2148280F-A0F5-A04B-9857-328309F684FA}"/>
              </a:ext>
            </a:extLst>
          </p:cNvPr>
          <p:cNvSpPr txBox="1"/>
          <p:nvPr/>
        </p:nvSpPr>
        <p:spPr>
          <a:xfrm>
            <a:off x="628650" y="1549495"/>
            <a:ext cx="8033659" cy="4462760"/>
          </a:xfrm>
          <a:prstGeom prst="rect">
            <a:avLst/>
          </a:prstGeom>
          <a:noFill/>
        </p:spPr>
        <p:txBody>
          <a:bodyPr wrap="square" rtlCol="0">
            <a:spAutoFit/>
          </a:bodyPr>
          <a:lstStyle/>
          <a:p>
            <a:r>
              <a:rPr lang="en-US" sz="2800" b="1" dirty="0"/>
              <a:t>The References section:</a:t>
            </a:r>
          </a:p>
          <a:p>
            <a:r>
              <a:rPr lang="en-US" sz="2400" b="1" dirty="0">
                <a:solidFill>
                  <a:srgbClr val="FF0000"/>
                </a:solidFill>
              </a:rPr>
              <a:t>ALL</a:t>
            </a:r>
            <a:r>
              <a:rPr lang="en-US" sz="2400" dirty="0">
                <a:solidFill>
                  <a:srgbClr val="FF0000"/>
                </a:solidFill>
              </a:rPr>
              <a:t> </a:t>
            </a:r>
            <a:r>
              <a:rPr lang="en-US" sz="2400" dirty="0"/>
              <a:t>references that you cited in-text </a:t>
            </a:r>
            <a:r>
              <a:rPr lang="en-US" sz="2400" b="1" dirty="0">
                <a:solidFill>
                  <a:srgbClr val="FF0000"/>
                </a:solidFill>
              </a:rPr>
              <a:t>MUST</a:t>
            </a:r>
            <a:r>
              <a:rPr lang="en-US" sz="2400" b="1" dirty="0"/>
              <a:t> </a:t>
            </a:r>
            <a:r>
              <a:rPr lang="en-US" sz="2400" dirty="0"/>
              <a:t>be added here with full-length citation, and </a:t>
            </a:r>
            <a:r>
              <a:rPr lang="en-US" sz="2400" b="1" dirty="0">
                <a:solidFill>
                  <a:srgbClr val="FF0000"/>
                </a:solidFill>
              </a:rPr>
              <a:t>NOTHING ELSE</a:t>
            </a:r>
          </a:p>
          <a:p>
            <a:endParaRPr lang="en-US" sz="2400" b="1" dirty="0">
              <a:solidFill>
                <a:srgbClr val="FF0000"/>
              </a:solidFill>
            </a:endParaRPr>
          </a:p>
          <a:p>
            <a:endParaRPr lang="en-US" sz="2400" b="1" dirty="0">
              <a:solidFill>
                <a:srgbClr val="FF0000"/>
              </a:solidFill>
            </a:endParaRPr>
          </a:p>
          <a:p>
            <a:r>
              <a:rPr lang="en-US" sz="2000" dirty="0"/>
              <a:t>Journals using APA format include the following information in the references, </a:t>
            </a:r>
            <a:r>
              <a:rPr lang="en-US" sz="2000" i="1" dirty="0"/>
              <a:t>usually </a:t>
            </a:r>
            <a:r>
              <a:rPr lang="en-US" sz="2000" dirty="0"/>
              <a:t>in this order:</a:t>
            </a:r>
            <a:endParaRPr lang="en-US" sz="2400" dirty="0"/>
          </a:p>
          <a:p>
            <a:r>
              <a:rPr lang="en-US" sz="2400" dirty="0"/>
              <a:t>Jones, R. J. and S. T. Smith. 2005.  Mass mortality of long-spine 	sea urchins: epidemiology and ecological consequences.  	Marine Biology, </a:t>
            </a:r>
            <a:r>
              <a:rPr lang="en-US" sz="2400" dirty="0">
                <a:solidFill>
                  <a:srgbClr val="FF0000"/>
                </a:solidFill>
              </a:rPr>
              <a:t>74: </a:t>
            </a:r>
            <a:r>
              <a:rPr lang="en-US" sz="2400" dirty="0"/>
              <a:t>345-356. </a:t>
            </a:r>
          </a:p>
          <a:p>
            <a:endParaRPr lang="en-US" sz="2400" dirty="0"/>
          </a:p>
          <a:p>
            <a:r>
              <a:rPr lang="en-US" sz="2400" dirty="0">
                <a:solidFill>
                  <a:srgbClr val="FF0000"/>
                </a:solidFill>
              </a:rPr>
              <a:t>Journal volume</a:t>
            </a:r>
          </a:p>
        </p:txBody>
      </p:sp>
    </p:spTree>
    <p:extLst>
      <p:ext uri="{BB962C8B-B14F-4D97-AF65-F5344CB8AC3E}">
        <p14:creationId xmlns:p14="http://schemas.microsoft.com/office/powerpoint/2010/main" val="1497448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39CB-FC90-5C45-B490-ED74FF4731F7}"/>
              </a:ext>
            </a:extLst>
          </p:cNvPr>
          <p:cNvSpPr>
            <a:spLocks noGrp="1"/>
          </p:cNvSpPr>
          <p:nvPr>
            <p:ph type="title"/>
          </p:nvPr>
        </p:nvSpPr>
        <p:spPr/>
        <p:txBody>
          <a:bodyPr/>
          <a:lstStyle/>
          <a:p>
            <a:r>
              <a:rPr lang="en-US" dirty="0">
                <a:solidFill>
                  <a:srgbClr val="C00000"/>
                </a:solidFill>
              </a:rPr>
              <a:t>3. References</a:t>
            </a:r>
          </a:p>
        </p:txBody>
      </p:sp>
      <p:sp>
        <p:nvSpPr>
          <p:cNvPr id="3" name="TextBox 2">
            <a:extLst>
              <a:ext uri="{FF2B5EF4-FFF2-40B4-BE49-F238E27FC236}">
                <a16:creationId xmlns:a16="http://schemas.microsoft.com/office/drawing/2014/main" id="{2148280F-A0F5-A04B-9857-328309F684FA}"/>
              </a:ext>
            </a:extLst>
          </p:cNvPr>
          <p:cNvSpPr txBox="1"/>
          <p:nvPr/>
        </p:nvSpPr>
        <p:spPr>
          <a:xfrm>
            <a:off x="628650" y="1549495"/>
            <a:ext cx="8033659" cy="4832092"/>
          </a:xfrm>
          <a:prstGeom prst="rect">
            <a:avLst/>
          </a:prstGeom>
          <a:noFill/>
        </p:spPr>
        <p:txBody>
          <a:bodyPr wrap="square" rtlCol="0">
            <a:spAutoFit/>
          </a:bodyPr>
          <a:lstStyle/>
          <a:p>
            <a:r>
              <a:rPr lang="en-US" sz="2800" b="1" dirty="0"/>
              <a:t>The References section:</a:t>
            </a:r>
          </a:p>
          <a:p>
            <a:r>
              <a:rPr lang="en-US" sz="2400" b="1" dirty="0">
                <a:solidFill>
                  <a:srgbClr val="FF0000"/>
                </a:solidFill>
              </a:rPr>
              <a:t>ALL</a:t>
            </a:r>
            <a:r>
              <a:rPr lang="en-US" sz="2400" dirty="0">
                <a:solidFill>
                  <a:srgbClr val="FF0000"/>
                </a:solidFill>
              </a:rPr>
              <a:t> </a:t>
            </a:r>
            <a:r>
              <a:rPr lang="en-US" sz="2400" dirty="0"/>
              <a:t>references that you cited in-text </a:t>
            </a:r>
            <a:r>
              <a:rPr lang="en-US" sz="2400" b="1" dirty="0">
                <a:solidFill>
                  <a:srgbClr val="FF0000"/>
                </a:solidFill>
              </a:rPr>
              <a:t>MUST</a:t>
            </a:r>
            <a:r>
              <a:rPr lang="en-US" sz="2400" b="1" dirty="0"/>
              <a:t> </a:t>
            </a:r>
            <a:r>
              <a:rPr lang="en-US" sz="2400" dirty="0"/>
              <a:t>be added here with full-length citation, and </a:t>
            </a:r>
            <a:r>
              <a:rPr lang="en-US" sz="2400" b="1" dirty="0">
                <a:solidFill>
                  <a:srgbClr val="FF0000"/>
                </a:solidFill>
              </a:rPr>
              <a:t>NOTHING ELSE</a:t>
            </a:r>
          </a:p>
          <a:p>
            <a:endParaRPr lang="en-US" sz="2400" b="1" dirty="0">
              <a:solidFill>
                <a:srgbClr val="FF0000"/>
              </a:solidFill>
            </a:endParaRPr>
          </a:p>
          <a:p>
            <a:endParaRPr lang="en-US" sz="2400" b="1" dirty="0">
              <a:solidFill>
                <a:srgbClr val="FF0000"/>
              </a:solidFill>
            </a:endParaRPr>
          </a:p>
          <a:p>
            <a:r>
              <a:rPr lang="en-US" sz="2000" dirty="0"/>
              <a:t>Journals using APA format include the following information in the references, </a:t>
            </a:r>
            <a:r>
              <a:rPr lang="en-US" sz="2000" i="1" dirty="0"/>
              <a:t>usually </a:t>
            </a:r>
            <a:r>
              <a:rPr lang="en-US" sz="2000" dirty="0"/>
              <a:t>in this order:</a:t>
            </a:r>
            <a:endParaRPr lang="en-US" sz="2400" dirty="0"/>
          </a:p>
          <a:p>
            <a:r>
              <a:rPr lang="en-US" sz="2400" dirty="0"/>
              <a:t>Jones, R. J. and S. T. Smith. 2005.  Mass mortality of long-spine 	sea urchins: epidemiology and ecological consequences.  	Marine Biology, 74: </a:t>
            </a:r>
            <a:r>
              <a:rPr lang="en-US" sz="2400" dirty="0">
                <a:solidFill>
                  <a:srgbClr val="FF0000"/>
                </a:solidFill>
              </a:rPr>
              <a:t>345-356. </a:t>
            </a:r>
          </a:p>
          <a:p>
            <a:endParaRPr lang="en-US" sz="2400" dirty="0"/>
          </a:p>
          <a:p>
            <a:r>
              <a:rPr lang="en-US" sz="2400" dirty="0">
                <a:solidFill>
                  <a:srgbClr val="FF0000"/>
                </a:solidFill>
              </a:rPr>
              <a:t>Page range </a:t>
            </a:r>
          </a:p>
          <a:p>
            <a:r>
              <a:rPr lang="en-US" sz="2400" dirty="0">
                <a:solidFill>
                  <a:srgbClr val="FF0000"/>
                </a:solidFill>
              </a:rPr>
              <a:t>(sometimes for electronic articles this is an e-number instead)</a:t>
            </a:r>
          </a:p>
        </p:txBody>
      </p:sp>
    </p:spTree>
    <p:extLst>
      <p:ext uri="{BB962C8B-B14F-4D97-AF65-F5344CB8AC3E}">
        <p14:creationId xmlns:p14="http://schemas.microsoft.com/office/powerpoint/2010/main" val="1493408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39CB-FC90-5C45-B490-ED74FF4731F7}"/>
              </a:ext>
            </a:extLst>
          </p:cNvPr>
          <p:cNvSpPr>
            <a:spLocks noGrp="1"/>
          </p:cNvSpPr>
          <p:nvPr>
            <p:ph type="title"/>
          </p:nvPr>
        </p:nvSpPr>
        <p:spPr/>
        <p:txBody>
          <a:bodyPr/>
          <a:lstStyle/>
          <a:p>
            <a:r>
              <a:rPr lang="en-US" dirty="0">
                <a:solidFill>
                  <a:srgbClr val="C00000"/>
                </a:solidFill>
              </a:rPr>
              <a:t>3. References</a:t>
            </a:r>
          </a:p>
        </p:txBody>
      </p:sp>
      <p:sp>
        <p:nvSpPr>
          <p:cNvPr id="3" name="TextBox 2">
            <a:extLst>
              <a:ext uri="{FF2B5EF4-FFF2-40B4-BE49-F238E27FC236}">
                <a16:creationId xmlns:a16="http://schemas.microsoft.com/office/drawing/2014/main" id="{2148280F-A0F5-A04B-9857-328309F684FA}"/>
              </a:ext>
            </a:extLst>
          </p:cNvPr>
          <p:cNvSpPr txBox="1"/>
          <p:nvPr/>
        </p:nvSpPr>
        <p:spPr>
          <a:xfrm>
            <a:off x="628650" y="1499799"/>
            <a:ext cx="8033659" cy="4770537"/>
          </a:xfrm>
          <a:prstGeom prst="rect">
            <a:avLst/>
          </a:prstGeom>
          <a:noFill/>
        </p:spPr>
        <p:txBody>
          <a:bodyPr wrap="square" rtlCol="0">
            <a:spAutoFit/>
          </a:bodyPr>
          <a:lstStyle/>
          <a:p>
            <a:r>
              <a:rPr lang="en-US" sz="2800" b="1" dirty="0"/>
              <a:t>How to list references:</a:t>
            </a:r>
          </a:p>
          <a:p>
            <a:endParaRPr lang="en-US" sz="2000" b="1" dirty="0"/>
          </a:p>
          <a:p>
            <a:r>
              <a:rPr lang="en-US" sz="2400" dirty="0"/>
              <a:t>Some journals order references in alphabetical order by last name of the first author.</a:t>
            </a:r>
          </a:p>
          <a:p>
            <a:endParaRPr lang="en-US" sz="2400" dirty="0"/>
          </a:p>
          <a:p>
            <a:r>
              <a:rPr lang="en-US" sz="2400" i="1" dirty="0"/>
              <a:t>Shark finning is worse now than ever before (Esperanza et al. 2001; Jacoby and Meyers, 2021). </a:t>
            </a:r>
          </a:p>
          <a:p>
            <a:endParaRPr lang="en-US" sz="2400" dirty="0"/>
          </a:p>
          <a:p>
            <a:r>
              <a:rPr lang="en-US" sz="2400" dirty="0"/>
              <a:t>Other journals list by order of appearance in text.</a:t>
            </a:r>
            <a:br>
              <a:rPr lang="en-US" sz="2400" dirty="0"/>
            </a:br>
            <a:br>
              <a:rPr lang="en-US" sz="2400" dirty="0"/>
            </a:br>
            <a:r>
              <a:rPr lang="en-US" sz="2400" i="1" dirty="0"/>
              <a:t>Shark finning is worse now than ever before [1,2]. </a:t>
            </a:r>
          </a:p>
          <a:p>
            <a:endParaRPr lang="en-US" sz="2000" dirty="0"/>
          </a:p>
          <a:p>
            <a:endParaRPr lang="en-US" sz="2000" dirty="0"/>
          </a:p>
        </p:txBody>
      </p:sp>
    </p:spTree>
    <p:extLst>
      <p:ext uri="{BB962C8B-B14F-4D97-AF65-F5344CB8AC3E}">
        <p14:creationId xmlns:p14="http://schemas.microsoft.com/office/powerpoint/2010/main" val="3498451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39CB-FC90-5C45-B490-ED74FF4731F7}"/>
              </a:ext>
            </a:extLst>
          </p:cNvPr>
          <p:cNvSpPr>
            <a:spLocks noGrp="1"/>
          </p:cNvSpPr>
          <p:nvPr>
            <p:ph type="title"/>
          </p:nvPr>
        </p:nvSpPr>
        <p:spPr/>
        <p:txBody>
          <a:bodyPr/>
          <a:lstStyle/>
          <a:p>
            <a:r>
              <a:rPr lang="en-US" dirty="0">
                <a:solidFill>
                  <a:srgbClr val="C00000"/>
                </a:solidFill>
              </a:rPr>
              <a:t>3. References</a:t>
            </a:r>
          </a:p>
        </p:txBody>
      </p:sp>
      <p:sp>
        <p:nvSpPr>
          <p:cNvPr id="3" name="TextBox 2">
            <a:extLst>
              <a:ext uri="{FF2B5EF4-FFF2-40B4-BE49-F238E27FC236}">
                <a16:creationId xmlns:a16="http://schemas.microsoft.com/office/drawing/2014/main" id="{2148280F-A0F5-A04B-9857-328309F684FA}"/>
              </a:ext>
            </a:extLst>
          </p:cNvPr>
          <p:cNvSpPr txBox="1"/>
          <p:nvPr/>
        </p:nvSpPr>
        <p:spPr>
          <a:xfrm>
            <a:off x="628650" y="1502842"/>
            <a:ext cx="8033659" cy="4693593"/>
          </a:xfrm>
          <a:prstGeom prst="rect">
            <a:avLst/>
          </a:prstGeom>
          <a:noFill/>
        </p:spPr>
        <p:txBody>
          <a:bodyPr wrap="square" rtlCol="0">
            <a:spAutoFit/>
          </a:bodyPr>
          <a:lstStyle/>
          <a:p>
            <a:r>
              <a:rPr lang="en-US" sz="2800" b="1" dirty="0"/>
              <a:t>How to list references:</a:t>
            </a:r>
          </a:p>
          <a:p>
            <a:endParaRPr lang="en-US" sz="2000" b="1" dirty="0"/>
          </a:p>
          <a:p>
            <a:r>
              <a:rPr lang="en-US" sz="2000" dirty="0">
                <a:solidFill>
                  <a:srgbClr val="FF0000"/>
                </a:solidFill>
              </a:rPr>
              <a:t>LOTS of minor variation in format among journals! Always check!</a:t>
            </a:r>
          </a:p>
          <a:p>
            <a:endParaRPr lang="en-US" sz="1100" dirty="0"/>
          </a:p>
          <a:p>
            <a:r>
              <a:rPr lang="en-US" sz="2000" dirty="0"/>
              <a:t>Jones, R. J., and S. T. Smith. 2005.</a:t>
            </a:r>
          </a:p>
          <a:p>
            <a:r>
              <a:rPr lang="en-US" sz="2000" dirty="0"/>
              <a:t>Jones, R. J., and Smith, S. T. 2005.</a:t>
            </a:r>
          </a:p>
          <a:p>
            <a:r>
              <a:rPr lang="en-US" sz="2000" dirty="0"/>
              <a:t>Jones, R. J., &amp; Smith, S. T. 2005.</a:t>
            </a:r>
          </a:p>
          <a:p>
            <a:r>
              <a:rPr lang="en-US" sz="2000" dirty="0"/>
              <a:t>Jones, R J, and Smith, S T. 2005.</a:t>
            </a:r>
          </a:p>
          <a:p>
            <a:r>
              <a:rPr lang="en-US" sz="2000" dirty="0"/>
              <a:t>Jones R J, Smith ST (2005).</a:t>
            </a:r>
          </a:p>
          <a:p>
            <a:r>
              <a:rPr lang="en-US" sz="2000" dirty="0"/>
              <a:t>	</a:t>
            </a:r>
            <a:r>
              <a:rPr lang="en-US" sz="2000" i="1" dirty="0"/>
              <a:t>Marine Biology</a:t>
            </a:r>
            <a:r>
              <a:rPr lang="en-US" sz="2000" dirty="0"/>
              <a:t>, 74:345–356.</a:t>
            </a:r>
          </a:p>
          <a:p>
            <a:r>
              <a:rPr lang="en-US" sz="2000" dirty="0"/>
              <a:t>	Marine Biology 74:345–356.</a:t>
            </a:r>
          </a:p>
          <a:p>
            <a:r>
              <a:rPr lang="en-US" sz="2000" dirty="0"/>
              <a:t>	Mar. Biol., </a:t>
            </a:r>
            <a:r>
              <a:rPr lang="en-US" sz="2000" b="1" dirty="0"/>
              <a:t>74</a:t>
            </a:r>
            <a:r>
              <a:rPr lang="en-US" sz="2000" dirty="0"/>
              <a:t>:345–356.*</a:t>
            </a:r>
          </a:p>
          <a:p>
            <a:r>
              <a:rPr lang="en-US" sz="2000" dirty="0"/>
              <a:t>	Mar. Biol., 74: 345–356.*</a:t>
            </a:r>
          </a:p>
          <a:p>
            <a:endParaRPr lang="en-US" sz="2000" dirty="0"/>
          </a:p>
          <a:p>
            <a:r>
              <a:rPr lang="en-US" sz="2000" dirty="0"/>
              <a:t>*Note that every journal has a standard abbreviation that you must look up</a:t>
            </a:r>
          </a:p>
        </p:txBody>
      </p:sp>
    </p:spTree>
    <p:extLst>
      <p:ext uri="{BB962C8B-B14F-4D97-AF65-F5344CB8AC3E}">
        <p14:creationId xmlns:p14="http://schemas.microsoft.com/office/powerpoint/2010/main" val="3162946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39CB-FC90-5C45-B490-ED74FF4731F7}"/>
              </a:ext>
            </a:extLst>
          </p:cNvPr>
          <p:cNvSpPr>
            <a:spLocks noGrp="1"/>
          </p:cNvSpPr>
          <p:nvPr>
            <p:ph type="title"/>
          </p:nvPr>
        </p:nvSpPr>
        <p:spPr/>
        <p:txBody>
          <a:bodyPr/>
          <a:lstStyle/>
          <a:p>
            <a:r>
              <a:rPr lang="en-US" dirty="0">
                <a:solidFill>
                  <a:srgbClr val="C00000"/>
                </a:solidFill>
              </a:rPr>
              <a:t>3. References</a:t>
            </a:r>
          </a:p>
        </p:txBody>
      </p:sp>
      <p:sp>
        <p:nvSpPr>
          <p:cNvPr id="3" name="TextBox 2">
            <a:extLst>
              <a:ext uri="{FF2B5EF4-FFF2-40B4-BE49-F238E27FC236}">
                <a16:creationId xmlns:a16="http://schemas.microsoft.com/office/drawing/2014/main" id="{2148280F-A0F5-A04B-9857-328309F684FA}"/>
              </a:ext>
            </a:extLst>
          </p:cNvPr>
          <p:cNvSpPr txBox="1"/>
          <p:nvPr/>
        </p:nvSpPr>
        <p:spPr>
          <a:xfrm>
            <a:off x="628651" y="1624141"/>
            <a:ext cx="4923064" cy="5539978"/>
          </a:xfrm>
          <a:prstGeom prst="rect">
            <a:avLst/>
          </a:prstGeom>
          <a:noFill/>
        </p:spPr>
        <p:txBody>
          <a:bodyPr wrap="square" rtlCol="0">
            <a:spAutoFit/>
          </a:bodyPr>
          <a:lstStyle/>
          <a:p>
            <a:r>
              <a:rPr lang="en-US" sz="2800" b="1" dirty="0"/>
              <a:t>What do we do in this class?</a:t>
            </a:r>
          </a:p>
          <a:p>
            <a:endParaRPr lang="en-US" sz="2000" b="1" dirty="0"/>
          </a:p>
          <a:p>
            <a:r>
              <a:rPr lang="en-US" sz="2000" dirty="0"/>
              <a:t>In this class, you will have in-text citations and a reference list in your research paper.</a:t>
            </a:r>
          </a:p>
          <a:p>
            <a:endParaRPr lang="en-US" sz="2000" dirty="0"/>
          </a:p>
          <a:p>
            <a:r>
              <a:rPr lang="en-US" sz="2000" dirty="0"/>
              <a:t>Let’s use the format from the </a:t>
            </a:r>
          </a:p>
          <a:p>
            <a:r>
              <a:rPr lang="en-US" sz="2600" b="1" dirty="0"/>
              <a:t>Journal of Fish Biology.</a:t>
            </a:r>
          </a:p>
          <a:p>
            <a:endParaRPr lang="en-US" sz="2000" b="1" dirty="0"/>
          </a:p>
          <a:p>
            <a:endParaRPr lang="en-US" sz="2000" b="1" dirty="0"/>
          </a:p>
          <a:p>
            <a:endParaRPr lang="en-US" sz="2000" b="1" dirty="0"/>
          </a:p>
          <a:p>
            <a:r>
              <a:rPr lang="en-US" sz="2000" dirty="0"/>
              <a:t>See the Author Guidelines or a recent article in this journal: </a:t>
            </a:r>
            <a:r>
              <a:rPr lang="en-US" sz="2000" dirty="0">
                <a:hlinkClick r:id="rId3"/>
              </a:rPr>
              <a:t>https://onlinelibrary.wiley.com/page/journal/10958649/homepage/forauthors.html</a:t>
            </a:r>
            <a:endParaRPr lang="en-US" sz="2000" dirty="0"/>
          </a:p>
          <a:p>
            <a:endParaRPr lang="en-US" sz="2000" dirty="0"/>
          </a:p>
          <a:p>
            <a:endParaRPr lang="en-US" sz="2000" dirty="0"/>
          </a:p>
          <a:p>
            <a:endParaRPr lang="en-US" sz="2000" dirty="0"/>
          </a:p>
        </p:txBody>
      </p:sp>
      <p:pic>
        <p:nvPicPr>
          <p:cNvPr id="11" name="Picture 10">
            <a:extLst>
              <a:ext uri="{FF2B5EF4-FFF2-40B4-BE49-F238E27FC236}">
                <a16:creationId xmlns:a16="http://schemas.microsoft.com/office/drawing/2014/main" id="{19A9FE56-D8A6-5340-8852-4597EFD1308E}"/>
              </a:ext>
            </a:extLst>
          </p:cNvPr>
          <p:cNvPicPr>
            <a:picLocks noChangeAspect="1"/>
          </p:cNvPicPr>
          <p:nvPr/>
        </p:nvPicPr>
        <p:blipFill>
          <a:blip r:embed="rId4"/>
          <a:stretch>
            <a:fillRect/>
          </a:stretch>
        </p:blipFill>
        <p:spPr>
          <a:xfrm>
            <a:off x="5551715" y="186612"/>
            <a:ext cx="3388732" cy="4432041"/>
          </a:xfrm>
          <a:prstGeom prst="rect">
            <a:avLst/>
          </a:prstGeom>
        </p:spPr>
      </p:pic>
    </p:spTree>
    <p:extLst>
      <p:ext uri="{BB962C8B-B14F-4D97-AF65-F5344CB8AC3E}">
        <p14:creationId xmlns:p14="http://schemas.microsoft.com/office/powerpoint/2010/main" val="2071052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F95B079-32B8-D54A-8760-4BFE7E76AAAC}"/>
              </a:ext>
            </a:extLst>
          </p:cNvPr>
          <p:cNvSpPr/>
          <p:nvPr/>
        </p:nvSpPr>
        <p:spPr>
          <a:xfrm>
            <a:off x="0" y="78961"/>
            <a:ext cx="8940800" cy="6186309"/>
          </a:xfrm>
          <a:prstGeom prst="rect">
            <a:avLst/>
          </a:prstGeom>
        </p:spPr>
        <p:txBody>
          <a:bodyPr wrap="square">
            <a:spAutoFit/>
          </a:bodyPr>
          <a:lstStyle/>
          <a:p>
            <a:r>
              <a:rPr lang="en-US" sz="1100" b="1" dirty="0">
                <a:solidFill>
                  <a:srgbClr val="1C1D1E"/>
                </a:solidFill>
                <a:latin typeface="Open Sans" panose="020B0606030504020204" pitchFamily="34" charset="0"/>
              </a:rPr>
              <a:t>3.1.10 References</a:t>
            </a:r>
            <a:endParaRPr lang="en-US" sz="1100" dirty="0">
              <a:solidFill>
                <a:srgbClr val="1C1D1E"/>
              </a:solidFill>
              <a:latin typeface="Open Sans" panose="020B0606030504020204" pitchFamily="34" charset="0"/>
            </a:endParaRPr>
          </a:p>
          <a:p>
            <a:r>
              <a:rPr lang="en-US" sz="1100" dirty="0">
                <a:solidFill>
                  <a:srgbClr val="1C1D1E"/>
                </a:solidFill>
                <a:latin typeface="Open Sans" panose="020B0606030504020204" pitchFamily="34" charset="0"/>
              </a:rPr>
              <a:t>All published citations mentioned in the text, tables or figures must be listed in the reference list, which includes all key elements of each reference, including the names of journals in full (not abbreviated). Authors are responsible for checking the accuracy of their references. Manuscript submissions are not required to use JFB reference formatting until the article is provisionally accepted. Corrections may be made during the publication process. A manuscript title must appear exactly as in the original publication. </a:t>
            </a:r>
            <a:r>
              <a:rPr lang="en-US" sz="1100" b="1" i="1" dirty="0">
                <a:solidFill>
                  <a:srgbClr val="1C1D1E"/>
                </a:solidFill>
                <a:latin typeface="Open Sans" panose="020B0606030504020204" pitchFamily="34" charset="0"/>
              </a:rPr>
              <a:t>JFB</a:t>
            </a:r>
            <a:r>
              <a:rPr lang="en-US" sz="1100" b="1" dirty="0">
                <a:solidFill>
                  <a:srgbClr val="1C1D1E"/>
                </a:solidFill>
                <a:latin typeface="Open Sans" panose="020B0606030504020204" pitchFamily="34" charset="0"/>
              </a:rPr>
              <a:t> uses APA style referencing with some minor style changes</a:t>
            </a:r>
            <a:r>
              <a:rPr lang="en-US" sz="1100" dirty="0">
                <a:solidFill>
                  <a:srgbClr val="1C1D1E"/>
                </a:solidFill>
                <a:latin typeface="Open Sans" panose="020B0606030504020204" pitchFamily="34" charset="0"/>
              </a:rPr>
              <a:t>. Examples of </a:t>
            </a:r>
            <a:r>
              <a:rPr lang="en-US" sz="1100" i="1" dirty="0">
                <a:solidFill>
                  <a:srgbClr val="1C1D1E"/>
                </a:solidFill>
                <a:latin typeface="Open Sans" panose="020B0606030504020204" pitchFamily="34" charset="0"/>
              </a:rPr>
              <a:t>JFB</a:t>
            </a:r>
            <a:r>
              <a:rPr lang="en-US" sz="1100" dirty="0">
                <a:solidFill>
                  <a:srgbClr val="1C1D1E"/>
                </a:solidFill>
                <a:latin typeface="Open Sans" panose="020B0606030504020204" pitchFamily="34" charset="0"/>
              </a:rPr>
              <a:t> reference content requirements are shown below.</a:t>
            </a:r>
          </a:p>
          <a:p>
            <a:endParaRPr lang="en-US" sz="1100" dirty="0">
              <a:solidFill>
                <a:srgbClr val="1C1D1E"/>
              </a:solidFill>
              <a:latin typeface="Open Sans" panose="020B0606030504020204" pitchFamily="34" charset="0"/>
            </a:endParaRPr>
          </a:p>
          <a:p>
            <a:r>
              <a:rPr lang="en-US" sz="1100" b="1" dirty="0">
                <a:solidFill>
                  <a:srgbClr val="1C1D1E"/>
                </a:solidFill>
                <a:latin typeface="Open Sans" panose="020B0606030504020204" pitchFamily="34" charset="0"/>
              </a:rPr>
              <a:t>Journal Article:</a:t>
            </a:r>
            <a:endParaRPr lang="en-US" sz="1100" dirty="0">
              <a:solidFill>
                <a:srgbClr val="1C1D1E"/>
              </a:solidFill>
              <a:latin typeface="Open Sans" panose="020B0606030504020204" pitchFamily="34" charset="0"/>
            </a:endParaRPr>
          </a:p>
          <a:p>
            <a:r>
              <a:rPr lang="en-US" sz="1100" dirty="0">
                <a:solidFill>
                  <a:srgbClr val="1C1D1E"/>
                </a:solidFill>
                <a:latin typeface="Open Sans" panose="020B0606030504020204" pitchFamily="34" charset="0"/>
              </a:rPr>
              <a:t>Flowers, K. I., Henderson, A. C., Lupton, J. L., &amp; Chapman, D. D. (2017). Site affinity of </a:t>
            </a:r>
            <a:r>
              <a:rPr lang="en-US" sz="1100" dirty="0" err="1">
                <a:solidFill>
                  <a:srgbClr val="1C1D1E"/>
                </a:solidFill>
                <a:latin typeface="Open Sans" panose="020B0606030504020204" pitchFamily="34" charset="0"/>
              </a:rPr>
              <a:t>whitespotted</a:t>
            </a:r>
            <a:r>
              <a:rPr lang="en-US" sz="1100" dirty="0">
                <a:solidFill>
                  <a:srgbClr val="1C1D1E"/>
                </a:solidFill>
                <a:latin typeface="Open Sans" panose="020B0606030504020204" pitchFamily="34" charset="0"/>
              </a:rPr>
              <a:t> eagle rays </a:t>
            </a:r>
            <a:r>
              <a:rPr lang="en-US" sz="1100" i="1" dirty="0" err="1">
                <a:solidFill>
                  <a:srgbClr val="1C1D1E"/>
                </a:solidFill>
                <a:latin typeface="Open Sans" panose="020B0606030504020204" pitchFamily="34" charset="0"/>
              </a:rPr>
              <a:t>Aetobatus</a:t>
            </a:r>
            <a:r>
              <a:rPr lang="en-US" sz="1100" i="1" dirty="0">
                <a:solidFill>
                  <a:srgbClr val="1C1D1E"/>
                </a:solidFill>
                <a:latin typeface="Open Sans" panose="020B0606030504020204" pitchFamily="34" charset="0"/>
              </a:rPr>
              <a:t> </a:t>
            </a:r>
            <a:r>
              <a:rPr lang="en-US" sz="1100" i="1" dirty="0" err="1">
                <a:solidFill>
                  <a:srgbClr val="1C1D1E"/>
                </a:solidFill>
                <a:latin typeface="Open Sans" panose="020B0606030504020204" pitchFamily="34" charset="0"/>
              </a:rPr>
              <a:t>narinari</a:t>
            </a:r>
            <a:r>
              <a:rPr lang="en-US" sz="1100" dirty="0">
                <a:solidFill>
                  <a:srgbClr val="1C1D1E"/>
                </a:solidFill>
                <a:latin typeface="Open Sans" panose="020B0606030504020204" pitchFamily="34" charset="0"/>
              </a:rPr>
              <a:t> assessed using photographic identification. </a:t>
            </a:r>
            <a:r>
              <a:rPr lang="en-US" sz="1100" i="1" dirty="0">
                <a:solidFill>
                  <a:srgbClr val="1C1D1E"/>
                </a:solidFill>
                <a:latin typeface="Open Sans" panose="020B0606030504020204" pitchFamily="34" charset="0"/>
              </a:rPr>
              <a:t>Journal of Fish Biology</a:t>
            </a:r>
            <a:r>
              <a:rPr lang="en-US" sz="1100" dirty="0">
                <a:solidFill>
                  <a:srgbClr val="1C1D1E"/>
                </a:solidFill>
                <a:latin typeface="Open Sans" panose="020B0606030504020204" pitchFamily="34" charset="0"/>
              </a:rPr>
              <a:t>, </a:t>
            </a:r>
            <a:r>
              <a:rPr lang="en-US" sz="1100" b="1" dirty="0">
                <a:solidFill>
                  <a:srgbClr val="1C1D1E"/>
                </a:solidFill>
                <a:latin typeface="Open Sans" panose="020B0606030504020204" pitchFamily="34" charset="0"/>
              </a:rPr>
              <a:t>91</a:t>
            </a:r>
            <a:r>
              <a:rPr lang="en-US" sz="1100" dirty="0">
                <a:solidFill>
                  <a:srgbClr val="1C1D1E"/>
                </a:solidFill>
                <a:latin typeface="Open Sans" panose="020B0606030504020204" pitchFamily="34" charset="0"/>
              </a:rPr>
              <a:t>, 1337– 1349 Gill, A. B. ( 2003).</a:t>
            </a:r>
          </a:p>
          <a:p>
            <a:r>
              <a:rPr lang="en-US" sz="1100" dirty="0">
                <a:solidFill>
                  <a:srgbClr val="1C1D1E"/>
                </a:solidFill>
                <a:latin typeface="Open Sans" panose="020B0606030504020204" pitchFamily="34" charset="0"/>
              </a:rPr>
              <a:t>Gill, A. B. ( 2003). The dynamics of prey choice in fish: The importance for prey size and satiation. </a:t>
            </a:r>
            <a:r>
              <a:rPr lang="en-US" sz="1100" i="1" dirty="0">
                <a:solidFill>
                  <a:srgbClr val="1C1D1E"/>
                </a:solidFill>
                <a:latin typeface="Open Sans" panose="020B0606030504020204" pitchFamily="34" charset="0"/>
              </a:rPr>
              <a:t>Journal of Fish Biology</a:t>
            </a:r>
            <a:r>
              <a:rPr lang="en-US" sz="1100" dirty="0">
                <a:solidFill>
                  <a:srgbClr val="1C1D1E"/>
                </a:solidFill>
                <a:latin typeface="Open Sans" panose="020B0606030504020204" pitchFamily="34" charset="0"/>
              </a:rPr>
              <a:t>, </a:t>
            </a:r>
            <a:r>
              <a:rPr lang="en-US" sz="1100" b="1" dirty="0">
                <a:solidFill>
                  <a:srgbClr val="1C1D1E"/>
                </a:solidFill>
                <a:latin typeface="Open Sans" panose="020B0606030504020204" pitchFamily="34" charset="0"/>
              </a:rPr>
              <a:t>63</a:t>
            </a:r>
            <a:r>
              <a:rPr lang="en-US" sz="1100" dirty="0">
                <a:solidFill>
                  <a:srgbClr val="1C1D1E"/>
                </a:solidFill>
                <a:latin typeface="Open Sans" panose="020B0606030504020204" pitchFamily="34" charset="0"/>
              </a:rPr>
              <a:t>, 105– 116</a:t>
            </a:r>
          </a:p>
          <a:p>
            <a:endParaRPr lang="en-US" sz="1100" dirty="0">
              <a:solidFill>
                <a:srgbClr val="1C1D1E"/>
              </a:solidFill>
              <a:latin typeface="Open Sans" panose="020B0606030504020204" pitchFamily="34" charset="0"/>
            </a:endParaRPr>
          </a:p>
          <a:p>
            <a:r>
              <a:rPr lang="en-US" sz="1100" b="1" dirty="0">
                <a:solidFill>
                  <a:srgbClr val="1C1D1E"/>
                </a:solidFill>
                <a:latin typeface="Open Sans" panose="020B0606030504020204" pitchFamily="34" charset="0"/>
              </a:rPr>
              <a:t>Online Article Not Yet Published in an Issue:</a:t>
            </a:r>
            <a:endParaRPr lang="en-US" sz="1100" dirty="0">
              <a:solidFill>
                <a:srgbClr val="1C1D1E"/>
              </a:solidFill>
              <a:latin typeface="Open Sans" panose="020B0606030504020204" pitchFamily="34" charset="0"/>
            </a:endParaRPr>
          </a:p>
          <a:p>
            <a:r>
              <a:rPr lang="en-US" sz="1100" dirty="0" err="1">
                <a:solidFill>
                  <a:srgbClr val="1C1D1E"/>
                </a:solidFill>
                <a:latin typeface="Open Sans" panose="020B0606030504020204" pitchFamily="34" charset="0"/>
              </a:rPr>
              <a:t>Mussen</a:t>
            </a:r>
            <a:r>
              <a:rPr lang="en-US" sz="1100" dirty="0">
                <a:solidFill>
                  <a:srgbClr val="1C1D1E"/>
                </a:solidFill>
                <a:latin typeface="Open Sans" panose="020B0606030504020204" pitchFamily="34" charset="0"/>
              </a:rPr>
              <a:t>, T. D., &amp; Cech Jr, J. J. (2018). Assessing the use of vibrations and strobe lights at fish screens as enhanced deterrents for two estuarine fishes. Advance online publication. https://</a:t>
            </a:r>
            <a:r>
              <a:rPr lang="en-US" sz="1100" dirty="0" err="1">
                <a:solidFill>
                  <a:srgbClr val="1C1D1E"/>
                </a:solidFill>
                <a:latin typeface="Open Sans" panose="020B0606030504020204" pitchFamily="34" charset="0"/>
              </a:rPr>
              <a:t>doi.org</a:t>
            </a:r>
            <a:r>
              <a:rPr lang="en-US" sz="1100" dirty="0">
                <a:solidFill>
                  <a:srgbClr val="1C1D1E"/>
                </a:solidFill>
                <a:latin typeface="Open Sans" panose="020B0606030504020204" pitchFamily="34" charset="0"/>
              </a:rPr>
              <a:t>/10.1111/jfb.13776</a:t>
            </a:r>
          </a:p>
          <a:p>
            <a:r>
              <a:rPr lang="en-US" sz="1100" dirty="0">
                <a:solidFill>
                  <a:srgbClr val="1C1D1E"/>
                </a:solidFill>
                <a:latin typeface="Open Sans" panose="020B0606030504020204" pitchFamily="34" charset="0"/>
              </a:rPr>
              <a:t>An online article is cited by its Digital Object Identifier (DOI), which remains valid and allows article tracking even after its allocation to an issue. It has no volume, issue or page numbers.</a:t>
            </a:r>
          </a:p>
          <a:p>
            <a:endParaRPr lang="en-US" sz="1100" dirty="0">
              <a:solidFill>
                <a:srgbClr val="1C1D1E"/>
              </a:solidFill>
              <a:latin typeface="Open Sans" panose="020B0606030504020204" pitchFamily="34" charset="0"/>
            </a:endParaRPr>
          </a:p>
          <a:p>
            <a:r>
              <a:rPr lang="en-US" sz="1100" b="1" dirty="0">
                <a:solidFill>
                  <a:srgbClr val="1C1D1E"/>
                </a:solidFill>
                <a:latin typeface="Open Sans" panose="020B0606030504020204" pitchFamily="34" charset="0"/>
              </a:rPr>
              <a:t>Book:</a:t>
            </a:r>
            <a:endParaRPr lang="en-US" sz="1100" dirty="0">
              <a:solidFill>
                <a:srgbClr val="1C1D1E"/>
              </a:solidFill>
              <a:latin typeface="Open Sans" panose="020B0606030504020204" pitchFamily="34" charset="0"/>
            </a:endParaRPr>
          </a:p>
          <a:p>
            <a:r>
              <a:rPr lang="en-US" sz="1100" dirty="0" err="1">
                <a:solidFill>
                  <a:srgbClr val="1C1D1E"/>
                </a:solidFill>
                <a:latin typeface="Open Sans" panose="020B0606030504020204" pitchFamily="34" charset="0"/>
              </a:rPr>
              <a:t>Halver</a:t>
            </a:r>
            <a:r>
              <a:rPr lang="en-US" sz="1100" dirty="0">
                <a:solidFill>
                  <a:srgbClr val="1C1D1E"/>
                </a:solidFill>
                <a:latin typeface="Open Sans" panose="020B0606030504020204" pitchFamily="34" charset="0"/>
              </a:rPr>
              <a:t>, J. E., &amp; Hardy, R. W. ( 2002). </a:t>
            </a:r>
            <a:r>
              <a:rPr lang="en-US" sz="1100" i="1" dirty="0">
                <a:solidFill>
                  <a:srgbClr val="1C1D1E"/>
                </a:solidFill>
                <a:latin typeface="Open Sans" panose="020B0606030504020204" pitchFamily="34" charset="0"/>
              </a:rPr>
              <a:t>Fish nutrition</a:t>
            </a:r>
            <a:r>
              <a:rPr lang="en-US" sz="1100" dirty="0">
                <a:solidFill>
                  <a:srgbClr val="1C1D1E"/>
                </a:solidFill>
                <a:latin typeface="Open Sans" panose="020B0606030504020204" pitchFamily="34" charset="0"/>
              </a:rPr>
              <a:t>. San Diego, CA: Academic Press</a:t>
            </a:r>
          </a:p>
          <a:p>
            <a:endParaRPr lang="en-US" sz="1100" dirty="0">
              <a:solidFill>
                <a:srgbClr val="1C1D1E"/>
              </a:solidFill>
              <a:latin typeface="Open Sans" panose="020B0606030504020204" pitchFamily="34" charset="0"/>
            </a:endParaRPr>
          </a:p>
          <a:p>
            <a:r>
              <a:rPr lang="en-US" sz="1100" b="1" dirty="0">
                <a:solidFill>
                  <a:srgbClr val="1C1D1E"/>
                </a:solidFill>
                <a:latin typeface="Open Sans" panose="020B0606030504020204" pitchFamily="34" charset="0"/>
              </a:rPr>
              <a:t>Chapter in a Book:</a:t>
            </a:r>
            <a:endParaRPr lang="en-US" sz="1100" dirty="0">
              <a:solidFill>
                <a:srgbClr val="1C1D1E"/>
              </a:solidFill>
              <a:latin typeface="Open Sans" panose="020B0606030504020204" pitchFamily="34" charset="0"/>
            </a:endParaRPr>
          </a:p>
          <a:p>
            <a:r>
              <a:rPr lang="en-US" sz="1100" dirty="0" err="1">
                <a:solidFill>
                  <a:srgbClr val="1C1D1E"/>
                </a:solidFill>
                <a:latin typeface="Open Sans" panose="020B0606030504020204" pitchFamily="34" charset="0"/>
              </a:rPr>
              <a:t>Mench</a:t>
            </a:r>
            <a:r>
              <a:rPr lang="en-US" sz="1100" dirty="0">
                <a:solidFill>
                  <a:srgbClr val="1C1D1E"/>
                </a:solidFill>
                <a:latin typeface="Open Sans" panose="020B0606030504020204" pitchFamily="34" charset="0"/>
              </a:rPr>
              <a:t>, J. A., &amp; Mason, G. J. ( 1997). </a:t>
            </a:r>
            <a:r>
              <a:rPr lang="en-US" sz="1100" dirty="0" err="1">
                <a:solidFill>
                  <a:srgbClr val="1C1D1E"/>
                </a:solidFill>
                <a:latin typeface="Open Sans" panose="020B0606030504020204" pitchFamily="34" charset="0"/>
              </a:rPr>
              <a:t>Behaviour</a:t>
            </a:r>
            <a:r>
              <a:rPr lang="en-US" sz="1100" dirty="0">
                <a:solidFill>
                  <a:srgbClr val="1C1D1E"/>
                </a:solidFill>
                <a:latin typeface="Open Sans" panose="020B0606030504020204" pitchFamily="34" charset="0"/>
              </a:rPr>
              <a:t>. In M. C. Appleby &amp; B. O. Hughes (Eds.), </a:t>
            </a:r>
            <a:r>
              <a:rPr lang="en-US" sz="1100" i="1" dirty="0">
                <a:solidFill>
                  <a:srgbClr val="1C1D1E"/>
                </a:solidFill>
                <a:latin typeface="Open Sans" panose="020B0606030504020204" pitchFamily="34" charset="0"/>
              </a:rPr>
              <a:t>Animal Welfare</a:t>
            </a:r>
            <a:r>
              <a:rPr lang="en-US" sz="1100" dirty="0">
                <a:solidFill>
                  <a:srgbClr val="1C1D1E"/>
                </a:solidFill>
                <a:latin typeface="Open Sans" panose="020B0606030504020204" pitchFamily="34" charset="0"/>
              </a:rPr>
              <a:t> (pp. 127– 142). New York, NY: CAB International</a:t>
            </a:r>
          </a:p>
          <a:p>
            <a:endParaRPr lang="en-US" sz="1100" dirty="0">
              <a:solidFill>
                <a:srgbClr val="1C1D1E"/>
              </a:solidFill>
              <a:latin typeface="Open Sans" panose="020B0606030504020204" pitchFamily="34" charset="0"/>
            </a:endParaRPr>
          </a:p>
          <a:p>
            <a:r>
              <a:rPr lang="en-US" sz="1100" b="1" dirty="0" err="1">
                <a:solidFill>
                  <a:srgbClr val="1C1D1E"/>
                </a:solidFill>
                <a:latin typeface="Open Sans" panose="020B0606030504020204" pitchFamily="34" charset="0"/>
              </a:rPr>
              <a:t>Docotral</a:t>
            </a:r>
            <a:r>
              <a:rPr lang="en-US" sz="1100" b="1" dirty="0">
                <a:solidFill>
                  <a:srgbClr val="1C1D1E"/>
                </a:solidFill>
                <a:latin typeface="Open Sans" panose="020B0606030504020204" pitchFamily="34" charset="0"/>
              </a:rPr>
              <a:t> Thesis:</a:t>
            </a:r>
            <a:r>
              <a:rPr lang="en-US" sz="1100" dirty="0">
                <a:solidFill>
                  <a:srgbClr val="1C1D1E"/>
                </a:solidFill>
                <a:latin typeface="Open Sans" panose="020B0606030504020204" pitchFamily="34" charset="0"/>
              </a:rPr>
              <a:t> These must have a permanent record of where they are held (e.g., thesis has been lodged at the individual’s University or Institution Library as a permanent addition to the collection there), e.g., Al‐</a:t>
            </a:r>
            <a:r>
              <a:rPr lang="en-US" sz="1100" dirty="0" err="1">
                <a:solidFill>
                  <a:srgbClr val="1C1D1E"/>
                </a:solidFill>
                <a:latin typeface="Open Sans" panose="020B0606030504020204" pitchFamily="34" charset="0"/>
              </a:rPr>
              <a:t>Badran</a:t>
            </a:r>
            <a:r>
              <a:rPr lang="en-US" sz="1100" dirty="0">
                <a:solidFill>
                  <a:srgbClr val="1C1D1E"/>
                </a:solidFill>
                <a:latin typeface="Open Sans" panose="020B0606030504020204" pitchFamily="34" charset="0"/>
              </a:rPr>
              <a:t>, A. A. ( 1987). </a:t>
            </a:r>
            <a:r>
              <a:rPr lang="en-US" sz="1100" i="1" dirty="0">
                <a:solidFill>
                  <a:srgbClr val="1C1D1E"/>
                </a:solidFill>
                <a:latin typeface="Open Sans" panose="020B0606030504020204" pitchFamily="34" charset="0"/>
              </a:rPr>
              <a:t>Factors influencing river bank stability in the Tigris and Shatt Al‐ Arab water ways, Iraq</a:t>
            </a:r>
            <a:r>
              <a:rPr lang="en-US" sz="1100" dirty="0">
                <a:solidFill>
                  <a:srgbClr val="1C1D1E"/>
                </a:solidFill>
                <a:latin typeface="Open Sans" panose="020B0606030504020204" pitchFamily="34" charset="0"/>
              </a:rPr>
              <a:t> (Doctoral thesis, University of Dundee, UK).</a:t>
            </a:r>
            <a:br>
              <a:rPr lang="en-US" sz="1100" dirty="0">
                <a:solidFill>
                  <a:srgbClr val="1C1D1E"/>
                </a:solidFill>
                <a:latin typeface="Open Sans" panose="020B0606030504020204" pitchFamily="34" charset="0"/>
              </a:rPr>
            </a:br>
            <a:r>
              <a:rPr lang="en-US" sz="1100" dirty="0">
                <a:solidFill>
                  <a:srgbClr val="1C1D1E"/>
                </a:solidFill>
                <a:latin typeface="Open Sans" panose="020B0606030504020204" pitchFamily="34" charset="0"/>
              </a:rPr>
              <a:t>Retrieved from </a:t>
            </a:r>
            <a:r>
              <a:rPr lang="en-US" sz="1100" b="1" u="sng" dirty="0">
                <a:solidFill>
                  <a:srgbClr val="005274"/>
                </a:solidFill>
                <a:latin typeface="Open Sans" panose="020B0606030504020204" pitchFamily="34" charset="0"/>
                <a:hlinkClick r:id="rId3"/>
              </a:rPr>
              <a:t>https://ethos.bl.uk/Home.do;jsessionid=DA702A005B56B131D4E776CD6A605544</a:t>
            </a:r>
            <a:endParaRPr lang="en-US" sz="1100" dirty="0">
              <a:solidFill>
                <a:srgbClr val="1C1D1E"/>
              </a:solidFill>
              <a:latin typeface="Open Sans" panose="020B0606030504020204" pitchFamily="34" charset="0"/>
            </a:endParaRPr>
          </a:p>
          <a:p>
            <a:r>
              <a:rPr lang="en-US" sz="1100" b="1" dirty="0">
                <a:solidFill>
                  <a:srgbClr val="1C1D1E"/>
                </a:solidFill>
                <a:latin typeface="Open Sans" panose="020B0606030504020204" pitchFamily="34" charset="0"/>
              </a:rPr>
              <a:t>Master's Thesis:</a:t>
            </a:r>
            <a:r>
              <a:rPr lang="en-US" sz="1100" dirty="0">
                <a:solidFill>
                  <a:srgbClr val="1C1D1E"/>
                </a:solidFill>
                <a:latin typeface="Open Sans" panose="020B0606030504020204" pitchFamily="34" charset="0"/>
              </a:rPr>
              <a:t> These must be readily available electronically and the URL provided, e.g., Cox, G. K. (2010). Anoxic survival and cardiovascular responses of the Pacific hagfish, </a:t>
            </a:r>
            <a:r>
              <a:rPr lang="en-US" sz="1100" dirty="0" err="1">
                <a:solidFill>
                  <a:srgbClr val="1C1D1E"/>
                </a:solidFill>
                <a:latin typeface="Open Sans" panose="020B0606030504020204" pitchFamily="34" charset="0"/>
              </a:rPr>
              <a:t>Eptatretus</a:t>
            </a:r>
            <a:r>
              <a:rPr lang="en-US" sz="1100" dirty="0">
                <a:solidFill>
                  <a:srgbClr val="1C1D1E"/>
                </a:solidFill>
                <a:latin typeface="Open Sans" panose="020B0606030504020204" pitchFamily="34" charset="0"/>
              </a:rPr>
              <a:t> </a:t>
            </a:r>
            <a:r>
              <a:rPr lang="en-US" sz="1100" dirty="0" err="1">
                <a:solidFill>
                  <a:srgbClr val="1C1D1E"/>
                </a:solidFill>
                <a:latin typeface="Open Sans" panose="020B0606030504020204" pitchFamily="34" charset="0"/>
              </a:rPr>
              <a:t>stoutii</a:t>
            </a:r>
            <a:r>
              <a:rPr lang="en-US" sz="1100" dirty="0">
                <a:solidFill>
                  <a:srgbClr val="1C1D1E"/>
                </a:solidFill>
                <a:latin typeface="Open Sans" panose="020B0606030504020204" pitchFamily="34" charset="0"/>
              </a:rPr>
              <a:t> (Masters thesis). Available from UBC Library</a:t>
            </a:r>
            <a:r>
              <a:rPr lang="en-US" sz="1100" b="1" u="sng" dirty="0">
                <a:solidFill>
                  <a:srgbClr val="005274"/>
                </a:solidFill>
                <a:latin typeface="Open Sans" panose="020B0606030504020204" pitchFamily="34" charset="0"/>
                <a:hlinkClick r:id="rId4"/>
              </a:rPr>
              <a:t> https://open.library.ubc.ca/ </a:t>
            </a:r>
            <a:r>
              <a:rPr lang="en-US" sz="1100" dirty="0">
                <a:solidFill>
                  <a:srgbClr val="1C1D1E"/>
                </a:solidFill>
                <a:latin typeface="Open Sans" panose="020B0606030504020204" pitchFamily="34" charset="0"/>
              </a:rPr>
              <a:t>.</a:t>
            </a:r>
          </a:p>
          <a:p>
            <a:endParaRPr lang="en-US" sz="1100" dirty="0">
              <a:solidFill>
                <a:srgbClr val="1C1D1E"/>
              </a:solidFill>
              <a:latin typeface="Open Sans" panose="020B0606030504020204" pitchFamily="34" charset="0"/>
            </a:endParaRPr>
          </a:p>
          <a:p>
            <a:r>
              <a:rPr lang="en-US" sz="1100" b="1" dirty="0">
                <a:solidFill>
                  <a:srgbClr val="1C1D1E"/>
                </a:solidFill>
                <a:latin typeface="Open Sans" panose="020B0606030504020204" pitchFamily="34" charset="0"/>
              </a:rPr>
              <a:t>Electronic References:</a:t>
            </a:r>
            <a:r>
              <a:rPr lang="en-US" sz="1100" dirty="0">
                <a:solidFill>
                  <a:srgbClr val="1C1D1E"/>
                </a:solidFill>
                <a:latin typeface="Open Sans" panose="020B0606030504020204" pitchFamily="34" charset="0"/>
              </a:rPr>
              <a:t> These include references not subject to peer review and formal publication and can be set out as shown given below. ICES (2016). Report of the Baltic salmon and trout assessment working group (WGBAST). ICES CM 2016/ACOM:09. Available at: http://</a:t>
            </a:r>
            <a:r>
              <a:rPr lang="en-US" sz="1100" dirty="0" err="1">
                <a:solidFill>
                  <a:srgbClr val="1C1D1E"/>
                </a:solidFill>
                <a:latin typeface="Open Sans" panose="020B0606030504020204" pitchFamily="34" charset="0"/>
              </a:rPr>
              <a:t>ices.dk</a:t>
            </a:r>
            <a:r>
              <a:rPr lang="en-US" sz="1100" dirty="0">
                <a:solidFill>
                  <a:srgbClr val="1C1D1E"/>
                </a:solidFill>
                <a:latin typeface="Open Sans" panose="020B0606030504020204" pitchFamily="34" charset="0"/>
              </a:rPr>
              <a:t>/sites/pub/Publication%20Reports/Expert%20Group%20Report/</a:t>
            </a:r>
            <a:r>
              <a:rPr lang="en-US" sz="1100" dirty="0" err="1">
                <a:solidFill>
                  <a:srgbClr val="1C1D1E"/>
                </a:solidFill>
                <a:latin typeface="Open Sans" panose="020B0606030504020204" pitchFamily="34" charset="0"/>
              </a:rPr>
              <a:t>acom</a:t>
            </a:r>
            <a:r>
              <a:rPr lang="en-US" sz="1100" dirty="0">
                <a:solidFill>
                  <a:srgbClr val="1C1D1E"/>
                </a:solidFill>
                <a:latin typeface="Open Sans" panose="020B0606030504020204" pitchFamily="34" charset="0"/>
              </a:rPr>
              <a:t>/2016/WGBAST/wgbast_2016.pdf</a:t>
            </a:r>
          </a:p>
          <a:p>
            <a:r>
              <a:rPr lang="en-US" sz="1100" dirty="0">
                <a:solidFill>
                  <a:srgbClr val="1C1D1E"/>
                </a:solidFill>
                <a:latin typeface="Open Sans" panose="020B0606030504020204" pitchFamily="34" charset="0"/>
              </a:rPr>
              <a:t>Marshall, A., Bennett, M. B., </a:t>
            </a:r>
            <a:r>
              <a:rPr lang="en-US" sz="1100" dirty="0" err="1">
                <a:solidFill>
                  <a:srgbClr val="1C1D1E"/>
                </a:solidFill>
                <a:latin typeface="Open Sans" panose="020B0606030504020204" pitchFamily="34" charset="0"/>
              </a:rPr>
              <a:t>Kodja</a:t>
            </a:r>
            <a:r>
              <a:rPr lang="en-US" sz="1100" dirty="0">
                <a:solidFill>
                  <a:srgbClr val="1C1D1E"/>
                </a:solidFill>
                <a:latin typeface="Open Sans" panose="020B0606030504020204" pitchFamily="34" charset="0"/>
              </a:rPr>
              <a:t>, G., Hinojosa-Alvarez, S., Galvan-Magana, F., Harding, M., Stevens, G. &amp; </a:t>
            </a:r>
            <a:r>
              <a:rPr lang="en-US" sz="1100" dirty="0" err="1">
                <a:solidFill>
                  <a:srgbClr val="1C1D1E"/>
                </a:solidFill>
                <a:latin typeface="Open Sans" panose="020B0606030504020204" pitchFamily="34" charset="0"/>
              </a:rPr>
              <a:t>Kashiwagi</a:t>
            </a:r>
            <a:r>
              <a:rPr lang="en-US" sz="1100" dirty="0">
                <a:solidFill>
                  <a:srgbClr val="1C1D1E"/>
                </a:solidFill>
                <a:latin typeface="Open Sans" panose="020B0606030504020204" pitchFamily="34" charset="0"/>
              </a:rPr>
              <a:t>, T. (2011). </a:t>
            </a:r>
            <a:r>
              <a:rPr lang="en-US" sz="1100" i="1" dirty="0">
                <a:solidFill>
                  <a:srgbClr val="1C1D1E"/>
                </a:solidFill>
                <a:latin typeface="Open Sans" panose="020B0606030504020204" pitchFamily="34" charset="0"/>
              </a:rPr>
              <a:t>Manta </a:t>
            </a:r>
            <a:r>
              <a:rPr lang="en-US" sz="1100" i="1" dirty="0" err="1">
                <a:solidFill>
                  <a:srgbClr val="1C1D1E"/>
                </a:solidFill>
                <a:latin typeface="Open Sans" panose="020B0606030504020204" pitchFamily="34" charset="0"/>
              </a:rPr>
              <a:t>birostris</a:t>
            </a:r>
            <a:r>
              <a:rPr lang="en-US" sz="1100" dirty="0">
                <a:solidFill>
                  <a:srgbClr val="1C1D1E"/>
                </a:solidFill>
                <a:latin typeface="Open Sans" panose="020B0606030504020204" pitchFamily="34" charset="0"/>
              </a:rPr>
              <a:t>. In </a:t>
            </a:r>
            <a:r>
              <a:rPr lang="en-US" sz="1100" i="1" dirty="0">
                <a:solidFill>
                  <a:srgbClr val="1C1D1E"/>
                </a:solidFill>
                <a:latin typeface="Open Sans" panose="020B0606030504020204" pitchFamily="34" charset="0"/>
              </a:rPr>
              <a:t>IUCN Red List of Threatened Species</a:t>
            </a:r>
            <a:r>
              <a:rPr lang="en-US" sz="1100" dirty="0">
                <a:solidFill>
                  <a:srgbClr val="1C1D1E"/>
                </a:solidFill>
                <a:latin typeface="Open Sans" panose="020B0606030504020204" pitchFamily="34" charset="0"/>
              </a:rPr>
              <a:t> Version 2013.2. Available at http://</a:t>
            </a:r>
            <a:r>
              <a:rPr lang="en-US" sz="1100" dirty="0" err="1">
                <a:solidFill>
                  <a:srgbClr val="1C1D1E"/>
                </a:solidFill>
                <a:latin typeface="Open Sans" panose="020B0606030504020204" pitchFamily="34" charset="0"/>
              </a:rPr>
              <a:t>www.iucnredlist.org</a:t>
            </a:r>
            <a:r>
              <a:rPr lang="en-US" sz="1100" dirty="0">
                <a:solidFill>
                  <a:srgbClr val="1C1D1E"/>
                </a:solidFill>
                <a:latin typeface="Open Sans" panose="020B0606030504020204" pitchFamily="34" charset="0"/>
              </a:rPr>
              <a:t>/details/198921/0 (last accessed 9 December 2013).</a:t>
            </a:r>
            <a:endParaRPr lang="en-US" sz="1100" b="0" i="0" dirty="0">
              <a:solidFill>
                <a:srgbClr val="1C1D1E"/>
              </a:solidFill>
              <a:effectLst/>
              <a:latin typeface="Open Sans" panose="020B0606030504020204" pitchFamily="34" charset="0"/>
            </a:endParaRPr>
          </a:p>
        </p:txBody>
      </p:sp>
    </p:spTree>
    <p:extLst>
      <p:ext uri="{BB962C8B-B14F-4D97-AF65-F5344CB8AC3E}">
        <p14:creationId xmlns:p14="http://schemas.microsoft.com/office/powerpoint/2010/main" val="2639304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86B22-0116-CC4C-9E64-FB03E5D5708C}"/>
              </a:ext>
            </a:extLst>
          </p:cNvPr>
          <p:cNvSpPr>
            <a:spLocks noGrp="1"/>
          </p:cNvSpPr>
          <p:nvPr>
            <p:ph type="title"/>
          </p:nvPr>
        </p:nvSpPr>
        <p:spPr/>
        <p:txBody>
          <a:bodyPr>
            <a:normAutofit/>
          </a:bodyPr>
          <a:lstStyle/>
          <a:p>
            <a:r>
              <a:rPr lang="en-US" sz="4000" dirty="0"/>
              <a:t>Assignments for today and for home</a:t>
            </a:r>
          </a:p>
        </p:txBody>
      </p:sp>
      <p:sp>
        <p:nvSpPr>
          <p:cNvPr id="3" name="Content Placeholder 2">
            <a:extLst>
              <a:ext uri="{FF2B5EF4-FFF2-40B4-BE49-F238E27FC236}">
                <a16:creationId xmlns:a16="http://schemas.microsoft.com/office/drawing/2014/main" id="{56964DE2-5A73-9D4C-A73F-1CBE237852F6}"/>
              </a:ext>
            </a:extLst>
          </p:cNvPr>
          <p:cNvSpPr>
            <a:spLocks noGrp="1"/>
          </p:cNvSpPr>
          <p:nvPr>
            <p:ph idx="1"/>
          </p:nvPr>
        </p:nvSpPr>
        <p:spPr>
          <a:xfrm>
            <a:off x="432707" y="1617394"/>
            <a:ext cx="8515350" cy="5032376"/>
          </a:xfrm>
        </p:spPr>
        <p:txBody>
          <a:bodyPr>
            <a:normAutofit fontScale="92500"/>
          </a:bodyPr>
          <a:lstStyle/>
          <a:p>
            <a:pPr marL="0" indent="0">
              <a:buNone/>
            </a:pPr>
            <a:r>
              <a:rPr lang="en-US" b="1" dirty="0"/>
              <a:t>In class: </a:t>
            </a:r>
          </a:p>
          <a:p>
            <a:pPr marL="457200" lvl="1" indent="0">
              <a:buNone/>
            </a:pPr>
            <a:r>
              <a:rPr lang="en-US" sz="2800" dirty="0"/>
              <a:t>Continue to download data for your research project and write your Introduction. </a:t>
            </a:r>
          </a:p>
          <a:p>
            <a:pPr marL="457200" lvl="1" indent="0">
              <a:buNone/>
            </a:pPr>
            <a:r>
              <a:rPr lang="en-US" b="1" dirty="0">
                <a:solidFill>
                  <a:srgbClr val="FF0000"/>
                </a:solidFill>
              </a:rPr>
              <a:t>Everyone </a:t>
            </a:r>
            <a:r>
              <a:rPr lang="en-US" dirty="0">
                <a:solidFill>
                  <a:srgbClr val="FF0000"/>
                </a:solidFill>
              </a:rPr>
              <a:t>should aim to have an Excel data file to analyze on Tuesday.</a:t>
            </a:r>
            <a:endParaRPr lang="en-US" b="1" dirty="0">
              <a:solidFill>
                <a:srgbClr val="FF0000"/>
              </a:solidFill>
            </a:endParaRPr>
          </a:p>
          <a:p>
            <a:pPr marL="457200" lvl="1" indent="0">
              <a:buNone/>
            </a:pPr>
            <a:endParaRPr lang="en-US" dirty="0"/>
          </a:p>
          <a:p>
            <a:pPr marL="0" indent="0">
              <a:buNone/>
            </a:pPr>
            <a:r>
              <a:rPr lang="en-US" b="1" dirty="0"/>
              <a:t>At home:</a:t>
            </a:r>
            <a:endParaRPr lang="en-US" sz="2800" b="1" dirty="0"/>
          </a:p>
          <a:p>
            <a:pPr marL="457200" lvl="1" indent="0">
              <a:buNone/>
            </a:pPr>
            <a:r>
              <a:rPr lang="en-US" sz="2800" b="1" dirty="0"/>
              <a:t>Submit by Friday 12 pm: What you have so far of your Introduction. </a:t>
            </a:r>
            <a:r>
              <a:rPr lang="en-US" sz="2800" dirty="0"/>
              <a:t>Peer reviews will be assigned Saturday and due Thursday!</a:t>
            </a:r>
            <a:endParaRPr lang="en-US" sz="2800" b="1" dirty="0"/>
          </a:p>
          <a:p>
            <a:pPr marL="457200" lvl="1" indent="0">
              <a:buNone/>
            </a:pPr>
            <a:endParaRPr lang="en-US" sz="2800" dirty="0"/>
          </a:p>
          <a:p>
            <a:pPr marL="457200" lvl="1" indent="0">
              <a:buNone/>
            </a:pPr>
            <a:r>
              <a:rPr lang="en-US" sz="2800" dirty="0"/>
              <a:t>Any writing should be in Word so I can use Track Changes. Name the file “</a:t>
            </a:r>
            <a:r>
              <a:rPr lang="en-US" sz="2800" dirty="0" err="1"/>
              <a:t>yourname_introduction_thedate.doc</a:t>
            </a:r>
            <a:r>
              <a:rPr lang="en-US" sz="2800" dirty="0"/>
              <a:t>”</a:t>
            </a:r>
          </a:p>
        </p:txBody>
      </p:sp>
    </p:spTree>
    <p:extLst>
      <p:ext uri="{BB962C8B-B14F-4D97-AF65-F5344CB8AC3E}">
        <p14:creationId xmlns:p14="http://schemas.microsoft.com/office/powerpoint/2010/main" val="218144698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798</TotalTime>
  <Words>1900</Words>
  <Application>Microsoft Macintosh PowerPoint</Application>
  <PresentationFormat>On-screen Show (4:3)</PresentationFormat>
  <Paragraphs>179</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Open Sans</vt:lpstr>
      <vt:lpstr>Office Theme</vt:lpstr>
      <vt:lpstr>Crediting others  References</vt:lpstr>
      <vt:lpstr>3. References</vt:lpstr>
      <vt:lpstr>3. References</vt:lpstr>
      <vt:lpstr>3. References</vt:lpstr>
      <vt:lpstr>3. References</vt:lpstr>
      <vt:lpstr>3. References</vt:lpstr>
      <vt:lpstr>3. References</vt:lpstr>
      <vt:lpstr>3. References</vt:lpstr>
      <vt:lpstr>3. References</vt:lpstr>
      <vt:lpstr>3. References</vt:lpstr>
      <vt:lpstr>3. References</vt:lpstr>
      <vt:lpstr>3. References</vt:lpstr>
      <vt:lpstr>3. References</vt:lpstr>
      <vt:lpstr>3. References</vt:lpstr>
      <vt:lpstr>PowerPoint Presentation</vt:lpstr>
      <vt:lpstr>Assignments for today and for home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Miller, Elizabeth Christina - (ecmiller)</dc:creator>
  <cp:lastModifiedBy>Luke M. Tornabene</cp:lastModifiedBy>
  <cp:revision>80</cp:revision>
  <dcterms:created xsi:type="dcterms:W3CDTF">2020-01-21T02:32:40Z</dcterms:created>
  <dcterms:modified xsi:type="dcterms:W3CDTF">2025-01-30T22:02:19Z</dcterms:modified>
</cp:coreProperties>
</file>
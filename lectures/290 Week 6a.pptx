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1"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49" y="1681163"/>
            <a:ext cx="3887393"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40" y="2057400"/>
            <a:ext cx="2949180"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1" cy="4873626"/>
          </a:xfrm>
          <a:prstGeom prst="rect">
            <a:avLst/>
          </a:prstGeom>
        </p:spPr>
        <p:txBody>
          <a:bodyPr lIns="91439" rIns="9143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904460" y="1677971"/>
            <a:ext cx="7772401" cy="1128564"/>
          </a:xfrm>
          <a:prstGeom prst="rect">
            <a:avLst/>
          </a:prstGeom>
        </p:spPr>
        <p:txBody>
          <a:bodyPr/>
          <a:lstStyle/>
          <a:p>
            <a:pPr defTabSz="484631">
              <a:defRPr sz="2862">
                <a:solidFill>
                  <a:srgbClr val="C00000"/>
                </a:solidFill>
              </a:defRPr>
            </a:pPr>
            <a:br/>
            <a:br/>
            <a:r>
              <a:rPr sz="1907"/>
              <a:t>The Results section: part 3</a:t>
            </a:r>
          </a:p>
        </p:txBody>
      </p:sp>
      <p:sp>
        <p:nvSpPr>
          <p:cNvPr id="95" name="Subtitle 2"/>
          <p:cNvSpPr txBox="1"/>
          <p:nvPr>
            <p:ph type="subTitle" sz="quarter" idx="1"/>
          </p:nvPr>
        </p:nvSpPr>
        <p:spPr>
          <a:xfrm>
            <a:off x="1143000" y="4268385"/>
            <a:ext cx="6858000" cy="1128563"/>
          </a:xfrm>
          <a:prstGeom prst="rect">
            <a:avLst/>
          </a:prstGeom>
        </p:spPr>
        <p:txBody>
          <a:bodyPr/>
          <a:lstStyle/>
          <a:p>
            <a:pPr/>
            <a:r>
              <a:t>Fish 290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xfrm>
            <a:off x="628650" y="365126"/>
            <a:ext cx="7886700" cy="1325563"/>
          </a:xfrm>
          <a:prstGeom prst="rect">
            <a:avLst/>
          </a:prstGeom>
        </p:spPr>
        <p:txBody>
          <a:bodyPr/>
          <a:lstStyle/>
          <a:p>
            <a:pPr/>
            <a:r>
              <a:t>Posters are coming up!</a:t>
            </a:r>
          </a:p>
        </p:txBody>
      </p:sp>
      <p:sp>
        <p:nvSpPr>
          <p:cNvPr id="98" name="Content Placeholder 2"/>
          <p:cNvSpPr txBox="1"/>
          <p:nvPr>
            <p:ph type="body" idx="1"/>
          </p:nvPr>
        </p:nvSpPr>
        <p:spPr>
          <a:xfrm>
            <a:off x="628650" y="1825624"/>
            <a:ext cx="7833067" cy="4504838"/>
          </a:xfrm>
          <a:prstGeom prst="rect">
            <a:avLst/>
          </a:prstGeom>
        </p:spPr>
        <p:txBody>
          <a:bodyPr/>
          <a:lstStyle/>
          <a:p>
            <a:pPr/>
            <a:r>
              <a:t>Poster session is May Feb 13</a:t>
            </a:r>
            <a:r>
              <a:rPr baseline="30000"/>
              <a:t>th</a:t>
            </a:r>
            <a:r>
              <a:t> (one week from Wednesday). </a:t>
            </a:r>
          </a:p>
          <a:p>
            <a:pPr/>
            <a:r>
              <a:t>Attendance in class will be mandatory.</a:t>
            </a:r>
          </a:p>
          <a:p>
            <a:pPr/>
            <a:r>
              <a:t>Your poster is worth 20% of your final grade</a:t>
            </a:r>
          </a:p>
          <a:p>
            <a:pPr/>
            <a:r>
              <a:t>We will work on posters Wednesday</a:t>
            </a:r>
          </a:p>
          <a:p>
            <a:pPr/>
            <a:r>
              <a:t>How can you prepare now?</a:t>
            </a:r>
          </a:p>
          <a:p>
            <a:pPr lvl="1" marL="685800" indent="-228600">
              <a:spcBef>
                <a:spcPts val="500"/>
              </a:spcBef>
              <a:defRPr sz="2400"/>
            </a:pPr>
            <a:r>
              <a:t>Continue re-reading your chosen paper and get to know it well</a:t>
            </a:r>
          </a:p>
          <a:p>
            <a:pPr lvl="1" marL="685800" indent="-228600">
              <a:spcBef>
                <a:spcPts val="500"/>
              </a:spcBef>
              <a:defRPr sz="2400"/>
            </a:pPr>
            <a:r>
              <a:t>Observe the posters from actual studies (see Canvas). What works, what doesn’t?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xfrm>
            <a:off x="628648" y="0"/>
            <a:ext cx="7886701" cy="1325563"/>
          </a:xfrm>
          <a:prstGeom prst="rect">
            <a:avLst/>
          </a:prstGeom>
        </p:spPr>
        <p:txBody>
          <a:bodyPr/>
          <a:lstStyle/>
          <a:p>
            <a:pPr/>
            <a:r>
              <a:t>Important dates</a:t>
            </a:r>
          </a:p>
        </p:txBody>
      </p:sp>
      <p:sp>
        <p:nvSpPr>
          <p:cNvPr id="101" name="Content Placeholder 2"/>
          <p:cNvSpPr txBox="1"/>
          <p:nvPr>
            <p:ph type="body" idx="1"/>
          </p:nvPr>
        </p:nvSpPr>
        <p:spPr>
          <a:xfrm>
            <a:off x="628648" y="1440492"/>
            <a:ext cx="8202201" cy="5081827"/>
          </a:xfrm>
          <a:prstGeom prst="rect">
            <a:avLst/>
          </a:prstGeom>
        </p:spPr>
        <p:txBody>
          <a:bodyPr/>
          <a:lstStyle/>
          <a:p>
            <a:pPr>
              <a:lnSpc>
                <a:spcPct val="81000"/>
              </a:lnSpc>
              <a:defRPr b="1" sz="2500"/>
            </a:pPr>
            <a:r>
              <a:t>Friday May 9th: </a:t>
            </a:r>
            <a:r>
              <a:rPr b="0"/>
              <a:t>All your paper progress so far, including Intro/Methods/Results/figures+tables</a:t>
            </a:r>
          </a:p>
          <a:p>
            <a:pPr>
              <a:lnSpc>
                <a:spcPct val="81000"/>
              </a:lnSpc>
              <a:defRPr sz="1100"/>
            </a:pPr>
          </a:p>
          <a:p>
            <a:pPr>
              <a:lnSpc>
                <a:spcPct val="81000"/>
              </a:lnSpc>
              <a:defRPr b="1" sz="2500"/>
            </a:pPr>
            <a:r>
              <a:t>Thursday May 13th:</a:t>
            </a:r>
            <a:r>
              <a:rPr b="0"/>
              <a:t> Poster presentations, posters due</a:t>
            </a:r>
          </a:p>
          <a:p>
            <a:pPr>
              <a:lnSpc>
                <a:spcPct val="81000"/>
              </a:lnSpc>
              <a:defRPr sz="1100"/>
            </a:pPr>
          </a:p>
          <a:p>
            <a:pPr>
              <a:lnSpc>
                <a:spcPct val="81000"/>
              </a:lnSpc>
              <a:defRPr b="1" sz="2500"/>
            </a:pPr>
            <a:r>
              <a:t>Friday May 20: </a:t>
            </a:r>
            <a:r>
              <a:rPr b="0"/>
              <a:t>Complete first draft of papers due 	    (no bullet points, all sections completed**)</a:t>
            </a:r>
          </a:p>
          <a:p>
            <a:pPr>
              <a:lnSpc>
                <a:spcPct val="81000"/>
              </a:lnSpc>
              <a:defRPr sz="1100"/>
            </a:pPr>
          </a:p>
          <a:p>
            <a:pPr>
              <a:lnSpc>
                <a:spcPct val="81000"/>
              </a:lnSpc>
              <a:defRPr b="1" sz="2500"/>
            </a:pPr>
            <a:r>
              <a:t>Thursday June 3: </a:t>
            </a:r>
            <a:r>
              <a:rPr b="0"/>
              <a:t>oral presentations</a:t>
            </a:r>
          </a:p>
          <a:p>
            <a:pPr>
              <a:lnSpc>
                <a:spcPct val="81000"/>
              </a:lnSpc>
              <a:defRPr sz="1200"/>
            </a:pPr>
          </a:p>
          <a:p>
            <a:pPr>
              <a:lnSpc>
                <a:spcPct val="81000"/>
              </a:lnSpc>
              <a:defRPr b="1" sz="2500"/>
            </a:pPr>
            <a:r>
              <a:t>Thursday June 3</a:t>
            </a:r>
            <a:r>
              <a:rPr baseline="30000"/>
              <a:t> </a:t>
            </a:r>
            <a:r>
              <a:t>: </a:t>
            </a:r>
            <a:r>
              <a:rPr b="0"/>
              <a:t>final papers due</a:t>
            </a:r>
          </a:p>
          <a:p>
            <a:pPr>
              <a:lnSpc>
                <a:spcPct val="81000"/>
              </a:lnSpc>
              <a:defRPr sz="1200"/>
            </a:pPr>
          </a:p>
          <a:p>
            <a:pPr marL="0" indent="0">
              <a:lnSpc>
                <a:spcPct val="81000"/>
              </a:lnSpc>
              <a:buSzTx/>
              <a:buNone/>
              <a:defRPr sz="2200"/>
            </a:pPr>
            <a:r>
              <a:t>**all sections = Title, Abstract, Introduction, Methods, Results, Discussion, Acknowledgements, References, any tables and figures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extBox 1"/>
          <p:cNvSpPr txBox="1"/>
          <p:nvPr/>
        </p:nvSpPr>
        <p:spPr>
          <a:xfrm>
            <a:off x="655319" y="228599"/>
            <a:ext cx="7909562" cy="5091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Making effective tables</a:t>
            </a:r>
          </a:p>
          <a:p>
            <a:pPr>
              <a:defRPr b="1" sz="3600">
                <a:solidFill>
                  <a:srgbClr val="FF0000"/>
                </a:solidFill>
              </a:defRPr>
            </a:pPr>
          </a:p>
          <a:p>
            <a:pPr>
              <a:defRPr sz="2400"/>
            </a:pPr>
            <a:r>
              <a:t>Tables are appropriate when the precision of a value matters (like a p-value) </a:t>
            </a:r>
            <a:r>
              <a:rPr i="1" u="sng"/>
              <a:t>and</a:t>
            </a:r>
            <a:r>
              <a:t> you have many variables to display. </a:t>
            </a:r>
          </a:p>
          <a:p>
            <a:pPr>
              <a:defRPr sz="2400"/>
            </a:pPr>
          </a:p>
          <a:p>
            <a:pPr>
              <a:defRPr sz="2400"/>
            </a:pPr>
            <a:r>
              <a:t>Tables are also good for background information (comparing field sites, results from prior literature, or species)</a:t>
            </a:r>
          </a:p>
          <a:p>
            <a:pPr>
              <a:defRPr sz="2400"/>
            </a:pPr>
          </a:p>
          <a:p>
            <a:pPr>
              <a:defRPr sz="2400"/>
            </a:pPr>
            <a:r>
              <a:t>For example:</a:t>
            </a:r>
          </a:p>
          <a:p>
            <a:pPr lvl="1" marL="800100" indent="-342900">
              <a:buSzPct val="100000"/>
              <a:buFont typeface="Arial"/>
              <a:buChar char="•"/>
              <a:defRPr sz="2200"/>
            </a:pPr>
            <a:r>
              <a:t>A list of species used in study and their locations and diets</a:t>
            </a:r>
          </a:p>
          <a:p>
            <a:pPr lvl="1" marL="800100" indent="-342900">
              <a:buSzPct val="100000"/>
              <a:buFont typeface="Arial"/>
              <a:buChar char="•"/>
              <a:defRPr sz="2200"/>
            </a:pPr>
            <a:r>
              <a:t>A list of relevant past studies and their key findings</a:t>
            </a:r>
          </a:p>
          <a:p>
            <a:pPr lvl="1" marL="800100" indent="-342900">
              <a:buSzPct val="100000"/>
              <a:buFont typeface="Arial"/>
              <a:buChar char="•"/>
              <a:defRPr sz="2200"/>
            </a:pPr>
            <a:r>
              <a:t>The results of multiple statistical tests</a:t>
            </a:r>
            <a:endParaRPr sz="2400"/>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TextBox 1"/>
          <p:cNvSpPr txBox="1"/>
          <p:nvPr/>
        </p:nvSpPr>
        <p:spPr>
          <a:xfrm>
            <a:off x="655319" y="228600"/>
            <a:ext cx="7909562" cy="18148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Making effective tables</a:t>
            </a:r>
          </a:p>
          <a:p>
            <a:pPr>
              <a:defRPr b="1" sz="3600">
                <a:solidFill>
                  <a:srgbClr val="FF0000"/>
                </a:solidFill>
              </a:defRPr>
            </a:pPr>
          </a:p>
          <a:p>
            <a:pPr>
              <a:defRPr sz="2400"/>
            </a:pPr>
            <a:r>
              <a:t>We read from left-to-right, so put context-setting information on the left and dependent information on the right.</a:t>
            </a:r>
          </a:p>
        </p:txBody>
      </p:sp>
      <p:graphicFrame>
        <p:nvGraphicFramePr>
          <p:cNvPr id="106" name="Table 11"/>
          <p:cNvGraphicFramePr/>
          <p:nvPr/>
        </p:nvGraphicFramePr>
        <p:xfrm>
          <a:off x="375743" y="3391396"/>
          <a:ext cx="3691761"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70842"/>
                <a:gridCol w="1820917"/>
              </a:tblGrid>
              <a:tr h="370840">
                <a:tc>
                  <a:txBody>
                    <a:bodyPr/>
                    <a:lstStyle/>
                    <a:p>
                      <a:pPr algn="l" defTabSz="914400">
                        <a:defRPr sz="1800"/>
                      </a:pPr>
                      <a:r>
                        <a:t>Time (minutes)</a:t>
                      </a:r>
                    </a:p>
                  </a:txBody>
                  <a:tcPr marL="45720" marR="45720" marT="45720" marB="45720" anchor="t" anchorCtr="0" horzOverflow="overflow"/>
                </a:tc>
                <a:tc>
                  <a:txBody>
                    <a:bodyPr/>
                    <a:lstStyle/>
                    <a:p>
                      <a:pPr algn="l" defTabSz="914400">
                        <a:defRPr sz="1800"/>
                      </a:pPr>
                      <a:r>
                        <a:t>Temperature (°C)</a:t>
                      </a:r>
                    </a:p>
                  </a:txBody>
                  <a:tcPr marL="45720" marR="45720" marT="45720" marB="45720" anchor="t" anchorCtr="0" horzOverflow="overflow"/>
                </a:tc>
              </a:tr>
              <a:tr h="370840">
                <a:tc>
                  <a:txBody>
                    <a:bodyPr/>
                    <a:lstStyle/>
                    <a:p>
                      <a:pPr algn="l" defTabSz="914400">
                        <a:defRPr sz="1800"/>
                      </a:pPr>
                      <a:r>
                        <a:t>0</a:t>
                      </a:r>
                    </a:p>
                  </a:txBody>
                  <a:tcPr marL="45720" marR="45720" marT="45720" marB="45720" anchor="t" anchorCtr="0" horzOverflow="overflow"/>
                </a:tc>
                <a:tc>
                  <a:txBody>
                    <a:bodyPr/>
                    <a:lstStyle/>
                    <a:p>
                      <a:pPr algn="l" defTabSz="914400">
                        <a:defRPr sz="1800"/>
                      </a:pPr>
                      <a:r>
                        <a:t>25</a:t>
                      </a:r>
                    </a:p>
                  </a:txBody>
                  <a:tcPr marL="45720" marR="45720" marT="45720" marB="45720" anchor="t" anchorCtr="0" horzOverflow="overflow"/>
                </a:tc>
              </a:tr>
              <a:tr h="370840">
                <a:tc>
                  <a:txBody>
                    <a:bodyPr/>
                    <a:lstStyle/>
                    <a:p>
                      <a:pPr algn="l" defTabSz="914400">
                        <a:defRPr sz="1800"/>
                      </a:pPr>
                      <a:r>
                        <a:t>3</a:t>
                      </a:r>
                    </a:p>
                  </a:txBody>
                  <a:tcPr marL="45720" marR="45720" marT="45720" marB="45720" anchor="t" anchorCtr="0" horzOverflow="overflow"/>
                </a:tc>
                <a:tc>
                  <a:txBody>
                    <a:bodyPr/>
                    <a:lstStyle/>
                    <a:p>
                      <a:pPr algn="l" defTabSz="914400">
                        <a:defRPr sz="1800"/>
                      </a:pPr>
                      <a:r>
                        <a:t>27</a:t>
                      </a:r>
                    </a:p>
                  </a:txBody>
                  <a:tcPr marL="45720" marR="45720" marT="45720" marB="45720" anchor="t" anchorCtr="0" horzOverflow="overflow"/>
                </a:tc>
              </a:tr>
              <a:tr h="370840">
                <a:tc>
                  <a:txBody>
                    <a:bodyPr/>
                    <a:lstStyle/>
                    <a:p>
                      <a:pPr algn="l" defTabSz="914400">
                        <a:defRPr sz="1800"/>
                      </a:pPr>
                      <a:r>
                        <a:t>6</a:t>
                      </a:r>
                    </a:p>
                  </a:txBody>
                  <a:tcPr marL="45720" marR="45720" marT="45720" marB="45720" anchor="t" anchorCtr="0" horzOverflow="overflow"/>
                </a:tc>
                <a:tc>
                  <a:txBody>
                    <a:bodyPr/>
                    <a:lstStyle/>
                    <a:p>
                      <a:pPr algn="l" defTabSz="914400">
                        <a:defRPr sz="1800"/>
                      </a:pPr>
                      <a:r>
                        <a:t>29</a:t>
                      </a:r>
                    </a:p>
                  </a:txBody>
                  <a:tcPr marL="45720" marR="45720" marT="45720" marB="45720" anchor="t" anchorCtr="0" horzOverflow="overflow"/>
                </a:tc>
              </a:tr>
              <a:tr h="370840">
                <a:tc>
                  <a:txBody>
                    <a:bodyPr/>
                    <a:lstStyle/>
                    <a:p>
                      <a:pPr algn="l" defTabSz="914400">
                        <a:defRPr sz="1800"/>
                      </a:pPr>
                      <a:r>
                        <a:t>9</a:t>
                      </a:r>
                    </a:p>
                  </a:txBody>
                  <a:tcPr marL="45720" marR="45720" marT="45720" marB="45720" anchor="t" anchorCtr="0" horzOverflow="overflow"/>
                </a:tc>
                <a:tc>
                  <a:txBody>
                    <a:bodyPr/>
                    <a:lstStyle/>
                    <a:p>
                      <a:pPr algn="l" defTabSz="914400">
                        <a:defRPr sz="1800"/>
                      </a:pPr>
                      <a:r>
                        <a:t>31</a:t>
                      </a:r>
                    </a:p>
                  </a:txBody>
                  <a:tcPr marL="45720" marR="45720" marT="45720" marB="45720" anchor="t" anchorCtr="0" horzOverflow="overflow"/>
                </a:tc>
              </a:tr>
              <a:tr h="370840">
                <a:tc>
                  <a:txBody>
                    <a:bodyPr/>
                    <a:lstStyle/>
                    <a:p>
                      <a:pPr algn="l" defTabSz="914400">
                        <a:defRPr sz="1800"/>
                      </a:pPr>
                      <a:r>
                        <a:t>12</a:t>
                      </a:r>
                    </a:p>
                  </a:txBody>
                  <a:tcPr marL="45720" marR="45720" marT="45720" marB="45720" anchor="t" anchorCtr="0" horzOverflow="overflow"/>
                </a:tc>
                <a:tc>
                  <a:txBody>
                    <a:bodyPr/>
                    <a:lstStyle/>
                    <a:p>
                      <a:pPr algn="l" defTabSz="914400">
                        <a:defRPr sz="1800"/>
                      </a:pPr>
                      <a:r>
                        <a:t>32</a:t>
                      </a:r>
                    </a:p>
                  </a:txBody>
                  <a:tcPr marL="45720" marR="45720" marT="45720" marB="45720" anchor="t" anchorCtr="0" horzOverflow="overflow"/>
                </a:tc>
              </a:tr>
              <a:tr h="370840">
                <a:tc>
                  <a:txBody>
                    <a:bodyPr/>
                    <a:lstStyle/>
                    <a:p>
                      <a:pPr algn="l" defTabSz="914400">
                        <a:defRPr sz="1800"/>
                      </a:pPr>
                      <a:r>
                        <a:t>15</a:t>
                      </a:r>
                    </a:p>
                  </a:txBody>
                  <a:tcPr marL="45720" marR="45720" marT="45720" marB="45720" anchor="t" anchorCtr="0" horzOverflow="overflow"/>
                </a:tc>
                <a:tc>
                  <a:txBody>
                    <a:bodyPr/>
                    <a:lstStyle/>
                    <a:p>
                      <a:pPr algn="l" defTabSz="914400">
                        <a:defRPr sz="1800"/>
                      </a:pPr>
                      <a:r>
                        <a:t>32</a:t>
                      </a:r>
                    </a:p>
                  </a:txBody>
                  <a:tcPr marL="45720" marR="45720" marT="45720" marB="45720" anchor="t" anchorCtr="0" horzOverflow="overflow"/>
                </a:tc>
              </a:tr>
            </a:tbl>
          </a:graphicData>
        </a:graphic>
      </p:graphicFrame>
      <p:graphicFrame>
        <p:nvGraphicFramePr>
          <p:cNvPr id="107" name="Table 12"/>
          <p:cNvGraphicFramePr/>
          <p:nvPr/>
        </p:nvGraphicFramePr>
        <p:xfrm>
          <a:off x="5076499" y="3391396"/>
          <a:ext cx="3691760"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70842"/>
                <a:gridCol w="1820917"/>
              </a:tblGrid>
              <a:tr h="370840">
                <a:tc>
                  <a:txBody>
                    <a:bodyPr/>
                    <a:lstStyle/>
                    <a:p>
                      <a:pPr algn="l" defTabSz="914400">
                        <a:defRPr sz="1800"/>
                      </a:pPr>
                      <a:r>
                        <a:t>Temperature (°C)</a:t>
                      </a:r>
                    </a:p>
                  </a:txBody>
                  <a:tcPr marL="45720" marR="45720" marT="45720" marB="45720" anchor="t" anchorCtr="0" horzOverflow="overflow"/>
                </a:tc>
                <a:tc>
                  <a:txBody>
                    <a:bodyPr/>
                    <a:lstStyle/>
                    <a:p>
                      <a:pPr algn="l" defTabSz="914400">
                        <a:defRPr sz="1800"/>
                      </a:pPr>
                      <a:r>
                        <a:t>Time (minutes)</a:t>
                      </a:r>
                    </a:p>
                  </a:txBody>
                  <a:tcPr marL="45720" marR="45720" marT="45720" marB="45720" anchor="t" anchorCtr="0" horzOverflow="overflow"/>
                </a:tc>
              </a:tr>
              <a:tr h="370840">
                <a:tc>
                  <a:txBody>
                    <a:bodyPr/>
                    <a:lstStyle/>
                    <a:p>
                      <a:pPr algn="l" defTabSz="914400">
                        <a:defRPr sz="1800"/>
                      </a:pPr>
                      <a:r>
                        <a:t>25</a:t>
                      </a:r>
                    </a:p>
                  </a:txBody>
                  <a:tcPr marL="45720" marR="45720" marT="45720" marB="45720" anchor="t" anchorCtr="0" horzOverflow="overflow"/>
                </a:tc>
                <a:tc>
                  <a:txBody>
                    <a:bodyPr/>
                    <a:lstStyle/>
                    <a:p>
                      <a:pPr algn="l" defTabSz="914400">
                        <a:defRPr sz="1800"/>
                      </a:pPr>
                      <a:r>
                        <a:t>0</a:t>
                      </a:r>
                    </a:p>
                  </a:txBody>
                  <a:tcPr marL="45720" marR="45720" marT="45720" marB="45720" anchor="t" anchorCtr="0" horzOverflow="overflow"/>
                </a:tc>
              </a:tr>
              <a:tr h="370840">
                <a:tc>
                  <a:txBody>
                    <a:bodyPr/>
                    <a:lstStyle/>
                    <a:p>
                      <a:pPr algn="l" defTabSz="914400">
                        <a:defRPr sz="1800"/>
                      </a:pPr>
                      <a:r>
                        <a:t>27</a:t>
                      </a:r>
                    </a:p>
                  </a:txBody>
                  <a:tcPr marL="45720" marR="45720" marT="45720" marB="45720" anchor="t" anchorCtr="0" horzOverflow="overflow"/>
                </a:tc>
                <a:tc>
                  <a:txBody>
                    <a:bodyPr/>
                    <a:lstStyle/>
                    <a:p>
                      <a:pPr algn="l" defTabSz="914400">
                        <a:defRPr sz="1800"/>
                      </a:pPr>
                      <a:r>
                        <a:t>3</a:t>
                      </a:r>
                    </a:p>
                  </a:txBody>
                  <a:tcPr marL="45720" marR="45720" marT="45720" marB="45720" anchor="t" anchorCtr="0" horzOverflow="overflow"/>
                </a:tc>
              </a:tr>
              <a:tr h="370840">
                <a:tc>
                  <a:txBody>
                    <a:bodyPr/>
                    <a:lstStyle/>
                    <a:p>
                      <a:pPr algn="l" defTabSz="914400">
                        <a:defRPr sz="1800"/>
                      </a:pPr>
                      <a:r>
                        <a:t>29</a:t>
                      </a:r>
                    </a:p>
                  </a:txBody>
                  <a:tcPr marL="45720" marR="45720" marT="45720" marB="45720" anchor="t" anchorCtr="0" horzOverflow="overflow"/>
                </a:tc>
                <a:tc>
                  <a:txBody>
                    <a:bodyPr/>
                    <a:lstStyle/>
                    <a:p>
                      <a:pPr algn="l" defTabSz="914400">
                        <a:defRPr sz="1800"/>
                      </a:pPr>
                      <a:r>
                        <a:t>6</a:t>
                      </a:r>
                    </a:p>
                  </a:txBody>
                  <a:tcPr marL="45720" marR="45720" marT="45720" marB="45720" anchor="t" anchorCtr="0" horzOverflow="overflow"/>
                </a:tc>
              </a:tr>
              <a:tr h="370840">
                <a:tc>
                  <a:txBody>
                    <a:bodyPr/>
                    <a:lstStyle/>
                    <a:p>
                      <a:pPr algn="l" defTabSz="914400">
                        <a:defRPr sz="1800"/>
                      </a:pPr>
                      <a:r>
                        <a:t>31</a:t>
                      </a:r>
                    </a:p>
                  </a:txBody>
                  <a:tcPr marL="45720" marR="45720" marT="45720" marB="45720" anchor="t" anchorCtr="0" horzOverflow="overflow"/>
                </a:tc>
                <a:tc>
                  <a:txBody>
                    <a:bodyPr/>
                    <a:lstStyle/>
                    <a:p>
                      <a:pPr algn="l" defTabSz="914400">
                        <a:defRPr sz="1800"/>
                      </a:pPr>
                      <a:r>
                        <a:t>9</a:t>
                      </a:r>
                    </a:p>
                  </a:txBody>
                  <a:tcPr marL="45720" marR="45720" marT="45720" marB="45720" anchor="t" anchorCtr="0" horzOverflow="overflow"/>
                </a:tc>
              </a:tr>
              <a:tr h="370840">
                <a:tc>
                  <a:txBody>
                    <a:bodyPr/>
                    <a:lstStyle/>
                    <a:p>
                      <a:pPr algn="l" defTabSz="914400">
                        <a:defRPr sz="1800"/>
                      </a:pPr>
                      <a:r>
                        <a:t>32</a:t>
                      </a:r>
                    </a:p>
                  </a:txBody>
                  <a:tcPr marL="45720" marR="45720" marT="45720" marB="45720" anchor="t" anchorCtr="0" horzOverflow="overflow"/>
                </a:tc>
                <a:tc>
                  <a:txBody>
                    <a:bodyPr/>
                    <a:lstStyle/>
                    <a:p>
                      <a:pPr algn="l" defTabSz="914400">
                        <a:defRPr sz="1800"/>
                      </a:pPr>
                      <a:r>
                        <a:t>12</a:t>
                      </a:r>
                    </a:p>
                  </a:txBody>
                  <a:tcPr marL="45720" marR="45720" marT="45720" marB="45720" anchor="t" anchorCtr="0" horzOverflow="overflow"/>
                </a:tc>
              </a:tr>
              <a:tr h="370840">
                <a:tc>
                  <a:txBody>
                    <a:bodyPr/>
                    <a:lstStyle/>
                    <a:p>
                      <a:pPr algn="l" defTabSz="914400">
                        <a:defRPr sz="1800"/>
                      </a:pPr>
                      <a:r>
                        <a:t>32</a:t>
                      </a:r>
                    </a:p>
                  </a:txBody>
                  <a:tcPr marL="45720" marR="45720" marT="45720" marB="45720" anchor="t" anchorCtr="0" horzOverflow="overflow"/>
                </a:tc>
                <a:tc>
                  <a:txBody>
                    <a:bodyPr/>
                    <a:lstStyle/>
                    <a:p>
                      <a:pPr algn="l" defTabSz="914400">
                        <a:defRPr sz="1800"/>
                      </a:pPr>
                      <a:r>
                        <a:t>15</a:t>
                      </a:r>
                    </a:p>
                  </a:txBody>
                  <a:tcPr marL="45720" marR="45720" marT="45720" marB="45720" anchor="t" anchorCtr="0" horzOverflow="overflow"/>
                </a:tc>
              </a:tr>
            </a:tbl>
          </a:graphicData>
        </a:graphic>
      </p:graphicFrame>
      <p:sp>
        <p:nvSpPr>
          <p:cNvPr id="108" name="TextBox 14"/>
          <p:cNvSpPr txBox="1"/>
          <p:nvPr/>
        </p:nvSpPr>
        <p:spPr>
          <a:xfrm>
            <a:off x="316360" y="2813922"/>
            <a:ext cx="6866409" cy="385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200">
                <a:solidFill>
                  <a:srgbClr val="C00000"/>
                </a:solidFill>
              </a:defRPr>
            </a:lvl1pPr>
          </a:lstStyle>
          <a:p>
            <a:pPr/>
            <a:r>
              <a:t>These tables show the same data. Which is easier to read?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TextBox 1"/>
          <p:cNvSpPr txBox="1"/>
          <p:nvPr/>
        </p:nvSpPr>
        <p:spPr>
          <a:xfrm>
            <a:off x="655319" y="323601"/>
            <a:ext cx="7909562" cy="28618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Making effective tables</a:t>
            </a:r>
          </a:p>
          <a:p>
            <a:pPr>
              <a:defRPr b="1" sz="3600">
                <a:solidFill>
                  <a:srgbClr val="FF0000"/>
                </a:solidFill>
              </a:defRPr>
            </a:pPr>
          </a:p>
          <a:p>
            <a:pPr>
              <a:defRPr sz="2200"/>
            </a:pPr>
            <a:r>
              <a:t>Be judicious about significant figures: just because Excel says the mean is 0.4684504, doesn’t mean we need that many numbers.</a:t>
            </a:r>
          </a:p>
          <a:p>
            <a:pPr>
              <a:defRPr sz="2200"/>
            </a:pPr>
            <a:r>
              <a:t> </a:t>
            </a:r>
          </a:p>
          <a:p>
            <a:pPr>
              <a:defRPr sz="2200"/>
            </a:pPr>
            <a:r>
              <a:t>Pay attention to how others report similar types of values.</a:t>
            </a:r>
          </a:p>
        </p:txBody>
      </p:sp>
      <p:graphicFrame>
        <p:nvGraphicFramePr>
          <p:cNvPr id="111" name="Table 7"/>
          <p:cNvGraphicFramePr/>
          <p:nvPr/>
        </p:nvGraphicFramePr>
        <p:xfrm>
          <a:off x="5218386" y="3610304"/>
          <a:ext cx="3392214"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10710"/>
                <a:gridCol w="1781504"/>
              </a:tblGrid>
              <a:tr h="370840">
                <a:tc>
                  <a:txBody>
                    <a:bodyPr/>
                    <a:lstStyle/>
                    <a:p>
                      <a:pPr algn="l" defTabSz="914400">
                        <a:defRPr sz="1800"/>
                      </a:pPr>
                      <a:r>
                        <a:t>Mean</a:t>
                      </a:r>
                    </a:p>
                  </a:txBody>
                  <a:tcPr marL="45720" marR="45720" marT="45720" marB="45720" anchor="t" anchorCtr="0" horzOverflow="overflow"/>
                </a:tc>
                <a:tc>
                  <a:txBody>
                    <a:bodyPr/>
                    <a:lstStyle/>
                    <a:p>
                      <a:pPr algn="l" defTabSz="914400">
                        <a:defRPr sz="1800"/>
                      </a:pPr>
                      <a:r>
                        <a:t>P-value</a:t>
                      </a:r>
                    </a:p>
                  </a:txBody>
                  <a:tcPr marL="45720" marR="45720" marT="45720" marB="45720" anchor="t" anchorCtr="0" horzOverflow="overflow"/>
                </a:tc>
              </a:tr>
              <a:tr h="370840">
                <a:tc>
                  <a:txBody>
                    <a:bodyPr/>
                    <a:lstStyle/>
                    <a:p>
                      <a:pPr algn="l" defTabSz="914400">
                        <a:defRPr sz="1800"/>
                      </a:pPr>
                      <a:r>
                        <a:t>45.7</a:t>
                      </a:r>
                    </a:p>
                  </a:txBody>
                  <a:tcPr marL="45720" marR="45720" marT="45720" marB="45720" anchor="t" anchorCtr="0" horzOverflow="overflow"/>
                </a:tc>
                <a:tc>
                  <a:txBody>
                    <a:bodyPr/>
                    <a:lstStyle/>
                    <a:p>
                      <a:pPr algn="l" defTabSz="914400">
                        <a:defRPr sz="1800"/>
                      </a:pPr>
                      <a:r>
                        <a:t>0.131</a:t>
                      </a:r>
                    </a:p>
                  </a:txBody>
                  <a:tcPr marL="45720" marR="45720" marT="45720" marB="45720" anchor="t" anchorCtr="0" horzOverflow="overflow"/>
                </a:tc>
              </a:tr>
              <a:tr h="370840">
                <a:tc>
                  <a:txBody>
                    <a:bodyPr/>
                    <a:lstStyle/>
                    <a:p>
                      <a:pPr algn="l" defTabSz="914400">
                        <a:defRPr sz="1800"/>
                      </a:pPr>
                      <a:r>
                        <a:t>31.1</a:t>
                      </a:r>
                    </a:p>
                  </a:txBody>
                  <a:tcPr marL="45720" marR="45720" marT="45720" marB="45720" anchor="t" anchorCtr="0" horzOverflow="overflow"/>
                </a:tc>
                <a:tc>
                  <a:txBody>
                    <a:bodyPr/>
                    <a:lstStyle/>
                    <a:p>
                      <a:pPr algn="l" defTabSz="914400">
                        <a:defRPr sz="1800"/>
                      </a:pPr>
                      <a:r>
                        <a:rPr b="1"/>
                        <a:t>0.032</a:t>
                      </a:r>
                    </a:p>
                  </a:txBody>
                  <a:tcPr marL="45720" marR="45720" marT="45720" marB="45720" anchor="t" anchorCtr="0" horzOverflow="overflow"/>
                </a:tc>
              </a:tr>
              <a:tr h="370840">
                <a:tc>
                  <a:txBody>
                    <a:bodyPr/>
                    <a:lstStyle/>
                    <a:p>
                      <a:pPr algn="l" defTabSz="914400">
                        <a:defRPr sz="1800"/>
                      </a:pPr>
                      <a:r>
                        <a:t>131.8</a:t>
                      </a:r>
                    </a:p>
                  </a:txBody>
                  <a:tcPr marL="45720" marR="45720" marT="45720" marB="45720" anchor="t" anchorCtr="0" horzOverflow="overflow"/>
                </a:tc>
                <a:tc>
                  <a:txBody>
                    <a:bodyPr/>
                    <a:lstStyle/>
                    <a:p>
                      <a:pPr algn="l" defTabSz="914400">
                        <a:defRPr sz="1800"/>
                      </a:pPr>
                      <a:r>
                        <a:t>0.146 </a:t>
                      </a:r>
                    </a:p>
                  </a:txBody>
                  <a:tcPr marL="45720" marR="45720" marT="45720" marB="45720" anchor="t" anchorCtr="0" horzOverflow="overflow"/>
                </a:tc>
              </a:tr>
              <a:tr h="370840">
                <a:tc>
                  <a:txBody>
                    <a:bodyPr/>
                    <a:lstStyle/>
                    <a:p>
                      <a:pPr algn="l" defTabSz="914400">
                        <a:defRPr sz="1800"/>
                      </a:pPr>
                      <a:r>
                        <a:t>14.0 </a:t>
                      </a:r>
                    </a:p>
                  </a:txBody>
                  <a:tcPr marL="45720" marR="45720" marT="45720" marB="45720" anchor="t" anchorCtr="0" horzOverflow="overflow"/>
                </a:tc>
                <a:tc>
                  <a:txBody>
                    <a:bodyPr/>
                    <a:lstStyle/>
                    <a:p>
                      <a:pPr algn="l" defTabSz="914400">
                        <a:defRPr sz="1800"/>
                      </a:pPr>
                      <a:r>
                        <a:rPr b="1"/>
                        <a:t>0.002</a:t>
                      </a:r>
                    </a:p>
                  </a:txBody>
                  <a:tcPr marL="45720" marR="45720" marT="45720" marB="45720" anchor="t" anchorCtr="0" horzOverflow="overflow"/>
                </a:tc>
              </a:tr>
              <a:tr h="370840">
                <a:tc>
                  <a:txBody>
                    <a:bodyPr/>
                    <a:lstStyle/>
                    <a:p>
                      <a:pPr algn="l" defTabSz="914400">
                        <a:defRPr sz="1800"/>
                      </a:pPr>
                      <a:r>
                        <a:t>113.2</a:t>
                      </a:r>
                    </a:p>
                  </a:txBody>
                  <a:tcPr marL="45720" marR="45720" marT="45720" marB="45720" anchor="t" anchorCtr="0" horzOverflow="overflow"/>
                </a:tc>
                <a:tc>
                  <a:txBody>
                    <a:bodyPr/>
                    <a:lstStyle/>
                    <a:p>
                      <a:pPr algn="l" defTabSz="914400">
                        <a:defRPr sz="1800"/>
                      </a:pPr>
                      <a:r>
                        <a:t>0.120</a:t>
                      </a:r>
                    </a:p>
                  </a:txBody>
                  <a:tcPr marL="45720" marR="45720" marT="45720" marB="45720" anchor="t" anchorCtr="0" horzOverflow="overflow"/>
                </a:tc>
              </a:tr>
              <a:tr h="370840">
                <a:tc>
                  <a:txBody>
                    <a:bodyPr/>
                    <a:lstStyle/>
                    <a:p>
                      <a:pPr algn="l" defTabSz="914400">
                        <a:defRPr sz="1800"/>
                      </a:pPr>
                      <a:r>
                        <a:t>9.01</a:t>
                      </a:r>
                    </a:p>
                  </a:txBody>
                  <a:tcPr marL="45720" marR="45720" marT="45720" marB="45720" anchor="t" anchorCtr="0" horzOverflow="overflow"/>
                </a:tc>
                <a:tc>
                  <a:txBody>
                    <a:bodyPr/>
                    <a:lstStyle/>
                    <a:p>
                      <a:pPr algn="l" defTabSz="914400">
                        <a:defRPr sz="1800"/>
                      </a:pPr>
                      <a:r>
                        <a:t>0.791</a:t>
                      </a:r>
                    </a:p>
                  </a:txBody>
                  <a:tcPr marL="45720" marR="45720" marT="45720" marB="45720" anchor="t" anchorCtr="0" horzOverflow="overflow"/>
                </a:tc>
              </a:tr>
            </a:tbl>
          </a:graphicData>
        </a:graphic>
      </p:graphicFrame>
      <p:graphicFrame>
        <p:nvGraphicFramePr>
          <p:cNvPr id="112" name="Table 10"/>
          <p:cNvGraphicFramePr/>
          <p:nvPr/>
        </p:nvGraphicFramePr>
        <p:xfrm>
          <a:off x="533400" y="3610304"/>
          <a:ext cx="3428999"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7494"/>
                <a:gridCol w="1781504"/>
              </a:tblGrid>
              <a:tr h="370840">
                <a:tc>
                  <a:txBody>
                    <a:bodyPr/>
                    <a:lstStyle/>
                    <a:p>
                      <a:pPr algn="l" defTabSz="914400">
                        <a:defRPr sz="1800"/>
                      </a:pPr>
                      <a:r>
                        <a:t>Mean</a:t>
                      </a:r>
                    </a:p>
                  </a:txBody>
                  <a:tcPr marL="45720" marR="45720" marT="45720" marB="45720" anchor="t" anchorCtr="0" horzOverflow="overflow"/>
                </a:tc>
                <a:tc>
                  <a:txBody>
                    <a:bodyPr/>
                    <a:lstStyle/>
                    <a:p>
                      <a:pPr algn="l" defTabSz="914400">
                        <a:defRPr sz="1800"/>
                      </a:pPr>
                      <a:r>
                        <a:t>P-value</a:t>
                      </a:r>
                    </a:p>
                  </a:txBody>
                  <a:tcPr marL="45720" marR="45720" marT="45720" marB="45720" anchor="t" anchorCtr="0" horzOverflow="overflow"/>
                </a:tc>
              </a:tr>
              <a:tr h="370840">
                <a:tc>
                  <a:txBody>
                    <a:bodyPr/>
                    <a:lstStyle/>
                    <a:p>
                      <a:pPr algn="l" defTabSz="914400">
                        <a:defRPr sz="1800"/>
                      </a:pPr>
                      <a:r>
                        <a:t>45.754</a:t>
                      </a:r>
                    </a:p>
                  </a:txBody>
                  <a:tcPr marL="45720" marR="45720" marT="45720" marB="45720" anchor="t" anchorCtr="0" horzOverflow="overflow"/>
                </a:tc>
                <a:tc>
                  <a:txBody>
                    <a:bodyPr/>
                    <a:lstStyle/>
                    <a:p>
                      <a:pPr algn="l" defTabSz="914400">
                        <a:defRPr sz="1800"/>
                      </a:pPr>
                      <a:r>
                        <a:t>0.131543</a:t>
                      </a:r>
                    </a:p>
                  </a:txBody>
                  <a:tcPr marL="45720" marR="45720" marT="45720" marB="45720" anchor="t" anchorCtr="0" horzOverflow="overflow"/>
                </a:tc>
              </a:tr>
              <a:tr h="370840">
                <a:tc>
                  <a:txBody>
                    <a:bodyPr/>
                    <a:lstStyle/>
                    <a:p>
                      <a:pPr algn="l" defTabSz="914400">
                        <a:defRPr sz="1800"/>
                      </a:pPr>
                      <a:r>
                        <a:t>31.157</a:t>
                      </a:r>
                    </a:p>
                  </a:txBody>
                  <a:tcPr marL="45720" marR="45720" marT="45720" marB="45720" anchor="t" anchorCtr="0" horzOverflow="overflow"/>
                </a:tc>
                <a:tc>
                  <a:txBody>
                    <a:bodyPr/>
                    <a:lstStyle/>
                    <a:p>
                      <a:pPr algn="l" defTabSz="914400">
                        <a:defRPr sz="1800"/>
                      </a:pPr>
                      <a:r>
                        <a:t>0.032698</a:t>
                      </a:r>
                    </a:p>
                  </a:txBody>
                  <a:tcPr marL="45720" marR="45720" marT="45720" marB="45720" anchor="t" anchorCtr="0" horzOverflow="overflow"/>
                </a:tc>
              </a:tr>
              <a:tr h="370840">
                <a:tc>
                  <a:txBody>
                    <a:bodyPr/>
                    <a:lstStyle/>
                    <a:p>
                      <a:pPr algn="l" defTabSz="914400">
                        <a:defRPr sz="1800"/>
                      </a:pPr>
                      <a:r>
                        <a:t>131.845</a:t>
                      </a:r>
                    </a:p>
                  </a:txBody>
                  <a:tcPr marL="45720" marR="45720" marT="45720" marB="45720" anchor="t" anchorCtr="0" horzOverflow="overflow"/>
                </a:tc>
                <a:tc>
                  <a:txBody>
                    <a:bodyPr/>
                    <a:lstStyle/>
                    <a:p>
                      <a:pPr algn="l" defTabSz="914400">
                        <a:defRPr sz="1800"/>
                      </a:pPr>
                      <a:r>
                        <a:t>0.146644</a:t>
                      </a:r>
                    </a:p>
                  </a:txBody>
                  <a:tcPr marL="45720" marR="45720" marT="45720" marB="45720" anchor="t" anchorCtr="0" horzOverflow="overflow"/>
                </a:tc>
              </a:tr>
              <a:tr h="370840">
                <a:tc>
                  <a:txBody>
                    <a:bodyPr/>
                    <a:lstStyle/>
                    <a:p>
                      <a:pPr algn="l" defTabSz="914400">
                        <a:defRPr sz="1800"/>
                      </a:pPr>
                      <a:r>
                        <a:t>14.064</a:t>
                      </a:r>
                    </a:p>
                  </a:txBody>
                  <a:tcPr marL="45720" marR="45720" marT="45720" marB="45720" anchor="t" anchorCtr="0" horzOverflow="overflow"/>
                </a:tc>
                <a:tc>
                  <a:txBody>
                    <a:bodyPr/>
                    <a:lstStyle/>
                    <a:p>
                      <a:pPr algn="l" defTabSz="914400">
                        <a:defRPr sz="1800"/>
                      </a:pPr>
                      <a:r>
                        <a:t>0.0022465</a:t>
                      </a:r>
                    </a:p>
                  </a:txBody>
                  <a:tcPr marL="45720" marR="45720" marT="45720" marB="45720" anchor="t" anchorCtr="0" horzOverflow="overflow"/>
                </a:tc>
              </a:tr>
              <a:tr h="370840">
                <a:tc>
                  <a:txBody>
                    <a:bodyPr/>
                    <a:lstStyle/>
                    <a:p>
                      <a:pPr algn="l" defTabSz="914400">
                        <a:defRPr sz="1800"/>
                      </a:pPr>
                      <a:r>
                        <a:t>113.254</a:t>
                      </a:r>
                    </a:p>
                  </a:txBody>
                  <a:tcPr marL="45720" marR="45720" marT="45720" marB="45720" anchor="t" anchorCtr="0" horzOverflow="overflow"/>
                </a:tc>
                <a:tc>
                  <a:txBody>
                    <a:bodyPr/>
                    <a:lstStyle/>
                    <a:p>
                      <a:pPr algn="l" defTabSz="914400">
                        <a:defRPr sz="1800"/>
                      </a:pPr>
                      <a:r>
                        <a:t>0.1202454</a:t>
                      </a:r>
                    </a:p>
                  </a:txBody>
                  <a:tcPr marL="45720" marR="45720" marT="45720" marB="45720" anchor="t" anchorCtr="0" horzOverflow="overflow"/>
                </a:tc>
              </a:tr>
              <a:tr h="370840">
                <a:tc>
                  <a:txBody>
                    <a:bodyPr/>
                    <a:lstStyle/>
                    <a:p>
                      <a:pPr algn="l" defTabSz="914400">
                        <a:defRPr sz="1800"/>
                      </a:pPr>
                      <a:r>
                        <a:t>9.015</a:t>
                      </a:r>
                    </a:p>
                  </a:txBody>
                  <a:tcPr marL="45720" marR="45720" marT="45720" marB="45720" anchor="t" anchorCtr="0" horzOverflow="overflow"/>
                </a:tc>
                <a:tc>
                  <a:txBody>
                    <a:bodyPr/>
                    <a:lstStyle/>
                    <a:p>
                      <a:pPr algn="l" defTabSz="914400">
                        <a:defRPr sz="1800"/>
                      </a:pPr>
                      <a:r>
                        <a:t>0.791545</a:t>
                      </a:r>
                    </a:p>
                  </a:txBody>
                  <a:tcPr marL="45720" marR="45720" marT="45720" marB="45720" anchor="t" anchorCtr="0" horzOverflow="overflow"/>
                </a:tc>
              </a:tr>
            </a:tbl>
          </a:graphicData>
        </a:graphic>
      </p:graphicFrame>
      <p:sp>
        <p:nvSpPr>
          <p:cNvPr id="113" name="TextBox 11"/>
          <p:cNvSpPr txBox="1"/>
          <p:nvPr/>
        </p:nvSpPr>
        <p:spPr>
          <a:xfrm>
            <a:off x="316359" y="2995228"/>
            <a:ext cx="7891170" cy="3853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200">
                <a:solidFill>
                  <a:srgbClr val="C00000"/>
                </a:solidFill>
              </a:defRPr>
            </a:lvl1pPr>
          </a:lstStyle>
          <a:p>
            <a:pPr/>
            <a:r>
              <a:t>These tables show the same results. Which is easier to read?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Box 1"/>
          <p:cNvSpPr txBox="1"/>
          <p:nvPr/>
        </p:nvSpPr>
        <p:spPr>
          <a:xfrm>
            <a:off x="451681" y="101651"/>
            <a:ext cx="8240637" cy="28618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Making effective tables</a:t>
            </a:r>
          </a:p>
          <a:p>
            <a:pPr>
              <a:defRPr b="1" sz="3600">
                <a:solidFill>
                  <a:srgbClr val="FF0000"/>
                </a:solidFill>
              </a:defRPr>
            </a:pPr>
          </a:p>
          <a:p>
            <a:pPr>
              <a:defRPr sz="2200"/>
            </a:pPr>
            <a:r>
              <a:t>Some more advice:</a:t>
            </a:r>
          </a:p>
          <a:p>
            <a:pPr lvl="1" marL="800100" indent="-342900">
              <a:buSzPct val="100000"/>
              <a:buFont typeface="Arial"/>
              <a:buChar char="•"/>
              <a:defRPr sz="2200"/>
            </a:pPr>
            <a:r>
              <a:t>Bold significant p-values so they stand out from non-significant values</a:t>
            </a:r>
          </a:p>
          <a:p>
            <a:pPr lvl="1" marL="800100" indent="-342900">
              <a:buSzPct val="100000"/>
              <a:buFont typeface="Arial"/>
              <a:buChar char="•"/>
              <a:defRPr sz="2200"/>
            </a:pPr>
            <a:r>
              <a:t>Similar values should match in the # of significant figures</a:t>
            </a:r>
          </a:p>
        </p:txBody>
      </p:sp>
      <p:graphicFrame>
        <p:nvGraphicFramePr>
          <p:cNvPr id="116" name="Table 7"/>
          <p:cNvGraphicFramePr/>
          <p:nvPr/>
        </p:nvGraphicFramePr>
        <p:xfrm>
          <a:off x="5218386" y="3610304"/>
          <a:ext cx="3392214"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10710"/>
                <a:gridCol w="1781504"/>
              </a:tblGrid>
              <a:tr h="370840">
                <a:tc>
                  <a:txBody>
                    <a:bodyPr/>
                    <a:lstStyle/>
                    <a:p>
                      <a:pPr algn="l" defTabSz="914400">
                        <a:defRPr sz="1800"/>
                      </a:pPr>
                      <a:r>
                        <a:t>Mean</a:t>
                      </a:r>
                    </a:p>
                  </a:txBody>
                  <a:tcPr marL="45720" marR="45720" marT="45720" marB="45720" anchor="t" anchorCtr="0" horzOverflow="overflow"/>
                </a:tc>
                <a:tc>
                  <a:txBody>
                    <a:bodyPr/>
                    <a:lstStyle/>
                    <a:p>
                      <a:pPr algn="l" defTabSz="914400">
                        <a:defRPr sz="1800"/>
                      </a:pPr>
                      <a:r>
                        <a:t>P-value</a:t>
                      </a:r>
                    </a:p>
                  </a:txBody>
                  <a:tcPr marL="45720" marR="45720" marT="45720" marB="45720" anchor="t" anchorCtr="0" horzOverflow="overflow"/>
                </a:tc>
              </a:tr>
              <a:tr h="370840">
                <a:tc>
                  <a:txBody>
                    <a:bodyPr/>
                    <a:lstStyle/>
                    <a:p>
                      <a:pPr algn="just" defTabSz="914400">
                        <a:defRPr sz="1800"/>
                      </a:pPr>
                      <a:r>
                        <a:t>45.7</a:t>
                      </a:r>
                    </a:p>
                  </a:txBody>
                  <a:tcPr marL="45720" marR="45720" marT="45720" marB="45720" anchor="t" anchorCtr="0" horzOverflow="overflow"/>
                </a:tc>
                <a:tc>
                  <a:txBody>
                    <a:bodyPr/>
                    <a:lstStyle/>
                    <a:p>
                      <a:pPr algn="l" defTabSz="914400">
                        <a:defRPr sz="1800"/>
                      </a:pPr>
                      <a:r>
                        <a:t>0.131</a:t>
                      </a:r>
                    </a:p>
                  </a:txBody>
                  <a:tcPr marL="45720" marR="45720" marT="45720" marB="45720" anchor="t" anchorCtr="0" horzOverflow="overflow"/>
                </a:tc>
              </a:tr>
              <a:tr h="370840">
                <a:tc>
                  <a:txBody>
                    <a:bodyPr/>
                    <a:lstStyle/>
                    <a:p>
                      <a:pPr algn="just" defTabSz="914400">
                        <a:defRPr sz="1800"/>
                      </a:pPr>
                      <a:r>
                        <a:t>31.1</a:t>
                      </a:r>
                    </a:p>
                  </a:txBody>
                  <a:tcPr marL="45720" marR="45720" marT="45720" marB="45720" anchor="t" anchorCtr="0" horzOverflow="overflow"/>
                </a:tc>
                <a:tc>
                  <a:txBody>
                    <a:bodyPr/>
                    <a:lstStyle/>
                    <a:p>
                      <a:pPr algn="l" defTabSz="914400">
                        <a:defRPr sz="1800"/>
                      </a:pPr>
                      <a:r>
                        <a:rPr b="1"/>
                        <a:t>0.032</a:t>
                      </a:r>
                    </a:p>
                  </a:txBody>
                  <a:tcPr marL="45720" marR="45720" marT="45720" marB="45720" anchor="t" anchorCtr="0" horzOverflow="overflow"/>
                </a:tc>
              </a:tr>
              <a:tr h="370840">
                <a:tc>
                  <a:txBody>
                    <a:bodyPr/>
                    <a:lstStyle/>
                    <a:p>
                      <a:pPr algn="just" defTabSz="914400">
                        <a:defRPr sz="1800"/>
                      </a:pPr>
                      <a:r>
                        <a:t>131.8</a:t>
                      </a:r>
                    </a:p>
                  </a:txBody>
                  <a:tcPr marL="45720" marR="45720" marT="45720" marB="45720" anchor="t" anchorCtr="0" horzOverflow="overflow"/>
                </a:tc>
                <a:tc>
                  <a:txBody>
                    <a:bodyPr/>
                    <a:lstStyle/>
                    <a:p>
                      <a:pPr algn="l" defTabSz="914400">
                        <a:defRPr sz="1800"/>
                      </a:pPr>
                      <a:r>
                        <a:t>0.146 </a:t>
                      </a:r>
                    </a:p>
                  </a:txBody>
                  <a:tcPr marL="45720" marR="45720" marT="45720" marB="45720" anchor="t" anchorCtr="0" horzOverflow="overflow"/>
                </a:tc>
              </a:tr>
              <a:tr h="370840">
                <a:tc>
                  <a:txBody>
                    <a:bodyPr/>
                    <a:lstStyle/>
                    <a:p>
                      <a:pPr algn="just" defTabSz="914400">
                        <a:defRPr sz="1800"/>
                      </a:pPr>
                      <a:r>
                        <a:t>14.0 </a:t>
                      </a:r>
                    </a:p>
                  </a:txBody>
                  <a:tcPr marL="45720" marR="45720" marT="45720" marB="45720" anchor="t" anchorCtr="0" horzOverflow="overflow"/>
                </a:tc>
                <a:tc>
                  <a:txBody>
                    <a:bodyPr/>
                    <a:lstStyle/>
                    <a:p>
                      <a:pPr algn="l" defTabSz="914400">
                        <a:defRPr sz="1800"/>
                      </a:pPr>
                      <a:r>
                        <a:rPr b="1"/>
                        <a:t>0.002</a:t>
                      </a:r>
                    </a:p>
                  </a:txBody>
                  <a:tcPr marL="45720" marR="45720" marT="45720" marB="45720" anchor="t" anchorCtr="0" horzOverflow="overflow"/>
                </a:tc>
              </a:tr>
              <a:tr h="370840">
                <a:tc>
                  <a:txBody>
                    <a:bodyPr/>
                    <a:lstStyle/>
                    <a:p>
                      <a:pPr algn="just" defTabSz="914400">
                        <a:defRPr sz="1800"/>
                      </a:pPr>
                      <a:r>
                        <a:t>113.2</a:t>
                      </a:r>
                    </a:p>
                  </a:txBody>
                  <a:tcPr marL="45720" marR="45720" marT="45720" marB="45720" anchor="t" anchorCtr="0" horzOverflow="overflow"/>
                </a:tc>
                <a:tc>
                  <a:txBody>
                    <a:bodyPr/>
                    <a:lstStyle/>
                    <a:p>
                      <a:pPr algn="l" defTabSz="914400">
                        <a:defRPr sz="1800"/>
                      </a:pPr>
                      <a:r>
                        <a:t>0.120</a:t>
                      </a:r>
                    </a:p>
                  </a:txBody>
                  <a:tcPr marL="45720" marR="45720" marT="45720" marB="45720" anchor="t" anchorCtr="0" horzOverflow="overflow"/>
                </a:tc>
              </a:tr>
              <a:tr h="370840">
                <a:tc>
                  <a:txBody>
                    <a:bodyPr/>
                    <a:lstStyle/>
                    <a:p>
                      <a:pPr algn="just" defTabSz="914400">
                        <a:defRPr sz="1800"/>
                      </a:pPr>
                      <a:r>
                        <a:t>9.0</a:t>
                      </a:r>
                    </a:p>
                  </a:txBody>
                  <a:tcPr marL="45720" marR="45720" marT="45720" marB="45720" anchor="t" anchorCtr="0" horzOverflow="overflow"/>
                </a:tc>
                <a:tc>
                  <a:txBody>
                    <a:bodyPr/>
                    <a:lstStyle/>
                    <a:p>
                      <a:pPr algn="l" defTabSz="914400">
                        <a:defRPr sz="1800"/>
                      </a:pPr>
                      <a:r>
                        <a:t>0.791</a:t>
                      </a:r>
                    </a:p>
                  </a:txBody>
                  <a:tcPr marL="45720" marR="45720" marT="45720" marB="45720" anchor="t" anchorCtr="0" horzOverflow="overflow"/>
                </a:tc>
              </a:tr>
            </a:tbl>
          </a:graphicData>
        </a:graphic>
      </p:graphicFrame>
      <p:graphicFrame>
        <p:nvGraphicFramePr>
          <p:cNvPr id="117" name="Table 8"/>
          <p:cNvGraphicFramePr/>
          <p:nvPr/>
        </p:nvGraphicFramePr>
        <p:xfrm>
          <a:off x="533400" y="3610304"/>
          <a:ext cx="3428999" cy="2595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7494"/>
                <a:gridCol w="1781504"/>
              </a:tblGrid>
              <a:tr h="370840">
                <a:tc>
                  <a:txBody>
                    <a:bodyPr/>
                    <a:lstStyle/>
                    <a:p>
                      <a:pPr algn="l" defTabSz="914400">
                        <a:defRPr sz="1800"/>
                      </a:pPr>
                      <a:r>
                        <a:t>Mean</a:t>
                      </a:r>
                    </a:p>
                  </a:txBody>
                  <a:tcPr marL="45720" marR="45720" marT="45720" marB="45720" anchor="t" anchorCtr="0" horzOverflow="overflow"/>
                </a:tc>
                <a:tc>
                  <a:txBody>
                    <a:bodyPr/>
                    <a:lstStyle/>
                    <a:p>
                      <a:pPr algn="l" defTabSz="914400">
                        <a:defRPr sz="1800"/>
                      </a:pPr>
                      <a:r>
                        <a:t>P-value</a:t>
                      </a:r>
                    </a:p>
                  </a:txBody>
                  <a:tcPr marL="45720" marR="45720" marT="45720" marB="45720" anchor="t" anchorCtr="0" horzOverflow="overflow"/>
                </a:tc>
              </a:tr>
              <a:tr h="370840">
                <a:tc>
                  <a:txBody>
                    <a:bodyPr/>
                    <a:lstStyle/>
                    <a:p>
                      <a:pPr algn="l" defTabSz="914400">
                        <a:defRPr sz="1800"/>
                      </a:pPr>
                      <a:r>
                        <a:t>45.754</a:t>
                      </a:r>
                    </a:p>
                  </a:txBody>
                  <a:tcPr marL="45720" marR="45720" marT="45720" marB="45720" anchor="t" anchorCtr="0" horzOverflow="overflow"/>
                </a:tc>
                <a:tc>
                  <a:txBody>
                    <a:bodyPr/>
                    <a:lstStyle/>
                    <a:p>
                      <a:pPr algn="l" defTabSz="914400">
                        <a:defRPr sz="1800"/>
                      </a:pPr>
                      <a:r>
                        <a:t>0.131543</a:t>
                      </a:r>
                    </a:p>
                  </a:txBody>
                  <a:tcPr marL="45720" marR="45720" marT="45720" marB="45720" anchor="t" anchorCtr="0" horzOverflow="overflow"/>
                </a:tc>
              </a:tr>
              <a:tr h="370840">
                <a:tc>
                  <a:txBody>
                    <a:bodyPr/>
                    <a:lstStyle/>
                    <a:p>
                      <a:pPr algn="l" defTabSz="914400">
                        <a:defRPr sz="1800"/>
                      </a:pPr>
                      <a:r>
                        <a:t>31.157</a:t>
                      </a:r>
                    </a:p>
                  </a:txBody>
                  <a:tcPr marL="45720" marR="45720" marT="45720" marB="45720" anchor="t" anchorCtr="0" horzOverflow="overflow"/>
                </a:tc>
                <a:tc>
                  <a:txBody>
                    <a:bodyPr/>
                    <a:lstStyle/>
                    <a:p>
                      <a:pPr algn="l" defTabSz="914400">
                        <a:defRPr sz="1800"/>
                      </a:pPr>
                      <a:r>
                        <a:t>0.032698</a:t>
                      </a:r>
                    </a:p>
                  </a:txBody>
                  <a:tcPr marL="45720" marR="45720" marT="45720" marB="45720" anchor="t" anchorCtr="0" horzOverflow="overflow"/>
                </a:tc>
              </a:tr>
              <a:tr h="370840">
                <a:tc>
                  <a:txBody>
                    <a:bodyPr/>
                    <a:lstStyle/>
                    <a:p>
                      <a:pPr algn="l" defTabSz="914400">
                        <a:defRPr sz="1800"/>
                      </a:pPr>
                      <a:r>
                        <a:t>131.845</a:t>
                      </a:r>
                    </a:p>
                  </a:txBody>
                  <a:tcPr marL="45720" marR="45720" marT="45720" marB="45720" anchor="t" anchorCtr="0" horzOverflow="overflow"/>
                </a:tc>
                <a:tc>
                  <a:txBody>
                    <a:bodyPr/>
                    <a:lstStyle/>
                    <a:p>
                      <a:pPr algn="l" defTabSz="914400">
                        <a:defRPr sz="1800"/>
                      </a:pPr>
                      <a:r>
                        <a:t>0.146644</a:t>
                      </a:r>
                    </a:p>
                  </a:txBody>
                  <a:tcPr marL="45720" marR="45720" marT="45720" marB="45720" anchor="t" anchorCtr="0" horzOverflow="overflow"/>
                </a:tc>
              </a:tr>
              <a:tr h="370840">
                <a:tc>
                  <a:txBody>
                    <a:bodyPr/>
                    <a:lstStyle/>
                    <a:p>
                      <a:pPr algn="l" defTabSz="914400">
                        <a:defRPr sz="1800"/>
                      </a:pPr>
                      <a:r>
                        <a:t>14.064</a:t>
                      </a:r>
                    </a:p>
                  </a:txBody>
                  <a:tcPr marL="45720" marR="45720" marT="45720" marB="45720" anchor="t" anchorCtr="0" horzOverflow="overflow"/>
                </a:tc>
                <a:tc>
                  <a:txBody>
                    <a:bodyPr/>
                    <a:lstStyle/>
                    <a:p>
                      <a:pPr algn="l" defTabSz="914400">
                        <a:defRPr sz="1800"/>
                      </a:pPr>
                      <a:r>
                        <a:t>0.0022465</a:t>
                      </a:r>
                    </a:p>
                  </a:txBody>
                  <a:tcPr marL="45720" marR="45720" marT="45720" marB="45720" anchor="t" anchorCtr="0" horzOverflow="overflow"/>
                </a:tc>
              </a:tr>
              <a:tr h="370840">
                <a:tc>
                  <a:txBody>
                    <a:bodyPr/>
                    <a:lstStyle/>
                    <a:p>
                      <a:pPr algn="l" defTabSz="914400">
                        <a:defRPr sz="1800"/>
                      </a:pPr>
                      <a:r>
                        <a:t>113.254</a:t>
                      </a:r>
                    </a:p>
                  </a:txBody>
                  <a:tcPr marL="45720" marR="45720" marT="45720" marB="45720" anchor="t" anchorCtr="0" horzOverflow="overflow"/>
                </a:tc>
                <a:tc>
                  <a:txBody>
                    <a:bodyPr/>
                    <a:lstStyle/>
                    <a:p>
                      <a:pPr algn="l" defTabSz="914400">
                        <a:defRPr sz="1800"/>
                      </a:pPr>
                      <a:r>
                        <a:t>0.1202454</a:t>
                      </a:r>
                    </a:p>
                  </a:txBody>
                  <a:tcPr marL="45720" marR="45720" marT="45720" marB="45720" anchor="t" anchorCtr="0" horzOverflow="overflow"/>
                </a:tc>
              </a:tr>
              <a:tr h="370840">
                <a:tc>
                  <a:txBody>
                    <a:bodyPr/>
                    <a:lstStyle/>
                    <a:p>
                      <a:pPr algn="l" defTabSz="914400">
                        <a:defRPr sz="1800"/>
                      </a:pPr>
                      <a:r>
                        <a:t>9.015</a:t>
                      </a:r>
                    </a:p>
                  </a:txBody>
                  <a:tcPr marL="45720" marR="45720" marT="45720" marB="45720" anchor="t" anchorCtr="0" horzOverflow="overflow"/>
                </a:tc>
                <a:tc>
                  <a:txBody>
                    <a:bodyPr/>
                    <a:lstStyle/>
                    <a:p>
                      <a:pPr algn="l" defTabSz="914400">
                        <a:defRPr sz="1800"/>
                      </a:pPr>
                      <a:r>
                        <a:t>0.791545</a:t>
                      </a:r>
                    </a:p>
                  </a:txBody>
                  <a:tcPr marL="45720" marR="45720" marT="45720" marB="45720" anchor="t" anchorCtr="0" horzOverflow="overflow"/>
                </a:tc>
              </a:tr>
            </a:tbl>
          </a:graphicData>
        </a:graphic>
      </p:graphicFrame>
      <p:sp>
        <p:nvSpPr>
          <p:cNvPr id="118" name="TextBox 10"/>
          <p:cNvSpPr txBox="1"/>
          <p:nvPr/>
        </p:nvSpPr>
        <p:spPr>
          <a:xfrm>
            <a:off x="579119" y="2998112"/>
            <a:ext cx="7891170" cy="385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200">
                <a:solidFill>
                  <a:srgbClr val="C00000"/>
                </a:solidFill>
              </a:defRPr>
            </a:lvl1pPr>
          </a:lstStyle>
          <a:p>
            <a:pPr/>
            <a:r>
              <a:t>These tables show the same results. Which is easier to read?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Box 1"/>
          <p:cNvSpPr txBox="1"/>
          <p:nvPr/>
        </p:nvSpPr>
        <p:spPr>
          <a:xfrm>
            <a:off x="495036" y="228599"/>
            <a:ext cx="8240637" cy="12362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Making effective tables</a:t>
            </a:r>
            <a:endParaRPr b="1" sz="3600">
              <a:solidFill>
                <a:srgbClr val="FF0000"/>
              </a:solidFill>
            </a:endParaRPr>
          </a:p>
          <a:p>
            <a:pPr>
              <a:defRPr sz="2200"/>
            </a:pPr>
            <a:r>
              <a:t>It is convention to use horizontal borders on the header row and last row, but not all borders.</a:t>
            </a:r>
          </a:p>
        </p:txBody>
      </p:sp>
      <p:sp>
        <p:nvSpPr>
          <p:cNvPr id="121" name="TextBox 10"/>
          <p:cNvSpPr txBox="1"/>
          <p:nvPr/>
        </p:nvSpPr>
        <p:spPr>
          <a:xfrm>
            <a:off x="394695" y="1497265"/>
            <a:ext cx="8504381" cy="385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200">
                <a:solidFill>
                  <a:srgbClr val="C00000"/>
                </a:solidFill>
              </a:defRPr>
            </a:lvl1pPr>
          </a:lstStyle>
          <a:p>
            <a:pPr/>
            <a:r>
              <a:t>These tables show the same data. Which is more pleasing to the eye?</a:t>
            </a:r>
          </a:p>
        </p:txBody>
      </p:sp>
      <p:graphicFrame>
        <p:nvGraphicFramePr>
          <p:cNvPr id="122" name="Table 9"/>
          <p:cNvGraphicFramePr/>
          <p:nvPr/>
        </p:nvGraphicFramePr>
        <p:xfrm>
          <a:off x="2354893" y="4617718"/>
          <a:ext cx="3970776"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87706"/>
                <a:gridCol w="851337"/>
                <a:gridCol w="819807"/>
                <a:gridCol w="811924"/>
              </a:tblGrid>
              <a:tr h="50800">
                <a:tc>
                  <a:txBody>
                    <a:bodyPr/>
                    <a:lstStyle/>
                    <a:p>
                      <a:pPr algn="just" defTabSz="914400">
                        <a:defRPr sz="1800"/>
                      </a:pPr>
                      <a:r>
                        <a:rPr sz="1200"/>
                        <a:t>Order</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Variable A</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Variable B</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Variable C</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Acipenseriformes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Amiiformes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Lepisosteiformes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5</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Albuliformes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Anguilliformes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933</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191</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Elopiformes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Notacanthiformes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Lepidogalaxiiformes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Ateleopodiformes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13</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r>
            </a:tbl>
          </a:graphicData>
        </a:graphic>
      </p:graphicFrame>
      <p:graphicFrame>
        <p:nvGraphicFramePr>
          <p:cNvPr id="123" name="Table 12"/>
          <p:cNvGraphicFramePr/>
          <p:nvPr/>
        </p:nvGraphicFramePr>
        <p:xfrm>
          <a:off x="199203" y="2053536"/>
          <a:ext cx="3970777"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87706"/>
                <a:gridCol w="851337"/>
                <a:gridCol w="819807"/>
                <a:gridCol w="811924"/>
              </a:tblGrid>
              <a:tr h="50800">
                <a:tc>
                  <a:txBody>
                    <a:bodyPr/>
                    <a:lstStyle/>
                    <a:p>
                      <a:pPr algn="just" defTabSz="914400">
                        <a:defRPr sz="1800"/>
                      </a:pPr>
                      <a:r>
                        <a:rPr sz="1200"/>
                        <a:t>Order</a:t>
                      </a:r>
                    </a:p>
                  </a:txBody>
                  <a:tcPr marL="0" marR="0" marT="0" marB="0" anchor="t" anchorCtr="0" horzOverflow="overflow"/>
                </a:tc>
                <a:tc>
                  <a:txBody>
                    <a:bodyPr/>
                    <a:lstStyle/>
                    <a:p>
                      <a:pPr algn="l" defTabSz="914400">
                        <a:defRPr sz="1800"/>
                      </a:pPr>
                      <a:r>
                        <a:rPr sz="1200"/>
                        <a:t>Variable A</a:t>
                      </a:r>
                    </a:p>
                  </a:txBody>
                  <a:tcPr marL="0" marR="0" marT="0" marB="0" anchor="t" anchorCtr="0" horzOverflow="overflow"/>
                </a:tc>
                <a:tc>
                  <a:txBody>
                    <a:bodyPr/>
                    <a:lstStyle/>
                    <a:p>
                      <a:pPr algn="l" defTabSz="914400">
                        <a:defRPr sz="1800"/>
                      </a:pPr>
                      <a:r>
                        <a:rPr sz="1200"/>
                        <a:t>Variable B</a:t>
                      </a:r>
                    </a:p>
                  </a:txBody>
                  <a:tcPr marL="0" marR="0" marT="0" marB="0" anchor="t" anchorCtr="0" horzOverflow="overflow"/>
                </a:tc>
                <a:tc>
                  <a:txBody>
                    <a:bodyPr/>
                    <a:lstStyle/>
                    <a:p>
                      <a:pPr algn="l" defTabSz="914400">
                        <a:defRPr sz="1800"/>
                      </a:pPr>
                      <a:r>
                        <a:rPr sz="1200"/>
                        <a:t>Variable C</a:t>
                      </a:r>
                    </a:p>
                  </a:txBody>
                  <a:tcPr marL="0" marR="0" marT="0" marB="0" anchor="t" anchorCtr="0" horzOverflow="overflow"/>
                </a:tc>
              </a:tr>
              <a:tr h="203200">
                <a:tc>
                  <a:txBody>
                    <a:bodyPr/>
                    <a:lstStyle/>
                    <a:p>
                      <a:pPr algn="l" defTabSz="914400">
                        <a:defRPr sz="1800"/>
                      </a:pPr>
                      <a:r>
                        <a:rPr sz="1200"/>
                        <a:t>Acipenseriformes</a:t>
                      </a:r>
                    </a:p>
                  </a:txBody>
                  <a:tcPr marL="0" marR="0" marT="0" marB="0" anchor="t" anchorCtr="0" horzOverflow="overflow"/>
                </a:tc>
                <a:tc>
                  <a:txBody>
                    <a:bodyPr/>
                    <a:lstStyle/>
                    <a:p>
                      <a:pPr algn="l" defTabSz="914400">
                        <a:defRPr sz="1800"/>
                      </a:pPr>
                      <a:r>
                        <a:rPr sz="1200"/>
                        <a:t>27</a:t>
                      </a:r>
                    </a:p>
                  </a:txBody>
                  <a:tcPr marL="0" marR="0" marT="0" marB="0" anchor="t" anchorCtr="0" horzOverflow="overflow"/>
                </a:tc>
                <a:tc>
                  <a:txBody>
                    <a:bodyPr/>
                    <a:lstStyle/>
                    <a:p>
                      <a:pPr algn="l" defTabSz="914400">
                        <a:defRPr sz="1800"/>
                      </a:pPr>
                      <a:r>
                        <a:rPr sz="1200"/>
                        <a:t>26</a:t>
                      </a:r>
                    </a:p>
                  </a:txBody>
                  <a:tcPr marL="0" marR="0" marT="0" marB="0" anchor="t" anchorCtr="0" horzOverflow="overflow"/>
                </a:tc>
                <a:tc>
                  <a:txBody>
                    <a:bodyPr/>
                    <a:lstStyle/>
                    <a:p>
                      <a:pPr algn="l" defTabSz="914400">
                        <a:defRPr sz="1800"/>
                      </a:pPr>
                      <a:r>
                        <a:rPr sz="1200"/>
                        <a:t>26</a:t>
                      </a:r>
                    </a:p>
                  </a:txBody>
                  <a:tcPr marL="0" marR="0" marT="0" marB="0" anchor="t" anchorCtr="0" horzOverflow="overflow"/>
                </a:tc>
              </a:tr>
              <a:tr h="203200">
                <a:tc>
                  <a:txBody>
                    <a:bodyPr/>
                    <a:lstStyle/>
                    <a:p>
                      <a:pPr algn="l" defTabSz="914400">
                        <a:defRPr sz="1800"/>
                      </a:pPr>
                      <a:r>
                        <a:rPr sz="1200"/>
                        <a:t>Amiiformes</a:t>
                      </a:r>
                    </a:p>
                  </a:txBody>
                  <a:tcPr marL="0" marR="0" marT="0" marB="0" anchor="t" anchorCtr="0" horzOverflow="overflow"/>
                </a:tc>
                <a:tc>
                  <a:txBody>
                    <a:bodyPr/>
                    <a:lstStyle/>
                    <a:p>
                      <a:pPr algn="l" defTabSz="914400">
                        <a:defRPr sz="1800"/>
                      </a:pPr>
                      <a:r>
                        <a:rPr sz="1200"/>
                        <a:t>1</a:t>
                      </a:r>
                    </a:p>
                  </a:txBody>
                  <a:tcPr marL="0" marR="0" marT="0" marB="0" anchor="t" anchorCtr="0" horzOverflow="overflow"/>
                </a:tc>
                <a:tc>
                  <a:txBody>
                    <a:bodyPr/>
                    <a:lstStyle/>
                    <a:p>
                      <a:pPr algn="l" defTabSz="914400">
                        <a:defRPr sz="1800"/>
                      </a:pPr>
                      <a:r>
                        <a:rPr sz="1200"/>
                        <a:t>1</a:t>
                      </a:r>
                    </a:p>
                  </a:txBody>
                  <a:tcPr marL="0" marR="0" marT="0" marB="0" anchor="t" anchorCtr="0" horzOverflow="overflow"/>
                </a:tc>
                <a:tc>
                  <a:txBody>
                    <a:bodyPr/>
                    <a:lstStyle/>
                    <a:p>
                      <a:pPr algn="l" defTabSz="914400">
                        <a:defRPr sz="1800"/>
                      </a:pPr>
                      <a:r>
                        <a:rPr sz="1200"/>
                        <a:t>0</a:t>
                      </a:r>
                    </a:p>
                  </a:txBody>
                  <a:tcPr marL="0" marR="0" marT="0" marB="0" anchor="t" anchorCtr="0" horzOverflow="overflow"/>
                </a:tc>
              </a:tr>
              <a:tr h="203200">
                <a:tc>
                  <a:txBody>
                    <a:bodyPr/>
                    <a:lstStyle/>
                    <a:p>
                      <a:pPr algn="l" defTabSz="914400">
                        <a:defRPr sz="1800"/>
                      </a:pPr>
                      <a:r>
                        <a:rPr sz="1200"/>
                        <a:t>Lepisosteiformes</a:t>
                      </a:r>
                    </a:p>
                  </a:txBody>
                  <a:tcPr marL="0" marR="0" marT="0" marB="0" anchor="t" anchorCtr="0" horzOverflow="overflow"/>
                </a:tc>
                <a:tc>
                  <a:txBody>
                    <a:bodyPr/>
                    <a:lstStyle/>
                    <a:p>
                      <a:pPr algn="l" defTabSz="914400">
                        <a:defRPr sz="1800"/>
                      </a:pPr>
                      <a:r>
                        <a:rPr sz="1200"/>
                        <a:t>7</a:t>
                      </a:r>
                    </a:p>
                  </a:txBody>
                  <a:tcPr marL="0" marR="0" marT="0" marB="0" anchor="t" anchorCtr="0" horzOverflow="overflow"/>
                </a:tc>
                <a:tc>
                  <a:txBody>
                    <a:bodyPr/>
                    <a:lstStyle/>
                    <a:p>
                      <a:pPr algn="l" defTabSz="914400">
                        <a:defRPr sz="1800"/>
                      </a:pPr>
                      <a:r>
                        <a:rPr sz="1200"/>
                        <a:t>7</a:t>
                      </a:r>
                    </a:p>
                  </a:txBody>
                  <a:tcPr marL="0" marR="0" marT="0" marB="0" anchor="t" anchorCtr="0" horzOverflow="overflow"/>
                </a:tc>
                <a:tc>
                  <a:txBody>
                    <a:bodyPr/>
                    <a:lstStyle/>
                    <a:p>
                      <a:pPr algn="l" defTabSz="914400">
                        <a:defRPr sz="1800"/>
                      </a:pPr>
                      <a:r>
                        <a:rPr sz="1200"/>
                        <a:t>5</a:t>
                      </a:r>
                    </a:p>
                  </a:txBody>
                  <a:tcPr marL="0" marR="0" marT="0" marB="0" anchor="t" anchorCtr="0" horzOverflow="overflow"/>
                </a:tc>
              </a:tr>
              <a:tr h="203200">
                <a:tc>
                  <a:txBody>
                    <a:bodyPr/>
                    <a:lstStyle/>
                    <a:p>
                      <a:pPr algn="l" defTabSz="914400">
                        <a:defRPr sz="1800"/>
                      </a:pPr>
                      <a:r>
                        <a:rPr sz="1200"/>
                        <a:t>Albuliformes</a:t>
                      </a:r>
                    </a:p>
                  </a:txBody>
                  <a:tcPr marL="0" marR="0" marT="0" marB="0" anchor="t" anchorCtr="0" horzOverflow="overflow"/>
                </a:tc>
                <a:tc>
                  <a:txBody>
                    <a:bodyPr/>
                    <a:lstStyle/>
                    <a:p>
                      <a:pPr algn="l" defTabSz="914400">
                        <a:defRPr sz="1800"/>
                      </a:pPr>
                      <a:r>
                        <a:rPr sz="1200"/>
                        <a:t>11</a:t>
                      </a:r>
                    </a:p>
                  </a:txBody>
                  <a:tcPr marL="0" marR="0" marT="0" marB="0" anchor="t" anchorCtr="0" horzOverflow="overflow"/>
                </a:tc>
                <a:tc>
                  <a:txBody>
                    <a:bodyPr/>
                    <a:lstStyle/>
                    <a:p>
                      <a:pPr algn="l" defTabSz="914400">
                        <a:defRPr sz="1800"/>
                      </a:pPr>
                      <a:r>
                        <a:rPr sz="1200"/>
                        <a:t>8</a:t>
                      </a:r>
                    </a:p>
                  </a:txBody>
                  <a:tcPr marL="0" marR="0" marT="0" marB="0" anchor="t" anchorCtr="0" horzOverflow="overflow"/>
                </a:tc>
                <a:tc>
                  <a:txBody>
                    <a:bodyPr/>
                    <a:lstStyle/>
                    <a:p>
                      <a:pPr algn="l" defTabSz="914400">
                        <a:defRPr sz="1800"/>
                      </a:pPr>
                      <a:r>
                        <a:rPr sz="1200"/>
                        <a:t>8</a:t>
                      </a:r>
                    </a:p>
                  </a:txBody>
                  <a:tcPr marL="0" marR="0" marT="0" marB="0" anchor="t" anchorCtr="0" horzOverflow="overflow"/>
                </a:tc>
              </a:tr>
              <a:tr h="203200">
                <a:tc>
                  <a:txBody>
                    <a:bodyPr/>
                    <a:lstStyle/>
                    <a:p>
                      <a:pPr algn="l" defTabSz="914400">
                        <a:defRPr sz="1800"/>
                      </a:pPr>
                      <a:r>
                        <a:rPr sz="1200"/>
                        <a:t>Anguilliformes</a:t>
                      </a:r>
                    </a:p>
                  </a:txBody>
                  <a:tcPr marL="0" marR="0" marT="0" marB="0" anchor="t" anchorCtr="0" horzOverflow="overflow"/>
                </a:tc>
                <a:tc>
                  <a:txBody>
                    <a:bodyPr/>
                    <a:lstStyle/>
                    <a:p>
                      <a:pPr algn="l" defTabSz="914400">
                        <a:defRPr sz="1800"/>
                      </a:pPr>
                      <a:r>
                        <a:rPr sz="1200"/>
                        <a:t>933</a:t>
                      </a:r>
                    </a:p>
                  </a:txBody>
                  <a:tcPr marL="0" marR="0" marT="0" marB="0" anchor="t" anchorCtr="0" horzOverflow="overflow"/>
                </a:tc>
                <a:tc>
                  <a:txBody>
                    <a:bodyPr/>
                    <a:lstStyle/>
                    <a:p>
                      <a:pPr algn="l" defTabSz="914400">
                        <a:defRPr sz="1800"/>
                      </a:pPr>
                      <a:r>
                        <a:rPr sz="1200"/>
                        <a:t>197</a:t>
                      </a:r>
                    </a:p>
                  </a:txBody>
                  <a:tcPr marL="0" marR="0" marT="0" marB="0" anchor="t" anchorCtr="0" horzOverflow="overflow"/>
                </a:tc>
                <a:tc>
                  <a:txBody>
                    <a:bodyPr/>
                    <a:lstStyle/>
                    <a:p>
                      <a:pPr algn="l" defTabSz="914400">
                        <a:defRPr sz="1800"/>
                      </a:pPr>
                      <a:r>
                        <a:rPr sz="1200"/>
                        <a:t>191</a:t>
                      </a:r>
                    </a:p>
                  </a:txBody>
                  <a:tcPr marL="0" marR="0" marT="0" marB="0" anchor="t" anchorCtr="0" horzOverflow="overflow"/>
                </a:tc>
              </a:tr>
              <a:tr h="203200">
                <a:tc>
                  <a:txBody>
                    <a:bodyPr/>
                    <a:lstStyle/>
                    <a:p>
                      <a:pPr algn="l" defTabSz="914400">
                        <a:defRPr sz="1800"/>
                      </a:pPr>
                      <a:r>
                        <a:rPr sz="1200"/>
                        <a:t>Elopiformes</a:t>
                      </a:r>
                    </a:p>
                  </a:txBody>
                  <a:tcPr marL="0" marR="0" marT="0" marB="0" anchor="t" anchorCtr="0" horzOverflow="overflow"/>
                </a:tc>
                <a:tc>
                  <a:txBody>
                    <a:bodyPr/>
                    <a:lstStyle/>
                    <a:p>
                      <a:pPr algn="l" defTabSz="914400">
                        <a:defRPr sz="1800"/>
                      </a:pPr>
                      <a:r>
                        <a:rPr sz="1200"/>
                        <a:t>9</a:t>
                      </a:r>
                    </a:p>
                  </a:txBody>
                  <a:tcPr marL="0" marR="0" marT="0" marB="0" anchor="t" anchorCtr="0" horzOverflow="overflow"/>
                </a:tc>
                <a:tc>
                  <a:txBody>
                    <a:bodyPr/>
                    <a:lstStyle/>
                    <a:p>
                      <a:pPr algn="l" defTabSz="914400">
                        <a:defRPr sz="1800"/>
                      </a:pPr>
                      <a:r>
                        <a:rPr sz="1200"/>
                        <a:t>6</a:t>
                      </a:r>
                    </a:p>
                  </a:txBody>
                  <a:tcPr marL="0" marR="0" marT="0" marB="0" anchor="t" anchorCtr="0" horzOverflow="overflow"/>
                </a:tc>
                <a:tc>
                  <a:txBody>
                    <a:bodyPr/>
                    <a:lstStyle/>
                    <a:p>
                      <a:pPr algn="l" defTabSz="914400">
                        <a:defRPr sz="1800"/>
                      </a:pPr>
                      <a:r>
                        <a:rPr sz="1200"/>
                        <a:t>6</a:t>
                      </a:r>
                    </a:p>
                  </a:txBody>
                  <a:tcPr marL="0" marR="0" marT="0" marB="0" anchor="t" anchorCtr="0" horzOverflow="overflow"/>
                </a:tc>
              </a:tr>
              <a:tr h="203200">
                <a:tc>
                  <a:txBody>
                    <a:bodyPr/>
                    <a:lstStyle/>
                    <a:p>
                      <a:pPr algn="l" defTabSz="914400">
                        <a:defRPr sz="1800"/>
                      </a:pPr>
                      <a:r>
                        <a:rPr sz="1200"/>
                        <a:t>Notacanthiformes</a:t>
                      </a:r>
                    </a:p>
                  </a:txBody>
                  <a:tcPr marL="0" marR="0" marT="0" marB="0" anchor="t" anchorCtr="0" horzOverflow="overflow"/>
                </a:tc>
                <a:tc>
                  <a:txBody>
                    <a:bodyPr/>
                    <a:lstStyle/>
                    <a:p>
                      <a:pPr algn="l" defTabSz="914400">
                        <a:defRPr sz="1800"/>
                      </a:pPr>
                      <a:r>
                        <a:rPr sz="1200"/>
                        <a:t>27</a:t>
                      </a:r>
                    </a:p>
                  </a:txBody>
                  <a:tcPr marL="0" marR="0" marT="0" marB="0" anchor="t" anchorCtr="0" horzOverflow="overflow"/>
                </a:tc>
                <a:tc>
                  <a:txBody>
                    <a:bodyPr/>
                    <a:lstStyle/>
                    <a:p>
                      <a:pPr algn="l" defTabSz="914400">
                        <a:defRPr sz="1800"/>
                      </a:pPr>
                      <a:r>
                        <a:rPr sz="1200"/>
                        <a:t>8</a:t>
                      </a:r>
                    </a:p>
                  </a:txBody>
                  <a:tcPr marL="0" marR="0" marT="0" marB="0" anchor="t" anchorCtr="0" horzOverflow="overflow"/>
                </a:tc>
                <a:tc>
                  <a:txBody>
                    <a:bodyPr/>
                    <a:lstStyle/>
                    <a:p>
                      <a:pPr algn="l" defTabSz="914400">
                        <a:defRPr sz="1800"/>
                      </a:pPr>
                      <a:r>
                        <a:rPr sz="1200"/>
                        <a:t>2</a:t>
                      </a:r>
                    </a:p>
                  </a:txBody>
                  <a:tcPr marL="0" marR="0" marT="0" marB="0" anchor="t" anchorCtr="0" horzOverflow="overflow"/>
                </a:tc>
              </a:tr>
              <a:tr h="203200">
                <a:tc>
                  <a:txBody>
                    <a:bodyPr/>
                    <a:lstStyle/>
                    <a:p>
                      <a:pPr algn="l" defTabSz="914400">
                        <a:defRPr sz="1800"/>
                      </a:pPr>
                      <a:r>
                        <a:rPr sz="1200"/>
                        <a:t>Lepidogalaxiiformes</a:t>
                      </a:r>
                    </a:p>
                  </a:txBody>
                  <a:tcPr marL="0" marR="0" marT="0" marB="0" anchor="t" anchorCtr="0" horzOverflow="overflow"/>
                </a:tc>
                <a:tc>
                  <a:txBody>
                    <a:bodyPr/>
                    <a:lstStyle/>
                    <a:p>
                      <a:pPr algn="l" defTabSz="914400">
                        <a:defRPr sz="1800"/>
                      </a:pPr>
                      <a:r>
                        <a:rPr sz="1200"/>
                        <a:t>1</a:t>
                      </a:r>
                    </a:p>
                  </a:txBody>
                  <a:tcPr marL="0" marR="0" marT="0" marB="0" anchor="t" anchorCtr="0" horzOverflow="overflow"/>
                </a:tc>
                <a:tc>
                  <a:txBody>
                    <a:bodyPr/>
                    <a:lstStyle/>
                    <a:p>
                      <a:pPr algn="l" defTabSz="914400">
                        <a:defRPr sz="1800"/>
                      </a:pPr>
                      <a:r>
                        <a:rPr sz="1200"/>
                        <a:t>1</a:t>
                      </a:r>
                    </a:p>
                  </a:txBody>
                  <a:tcPr marL="0" marR="0" marT="0" marB="0" anchor="t" anchorCtr="0" horzOverflow="overflow"/>
                </a:tc>
                <a:tc>
                  <a:txBody>
                    <a:bodyPr/>
                    <a:lstStyle/>
                    <a:p>
                      <a:pPr algn="l" defTabSz="914400">
                        <a:defRPr sz="1800"/>
                      </a:pPr>
                      <a:r>
                        <a:rPr sz="1200"/>
                        <a:t>0</a:t>
                      </a:r>
                    </a:p>
                  </a:txBody>
                  <a:tcPr marL="0" marR="0" marT="0" marB="0" anchor="t" anchorCtr="0" horzOverflow="overflow"/>
                </a:tc>
              </a:tr>
              <a:tr h="203200">
                <a:tc>
                  <a:txBody>
                    <a:bodyPr/>
                    <a:lstStyle/>
                    <a:p>
                      <a:pPr algn="l" defTabSz="914400">
                        <a:defRPr sz="1800"/>
                      </a:pPr>
                      <a:r>
                        <a:rPr sz="1200"/>
                        <a:t>Ateleopodiformes</a:t>
                      </a:r>
                    </a:p>
                  </a:txBody>
                  <a:tcPr marL="0" marR="0" marT="0" marB="0" anchor="t" anchorCtr="0" horzOverflow="overflow"/>
                </a:tc>
                <a:tc>
                  <a:txBody>
                    <a:bodyPr/>
                    <a:lstStyle/>
                    <a:p>
                      <a:pPr algn="l" defTabSz="914400">
                        <a:defRPr sz="1800"/>
                      </a:pPr>
                      <a:r>
                        <a:rPr sz="1200"/>
                        <a:t>13</a:t>
                      </a:r>
                    </a:p>
                  </a:txBody>
                  <a:tcPr marL="0" marR="0" marT="0" marB="0" anchor="t" anchorCtr="0" horzOverflow="overflow"/>
                </a:tc>
                <a:tc>
                  <a:txBody>
                    <a:bodyPr/>
                    <a:lstStyle/>
                    <a:p>
                      <a:pPr algn="l" defTabSz="914400">
                        <a:defRPr sz="1800"/>
                      </a:pPr>
                      <a:r>
                        <a:rPr sz="1200"/>
                        <a:t>6</a:t>
                      </a:r>
                    </a:p>
                  </a:txBody>
                  <a:tcPr marL="0" marR="0" marT="0" marB="0" anchor="t" anchorCtr="0" horzOverflow="overflow"/>
                </a:tc>
                <a:tc>
                  <a:txBody>
                    <a:bodyPr/>
                    <a:lstStyle/>
                    <a:p>
                      <a:pPr algn="l" defTabSz="914400">
                        <a:defRPr sz="1800"/>
                      </a:pPr>
                      <a:r>
                        <a:rPr sz="1200"/>
                        <a:t>6</a:t>
                      </a:r>
                    </a:p>
                  </a:txBody>
                  <a:tcPr marL="0" marR="0" marT="0" marB="0" anchor="t" anchorCtr="0" horzOverflow="overflow"/>
                </a:tc>
              </a:tr>
            </a:tbl>
          </a:graphicData>
        </a:graphic>
      </p:graphicFrame>
      <p:graphicFrame>
        <p:nvGraphicFramePr>
          <p:cNvPr id="124" name="Table 13"/>
          <p:cNvGraphicFramePr/>
          <p:nvPr/>
        </p:nvGraphicFramePr>
        <p:xfrm>
          <a:off x="4810616" y="2034724"/>
          <a:ext cx="3970776"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87706"/>
                <a:gridCol w="851337"/>
                <a:gridCol w="819807"/>
                <a:gridCol w="811924"/>
              </a:tblGrid>
              <a:tr h="50800">
                <a:tc>
                  <a:txBody>
                    <a:bodyPr/>
                    <a:lstStyle/>
                    <a:p>
                      <a:pPr algn="just" defTabSz="914400">
                        <a:defRPr sz="1800"/>
                      </a:pPr>
                      <a:r>
                        <a:rPr sz="1200"/>
                        <a:t>Order</a:t>
                      </a:r>
                    </a:p>
                  </a:txBody>
                  <a:tcPr marL="0" marR="0" marT="0" marB="0" anchor="t" anchorCtr="0" horzOverflow="overflow">
                    <a:lnL w="12700">
                      <a:miter lim="400000"/>
                    </a:lnL>
                    <a:lnR w="12700">
                      <a:miter lim="400000"/>
                    </a:lnR>
                  </a:tcPr>
                </a:tc>
                <a:tc>
                  <a:txBody>
                    <a:bodyPr/>
                    <a:lstStyle/>
                    <a:p>
                      <a:pPr algn="l" defTabSz="914400">
                        <a:defRPr sz="1800"/>
                      </a:pPr>
                      <a:r>
                        <a:rPr sz="1200"/>
                        <a:t>Variable A</a:t>
                      </a:r>
                    </a:p>
                  </a:txBody>
                  <a:tcPr marL="0" marR="0" marT="0" marB="0" anchor="t" anchorCtr="0" horzOverflow="overflow">
                    <a:lnL w="12700">
                      <a:miter lim="400000"/>
                    </a:lnL>
                    <a:lnR w="12700">
                      <a:miter lim="400000"/>
                    </a:lnR>
                  </a:tcPr>
                </a:tc>
                <a:tc>
                  <a:txBody>
                    <a:bodyPr/>
                    <a:lstStyle/>
                    <a:p>
                      <a:pPr algn="l" defTabSz="914400">
                        <a:defRPr sz="1800"/>
                      </a:pPr>
                      <a:r>
                        <a:rPr sz="1200"/>
                        <a:t>Variable B</a:t>
                      </a:r>
                    </a:p>
                  </a:txBody>
                  <a:tcPr marL="0" marR="0" marT="0" marB="0" anchor="t" anchorCtr="0" horzOverflow="overflow">
                    <a:lnL w="12700">
                      <a:miter lim="400000"/>
                    </a:lnL>
                    <a:lnR w="12700">
                      <a:miter lim="400000"/>
                    </a:lnR>
                  </a:tcPr>
                </a:tc>
                <a:tc>
                  <a:txBody>
                    <a:bodyPr/>
                    <a:lstStyle/>
                    <a:p>
                      <a:pPr algn="l" defTabSz="914400">
                        <a:defRPr sz="1800"/>
                      </a:pPr>
                      <a:r>
                        <a:rPr sz="1200"/>
                        <a:t>Variable C</a:t>
                      </a:r>
                    </a:p>
                  </a:txBody>
                  <a:tcPr marL="0" marR="0" marT="0" marB="0" anchor="t" anchorCtr="0" horzOverflow="overflow">
                    <a:lnL w="12700">
                      <a:miter lim="400000"/>
                    </a:lnL>
                    <a:lnR w="12700">
                      <a:miter lim="400000"/>
                    </a:lnR>
                  </a:tcPr>
                </a:tc>
              </a:tr>
              <a:tr h="203200">
                <a:tc>
                  <a:txBody>
                    <a:bodyPr/>
                    <a:lstStyle/>
                    <a:p>
                      <a:pPr algn="l" defTabSz="914400">
                        <a:defRPr sz="1800"/>
                      </a:pPr>
                      <a:r>
                        <a:rPr sz="1200"/>
                        <a:t>Acipenseriformes</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r>
              <a:tr h="203200">
                <a:tc>
                  <a:txBody>
                    <a:bodyPr/>
                    <a:lstStyle/>
                    <a:p>
                      <a:pPr algn="l" defTabSz="914400">
                        <a:defRPr sz="1800"/>
                      </a:pPr>
                      <a:r>
                        <a:rPr sz="1200"/>
                        <a:t>Amiiformes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Lepisosteiformes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5</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Albuliformes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Anguilliformes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933</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191</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Elopiformes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Notacanthiformes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Lepidogalaxiiformes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Ateleopodiformes</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13</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r>
            </a:tbl>
          </a:graphicData>
        </a:graphic>
      </p:graphicFrame>
      <p:sp>
        <p:nvSpPr>
          <p:cNvPr id="125" name="TextBox 14"/>
          <p:cNvSpPr txBox="1"/>
          <p:nvPr/>
        </p:nvSpPr>
        <p:spPr>
          <a:xfrm>
            <a:off x="5659164" y="4130811"/>
            <a:ext cx="3076509"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0000"/>
                </a:solidFill>
              </a:defRPr>
            </a:lvl1pPr>
          </a:lstStyle>
          <a:p>
            <a:pPr/>
            <a:r>
              <a:t>Your tables should look like this</a:t>
            </a:r>
          </a:p>
        </p:txBody>
      </p:sp>
      <p:sp>
        <p:nvSpPr>
          <p:cNvPr id="126" name="Up Arrow 3"/>
          <p:cNvSpPr/>
          <p:nvPr/>
        </p:nvSpPr>
        <p:spPr>
          <a:xfrm>
            <a:off x="5405511" y="4129332"/>
            <a:ext cx="207934" cy="29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641"/>
                </a:moveTo>
                <a:lnTo>
                  <a:pt x="10800" y="0"/>
                </a:lnTo>
                <a:lnTo>
                  <a:pt x="21600" y="7641"/>
                </a:lnTo>
                <a:lnTo>
                  <a:pt x="16200" y="7641"/>
                </a:lnTo>
                <a:lnTo>
                  <a:pt x="16200" y="21600"/>
                </a:lnTo>
                <a:lnTo>
                  <a:pt x="5400" y="21600"/>
                </a:lnTo>
                <a:lnTo>
                  <a:pt x="5400" y="7641"/>
                </a:lnTo>
                <a:close/>
              </a:path>
            </a:pathLst>
          </a:custGeom>
          <a:solidFill>
            <a:srgbClr val="FF0000"/>
          </a:solidFill>
          <a:ln w="12700">
            <a:solidFill>
              <a:srgbClr val="FF0000"/>
            </a:solidFill>
            <a:miter/>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6" grpId="2"/>
      <p:bldP build="whole" bldLvl="1" animBg="1" rev="0" advAuto="0" spid="125"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28" name="Table 2"/>
          <p:cNvGraphicFramePr/>
          <p:nvPr/>
        </p:nvGraphicFramePr>
        <p:xfrm>
          <a:off x="283587" y="3265766"/>
          <a:ext cx="3970776"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87706"/>
                <a:gridCol w="851337"/>
                <a:gridCol w="819807"/>
                <a:gridCol w="811924"/>
              </a:tblGrid>
              <a:tr h="50800">
                <a:tc>
                  <a:txBody>
                    <a:bodyPr/>
                    <a:lstStyle/>
                    <a:p>
                      <a:pPr algn="just" defTabSz="914400">
                        <a:defRPr sz="1800"/>
                      </a:pPr>
                      <a:r>
                        <a:rPr sz="1200"/>
                        <a:t>Order</a:t>
                      </a:r>
                    </a:p>
                  </a:txBody>
                  <a:tcPr marL="0" marR="0" marT="0" marB="0" anchor="t" anchorCtr="0" horzOverflow="overflow">
                    <a:lnL w="12700">
                      <a:miter lim="400000"/>
                    </a:lnL>
                    <a:lnR w="12700">
                      <a:miter lim="400000"/>
                    </a:lnR>
                  </a:tcPr>
                </a:tc>
                <a:tc>
                  <a:txBody>
                    <a:bodyPr/>
                    <a:lstStyle/>
                    <a:p>
                      <a:pPr algn="l" defTabSz="914400">
                        <a:defRPr sz="1800"/>
                      </a:pPr>
                      <a:r>
                        <a:rPr sz="1200"/>
                        <a:t>Variable A</a:t>
                      </a:r>
                    </a:p>
                  </a:txBody>
                  <a:tcPr marL="0" marR="0" marT="0" marB="0" anchor="t" anchorCtr="0" horzOverflow="overflow">
                    <a:lnL w="12700">
                      <a:miter lim="400000"/>
                    </a:lnL>
                    <a:lnR w="12700">
                      <a:miter lim="400000"/>
                    </a:lnR>
                  </a:tcPr>
                </a:tc>
                <a:tc>
                  <a:txBody>
                    <a:bodyPr/>
                    <a:lstStyle/>
                    <a:p>
                      <a:pPr algn="l" defTabSz="914400">
                        <a:defRPr sz="1800"/>
                      </a:pPr>
                      <a:r>
                        <a:rPr sz="1200"/>
                        <a:t>Variable B</a:t>
                      </a:r>
                    </a:p>
                  </a:txBody>
                  <a:tcPr marL="0" marR="0" marT="0" marB="0" anchor="t" anchorCtr="0" horzOverflow="overflow">
                    <a:lnL w="12700">
                      <a:miter lim="400000"/>
                    </a:lnL>
                    <a:lnR w="12700">
                      <a:miter lim="400000"/>
                    </a:lnR>
                  </a:tcPr>
                </a:tc>
                <a:tc>
                  <a:txBody>
                    <a:bodyPr/>
                    <a:lstStyle/>
                    <a:p>
                      <a:pPr algn="l" defTabSz="914400">
                        <a:defRPr sz="1800"/>
                      </a:pPr>
                      <a:r>
                        <a:rPr sz="1200"/>
                        <a:t>Variable C</a:t>
                      </a:r>
                    </a:p>
                  </a:txBody>
                  <a:tcPr marL="0" marR="0" marT="0" marB="0" anchor="t" anchorCtr="0" horzOverflow="overflow">
                    <a:lnL w="12700">
                      <a:miter lim="400000"/>
                    </a:lnL>
                    <a:lnR w="12700">
                      <a:miter lim="400000"/>
                    </a:lnR>
                  </a:tcPr>
                </a:tc>
              </a:tr>
              <a:tr h="203200">
                <a:tc>
                  <a:txBody>
                    <a:bodyPr/>
                    <a:lstStyle/>
                    <a:p>
                      <a:pPr algn="l" defTabSz="914400">
                        <a:defRPr sz="1800"/>
                      </a:pPr>
                      <a:r>
                        <a:rPr sz="1200"/>
                        <a:t>Acipenseriformes</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r>
              <a:tr h="203200">
                <a:tc>
                  <a:txBody>
                    <a:bodyPr/>
                    <a:lstStyle/>
                    <a:p>
                      <a:pPr algn="l" defTabSz="914400">
                        <a:defRPr sz="1800"/>
                      </a:pPr>
                      <a:r>
                        <a:rPr sz="1200"/>
                        <a:t>Amiiformes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Lepisosteiformes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5</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Albuliformes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Anguilliformes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933</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191</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Elopiformes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Notacanthiformes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Lepidogalaxiiformes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Ateleopodiformes</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13</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r>
            </a:tbl>
          </a:graphicData>
        </a:graphic>
      </p:graphicFrame>
      <p:sp>
        <p:nvSpPr>
          <p:cNvPr id="129" name="TextBox 3"/>
          <p:cNvSpPr txBox="1"/>
          <p:nvPr/>
        </p:nvSpPr>
        <p:spPr>
          <a:xfrm>
            <a:off x="4917522" y="666472"/>
            <a:ext cx="3879337" cy="1501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Every label should be self explanatory, or explained in the caption. </a:t>
            </a:r>
            <a:br/>
            <a:br/>
            <a:r>
              <a:t>Don’t make the reader hunt the main text to interpret </a:t>
            </a:r>
          </a:p>
        </p:txBody>
      </p:sp>
      <p:sp>
        <p:nvSpPr>
          <p:cNvPr id="130" name="Oval 4"/>
          <p:cNvSpPr/>
          <p:nvPr/>
        </p:nvSpPr>
        <p:spPr>
          <a:xfrm>
            <a:off x="3324971" y="3224544"/>
            <a:ext cx="929391" cy="354359"/>
          </a:xfrm>
          <a:prstGeom prst="ellipse">
            <a:avLst/>
          </a:prstGeom>
          <a:ln w="12700">
            <a:solidFill>
              <a:srgbClr val="1D3053"/>
            </a:solidFill>
            <a:miter/>
          </a:ln>
        </p:spPr>
        <p:txBody>
          <a:bodyPr lIns="45719" rIns="45719" anchor="ctr"/>
          <a:lstStyle/>
          <a:p>
            <a:pPr algn="ctr">
              <a:defRPr>
                <a:solidFill>
                  <a:srgbClr val="FF0000"/>
                </a:solidFill>
              </a:defRPr>
            </a:pPr>
          </a:p>
        </p:txBody>
      </p:sp>
      <p:sp>
        <p:nvSpPr>
          <p:cNvPr id="131" name="Straight Connector 6"/>
          <p:cNvSpPr/>
          <p:nvPr/>
        </p:nvSpPr>
        <p:spPr>
          <a:xfrm flipV="1">
            <a:off x="3942412" y="899409"/>
            <a:ext cx="929391" cy="2366358"/>
          </a:xfrm>
          <a:prstGeom prst="line">
            <a:avLst/>
          </a:prstGeom>
          <a:ln w="6350">
            <a:solidFill>
              <a:schemeClr val="accent1"/>
            </a:solidFill>
            <a:miter/>
          </a:ln>
        </p:spPr>
        <p:txBody>
          <a:bodyPr lIns="45719" rIns="45719"/>
          <a:lstStyle/>
          <a:p>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33" name="Table 2"/>
          <p:cNvGraphicFramePr/>
          <p:nvPr/>
        </p:nvGraphicFramePr>
        <p:xfrm>
          <a:off x="1970844" y="1342198"/>
          <a:ext cx="3970776"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87706"/>
                <a:gridCol w="851337"/>
                <a:gridCol w="819807"/>
                <a:gridCol w="811924"/>
              </a:tblGrid>
              <a:tr h="50800">
                <a:tc>
                  <a:txBody>
                    <a:bodyPr/>
                    <a:lstStyle/>
                    <a:p>
                      <a:pPr algn="just" defTabSz="914400">
                        <a:defRPr sz="1800"/>
                      </a:pPr>
                      <a:r>
                        <a:rPr sz="1200"/>
                        <a:t>Order</a:t>
                      </a:r>
                    </a:p>
                  </a:txBody>
                  <a:tcPr marL="0" marR="0" marT="0" marB="0" anchor="t" anchorCtr="0" horzOverflow="overflow">
                    <a:lnL w="12700">
                      <a:miter lim="400000"/>
                    </a:lnL>
                    <a:lnR w="12700">
                      <a:miter lim="400000"/>
                    </a:lnR>
                  </a:tcPr>
                </a:tc>
                <a:tc>
                  <a:txBody>
                    <a:bodyPr/>
                    <a:lstStyle/>
                    <a:p>
                      <a:pPr algn="l" defTabSz="914400">
                        <a:defRPr sz="1800"/>
                      </a:pPr>
                      <a:r>
                        <a:rPr sz="1200"/>
                        <a:t>Variable A</a:t>
                      </a:r>
                    </a:p>
                  </a:txBody>
                  <a:tcPr marL="0" marR="0" marT="0" marB="0" anchor="t" anchorCtr="0" horzOverflow="overflow">
                    <a:lnL w="12700">
                      <a:miter lim="400000"/>
                    </a:lnL>
                    <a:lnR w="12700">
                      <a:miter lim="400000"/>
                    </a:lnR>
                  </a:tcPr>
                </a:tc>
                <a:tc>
                  <a:txBody>
                    <a:bodyPr/>
                    <a:lstStyle/>
                    <a:p>
                      <a:pPr algn="l" defTabSz="914400">
                        <a:defRPr sz="1800"/>
                      </a:pPr>
                      <a:r>
                        <a:rPr sz="1200"/>
                        <a:t>Variable B</a:t>
                      </a:r>
                    </a:p>
                  </a:txBody>
                  <a:tcPr marL="0" marR="0" marT="0" marB="0" anchor="t" anchorCtr="0" horzOverflow="overflow">
                    <a:lnL w="12700">
                      <a:miter lim="400000"/>
                    </a:lnL>
                    <a:lnR w="12700">
                      <a:miter lim="400000"/>
                    </a:lnR>
                  </a:tcPr>
                </a:tc>
                <a:tc>
                  <a:txBody>
                    <a:bodyPr/>
                    <a:lstStyle/>
                    <a:p>
                      <a:pPr algn="l" defTabSz="914400">
                        <a:defRPr sz="1800"/>
                      </a:pPr>
                      <a:r>
                        <a:rPr sz="1200"/>
                        <a:t>Variable C</a:t>
                      </a:r>
                    </a:p>
                  </a:txBody>
                  <a:tcPr marL="0" marR="0" marT="0" marB="0" anchor="t" anchorCtr="0" horzOverflow="overflow">
                    <a:lnL w="12700">
                      <a:miter lim="400000"/>
                    </a:lnL>
                    <a:lnR w="12700">
                      <a:miter lim="400000"/>
                    </a:lnR>
                  </a:tcPr>
                </a:tc>
              </a:tr>
              <a:tr h="203200">
                <a:tc>
                  <a:txBody>
                    <a:bodyPr/>
                    <a:lstStyle/>
                    <a:p>
                      <a:pPr algn="l" defTabSz="914400">
                        <a:defRPr sz="1800"/>
                      </a:pPr>
                      <a:r>
                        <a:rPr sz="1200"/>
                        <a:t>Acipenseriformes</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c>
                  <a:txBody>
                    <a:bodyPr/>
                    <a:lstStyle/>
                    <a:p>
                      <a:pPr algn="l" defTabSz="914400">
                        <a:defRPr sz="1800"/>
                      </a:pPr>
                      <a:r>
                        <a:rPr sz="1200"/>
                        <a:t>26</a:t>
                      </a:r>
                    </a:p>
                  </a:txBody>
                  <a:tcPr marL="0" marR="0" marT="0" marB="0" anchor="t" anchorCtr="0" horzOverflow="overflow">
                    <a:lnL w="12700">
                      <a:miter lim="400000"/>
                    </a:lnL>
                    <a:lnR w="12700">
                      <a:miter lim="400000"/>
                    </a:lnR>
                    <a:lnB w="12700">
                      <a:miter lim="400000"/>
                    </a:lnB>
                  </a:tcPr>
                </a:tc>
              </a:tr>
              <a:tr h="203200">
                <a:tc>
                  <a:txBody>
                    <a:bodyPr/>
                    <a:lstStyle/>
                    <a:p>
                      <a:pPr algn="l" defTabSz="914400">
                        <a:defRPr sz="1800"/>
                      </a:pPr>
                      <a:r>
                        <a:rPr sz="1200"/>
                        <a:t>Amiiformes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Lepisosteiformes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5</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Albuliformes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Anguilliformes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933</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191</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Elopiformes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9</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Notacanthiformes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27</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8</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2</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Lepidogalaxiiformes</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1</a:t>
                      </a:r>
                    </a:p>
                  </a:txBody>
                  <a:tcPr marL="0" marR="0" marT="0" marB="0" anchor="t" anchorCtr="0" horzOverflow="overflow">
                    <a:lnL w="12700">
                      <a:miter lim="400000"/>
                    </a:lnL>
                    <a:lnR w="12700">
                      <a:miter lim="400000"/>
                    </a:lnR>
                    <a:lnT w="12700">
                      <a:miter lim="400000"/>
                    </a:lnT>
                    <a:lnB w="12700">
                      <a:miter lim="400000"/>
                    </a:lnB>
                  </a:tcPr>
                </a:tc>
                <a:tc>
                  <a:txBody>
                    <a:bodyPr/>
                    <a:lstStyle/>
                    <a:p>
                      <a:pPr algn="l" defTabSz="914400">
                        <a:defRPr sz="1800"/>
                      </a:pPr>
                      <a:r>
                        <a:rPr sz="1200"/>
                        <a:t>0</a:t>
                      </a:r>
                    </a:p>
                  </a:txBody>
                  <a:tcPr marL="0" marR="0" marT="0" marB="0" anchor="t" anchorCtr="0" horzOverflow="overflow">
                    <a:lnL w="12700">
                      <a:miter lim="400000"/>
                    </a:lnL>
                    <a:lnR w="12700">
                      <a:miter lim="400000"/>
                    </a:lnR>
                    <a:lnT w="12700">
                      <a:miter lim="400000"/>
                    </a:lnT>
                    <a:lnB w="12700">
                      <a:miter lim="400000"/>
                    </a:lnB>
                  </a:tcPr>
                </a:tc>
              </a:tr>
              <a:tr h="203200">
                <a:tc>
                  <a:txBody>
                    <a:bodyPr/>
                    <a:lstStyle/>
                    <a:p>
                      <a:pPr algn="l" defTabSz="914400">
                        <a:defRPr sz="1800"/>
                      </a:pPr>
                      <a:r>
                        <a:rPr sz="1200"/>
                        <a:t>Ateleopodiformes</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13</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c>
                  <a:txBody>
                    <a:bodyPr/>
                    <a:lstStyle/>
                    <a:p>
                      <a:pPr algn="l" defTabSz="914400">
                        <a:defRPr sz="1800"/>
                      </a:pPr>
                      <a:r>
                        <a:rPr sz="1200"/>
                        <a:t>6</a:t>
                      </a:r>
                    </a:p>
                  </a:txBody>
                  <a:tcPr marL="0" marR="0" marT="0" marB="0" anchor="t" anchorCtr="0" horzOverflow="overflow">
                    <a:lnL w="12700">
                      <a:miter lim="400000"/>
                    </a:lnL>
                    <a:lnR w="12700">
                      <a:miter lim="400000"/>
                    </a:lnR>
                    <a:lnT w="12700">
                      <a:miter lim="400000"/>
                    </a:lnT>
                  </a:tcPr>
                </a:tc>
              </a:tr>
            </a:tbl>
          </a:graphicData>
        </a:graphic>
      </p:graphicFrame>
      <p:sp>
        <p:nvSpPr>
          <p:cNvPr id="134" name="TextBox 1"/>
          <p:cNvSpPr txBox="1"/>
          <p:nvPr/>
        </p:nvSpPr>
        <p:spPr>
          <a:xfrm>
            <a:off x="2904532" y="2295488"/>
            <a:ext cx="173719" cy="22570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100"/>
            </a:lvl1pPr>
          </a:lstStyle>
          <a:p>
            <a:pPr/>
            <a:r>
              <a:t>*</a:t>
            </a:r>
          </a:p>
        </p:txBody>
      </p:sp>
      <p:sp>
        <p:nvSpPr>
          <p:cNvPr id="135" name="TextBox 5"/>
          <p:cNvSpPr txBox="1"/>
          <p:nvPr/>
        </p:nvSpPr>
        <p:spPr>
          <a:xfrm>
            <a:off x="3107180" y="3109162"/>
            <a:ext cx="302701" cy="2257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100"/>
            </a:lvl1pPr>
          </a:lstStyle>
          <a:p>
            <a:pPr/>
            <a:r>
              <a:t>**</a:t>
            </a:r>
          </a:p>
        </p:txBody>
      </p:sp>
      <p:sp>
        <p:nvSpPr>
          <p:cNvPr id="136" name="TextBox 7"/>
          <p:cNvSpPr txBox="1"/>
          <p:nvPr/>
        </p:nvSpPr>
        <p:spPr>
          <a:xfrm>
            <a:off x="2016564" y="3370772"/>
            <a:ext cx="1753187" cy="39080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sz="1100"/>
            </a:pPr>
            <a:r>
              <a:t>* Excludes moray eels</a:t>
            </a:r>
          </a:p>
          <a:p>
            <a:pPr>
              <a:defRPr sz="1100"/>
            </a:pPr>
            <a:r>
              <a:t>** Three species had no data</a:t>
            </a:r>
          </a:p>
        </p:txBody>
      </p:sp>
      <p:sp>
        <p:nvSpPr>
          <p:cNvPr id="137" name="TextBox 8"/>
          <p:cNvSpPr txBox="1"/>
          <p:nvPr/>
        </p:nvSpPr>
        <p:spPr>
          <a:xfrm>
            <a:off x="2016564" y="4307168"/>
            <a:ext cx="4848423"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Symbols are sometimes explained at the end of the table itself, other times in the table caption. </a:t>
            </a:r>
          </a:p>
        </p:txBody>
      </p:sp>
      <p:sp>
        <p:nvSpPr>
          <p:cNvPr id="138" name="Straight Arrow Connector 10"/>
          <p:cNvSpPr/>
          <p:nvPr/>
        </p:nvSpPr>
        <p:spPr>
          <a:xfrm flipV="1">
            <a:off x="2133600" y="3801659"/>
            <a:ext cx="0" cy="505510"/>
          </a:xfrm>
          <a:prstGeom prst="line">
            <a:avLst/>
          </a:prstGeom>
          <a:ln w="6350">
            <a:solidFill>
              <a:schemeClr val="accent1"/>
            </a:solidFill>
            <a:miter/>
            <a:tailEnd type="triangle"/>
          </a:ln>
        </p:spPr>
        <p:txBody>
          <a:bodyPr lIns="45719" rIns="45719"/>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extBox 1"/>
          <p:cNvSpPr txBox="1"/>
          <p:nvPr/>
        </p:nvSpPr>
        <p:spPr>
          <a:xfrm>
            <a:off x="655318" y="496614"/>
            <a:ext cx="7954231" cy="56629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solidFill>
                  <a:srgbClr val="C00000"/>
                </a:solidFill>
              </a:defRPr>
            </a:pPr>
            <a:r>
              <a:t>The importance of the caption</a:t>
            </a:r>
          </a:p>
          <a:p>
            <a:pPr/>
          </a:p>
          <a:p>
            <a:pPr>
              <a:defRPr sz="2400"/>
            </a:pPr>
            <a:r>
              <a:t>Each figure </a:t>
            </a:r>
            <a:r>
              <a:rPr i="1"/>
              <a:t>and</a:t>
            </a:r>
            <a:r>
              <a:t> table must have a fully self-explanatory caption (sometimes called a legend). The reader should be able to look at the figure or table and the caption, and understand what is being presented.</a:t>
            </a:r>
          </a:p>
          <a:p>
            <a:pPr>
              <a:defRPr sz="2400"/>
            </a:pPr>
          </a:p>
          <a:p>
            <a:pPr>
              <a:defRPr sz="2400"/>
            </a:pPr>
            <a:r>
              <a:t>By convention, </a:t>
            </a:r>
            <a:r>
              <a:rPr b="1">
                <a:solidFill>
                  <a:srgbClr val="FF0000"/>
                </a:solidFill>
              </a:rPr>
              <a:t>figure captions </a:t>
            </a:r>
            <a:r>
              <a:t>are usually placed </a:t>
            </a:r>
            <a:r>
              <a:rPr b="1">
                <a:solidFill>
                  <a:srgbClr val="FF0000"/>
                </a:solidFill>
              </a:rPr>
              <a:t>below</a:t>
            </a:r>
            <a:r>
              <a:t> the image, whereas </a:t>
            </a:r>
            <a:r>
              <a:rPr b="1">
                <a:solidFill>
                  <a:schemeClr val="accent1"/>
                </a:solidFill>
              </a:rPr>
              <a:t>table captions </a:t>
            </a:r>
            <a:r>
              <a:t>are usually placed </a:t>
            </a:r>
            <a:r>
              <a:rPr b="1">
                <a:solidFill>
                  <a:schemeClr val="accent1"/>
                </a:solidFill>
              </a:rPr>
              <a:t>above</a:t>
            </a:r>
            <a:r>
              <a:t> the table.</a:t>
            </a:r>
          </a:p>
          <a:p>
            <a:pPr>
              <a:defRPr sz="2400"/>
            </a:pPr>
          </a:p>
          <a:p>
            <a:pPr>
              <a:defRPr sz="2400"/>
            </a:pPr>
            <a:r>
              <a:t>Remember, the reader is busy. The abstract and figures/tables may be the only thing they read. Do not make the reader go through the entire paper to understand what is going on. Your captions are important to give the reader context!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Rectangle 1"/>
          <p:cNvSpPr txBox="1"/>
          <p:nvPr/>
        </p:nvSpPr>
        <p:spPr>
          <a:xfrm>
            <a:off x="826113" y="404648"/>
            <a:ext cx="6461761" cy="5493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600">
                <a:solidFill>
                  <a:srgbClr val="C00000"/>
                </a:solidFill>
              </a:defRPr>
            </a:lvl1pPr>
          </a:lstStyle>
          <a:p>
            <a:pPr/>
            <a:r>
              <a:t>What makes an effective caption?</a:t>
            </a:r>
          </a:p>
        </p:txBody>
      </p:sp>
      <p:sp>
        <p:nvSpPr>
          <p:cNvPr id="143" name="TextBox 2"/>
          <p:cNvSpPr txBox="1"/>
          <p:nvPr/>
        </p:nvSpPr>
        <p:spPr>
          <a:xfrm>
            <a:off x="484526" y="1133355"/>
            <a:ext cx="8174948" cy="33388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C00000"/>
                </a:solidFill>
              </a:defRPr>
            </a:pPr>
            <a:r>
              <a:t>Key points:</a:t>
            </a:r>
          </a:p>
          <a:p>
            <a:pPr marL="285750" indent="-285750">
              <a:buSzPct val="100000"/>
              <a:buFont typeface="Arial"/>
              <a:buChar char="•"/>
              <a:defRPr sz="2400"/>
            </a:pPr>
            <a:r>
              <a:t>Describes independent and dependent variables on a figure (x and y axes)</a:t>
            </a:r>
          </a:p>
          <a:p>
            <a:pPr marL="285750" indent="-285750">
              <a:buSzPct val="100000"/>
              <a:buFont typeface="Arial"/>
              <a:buChar char="•"/>
              <a:defRPr sz="2400"/>
            </a:pPr>
            <a:r>
              <a:t>Defines symbols or abbreviations used in figure. </a:t>
            </a:r>
          </a:p>
          <a:p>
            <a:pPr marL="285750" indent="-285750">
              <a:buSzPct val="100000"/>
              <a:buFont typeface="Arial"/>
              <a:buChar char="•"/>
              <a:defRPr sz="2400"/>
            </a:pPr>
            <a:r>
              <a:t>Specifies temporal bounds of the data  (if necessary)</a:t>
            </a:r>
          </a:p>
          <a:p>
            <a:pPr marL="285750" indent="-285750">
              <a:buSzPct val="100000"/>
              <a:buFont typeface="Arial"/>
              <a:buChar char="•"/>
              <a:defRPr b="1" sz="2400" u="sng"/>
            </a:pPr>
            <a:r>
              <a:t>Briefly</a:t>
            </a:r>
            <a:r>
              <a:rPr b="0" u="none"/>
              <a:t> indicates how data were collected (if necessary)</a:t>
            </a:r>
            <a:endParaRPr b="0" u="none"/>
          </a:p>
          <a:p>
            <a:pPr marL="285750" indent="-285750">
              <a:buSzPct val="100000"/>
              <a:buFont typeface="Arial"/>
              <a:buChar char="•"/>
              <a:defRPr sz="2400"/>
            </a:pPr>
            <a:r>
              <a:t>Is fully self-explanatory</a:t>
            </a:r>
          </a:p>
          <a:p>
            <a:pPr marL="285750" indent="-285750">
              <a:buSzPct val="100000"/>
              <a:buFont typeface="Arial"/>
              <a:buChar char="•"/>
              <a:defRPr sz="2400"/>
            </a:pPr>
            <a:r>
              <a:t>Specifies if a pattern shown is stat. significant (if relevant)</a:t>
            </a:r>
          </a:p>
          <a:p>
            <a:pPr marL="285750" indent="-285750">
              <a:buSzPct val="100000"/>
              <a:buFont typeface="Arial"/>
              <a:buChar char="•"/>
              <a:defRPr sz="2400"/>
            </a:pPr>
            <a:r>
              <a:t>Just the facts (resist urge to interpret)</a:t>
            </a:r>
          </a:p>
        </p:txBody>
      </p:sp>
      <p:sp>
        <p:nvSpPr>
          <p:cNvPr id="144" name="TextBox 6"/>
          <p:cNvSpPr txBox="1"/>
          <p:nvPr/>
        </p:nvSpPr>
        <p:spPr>
          <a:xfrm>
            <a:off x="375482" y="4527351"/>
            <a:ext cx="8393036" cy="22339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C00000"/>
                </a:solidFill>
              </a:defRPr>
            </a:pPr>
            <a:r>
              <a:t>Things to avoid:</a:t>
            </a:r>
          </a:p>
          <a:p>
            <a:pPr marL="285750" indent="-285750">
              <a:buSzPct val="100000"/>
              <a:buFont typeface="Arial"/>
              <a:buChar char="•"/>
              <a:defRPr sz="2400"/>
            </a:pPr>
            <a:r>
              <a:t>Vague statements (“graph of fish population”)</a:t>
            </a:r>
          </a:p>
          <a:p>
            <a:pPr marL="285750" indent="-285750">
              <a:buSzPct val="100000"/>
              <a:buFont typeface="Arial"/>
              <a:buChar char="•"/>
              <a:defRPr sz="2400"/>
            </a:pPr>
            <a:r>
              <a:t>Repeating information already in figure (like a legend)</a:t>
            </a:r>
          </a:p>
          <a:p>
            <a:pPr marL="285750" indent="-285750">
              <a:buSzPct val="100000"/>
              <a:buFont typeface="Arial"/>
              <a:buChar char="•"/>
              <a:defRPr sz="2400"/>
            </a:pPr>
            <a:r>
              <a:t>Too short or too long.</a:t>
            </a:r>
          </a:p>
          <a:p>
            <a:pPr marL="285750" indent="-285750">
              <a:buSzPct val="100000"/>
              <a:buFont typeface="Arial"/>
              <a:buChar char="•"/>
              <a:defRPr sz="2400"/>
            </a:pPr>
            <a:r>
              <a:t>Interpretation (can be intrusive to the reader- they’re trying to see for themselves and don’t need you butting in!)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 grpId="1"/>
      <p:bldP build="whole" bldLvl="1" animBg="1" rev="0" advAuto="0" spid="144"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Rectangle 2"/>
          <p:cNvSpPr txBox="1"/>
          <p:nvPr/>
        </p:nvSpPr>
        <p:spPr>
          <a:xfrm>
            <a:off x="191025" y="128320"/>
            <a:ext cx="3794532" cy="44475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solidFill>
                  <a:srgbClr val="C00000"/>
                </a:solidFill>
              </a:defRPr>
            </a:lvl1pPr>
          </a:lstStyle>
          <a:p>
            <a:pPr/>
            <a:r>
              <a:t>Making effective captions</a:t>
            </a:r>
          </a:p>
        </p:txBody>
      </p:sp>
      <p:sp>
        <p:nvSpPr>
          <p:cNvPr id="147" name="TextBox 4"/>
          <p:cNvSpPr txBox="1"/>
          <p:nvPr/>
        </p:nvSpPr>
        <p:spPr>
          <a:xfrm>
            <a:off x="960119" y="2921168"/>
            <a:ext cx="7833362" cy="97255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000"/>
            </a:lvl1pPr>
          </a:lstStyle>
          <a:p>
            <a:pPr/>
            <a:r>
              <a:t>Some examples of real captions, figures and tables.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9" name="Picture 1" descr="Picture 1"/>
          <p:cNvPicPr>
            <a:picLocks noChangeAspect="1"/>
          </p:cNvPicPr>
          <p:nvPr/>
        </p:nvPicPr>
        <p:blipFill>
          <a:blip r:embed="rId2">
            <a:extLst/>
          </a:blip>
          <a:stretch>
            <a:fillRect/>
          </a:stretch>
        </p:blipFill>
        <p:spPr>
          <a:xfrm>
            <a:off x="1656607" y="142501"/>
            <a:ext cx="5830786" cy="5687699"/>
          </a:xfrm>
          <a:prstGeom prst="rect">
            <a:avLst/>
          </a:prstGeom>
          <a:ln w="12700">
            <a:miter lim="400000"/>
          </a:ln>
        </p:spPr>
      </p:pic>
      <p:pic>
        <p:nvPicPr>
          <p:cNvPr id="150" name="Picture 3" descr="Picture 3"/>
          <p:cNvPicPr>
            <a:picLocks noChangeAspect="1"/>
          </p:cNvPicPr>
          <p:nvPr/>
        </p:nvPicPr>
        <p:blipFill>
          <a:blip r:embed="rId3">
            <a:extLst/>
          </a:blip>
          <a:srcRect l="2670" t="0" r="3883" b="0"/>
          <a:stretch>
            <a:fillRect/>
          </a:stretch>
        </p:blipFill>
        <p:spPr>
          <a:xfrm>
            <a:off x="-1" y="5981039"/>
            <a:ext cx="9144002" cy="87696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2" name="Picture 1" descr="Picture 1"/>
          <p:cNvPicPr>
            <a:picLocks noChangeAspect="1"/>
          </p:cNvPicPr>
          <p:nvPr/>
        </p:nvPicPr>
        <p:blipFill>
          <a:blip r:embed="rId2">
            <a:extLst/>
          </a:blip>
          <a:stretch>
            <a:fillRect/>
          </a:stretch>
        </p:blipFill>
        <p:spPr>
          <a:xfrm rot="5400000">
            <a:off x="3196159" y="-1110408"/>
            <a:ext cx="2751681" cy="8655285"/>
          </a:xfrm>
          <a:prstGeom prst="rect">
            <a:avLst/>
          </a:prstGeom>
          <a:ln w="12700">
            <a:miter lim="400000"/>
          </a:ln>
        </p:spPr>
      </p:pic>
      <p:pic>
        <p:nvPicPr>
          <p:cNvPr id="153" name="Picture 2" descr="Picture 2"/>
          <p:cNvPicPr>
            <a:picLocks noChangeAspect="1"/>
          </p:cNvPicPr>
          <p:nvPr/>
        </p:nvPicPr>
        <p:blipFill>
          <a:blip r:embed="rId3">
            <a:extLst/>
          </a:blip>
          <a:stretch>
            <a:fillRect/>
          </a:stretch>
        </p:blipFill>
        <p:spPr>
          <a:xfrm>
            <a:off x="97311" y="209054"/>
            <a:ext cx="6146801" cy="133350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5" name="Picture 1" descr="Picture 1"/>
          <p:cNvPicPr>
            <a:picLocks noChangeAspect="1"/>
          </p:cNvPicPr>
          <p:nvPr/>
        </p:nvPicPr>
        <p:blipFill>
          <a:blip r:embed="rId2">
            <a:extLst/>
          </a:blip>
          <a:stretch>
            <a:fillRect/>
          </a:stretch>
        </p:blipFill>
        <p:spPr>
          <a:xfrm>
            <a:off x="0" y="1900053"/>
            <a:ext cx="8880051" cy="3561690"/>
          </a:xfrm>
          <a:prstGeom prst="rect">
            <a:avLst/>
          </a:prstGeom>
          <a:ln w="12700">
            <a:miter lim="400000"/>
          </a:ln>
        </p:spPr>
      </p:pic>
      <p:pic>
        <p:nvPicPr>
          <p:cNvPr id="156" name="Picture 2" descr="Picture 2"/>
          <p:cNvPicPr>
            <a:picLocks noChangeAspect="1"/>
          </p:cNvPicPr>
          <p:nvPr/>
        </p:nvPicPr>
        <p:blipFill>
          <a:blip r:embed="rId3">
            <a:extLst/>
          </a:blip>
          <a:stretch>
            <a:fillRect/>
          </a:stretch>
        </p:blipFill>
        <p:spPr>
          <a:xfrm>
            <a:off x="0" y="0"/>
            <a:ext cx="9320194" cy="999368"/>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8" name="Picture 1" descr="Picture 1"/>
          <p:cNvPicPr>
            <a:picLocks noChangeAspect="1"/>
          </p:cNvPicPr>
          <p:nvPr/>
        </p:nvPicPr>
        <p:blipFill>
          <a:blip r:embed="rId2">
            <a:extLst/>
          </a:blip>
          <a:stretch>
            <a:fillRect/>
          </a:stretch>
        </p:blipFill>
        <p:spPr>
          <a:xfrm>
            <a:off x="0" y="973776"/>
            <a:ext cx="9285590" cy="5640780"/>
          </a:xfrm>
          <a:prstGeom prst="rect">
            <a:avLst/>
          </a:prstGeom>
          <a:ln w="12700">
            <a:miter lim="400000"/>
          </a:ln>
        </p:spPr>
      </p:pic>
      <p:pic>
        <p:nvPicPr>
          <p:cNvPr id="159" name="Picture 2" descr="Picture 2"/>
          <p:cNvPicPr>
            <a:picLocks noChangeAspect="1"/>
          </p:cNvPicPr>
          <p:nvPr/>
        </p:nvPicPr>
        <p:blipFill>
          <a:blip r:embed="rId3">
            <a:extLst/>
          </a:blip>
          <a:stretch>
            <a:fillRect/>
          </a:stretch>
        </p:blipFill>
        <p:spPr>
          <a:xfrm>
            <a:off x="0" y="0"/>
            <a:ext cx="9320194" cy="999368"/>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Picture 1" descr="Picture 1"/>
          <p:cNvPicPr>
            <a:picLocks noChangeAspect="1"/>
          </p:cNvPicPr>
          <p:nvPr/>
        </p:nvPicPr>
        <p:blipFill>
          <a:blip r:embed="rId2">
            <a:extLst/>
          </a:blip>
          <a:srcRect l="0" t="0" r="0" b="8519"/>
          <a:stretch>
            <a:fillRect/>
          </a:stretch>
        </p:blipFill>
        <p:spPr>
          <a:xfrm>
            <a:off x="-218211" y="-107208"/>
            <a:ext cx="8697192" cy="5247141"/>
          </a:xfrm>
          <a:prstGeom prst="rect">
            <a:avLst/>
          </a:prstGeom>
          <a:ln w="12700">
            <a:miter lim="400000"/>
          </a:ln>
        </p:spPr>
      </p:pic>
      <p:sp>
        <p:nvSpPr>
          <p:cNvPr id="162" name="TextBox 4"/>
          <p:cNvSpPr txBox="1"/>
          <p:nvPr/>
        </p:nvSpPr>
        <p:spPr>
          <a:xfrm>
            <a:off x="698862" y="5320145"/>
            <a:ext cx="8197538" cy="10739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600">
                <a:latin typeface="Times Roman"/>
                <a:ea typeface="Times Roman"/>
                <a:cs typeface="Times Roman"/>
                <a:sym typeface="Times Roman"/>
              </a:defRPr>
            </a:pPr>
            <a:r>
              <a:t>Fig. 1. </a:t>
            </a:r>
            <a:r>
              <a:rPr b="0"/>
              <a:t>Location of the two study (collecting) sites on the Gran Canaria Island coast (Canary Islands, central-east Atlantic). Playa de las Nieves (Agaete) (28◦05′58.9"N 15◦42′37.4"W) in the northern part and Santa Agueda Bay (El Pajar) in the southern part (27◦45′02.4"N 15◦40′13.4"W) of this island. </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TextBox 1"/>
          <p:cNvSpPr txBox="1"/>
          <p:nvPr/>
        </p:nvSpPr>
        <p:spPr>
          <a:xfrm>
            <a:off x="181038" y="252247"/>
            <a:ext cx="7954231" cy="1120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Figures and tables: more rules and conventions</a:t>
            </a:r>
          </a:p>
          <a:p>
            <a:pPr/>
          </a:p>
        </p:txBody>
      </p:sp>
      <p:sp>
        <p:nvSpPr>
          <p:cNvPr id="165" name="TextBox 2"/>
          <p:cNvSpPr txBox="1"/>
          <p:nvPr/>
        </p:nvSpPr>
        <p:spPr>
          <a:xfrm>
            <a:off x="181039" y="1256466"/>
            <a:ext cx="8809507" cy="50010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AutoNum type="arabicPeriod" startAt="1"/>
              <a:defRPr sz="2000"/>
            </a:pPr>
            <a:r>
              <a:t>Figures and tables are numbered consecutively, in separate series</a:t>
            </a:r>
          </a:p>
          <a:p>
            <a:pPr lvl="1" marL="800100" indent="-342900">
              <a:buSzPct val="100000"/>
              <a:buFont typeface="Arial"/>
              <a:buChar char="•"/>
              <a:defRPr sz="2000"/>
            </a:pPr>
            <a:r>
              <a:t>Figure 1; Figure 2; Figure 3; Table 1; Table 2; Table 3</a:t>
            </a:r>
          </a:p>
          <a:p>
            <a:pPr lvl="1" marL="800100" indent="-342900">
              <a:buSzPct val="100000"/>
              <a:buFont typeface="Arial"/>
              <a:buChar char="•"/>
              <a:defRPr sz="2000"/>
            </a:pPr>
            <a:r>
              <a:t>Can re-use numbers for a figure and table, but not two figures or two tables</a:t>
            </a:r>
          </a:p>
          <a:p>
            <a:pPr lvl="1" marL="800100" indent="-342900">
              <a:buSzPct val="100000"/>
              <a:buFont typeface="Arial"/>
              <a:buChar char="•"/>
              <a:defRPr sz="900"/>
            </a:pPr>
          </a:p>
          <a:p>
            <a:pPr marL="342900" indent="-342900">
              <a:buSzPct val="100000"/>
              <a:buAutoNum type="arabicPeriod" startAt="1"/>
              <a:defRPr sz="2000"/>
            </a:pPr>
            <a:r>
              <a:t>All figures and tables must be referenced in body</a:t>
            </a:r>
          </a:p>
          <a:p>
            <a:pPr lvl="1" marL="800100" indent="-342900">
              <a:buSzPct val="100000"/>
              <a:buFont typeface="Arial"/>
              <a:buChar char="•"/>
              <a:defRPr sz="2000"/>
            </a:pPr>
            <a:r>
              <a:t>“Grain size was large at the inflow and decreased farther out (Fig. 1).”</a:t>
            </a:r>
          </a:p>
          <a:p>
            <a:pPr lvl="1" marL="800100" indent="-342900">
              <a:buSzPct val="100000"/>
              <a:buFont typeface="Arial"/>
              <a:buChar char="•"/>
              <a:defRPr sz="2000"/>
            </a:pPr>
            <a:r>
              <a:t>Avoid “Fig. 1 shows differences in grain size”. </a:t>
            </a:r>
          </a:p>
          <a:p>
            <a:pPr lvl="1" marL="800100" indent="-342900">
              <a:buSzPct val="100000"/>
              <a:buFont typeface="Arial"/>
              <a:buChar char="•"/>
              <a:defRPr sz="900"/>
            </a:pPr>
          </a:p>
          <a:p>
            <a:pPr marL="342900" indent="-342900">
              <a:buSzPct val="100000"/>
              <a:buAutoNum type="arabicPeriod" startAt="1"/>
              <a:defRPr sz="2000"/>
            </a:pPr>
            <a:r>
              <a:t>Figures and tables are numbered in order of their appearance in the body</a:t>
            </a:r>
          </a:p>
          <a:p>
            <a:pPr marL="342900" indent="-342900">
              <a:buSzPct val="100000"/>
              <a:buAutoNum type="arabicPeriod" startAt="1"/>
              <a:defRPr sz="900"/>
            </a:pPr>
          </a:p>
          <a:p>
            <a:pPr marL="342900" indent="-342900">
              <a:buSzPct val="100000"/>
              <a:buAutoNum type="arabicPeriod" startAt="4"/>
              <a:defRPr sz="2000"/>
            </a:pPr>
            <a:r>
              <a:t>Abbreviate in-text citations (Fig. 1) and write out in caption (Figure 1). “Table” is never abbreviated.</a:t>
            </a:r>
          </a:p>
          <a:p>
            <a:pPr marL="342900" indent="-342900">
              <a:buSzPct val="100000"/>
              <a:buAutoNum type="arabicPeriod" startAt="4"/>
              <a:defRPr sz="900"/>
            </a:pPr>
          </a:p>
          <a:p>
            <a:pPr marL="342900" indent="-342900">
              <a:buSzPct val="100000"/>
              <a:buAutoNum type="arabicPeriod" startAt="5"/>
              <a:defRPr sz="2000"/>
            </a:pPr>
            <a:r>
              <a:t>Figures and tables are given at the end of a manuscript, after references. </a:t>
            </a:r>
            <a:r>
              <a:rPr i="1"/>
              <a:t>One item per page</a:t>
            </a:r>
            <a:r>
              <a:t>.</a:t>
            </a:r>
          </a:p>
          <a:p>
            <a:pPr lvl="1" marL="800100" indent="-342900">
              <a:buSzPct val="100000"/>
              <a:buFont typeface="Arial"/>
              <a:buChar char="•"/>
              <a:defRPr sz="2000"/>
            </a:pPr>
            <a:r>
              <a:t>The journal staff arrange them if your manuscript is accepted</a:t>
            </a:r>
          </a:p>
          <a:p>
            <a:pPr lvl="1" marL="800100" indent="-342900">
              <a:buSzPct val="100000"/>
              <a:buFont typeface="Arial"/>
              <a:buChar char="•"/>
              <a:defRPr sz="900"/>
            </a:pPr>
          </a:p>
          <a:p>
            <a:pPr marL="342900" indent="-342900">
              <a:buSzPct val="100000"/>
              <a:buAutoNum type="arabicPeriod" startAt="5"/>
              <a:defRPr sz="2000"/>
            </a:pPr>
            <a:r>
              <a:t>Tables should be formattable in Word- do not use a picture of a table. Paste from Excel. </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Title 1"/>
          <p:cNvSpPr txBox="1"/>
          <p:nvPr>
            <p:ph type="title"/>
          </p:nvPr>
        </p:nvSpPr>
        <p:spPr>
          <a:xfrm>
            <a:off x="204580" y="-93111"/>
            <a:ext cx="7886701" cy="1325563"/>
          </a:xfrm>
          <a:prstGeom prst="rect">
            <a:avLst/>
          </a:prstGeom>
        </p:spPr>
        <p:txBody>
          <a:bodyPr/>
          <a:lstStyle>
            <a:lvl1pPr>
              <a:defRPr sz="3600">
                <a:solidFill>
                  <a:srgbClr val="C00000"/>
                </a:solidFill>
              </a:defRPr>
            </a:lvl1pPr>
          </a:lstStyle>
          <a:p>
            <a:pPr/>
            <a:r>
              <a:t>Checklist for your tables and figures</a:t>
            </a:r>
          </a:p>
        </p:txBody>
      </p:sp>
      <p:sp>
        <p:nvSpPr>
          <p:cNvPr id="168" name="Content Placeholder 2"/>
          <p:cNvSpPr txBox="1"/>
          <p:nvPr>
            <p:ph type="body" idx="1"/>
          </p:nvPr>
        </p:nvSpPr>
        <p:spPr>
          <a:xfrm>
            <a:off x="-1" y="1118381"/>
            <a:ext cx="9207064" cy="5739620"/>
          </a:xfrm>
          <a:prstGeom prst="rect">
            <a:avLst/>
          </a:prstGeom>
        </p:spPr>
        <p:txBody>
          <a:bodyPr/>
          <a:lstStyle/>
          <a:p>
            <a:pPr marL="452627" indent="-452627" defTabSz="905255">
              <a:spcBef>
                <a:spcPts val="900"/>
              </a:spcBef>
              <a:buFontTx/>
              <a:buAutoNum type="arabicPeriod" startAt="1"/>
              <a:defRPr sz="2178"/>
            </a:pPr>
            <a:r>
              <a:t>Is every table and figure necessary?</a:t>
            </a:r>
          </a:p>
          <a:p>
            <a:pPr lvl="1" marL="678941" indent="-226313" defTabSz="905255">
              <a:spcBef>
                <a:spcPts val="400"/>
              </a:spcBef>
              <a:defRPr sz="2178"/>
            </a:pPr>
            <a:r>
              <a:t>Can a sentence work instead?</a:t>
            </a:r>
            <a:endParaRPr sz="2376"/>
          </a:p>
          <a:p>
            <a:pPr lvl="1" marL="678941" indent="-226313" defTabSz="905255">
              <a:spcBef>
                <a:spcPts val="400"/>
              </a:spcBef>
              <a:defRPr sz="2178"/>
            </a:pPr>
            <a:r>
              <a:t>Are any figures/tables redundant with each other (showing same result)?</a:t>
            </a:r>
            <a:endParaRPr sz="2376"/>
          </a:p>
          <a:p>
            <a:pPr marL="452627" indent="-452627" defTabSz="905255">
              <a:spcBef>
                <a:spcPts val="900"/>
              </a:spcBef>
              <a:buFontTx/>
              <a:buAutoNum type="arabicPeriod" startAt="1"/>
              <a:defRPr sz="2178"/>
            </a:pPr>
            <a:r>
              <a:t>Does every figure show the correct independent/dependent variable?</a:t>
            </a:r>
          </a:p>
          <a:p>
            <a:pPr marL="452627" indent="-452627" defTabSz="905255">
              <a:spcBef>
                <a:spcPts val="900"/>
              </a:spcBef>
              <a:buFontTx/>
              <a:buAutoNum type="arabicPeriod" startAt="1"/>
              <a:defRPr sz="2178"/>
            </a:pPr>
            <a:r>
              <a:t>Do you use a figure to show a pattern, trend or relationship? Do you use a table when the precision matters and you are showing many variables?</a:t>
            </a:r>
          </a:p>
          <a:p>
            <a:pPr marL="452627" indent="-452627" defTabSz="905255">
              <a:spcBef>
                <a:spcPts val="900"/>
              </a:spcBef>
              <a:buFontTx/>
              <a:buAutoNum type="arabicPeriod" startAt="1"/>
              <a:defRPr sz="2178"/>
            </a:pPr>
            <a:r>
              <a:t>Is every figure/table and its caption understandable without referring to the body?</a:t>
            </a:r>
          </a:p>
          <a:p>
            <a:pPr marL="452627" indent="-452627" defTabSz="905255">
              <a:spcBef>
                <a:spcPts val="900"/>
              </a:spcBef>
              <a:buFontTx/>
              <a:buAutoNum type="arabicPeriod" startAt="1"/>
              <a:defRPr sz="2178"/>
            </a:pPr>
            <a:r>
              <a:t>Are figures and tables numbered consecutively in separate series?</a:t>
            </a:r>
          </a:p>
          <a:p>
            <a:pPr marL="452627" indent="-452627" defTabSz="905255">
              <a:spcBef>
                <a:spcPts val="900"/>
              </a:spcBef>
              <a:buFontTx/>
              <a:buAutoNum type="arabicPeriod" startAt="1"/>
              <a:defRPr sz="2178"/>
            </a:pPr>
            <a:r>
              <a:t>Is every figure/table referred to in the body?</a:t>
            </a:r>
          </a:p>
          <a:p>
            <a:pPr marL="452627" indent="-452627" defTabSz="905255">
              <a:spcBef>
                <a:spcPts val="900"/>
              </a:spcBef>
              <a:buFontTx/>
              <a:buAutoNum type="arabicPeriod" startAt="1"/>
              <a:defRPr sz="2178"/>
            </a:pPr>
            <a:r>
              <a:t>Are figures numbered according to the order they appear in the text?</a:t>
            </a:r>
          </a:p>
          <a:p>
            <a:pPr marL="452627" indent="-452627" defTabSz="905255">
              <a:spcBef>
                <a:spcPts val="900"/>
              </a:spcBef>
              <a:buFontTx/>
              <a:buAutoNum type="arabicPeriod" startAt="1"/>
              <a:defRPr sz="2178"/>
            </a:pPr>
            <a:r>
              <a:t>Does every figure/table have a caption? Does the caption appear below figures and above tables?</a:t>
            </a:r>
          </a:p>
          <a:p>
            <a:pPr marL="452627" indent="-452627" defTabSz="905255">
              <a:spcBef>
                <a:spcPts val="900"/>
              </a:spcBef>
              <a:buFontTx/>
              <a:buAutoNum type="arabicPeriod" startAt="1"/>
              <a:defRPr sz="2178"/>
            </a:pPr>
            <a:r>
              <a:t>Are figures and tables given at the end of the manuscript?</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Rectangle 2"/>
          <p:cNvSpPr txBox="1"/>
          <p:nvPr>
            <p:ph type="title" idx="4294967295"/>
          </p:nvPr>
        </p:nvSpPr>
        <p:spPr>
          <a:xfrm>
            <a:off x="304799" y="198782"/>
            <a:ext cx="8521150" cy="1143001"/>
          </a:xfrm>
          <a:prstGeom prst="rect">
            <a:avLst/>
          </a:prstGeom>
        </p:spPr>
        <p:txBody>
          <a:bodyPr/>
          <a:lstStyle>
            <a:lvl1pPr>
              <a:defRPr sz="3600">
                <a:solidFill>
                  <a:srgbClr val="C00000"/>
                </a:solidFill>
              </a:defRPr>
            </a:lvl1pPr>
          </a:lstStyle>
          <a:p>
            <a:pPr/>
            <a:r>
              <a:t>More guidelines for the Results section</a:t>
            </a:r>
          </a:p>
        </p:txBody>
      </p:sp>
      <p:sp>
        <p:nvSpPr>
          <p:cNvPr id="171" name="Rectangle 3"/>
          <p:cNvSpPr txBox="1"/>
          <p:nvPr>
            <p:ph type="body" idx="4294967295"/>
          </p:nvPr>
        </p:nvSpPr>
        <p:spPr>
          <a:xfrm>
            <a:off x="457199" y="1341783"/>
            <a:ext cx="8092442" cy="5317434"/>
          </a:xfrm>
          <a:prstGeom prst="rect">
            <a:avLst/>
          </a:prstGeom>
        </p:spPr>
        <p:txBody>
          <a:bodyPr/>
          <a:lstStyle/>
          <a:p>
            <a:pPr>
              <a:lnSpc>
                <a:spcPct val="72000"/>
              </a:lnSpc>
              <a:defRPr b="1" sz="2300" u="sng"/>
            </a:pPr>
            <a:r>
              <a:t>You should be able to read the text </a:t>
            </a:r>
            <a:r>
              <a:rPr b="0" u="none"/>
              <a:t>without looking at the tables and figures</a:t>
            </a:r>
            <a:r>
              <a:rPr b="0"/>
              <a:t> </a:t>
            </a:r>
            <a:r>
              <a:t>and still understand the paper.</a:t>
            </a:r>
            <a:r>
              <a:rPr u="none"/>
              <a:t> </a:t>
            </a:r>
            <a:r>
              <a:rPr b="0" u="none"/>
              <a:t>Do not rely on figures to tell the story. Figures are enhancements!</a:t>
            </a:r>
          </a:p>
          <a:p>
            <a:pPr>
              <a:lnSpc>
                <a:spcPct val="72000"/>
              </a:lnSpc>
              <a:defRPr sz="1800"/>
            </a:pPr>
          </a:p>
          <a:p>
            <a:pPr>
              <a:lnSpc>
                <a:spcPct val="72000"/>
              </a:lnSpc>
              <a:defRPr sz="2300"/>
            </a:pPr>
            <a:r>
              <a:t>For each result you give in this section, there should be a corresponding set of methods in the preceding section</a:t>
            </a:r>
          </a:p>
          <a:p>
            <a:pPr>
              <a:lnSpc>
                <a:spcPct val="72000"/>
              </a:lnSpc>
              <a:defRPr sz="1800"/>
            </a:pPr>
          </a:p>
          <a:p>
            <a:pPr algn="just">
              <a:lnSpc>
                <a:spcPct val="72000"/>
              </a:lnSpc>
              <a:defRPr b="1" sz="2300" u="sng"/>
            </a:pPr>
            <a:r>
              <a:t>Just the facts</a:t>
            </a:r>
            <a:r>
              <a:rPr b="0" u="none"/>
              <a:t>: save biological interpretation for the Discussion</a:t>
            </a:r>
          </a:p>
          <a:p>
            <a:pPr lvl="1" marL="685800" indent="-228600" algn="just">
              <a:lnSpc>
                <a:spcPct val="72000"/>
              </a:lnSpc>
              <a:spcBef>
                <a:spcPts val="500"/>
              </a:spcBef>
              <a:defRPr sz="2300"/>
            </a:pPr>
            <a:r>
              <a:t>Numerical interpretation good: </a:t>
            </a:r>
            <a:endParaRPr sz="2000"/>
          </a:p>
          <a:p>
            <a:pPr lvl="1" marL="0" indent="457200" algn="just">
              <a:lnSpc>
                <a:spcPct val="72000"/>
              </a:lnSpc>
              <a:spcBef>
                <a:spcPts val="500"/>
              </a:spcBef>
              <a:buSzTx/>
              <a:buNone/>
              <a:defRPr sz="2300"/>
            </a:pPr>
            <a:r>
              <a:t>	“The mean mercury concentration of landlocked salmon 	was higher than seagoing salmon (mean=, p value).” </a:t>
            </a:r>
            <a:r>
              <a:rPr i="1">
                <a:solidFill>
                  <a:srgbClr val="C00000"/>
                </a:solidFill>
              </a:rPr>
              <a:t>(this is a fact)</a:t>
            </a:r>
            <a:endParaRPr sz="2000"/>
          </a:p>
          <a:p>
            <a:pPr lvl="1" marL="685800" indent="-228600" algn="just">
              <a:lnSpc>
                <a:spcPct val="72000"/>
              </a:lnSpc>
              <a:spcBef>
                <a:spcPts val="500"/>
              </a:spcBef>
              <a:defRPr sz="2300"/>
            </a:pPr>
            <a:r>
              <a:t>Real-world interpretation bad: </a:t>
            </a:r>
            <a:endParaRPr sz="2000"/>
          </a:p>
          <a:p>
            <a:pPr lvl="2" marL="0" indent="914400" algn="just">
              <a:lnSpc>
                <a:spcPct val="72000"/>
              </a:lnSpc>
              <a:spcBef>
                <a:spcPts val="500"/>
              </a:spcBef>
              <a:buSzTx/>
              <a:buNone/>
              <a:defRPr sz="2300"/>
            </a:pPr>
            <a:r>
              <a:t>“This suggests that landlocked salmon live in more contaminated environments than seagoing salmon.” </a:t>
            </a:r>
            <a:r>
              <a:rPr i="1">
                <a:solidFill>
                  <a:srgbClr val="C00000"/>
                </a:solidFill>
              </a:rPr>
              <a:t>(this is not a fact)</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Rectangle 3"/>
          <p:cNvSpPr txBox="1"/>
          <p:nvPr>
            <p:ph type="body" idx="4294967295"/>
          </p:nvPr>
        </p:nvSpPr>
        <p:spPr>
          <a:xfrm>
            <a:off x="457199" y="1341782"/>
            <a:ext cx="8368750" cy="4876138"/>
          </a:xfrm>
          <a:prstGeom prst="rect">
            <a:avLst/>
          </a:prstGeom>
        </p:spPr>
        <p:txBody>
          <a:bodyPr/>
          <a:lstStyle/>
          <a:p>
            <a:pPr>
              <a:defRPr sz="2500"/>
            </a:pPr>
            <a:r>
              <a:t>The Results section is usually short (remember- just the facts!)</a:t>
            </a:r>
          </a:p>
          <a:p>
            <a:pPr>
              <a:defRPr sz="2500"/>
            </a:pPr>
          </a:p>
          <a:p>
            <a:pPr>
              <a:defRPr sz="2500"/>
            </a:pPr>
            <a:r>
              <a:t>Good idea to give a one or two-sentence summary of the results, either as the first (preferably) or the last sentence</a:t>
            </a:r>
          </a:p>
          <a:p>
            <a:pPr>
              <a:defRPr sz="2500"/>
            </a:pPr>
          </a:p>
          <a:p>
            <a:pPr>
              <a:defRPr sz="2500"/>
            </a:pPr>
            <a:r>
              <a:t>If there are multiple experiments or types of analyses, good idea to group under subheadings that match the Methods subheadings.</a:t>
            </a:r>
          </a:p>
          <a:p>
            <a:pPr>
              <a:defRPr i="1" sz="2500"/>
            </a:pPr>
          </a:p>
          <a:p>
            <a:pPr>
              <a:defRPr sz="2500"/>
            </a:pPr>
            <a:r>
              <a:t>Always use the past tense!</a:t>
            </a:r>
          </a:p>
        </p:txBody>
      </p:sp>
      <p:sp>
        <p:nvSpPr>
          <p:cNvPr id="174" name="Rectangle 2"/>
          <p:cNvSpPr txBox="1"/>
          <p:nvPr/>
        </p:nvSpPr>
        <p:spPr>
          <a:xfrm>
            <a:off x="350519" y="198782"/>
            <a:ext cx="842971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defTabSz="914400">
              <a:lnSpc>
                <a:spcPct val="90000"/>
              </a:lnSpc>
              <a:defRPr sz="3600">
                <a:solidFill>
                  <a:srgbClr val="C00000"/>
                </a:solidFill>
                <a:latin typeface="Calibri Light"/>
                <a:ea typeface="Calibri Light"/>
                <a:cs typeface="Calibri Light"/>
                <a:sym typeface="Calibri Light"/>
              </a:defRPr>
            </a:lvl1pPr>
          </a:lstStyle>
          <a:p>
            <a:pPr/>
            <a:r>
              <a:t>Even more guidelines for the Results section</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itle 1"/>
          <p:cNvSpPr txBox="1"/>
          <p:nvPr>
            <p:ph type="title"/>
          </p:nvPr>
        </p:nvSpPr>
        <p:spPr>
          <a:xfrm>
            <a:off x="628650" y="365126"/>
            <a:ext cx="7886700" cy="1325563"/>
          </a:xfrm>
          <a:prstGeom prst="rect">
            <a:avLst/>
          </a:prstGeom>
        </p:spPr>
        <p:txBody>
          <a:bodyPr/>
          <a:lstStyle>
            <a:lvl1pPr>
              <a:defRPr sz="4000"/>
            </a:lvl1pPr>
          </a:lstStyle>
          <a:p>
            <a:pPr/>
            <a:r>
              <a:t>Assignments for today and for home</a:t>
            </a:r>
          </a:p>
        </p:txBody>
      </p:sp>
      <p:sp>
        <p:nvSpPr>
          <p:cNvPr id="177" name="Content Placeholder 2"/>
          <p:cNvSpPr txBox="1"/>
          <p:nvPr>
            <p:ph type="body" idx="1"/>
          </p:nvPr>
        </p:nvSpPr>
        <p:spPr>
          <a:xfrm>
            <a:off x="466880" y="1663279"/>
            <a:ext cx="8048471" cy="4229523"/>
          </a:xfrm>
          <a:prstGeom prst="rect">
            <a:avLst/>
          </a:prstGeom>
        </p:spPr>
        <p:txBody>
          <a:bodyPr/>
          <a:lstStyle/>
          <a:p>
            <a:pPr marL="0" indent="0" defTabSz="731520">
              <a:spcBef>
                <a:spcPts val="800"/>
              </a:spcBef>
              <a:buSzTx/>
              <a:buNone/>
              <a:defRPr b="1" sz="2080"/>
            </a:pPr>
            <a:r>
              <a:t>In class: </a:t>
            </a:r>
          </a:p>
          <a:p>
            <a:pPr lvl="1" marL="777240" indent="-411480" defTabSz="731520">
              <a:spcBef>
                <a:spcPts val="400"/>
              </a:spcBef>
              <a:buFontTx/>
              <a:buAutoNum type="arabicPeriod" startAt="1"/>
              <a:defRPr sz="1920"/>
            </a:pPr>
            <a:r>
              <a:t>Work on the Results section of your paper.  You will submit intro, methods, results and one figure on Friday. </a:t>
            </a:r>
          </a:p>
          <a:p>
            <a:pPr lvl="1" marL="0" indent="365760" defTabSz="731520">
              <a:spcBef>
                <a:spcPts val="400"/>
              </a:spcBef>
              <a:buSzTx/>
              <a:buNone/>
              <a:defRPr sz="2080"/>
            </a:pPr>
          </a:p>
          <a:p>
            <a:pPr marL="0" indent="0" defTabSz="731520">
              <a:spcBef>
                <a:spcPts val="800"/>
              </a:spcBef>
              <a:buSzTx/>
              <a:buNone/>
              <a:defRPr b="1" sz="2080"/>
            </a:pPr>
            <a:r>
              <a:t>Outside of class:</a:t>
            </a:r>
          </a:p>
          <a:p>
            <a:pPr lvl="1" marL="777240" indent="-411480" defTabSz="731520">
              <a:spcBef>
                <a:spcPts val="400"/>
              </a:spcBef>
              <a:buFontTx/>
              <a:buAutoNum type="arabicPeriod" startAt="1"/>
              <a:defRPr sz="1920"/>
            </a:pPr>
            <a:r>
              <a:t>Work on the Results section of your paper.  You will submit intro, methods, results and one figure on Friday. </a:t>
            </a:r>
          </a:p>
          <a:p>
            <a:pPr lvl="1" marL="777240" indent="-411480" defTabSz="731520">
              <a:spcBef>
                <a:spcPts val="400"/>
              </a:spcBef>
              <a:buFontTx/>
              <a:buAutoNum type="arabicPeriod" startAt="1"/>
              <a:defRPr sz="1920"/>
            </a:pPr>
            <a:r>
              <a:t>Watch videos on “better poster”.</a:t>
            </a:r>
          </a:p>
          <a:p>
            <a:pPr lvl="1" marL="777240" indent="-411480" defTabSz="731520">
              <a:spcBef>
                <a:spcPts val="400"/>
              </a:spcBef>
              <a:buFontTx/>
              <a:buAutoNum type="arabicPeriod" startAt="1"/>
              <a:defRPr sz="1920"/>
            </a:pPr>
            <a:r>
              <a:t>Find a poster around FSH, FTR, MAR or elsewhere, take a photo of it, and submit it on canvas alongside three positive comments and three ideas for improvement. </a:t>
            </a:r>
          </a:p>
          <a:p>
            <a:pPr marL="0" indent="0" defTabSz="731520">
              <a:spcBef>
                <a:spcPts val="800"/>
              </a:spcBef>
              <a:buSzTx/>
              <a:buNone/>
              <a:defRPr sz="1920"/>
            </a:pPr>
          </a:p>
          <a:p>
            <a:pPr marL="0" indent="0" defTabSz="731520">
              <a:spcBef>
                <a:spcPts val="800"/>
              </a:spcBef>
              <a:buSzTx/>
              <a:buNone/>
              <a:defRPr sz="1920"/>
            </a:pPr>
            <a:r>
              <a:t>Next class, we will shift gears to discuss your poster project.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
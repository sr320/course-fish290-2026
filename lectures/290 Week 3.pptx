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1122362"/>
            <a:ext cx="77724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143000" y="3602037"/>
            <a:ext cx="6858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623887" y="1709739"/>
            <a:ext cx="7886701"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623887" y="4589464"/>
            <a:ext cx="7886701" cy="1500188"/>
          </a:xfrm>
          <a:prstGeom prst="rect">
            <a:avLst/>
          </a:prstGeom>
        </p:spPr>
        <p:txBody>
          <a:bodyPr/>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629841" y="365125"/>
            <a:ext cx="7886701" cy="1325564"/>
          </a:xfrm>
          <a:prstGeom prst="rect">
            <a:avLst/>
          </a:prstGeom>
        </p:spPr>
        <p:txBody>
          <a:bodyPr/>
          <a:lstStyle/>
          <a:p>
            <a:pPr/>
            <a:r>
              <a:t>Title Text</a:t>
            </a:r>
          </a:p>
        </p:txBody>
      </p:sp>
      <p:sp>
        <p:nvSpPr>
          <p:cNvPr id="48" name="Body Level One…"/>
          <p:cNvSpPr txBox="1"/>
          <p:nvPr>
            <p:ph type="body" sz="quarter" idx="1"/>
          </p:nvPr>
        </p:nvSpPr>
        <p:spPr>
          <a:xfrm>
            <a:off x="629841" y="1681163"/>
            <a:ext cx="3868341"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29150" y="1681163"/>
            <a:ext cx="3887392"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3887391" y="987425"/>
            <a:ext cx="4629151" cy="4873626"/>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629840" y="2057400"/>
            <a:ext cx="2949180"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3887391" y="987425"/>
            <a:ext cx="4629151" cy="4873626"/>
          </a:xfrm>
          <a:prstGeom prst="rect">
            <a:avLst/>
          </a:prstGeom>
        </p:spPr>
        <p:txBody>
          <a:bodyPr lIns="91439" rIns="91439">
            <a:noAutofit/>
          </a:bodyPr>
          <a:lstStyle/>
          <a:p>
            <a:pPr/>
          </a:p>
        </p:txBody>
      </p:sp>
      <p:sp>
        <p:nvSpPr>
          <p:cNvPr id="84" name="Body Level One…"/>
          <p:cNvSpPr txBox="1"/>
          <p:nvPr>
            <p:ph type="body" sz="quarter" idx="1"/>
          </p:nvPr>
        </p:nvSpPr>
        <p:spPr>
          <a:xfrm>
            <a:off x="629841" y="2057400"/>
            <a:ext cx="2949178"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256726"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prstGeom prst="rect">
            <a:avLst/>
          </a:prstGeom>
        </p:spPr>
        <p:txBody>
          <a:bodyPr/>
          <a:lstStyle>
            <a:lvl1pPr>
              <a:defRPr>
                <a:solidFill>
                  <a:srgbClr val="C00000"/>
                </a:solidFill>
              </a:defRPr>
            </a:lvl1pPr>
          </a:lstStyle>
          <a:p>
            <a:pPr/>
            <a:r>
              <a:t>The role of the Introduction</a:t>
            </a:r>
          </a:p>
        </p:txBody>
      </p:sp>
      <p:sp>
        <p:nvSpPr>
          <p:cNvPr id="95" name="Subtitle 2"/>
          <p:cNvSpPr txBox="1"/>
          <p:nvPr>
            <p:ph type="subTitle" sz="quarter" idx="1"/>
          </p:nvPr>
        </p:nvSpPr>
        <p:spPr>
          <a:xfrm>
            <a:off x="1143000" y="4129237"/>
            <a:ext cx="6858000" cy="1128563"/>
          </a:xfrm>
          <a:prstGeom prst="rect">
            <a:avLst/>
          </a:prstGeom>
        </p:spPr>
        <p:txBody>
          <a:bodyPr/>
          <a:lstStyle/>
          <a:p>
            <a:pPr/>
            <a:r>
              <a:t>Fish 290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Rectangle 2"/>
          <p:cNvSpPr txBox="1"/>
          <p:nvPr>
            <p:ph type="title"/>
          </p:nvPr>
        </p:nvSpPr>
        <p:spPr>
          <a:xfrm>
            <a:off x="457200" y="0"/>
            <a:ext cx="8229600" cy="1143000"/>
          </a:xfrm>
          <a:prstGeom prst="rect">
            <a:avLst/>
          </a:prstGeom>
        </p:spPr>
        <p:txBody>
          <a:bodyPr/>
          <a:lstStyle/>
          <a:p>
            <a:pPr>
              <a:defRPr sz="3600"/>
            </a:pPr>
            <a:r>
              <a:t>From Tuesday: </a:t>
            </a:r>
            <a:r>
              <a:rPr>
                <a:solidFill>
                  <a:srgbClr val="C00000"/>
                </a:solidFill>
              </a:rPr>
              <a:t>The Introduction</a:t>
            </a:r>
          </a:p>
        </p:txBody>
      </p:sp>
      <p:sp>
        <p:nvSpPr>
          <p:cNvPr id="98" name="Rectangle 3"/>
          <p:cNvSpPr txBox="1"/>
          <p:nvPr>
            <p:ph type="body" idx="1"/>
          </p:nvPr>
        </p:nvSpPr>
        <p:spPr>
          <a:xfrm>
            <a:off x="457200" y="1219200"/>
            <a:ext cx="8229600" cy="4525963"/>
          </a:xfrm>
          <a:prstGeom prst="rect">
            <a:avLst/>
          </a:prstGeom>
        </p:spPr>
        <p:txBody>
          <a:bodyPr/>
          <a:lstStyle/>
          <a:p>
            <a:pPr>
              <a:defRPr b="1">
                <a:solidFill>
                  <a:srgbClr val="C00000"/>
                </a:solidFill>
              </a:defRPr>
            </a:pPr>
            <a:r>
              <a:t>Begin with the broadest scope </a:t>
            </a:r>
            <a:r>
              <a:rPr b="0">
                <a:solidFill>
                  <a:srgbClr val="000000"/>
                </a:solidFill>
              </a:rPr>
              <a:t>and get progressively narrower, leading steadily to the </a:t>
            </a:r>
            <a:r>
              <a:t>statement of objectives</a:t>
            </a:r>
            <a:r>
              <a:rPr b="0">
                <a:solidFill>
                  <a:srgbClr val="000000"/>
                </a:solidFill>
              </a:rPr>
              <a:t> in the last paragraph of the Introduction.</a:t>
            </a:r>
          </a:p>
        </p:txBody>
      </p:sp>
      <p:sp>
        <p:nvSpPr>
          <p:cNvPr id="99" name="Rectangle 4"/>
          <p:cNvSpPr/>
          <p:nvPr/>
        </p:nvSpPr>
        <p:spPr>
          <a:xfrm>
            <a:off x="2133600" y="3256724"/>
            <a:ext cx="4495800" cy="685801"/>
          </a:xfrm>
          <a:prstGeom prst="rect">
            <a:avLst/>
          </a:prstGeom>
          <a:solidFill>
            <a:schemeClr val="accent1"/>
          </a:solidFill>
          <a:ln>
            <a:solidFill>
              <a:srgbClr val="000000"/>
            </a:solidFill>
            <a:miter/>
          </a:ln>
        </p:spPr>
        <p:txBody>
          <a:bodyPr lIns="45719" rIns="45719" anchor="ctr"/>
          <a:lstStyle/>
          <a:p>
            <a:pPr/>
          </a:p>
        </p:txBody>
      </p:sp>
      <p:sp>
        <p:nvSpPr>
          <p:cNvPr id="100" name="Rectangle 5"/>
          <p:cNvSpPr/>
          <p:nvPr/>
        </p:nvSpPr>
        <p:spPr>
          <a:xfrm>
            <a:off x="2590800" y="4018724"/>
            <a:ext cx="3581400" cy="685801"/>
          </a:xfrm>
          <a:prstGeom prst="rect">
            <a:avLst/>
          </a:prstGeom>
          <a:solidFill>
            <a:schemeClr val="accent1"/>
          </a:solidFill>
          <a:ln>
            <a:solidFill>
              <a:srgbClr val="000000"/>
            </a:solidFill>
            <a:miter/>
          </a:ln>
        </p:spPr>
        <p:txBody>
          <a:bodyPr lIns="45719" rIns="45719" anchor="ctr"/>
          <a:lstStyle/>
          <a:p>
            <a:pPr/>
          </a:p>
        </p:txBody>
      </p:sp>
      <p:sp>
        <p:nvSpPr>
          <p:cNvPr id="101" name="Rectangle 6"/>
          <p:cNvSpPr/>
          <p:nvPr/>
        </p:nvSpPr>
        <p:spPr>
          <a:xfrm>
            <a:off x="3124200" y="4780724"/>
            <a:ext cx="2590800" cy="685801"/>
          </a:xfrm>
          <a:prstGeom prst="rect">
            <a:avLst/>
          </a:prstGeom>
          <a:solidFill>
            <a:schemeClr val="accent1"/>
          </a:solidFill>
          <a:ln>
            <a:solidFill>
              <a:srgbClr val="000000"/>
            </a:solidFill>
            <a:miter/>
          </a:ln>
        </p:spPr>
        <p:txBody>
          <a:bodyPr lIns="45719" rIns="45719" anchor="ctr"/>
          <a:lstStyle/>
          <a:p>
            <a:pPr/>
          </a:p>
        </p:txBody>
      </p:sp>
      <p:sp>
        <p:nvSpPr>
          <p:cNvPr id="102" name="Rectangle 7"/>
          <p:cNvSpPr/>
          <p:nvPr/>
        </p:nvSpPr>
        <p:spPr>
          <a:xfrm>
            <a:off x="3505200" y="5542724"/>
            <a:ext cx="1828800" cy="685801"/>
          </a:xfrm>
          <a:prstGeom prst="rect">
            <a:avLst/>
          </a:prstGeom>
          <a:solidFill>
            <a:schemeClr val="accent1"/>
          </a:solidFill>
          <a:ln>
            <a:solidFill>
              <a:srgbClr val="000000"/>
            </a:solidFill>
            <a:miter/>
          </a:ln>
        </p:spPr>
        <p:txBody>
          <a:bodyPr lIns="45719" rIns="45719" anchor="ctr"/>
          <a:lstStyle/>
          <a:p>
            <a:pPr/>
          </a:p>
        </p:txBody>
      </p:sp>
      <p:sp>
        <p:nvSpPr>
          <p:cNvPr id="103" name="Line 8"/>
          <p:cNvSpPr/>
          <p:nvPr/>
        </p:nvSpPr>
        <p:spPr>
          <a:xfrm>
            <a:off x="3505200" y="3485324"/>
            <a:ext cx="0" cy="990601"/>
          </a:xfrm>
          <a:prstGeom prst="line">
            <a:avLst/>
          </a:prstGeom>
          <a:ln w="76200">
            <a:solidFill>
              <a:srgbClr val="000000"/>
            </a:solidFill>
            <a:tailEnd type="triangle"/>
          </a:ln>
        </p:spPr>
        <p:txBody>
          <a:bodyPr lIns="45719" rIns="45719"/>
          <a:lstStyle/>
          <a:p>
            <a:pPr/>
          </a:p>
        </p:txBody>
      </p:sp>
      <p:sp>
        <p:nvSpPr>
          <p:cNvPr id="104" name="Line 9"/>
          <p:cNvSpPr/>
          <p:nvPr/>
        </p:nvSpPr>
        <p:spPr>
          <a:xfrm>
            <a:off x="4038600" y="4247324"/>
            <a:ext cx="0" cy="990601"/>
          </a:xfrm>
          <a:prstGeom prst="line">
            <a:avLst/>
          </a:prstGeom>
          <a:ln w="76200">
            <a:solidFill>
              <a:srgbClr val="000000"/>
            </a:solidFill>
            <a:tailEnd type="triangle"/>
          </a:ln>
        </p:spPr>
        <p:txBody>
          <a:bodyPr lIns="45719" rIns="45719"/>
          <a:lstStyle/>
          <a:p>
            <a:pPr/>
          </a:p>
        </p:txBody>
      </p:sp>
      <p:sp>
        <p:nvSpPr>
          <p:cNvPr id="105" name="Line 10"/>
          <p:cNvSpPr/>
          <p:nvPr/>
        </p:nvSpPr>
        <p:spPr>
          <a:xfrm>
            <a:off x="4419600" y="5085524"/>
            <a:ext cx="0" cy="990601"/>
          </a:xfrm>
          <a:prstGeom prst="line">
            <a:avLst/>
          </a:prstGeom>
          <a:ln w="76200">
            <a:solidFill>
              <a:srgbClr val="000000"/>
            </a:solidFill>
            <a:tailEnd type="triangle"/>
          </a:ln>
        </p:spPr>
        <p:txBody>
          <a:bodyPr lIns="45719" rIns="45719"/>
          <a:lstStyle/>
          <a:p>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Rectangle 2"/>
          <p:cNvSpPr txBox="1"/>
          <p:nvPr>
            <p:ph type="title"/>
          </p:nvPr>
        </p:nvSpPr>
        <p:spPr>
          <a:xfrm>
            <a:off x="457200" y="0"/>
            <a:ext cx="8229600" cy="1143000"/>
          </a:xfrm>
          <a:prstGeom prst="rect">
            <a:avLst/>
          </a:prstGeom>
        </p:spPr>
        <p:txBody>
          <a:bodyPr/>
          <a:lstStyle/>
          <a:p>
            <a:pPr>
              <a:defRPr sz="3600"/>
            </a:pPr>
            <a:r>
              <a:t>From Tuesday: </a:t>
            </a:r>
            <a:r>
              <a:rPr>
                <a:solidFill>
                  <a:srgbClr val="C00000"/>
                </a:solidFill>
              </a:rPr>
              <a:t>The Introduction</a:t>
            </a:r>
          </a:p>
        </p:txBody>
      </p:sp>
      <p:sp>
        <p:nvSpPr>
          <p:cNvPr id="108" name="Rectangle 3"/>
          <p:cNvSpPr txBox="1"/>
          <p:nvPr>
            <p:ph type="body" idx="1"/>
          </p:nvPr>
        </p:nvSpPr>
        <p:spPr>
          <a:xfrm>
            <a:off x="457200" y="1219200"/>
            <a:ext cx="8229600" cy="4525963"/>
          </a:xfrm>
          <a:prstGeom prst="rect">
            <a:avLst/>
          </a:prstGeom>
        </p:spPr>
        <p:txBody>
          <a:bodyPr/>
          <a:lstStyle/>
          <a:p>
            <a:pPr>
              <a:defRPr b="1"/>
            </a:pPr>
            <a:r>
              <a:t>An Introduction </a:t>
            </a:r>
            <a:r>
              <a:rPr>
                <a:solidFill>
                  <a:srgbClr val="C00000"/>
                </a:solidFill>
              </a:rPr>
              <a:t>DON’T: </a:t>
            </a:r>
            <a:r>
              <a:rPr b="0"/>
              <a:t>give a literature review on everything you know about the subject, then tack on your project goals at the end.</a:t>
            </a:r>
          </a:p>
        </p:txBody>
      </p:sp>
      <p:sp>
        <p:nvSpPr>
          <p:cNvPr id="109" name="Rectangle 4"/>
          <p:cNvSpPr/>
          <p:nvPr/>
        </p:nvSpPr>
        <p:spPr>
          <a:xfrm>
            <a:off x="2133600" y="3208597"/>
            <a:ext cx="4495800" cy="685801"/>
          </a:xfrm>
          <a:prstGeom prst="rect">
            <a:avLst/>
          </a:prstGeom>
          <a:solidFill>
            <a:schemeClr val="accent1"/>
          </a:solidFill>
          <a:ln>
            <a:solidFill>
              <a:srgbClr val="000000"/>
            </a:solidFill>
            <a:miter/>
          </a:ln>
        </p:spPr>
        <p:txBody>
          <a:bodyPr lIns="45719" rIns="45719" anchor="ctr"/>
          <a:lstStyle/>
          <a:p>
            <a:pPr/>
          </a:p>
        </p:txBody>
      </p:sp>
      <p:sp>
        <p:nvSpPr>
          <p:cNvPr id="110" name="Rectangle 5"/>
          <p:cNvSpPr/>
          <p:nvPr/>
        </p:nvSpPr>
        <p:spPr>
          <a:xfrm>
            <a:off x="2133600" y="3970597"/>
            <a:ext cx="4495800" cy="685801"/>
          </a:xfrm>
          <a:prstGeom prst="rect">
            <a:avLst/>
          </a:prstGeom>
          <a:solidFill>
            <a:schemeClr val="accent1"/>
          </a:solidFill>
          <a:ln>
            <a:solidFill>
              <a:srgbClr val="000000"/>
            </a:solidFill>
            <a:miter/>
          </a:ln>
        </p:spPr>
        <p:txBody>
          <a:bodyPr lIns="45719" rIns="45719" anchor="ctr"/>
          <a:lstStyle/>
          <a:p>
            <a:pPr/>
          </a:p>
        </p:txBody>
      </p:sp>
      <p:sp>
        <p:nvSpPr>
          <p:cNvPr id="111" name="Rectangle 6"/>
          <p:cNvSpPr/>
          <p:nvPr/>
        </p:nvSpPr>
        <p:spPr>
          <a:xfrm>
            <a:off x="2133600" y="4732597"/>
            <a:ext cx="4495800" cy="685801"/>
          </a:xfrm>
          <a:prstGeom prst="rect">
            <a:avLst/>
          </a:prstGeom>
          <a:solidFill>
            <a:schemeClr val="accent1"/>
          </a:solidFill>
          <a:ln>
            <a:solidFill>
              <a:srgbClr val="000000"/>
            </a:solidFill>
            <a:miter/>
          </a:ln>
        </p:spPr>
        <p:txBody>
          <a:bodyPr lIns="45719" rIns="45719" anchor="ctr"/>
          <a:lstStyle/>
          <a:p>
            <a:pPr/>
          </a:p>
        </p:txBody>
      </p:sp>
      <p:sp>
        <p:nvSpPr>
          <p:cNvPr id="112" name="Rectangle 7"/>
          <p:cNvSpPr/>
          <p:nvPr/>
        </p:nvSpPr>
        <p:spPr>
          <a:xfrm>
            <a:off x="3505200" y="5494597"/>
            <a:ext cx="1828800" cy="685801"/>
          </a:xfrm>
          <a:prstGeom prst="rect">
            <a:avLst/>
          </a:prstGeom>
          <a:solidFill>
            <a:schemeClr val="accent1"/>
          </a:solidFill>
          <a:ln>
            <a:solidFill>
              <a:srgbClr val="000000"/>
            </a:solidFill>
            <a:miter/>
          </a:ln>
        </p:spPr>
        <p:txBody>
          <a:bodyPr lIns="45719" rIns="45719" anchor="ctr"/>
          <a:lstStyle/>
          <a:p>
            <a:pPr/>
          </a:p>
        </p:txBody>
      </p:sp>
      <p:sp>
        <p:nvSpPr>
          <p:cNvPr id="113" name="Line 10"/>
          <p:cNvSpPr/>
          <p:nvPr/>
        </p:nvSpPr>
        <p:spPr>
          <a:xfrm>
            <a:off x="4417995" y="5274643"/>
            <a:ext cx="1605" cy="753355"/>
          </a:xfrm>
          <a:prstGeom prst="line">
            <a:avLst/>
          </a:prstGeom>
          <a:ln w="76200">
            <a:solidFill>
              <a:srgbClr val="000000"/>
            </a:solidFill>
            <a:tailEnd type="triangle"/>
          </a:ln>
        </p:spPr>
        <p:txBody>
          <a:bodyPr lIns="45719" rIns="45719"/>
          <a:lstStyle/>
          <a:p>
            <a:pPr/>
          </a:p>
        </p:txBody>
      </p:sp>
      <p:sp>
        <p:nvSpPr>
          <p:cNvPr id="114" name="TextBox 1"/>
          <p:cNvSpPr txBox="1"/>
          <p:nvPr/>
        </p:nvSpPr>
        <p:spPr>
          <a:xfrm>
            <a:off x="3951973" y="3065182"/>
            <a:ext cx="1939492" cy="211947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0"/>
            </a:lvl1pPr>
          </a:lstStyle>
          <a:p>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Rectangle 2"/>
          <p:cNvSpPr txBox="1"/>
          <p:nvPr>
            <p:ph type="title"/>
          </p:nvPr>
        </p:nvSpPr>
        <p:spPr>
          <a:xfrm>
            <a:off x="457200" y="0"/>
            <a:ext cx="8229600" cy="1143000"/>
          </a:xfrm>
          <a:prstGeom prst="rect">
            <a:avLst/>
          </a:prstGeom>
        </p:spPr>
        <p:txBody>
          <a:bodyPr/>
          <a:lstStyle/>
          <a:p>
            <a:pPr>
              <a:defRPr sz="3600"/>
            </a:pPr>
            <a:r>
              <a:t>From Tuesday: </a:t>
            </a:r>
            <a:r>
              <a:rPr>
                <a:solidFill>
                  <a:srgbClr val="C00000"/>
                </a:solidFill>
              </a:rPr>
              <a:t>The Introduction</a:t>
            </a:r>
          </a:p>
        </p:txBody>
      </p:sp>
      <p:sp>
        <p:nvSpPr>
          <p:cNvPr id="117" name="Rectangle 3"/>
          <p:cNvSpPr txBox="1"/>
          <p:nvPr>
            <p:ph type="body" idx="1"/>
          </p:nvPr>
        </p:nvSpPr>
        <p:spPr>
          <a:xfrm>
            <a:off x="457200" y="1219200"/>
            <a:ext cx="8229600" cy="4525963"/>
          </a:xfrm>
          <a:prstGeom prst="rect">
            <a:avLst/>
          </a:prstGeom>
        </p:spPr>
        <p:txBody>
          <a:bodyPr/>
          <a:lstStyle/>
          <a:p>
            <a:pPr>
              <a:defRPr b="1">
                <a:solidFill>
                  <a:srgbClr val="C00000"/>
                </a:solidFill>
              </a:defRPr>
            </a:pPr>
            <a:r>
              <a:t>Begin with the broadest scope </a:t>
            </a:r>
            <a:r>
              <a:rPr b="0">
                <a:solidFill>
                  <a:srgbClr val="000000"/>
                </a:solidFill>
              </a:rPr>
              <a:t>and get progressively narrower, leading steadily to the </a:t>
            </a:r>
            <a:r>
              <a:t>statement of objectives</a:t>
            </a:r>
            <a:r>
              <a:rPr b="0">
                <a:solidFill>
                  <a:srgbClr val="000000"/>
                </a:solidFill>
              </a:rPr>
              <a:t> in the last paragraph of the Introduction.</a:t>
            </a:r>
          </a:p>
        </p:txBody>
      </p:sp>
      <p:sp>
        <p:nvSpPr>
          <p:cNvPr id="118" name="Rectangle 4"/>
          <p:cNvSpPr/>
          <p:nvPr/>
        </p:nvSpPr>
        <p:spPr>
          <a:xfrm>
            <a:off x="3827648" y="3256724"/>
            <a:ext cx="4495801" cy="685801"/>
          </a:xfrm>
          <a:prstGeom prst="rect">
            <a:avLst/>
          </a:prstGeom>
          <a:solidFill>
            <a:schemeClr val="accent1"/>
          </a:solidFill>
          <a:ln>
            <a:solidFill>
              <a:srgbClr val="000000"/>
            </a:solidFill>
            <a:miter/>
          </a:ln>
        </p:spPr>
        <p:txBody>
          <a:bodyPr lIns="45719" rIns="45719" anchor="ctr"/>
          <a:lstStyle/>
          <a:p>
            <a:pPr/>
          </a:p>
        </p:txBody>
      </p:sp>
      <p:sp>
        <p:nvSpPr>
          <p:cNvPr id="119" name="Rectangle 5"/>
          <p:cNvSpPr/>
          <p:nvPr/>
        </p:nvSpPr>
        <p:spPr>
          <a:xfrm>
            <a:off x="4284848" y="4018724"/>
            <a:ext cx="3581401" cy="685801"/>
          </a:xfrm>
          <a:prstGeom prst="rect">
            <a:avLst/>
          </a:prstGeom>
          <a:solidFill>
            <a:schemeClr val="accent1"/>
          </a:solidFill>
          <a:ln>
            <a:solidFill>
              <a:srgbClr val="000000"/>
            </a:solidFill>
            <a:miter/>
          </a:ln>
        </p:spPr>
        <p:txBody>
          <a:bodyPr lIns="45719" rIns="45719" anchor="ctr"/>
          <a:lstStyle/>
          <a:p>
            <a:pPr/>
          </a:p>
        </p:txBody>
      </p:sp>
      <p:sp>
        <p:nvSpPr>
          <p:cNvPr id="120" name="Rectangle 6"/>
          <p:cNvSpPr/>
          <p:nvPr/>
        </p:nvSpPr>
        <p:spPr>
          <a:xfrm>
            <a:off x="4818248" y="4780724"/>
            <a:ext cx="2590801" cy="685801"/>
          </a:xfrm>
          <a:prstGeom prst="rect">
            <a:avLst/>
          </a:prstGeom>
          <a:solidFill>
            <a:schemeClr val="accent1"/>
          </a:solidFill>
          <a:ln>
            <a:solidFill>
              <a:srgbClr val="000000"/>
            </a:solidFill>
            <a:miter/>
          </a:ln>
        </p:spPr>
        <p:txBody>
          <a:bodyPr lIns="45719" rIns="45719" anchor="ctr"/>
          <a:lstStyle/>
          <a:p>
            <a:pPr/>
          </a:p>
        </p:txBody>
      </p:sp>
      <p:sp>
        <p:nvSpPr>
          <p:cNvPr id="121" name="Rectangle 7"/>
          <p:cNvSpPr/>
          <p:nvPr/>
        </p:nvSpPr>
        <p:spPr>
          <a:xfrm>
            <a:off x="5199248" y="5542724"/>
            <a:ext cx="1828801" cy="685801"/>
          </a:xfrm>
          <a:prstGeom prst="rect">
            <a:avLst/>
          </a:prstGeom>
          <a:solidFill>
            <a:schemeClr val="accent1"/>
          </a:solidFill>
          <a:ln>
            <a:solidFill>
              <a:srgbClr val="000000"/>
            </a:solidFill>
            <a:miter/>
          </a:ln>
        </p:spPr>
        <p:txBody>
          <a:bodyPr lIns="45719" rIns="45719" anchor="ctr"/>
          <a:lstStyle/>
          <a:p>
            <a:pPr/>
          </a:p>
        </p:txBody>
      </p:sp>
      <p:sp>
        <p:nvSpPr>
          <p:cNvPr id="122" name="Line 8"/>
          <p:cNvSpPr/>
          <p:nvPr/>
        </p:nvSpPr>
        <p:spPr>
          <a:xfrm>
            <a:off x="5199248" y="3485324"/>
            <a:ext cx="1" cy="990601"/>
          </a:xfrm>
          <a:prstGeom prst="line">
            <a:avLst/>
          </a:prstGeom>
          <a:ln w="76200">
            <a:solidFill>
              <a:srgbClr val="000000"/>
            </a:solidFill>
            <a:tailEnd type="triangle"/>
          </a:ln>
        </p:spPr>
        <p:txBody>
          <a:bodyPr lIns="45719" rIns="45719"/>
          <a:lstStyle/>
          <a:p>
            <a:pPr/>
          </a:p>
        </p:txBody>
      </p:sp>
      <p:sp>
        <p:nvSpPr>
          <p:cNvPr id="123" name="Line 9"/>
          <p:cNvSpPr/>
          <p:nvPr/>
        </p:nvSpPr>
        <p:spPr>
          <a:xfrm>
            <a:off x="5732648" y="4247324"/>
            <a:ext cx="1" cy="990601"/>
          </a:xfrm>
          <a:prstGeom prst="line">
            <a:avLst/>
          </a:prstGeom>
          <a:ln w="76200">
            <a:solidFill>
              <a:srgbClr val="000000"/>
            </a:solidFill>
            <a:tailEnd type="triangle"/>
          </a:ln>
        </p:spPr>
        <p:txBody>
          <a:bodyPr lIns="45719" rIns="45719"/>
          <a:lstStyle/>
          <a:p>
            <a:pPr/>
          </a:p>
        </p:txBody>
      </p:sp>
      <p:sp>
        <p:nvSpPr>
          <p:cNvPr id="124" name="Line 10"/>
          <p:cNvSpPr/>
          <p:nvPr/>
        </p:nvSpPr>
        <p:spPr>
          <a:xfrm>
            <a:off x="6113648" y="5085524"/>
            <a:ext cx="1" cy="990601"/>
          </a:xfrm>
          <a:prstGeom prst="line">
            <a:avLst/>
          </a:prstGeom>
          <a:ln w="76200">
            <a:solidFill>
              <a:srgbClr val="000000"/>
            </a:solidFill>
            <a:tailEnd type="triangle"/>
          </a:ln>
        </p:spPr>
        <p:txBody>
          <a:bodyPr lIns="45719" rIns="45719"/>
          <a:lstStyle/>
          <a:p>
            <a:pPr/>
          </a:p>
        </p:txBody>
      </p:sp>
      <p:sp>
        <p:nvSpPr>
          <p:cNvPr id="125" name="TextBox 10"/>
          <p:cNvSpPr txBox="1"/>
          <p:nvPr/>
        </p:nvSpPr>
        <p:spPr>
          <a:xfrm>
            <a:off x="567099" y="4826770"/>
            <a:ext cx="3355995" cy="146785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200"/>
            </a:pPr>
            <a:r>
              <a:t>Today: </a:t>
            </a:r>
            <a:r>
              <a:rPr b="0" sz="3000"/>
              <a:t>how do we go from broad to narrow gracefully?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Title 1"/>
          <p:cNvSpPr txBox="1"/>
          <p:nvPr>
            <p:ph type="title"/>
          </p:nvPr>
        </p:nvSpPr>
        <p:spPr>
          <a:prstGeom prst="rect">
            <a:avLst/>
          </a:prstGeom>
        </p:spPr>
        <p:txBody>
          <a:bodyPr/>
          <a:lstStyle/>
          <a:p>
            <a:pPr/>
            <a:r>
              <a:t>The Introduction: 3 components</a:t>
            </a:r>
          </a:p>
        </p:txBody>
      </p:sp>
      <p:sp>
        <p:nvSpPr>
          <p:cNvPr id="128" name="Content Placeholder 2"/>
          <p:cNvSpPr txBox="1"/>
          <p:nvPr>
            <p:ph type="body" idx="1"/>
          </p:nvPr>
        </p:nvSpPr>
        <p:spPr>
          <a:xfrm>
            <a:off x="628650" y="1896177"/>
            <a:ext cx="7886700" cy="4280787"/>
          </a:xfrm>
          <a:prstGeom prst="rect">
            <a:avLst/>
          </a:prstGeom>
        </p:spPr>
        <p:txBody>
          <a:bodyPr/>
          <a:lstStyle/>
          <a:p>
            <a:pPr marL="514350" indent="-514350">
              <a:buFontTx/>
              <a:buAutoNum type="arabicPeriod" startAt="1"/>
              <a:defRPr sz="3200"/>
            </a:pPr>
            <a:r>
              <a:t>Define a research territory</a:t>
            </a:r>
          </a:p>
          <a:p>
            <a:pPr marL="514350" indent="-514350">
              <a:buFontTx/>
              <a:buAutoNum type="arabicPeriod" startAt="1"/>
              <a:defRPr sz="3200"/>
            </a:pPr>
            <a:r>
              <a:t>Establish a niche within that territory</a:t>
            </a:r>
          </a:p>
          <a:p>
            <a:pPr marL="514350" indent="-514350">
              <a:buFontTx/>
              <a:buAutoNum type="arabicPeriod" startAt="1"/>
              <a:defRPr sz="3200"/>
            </a:pPr>
            <a:r>
              <a:t>Occupy that niche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itle 1"/>
          <p:cNvSpPr txBox="1"/>
          <p:nvPr>
            <p:ph type="title"/>
          </p:nvPr>
        </p:nvSpPr>
        <p:spPr>
          <a:prstGeom prst="rect">
            <a:avLst/>
          </a:prstGeom>
        </p:spPr>
        <p:txBody>
          <a:bodyPr/>
          <a:lstStyle/>
          <a:p>
            <a:pPr/>
            <a:r>
              <a:t>The Introduction: 3 components</a:t>
            </a:r>
          </a:p>
        </p:txBody>
      </p:sp>
      <p:sp>
        <p:nvSpPr>
          <p:cNvPr id="131" name="Content Placeholder 2"/>
          <p:cNvSpPr txBox="1"/>
          <p:nvPr>
            <p:ph type="body" idx="1"/>
          </p:nvPr>
        </p:nvSpPr>
        <p:spPr>
          <a:xfrm>
            <a:off x="628650" y="1771047"/>
            <a:ext cx="7886700" cy="4831884"/>
          </a:xfrm>
          <a:prstGeom prst="rect">
            <a:avLst/>
          </a:prstGeom>
        </p:spPr>
        <p:txBody>
          <a:bodyPr/>
          <a:lstStyle/>
          <a:p>
            <a:pPr marL="509206" indent="-509206" defTabSz="905255">
              <a:lnSpc>
                <a:spcPct val="72000"/>
              </a:lnSpc>
              <a:spcBef>
                <a:spcPts val="900"/>
              </a:spcBef>
              <a:buFontTx/>
              <a:buAutoNum type="arabicPeriod" startAt="1"/>
              <a:defRPr b="1" sz="2673"/>
            </a:pPr>
            <a:r>
              <a:t>Define a research territory</a:t>
            </a:r>
            <a:endParaRPr sz="2277"/>
          </a:p>
          <a:p>
            <a:pPr lvl="1" marL="678941" indent="-226313" defTabSz="905255">
              <a:lnSpc>
                <a:spcPct val="72000"/>
              </a:lnSpc>
              <a:spcBef>
                <a:spcPts val="400"/>
              </a:spcBef>
              <a:defRPr sz="2178"/>
            </a:pPr>
            <a:r>
              <a:t>Begins with the first sentence of your Introduction!</a:t>
            </a:r>
            <a:endParaRPr sz="1979"/>
          </a:p>
          <a:p>
            <a:pPr lvl="1" marL="678941" indent="-226313" defTabSz="905255">
              <a:lnSpc>
                <a:spcPct val="72000"/>
              </a:lnSpc>
              <a:spcBef>
                <a:spcPts val="400"/>
              </a:spcBef>
              <a:defRPr sz="2574"/>
            </a:pPr>
          </a:p>
          <a:p>
            <a:pPr lvl="1" marL="678941" indent="-226313" defTabSz="905255">
              <a:lnSpc>
                <a:spcPct val="72000"/>
              </a:lnSpc>
              <a:spcBef>
                <a:spcPts val="400"/>
              </a:spcBef>
              <a:defRPr sz="2178"/>
            </a:pPr>
            <a:r>
              <a:t>The role of the first paragraph (</a:t>
            </a:r>
            <a:r>
              <a:rPr i="1"/>
              <a:t>one of the 5 pivotal paragraphs</a:t>
            </a:r>
            <a:r>
              <a:t>) is to </a:t>
            </a:r>
            <a:r>
              <a:rPr b="1">
                <a:solidFill>
                  <a:srgbClr val="C00000"/>
                </a:solidFill>
              </a:rPr>
              <a:t>set boundaries </a:t>
            </a:r>
            <a:r>
              <a:t>on the broadest scope of your paper.</a:t>
            </a:r>
            <a:endParaRPr sz="1979"/>
          </a:p>
          <a:p>
            <a:pPr lvl="1" marL="678941" indent="-226313" defTabSz="905255">
              <a:lnSpc>
                <a:spcPct val="72000"/>
              </a:lnSpc>
              <a:spcBef>
                <a:spcPts val="400"/>
              </a:spcBef>
              <a:defRPr sz="2574"/>
            </a:pPr>
          </a:p>
          <a:p>
            <a:pPr lvl="1" marL="678941" indent="-226313" defTabSz="905255">
              <a:lnSpc>
                <a:spcPct val="72000"/>
              </a:lnSpc>
              <a:spcBef>
                <a:spcPts val="400"/>
              </a:spcBef>
              <a:defRPr sz="2178"/>
            </a:pPr>
            <a:r>
              <a:t>These boundaries depend on your journal and intended audience.</a:t>
            </a:r>
            <a:endParaRPr sz="1979"/>
          </a:p>
          <a:p>
            <a:pPr lvl="2" marL="1131569" indent="-226313" defTabSz="905255">
              <a:lnSpc>
                <a:spcPct val="72000"/>
              </a:lnSpc>
              <a:spcBef>
                <a:spcPts val="400"/>
              </a:spcBef>
              <a:defRPr sz="1782"/>
            </a:pPr>
            <a:r>
              <a:t>If we are writing for a fisheries journal, we may start with fish or management concepts or themes</a:t>
            </a:r>
            <a:endParaRPr sz="1683"/>
          </a:p>
          <a:p>
            <a:pPr lvl="2" marL="1131569" indent="-226313" defTabSz="905255">
              <a:lnSpc>
                <a:spcPct val="72000"/>
              </a:lnSpc>
              <a:spcBef>
                <a:spcPts val="400"/>
              </a:spcBef>
              <a:defRPr sz="1782"/>
            </a:pPr>
            <a:r>
              <a:t>If we are writing for an ecology/behavior/evolution journal we may start with general themes across taxa before narrowing down to fish</a:t>
            </a:r>
            <a:endParaRPr sz="1683"/>
          </a:p>
          <a:p>
            <a:pPr lvl="2" marL="0" indent="905255" defTabSz="905255">
              <a:lnSpc>
                <a:spcPct val="72000"/>
              </a:lnSpc>
              <a:spcBef>
                <a:spcPts val="400"/>
              </a:spcBef>
              <a:buSzTx/>
              <a:buNone/>
              <a:defRPr sz="2574"/>
            </a:pPr>
          </a:p>
          <a:p>
            <a:pPr lvl="1" marL="678941" indent="-226313" defTabSz="905255">
              <a:lnSpc>
                <a:spcPct val="72000"/>
              </a:lnSpc>
              <a:spcBef>
                <a:spcPts val="400"/>
              </a:spcBef>
              <a:defRPr sz="2178"/>
            </a:pPr>
            <a:r>
              <a:t>By doing this, you can later explain why your study is important in this broad context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Title 1"/>
          <p:cNvSpPr txBox="1"/>
          <p:nvPr>
            <p:ph type="title"/>
          </p:nvPr>
        </p:nvSpPr>
        <p:spPr>
          <a:prstGeom prst="rect">
            <a:avLst/>
          </a:prstGeom>
        </p:spPr>
        <p:txBody>
          <a:bodyPr/>
          <a:lstStyle/>
          <a:p>
            <a:pPr/>
            <a:r>
              <a:t>The Introduction: 3 components</a:t>
            </a:r>
          </a:p>
        </p:txBody>
      </p:sp>
      <p:sp>
        <p:nvSpPr>
          <p:cNvPr id="134" name="Content Placeholder 2"/>
          <p:cNvSpPr txBox="1"/>
          <p:nvPr>
            <p:ph type="body" idx="1"/>
          </p:nvPr>
        </p:nvSpPr>
        <p:spPr>
          <a:xfrm>
            <a:off x="628650" y="1690689"/>
            <a:ext cx="7886700" cy="4899260"/>
          </a:xfrm>
          <a:prstGeom prst="rect">
            <a:avLst/>
          </a:prstGeom>
        </p:spPr>
        <p:txBody>
          <a:bodyPr/>
          <a:lstStyle/>
          <a:p>
            <a:pPr marL="0" indent="0" defTabSz="841247">
              <a:lnSpc>
                <a:spcPct val="72000"/>
              </a:lnSpc>
              <a:spcBef>
                <a:spcPts val="900"/>
              </a:spcBef>
              <a:buSzTx/>
              <a:buNone/>
              <a:defRPr b="1" sz="2668"/>
            </a:pPr>
            <a:r>
              <a:t>2.  Establish a niche within the research territory</a:t>
            </a:r>
            <a:endParaRPr sz="2300"/>
          </a:p>
          <a:p>
            <a:pPr lvl="1" marL="630936" indent="-210311" defTabSz="841247">
              <a:lnSpc>
                <a:spcPct val="72000"/>
              </a:lnSpc>
              <a:spcBef>
                <a:spcPts val="400"/>
              </a:spcBef>
              <a:defRPr sz="2208"/>
            </a:pPr>
            <a:r>
              <a:t>Next you </a:t>
            </a:r>
            <a:r>
              <a:rPr b="1">
                <a:solidFill>
                  <a:srgbClr val="C00000"/>
                </a:solidFill>
              </a:rPr>
              <a:t>point out a gap </a:t>
            </a:r>
            <a:r>
              <a:t>in the research territory you established in the first paragraph or two</a:t>
            </a:r>
            <a:endParaRPr sz="2024"/>
          </a:p>
          <a:p>
            <a:pPr lvl="1" marL="630936" indent="-210311" defTabSz="841247">
              <a:lnSpc>
                <a:spcPct val="72000"/>
              </a:lnSpc>
              <a:spcBef>
                <a:spcPts val="400"/>
              </a:spcBef>
              <a:defRPr sz="2392"/>
            </a:pPr>
          </a:p>
          <a:p>
            <a:pPr lvl="1" marL="630936" indent="-210311" defTabSz="841247">
              <a:lnSpc>
                <a:spcPct val="72000"/>
              </a:lnSpc>
              <a:spcBef>
                <a:spcPts val="400"/>
              </a:spcBef>
              <a:defRPr sz="2208"/>
            </a:pPr>
            <a:r>
              <a:t>Why are we doing this study? To learn something we didn’t know before!</a:t>
            </a:r>
            <a:endParaRPr sz="2024"/>
          </a:p>
          <a:p>
            <a:pPr lvl="1" marL="630936" indent="-210311" defTabSz="841247">
              <a:lnSpc>
                <a:spcPct val="72000"/>
              </a:lnSpc>
              <a:spcBef>
                <a:spcPts val="400"/>
              </a:spcBef>
              <a:defRPr sz="2392"/>
            </a:pPr>
          </a:p>
          <a:p>
            <a:pPr lvl="1" marL="630936" indent="-210311" defTabSz="841247">
              <a:lnSpc>
                <a:spcPct val="72000"/>
              </a:lnSpc>
              <a:spcBef>
                <a:spcPts val="400"/>
              </a:spcBef>
              <a:defRPr sz="2208"/>
            </a:pPr>
            <a:r>
              <a:t>Lots of things have never been done but aren’t worth doing because of time or money. Lots of things aren’t known but aren’t important to know either. You need to explain </a:t>
            </a:r>
            <a:r>
              <a:rPr b="1">
                <a:solidFill>
                  <a:srgbClr val="C00000"/>
                </a:solidFill>
              </a:rPr>
              <a:t>why it is important for our broader understanding </a:t>
            </a:r>
            <a:r>
              <a:t>to fill this gap you’ve identified.</a:t>
            </a:r>
            <a:endParaRPr sz="2024"/>
          </a:p>
          <a:p>
            <a:pPr lvl="1" marL="630936" indent="-210311" defTabSz="841247">
              <a:lnSpc>
                <a:spcPct val="72000"/>
              </a:lnSpc>
              <a:spcBef>
                <a:spcPts val="400"/>
              </a:spcBef>
              <a:defRPr sz="2392"/>
            </a:pPr>
          </a:p>
          <a:p>
            <a:pPr lvl="1" marL="630936" indent="-210311" defTabSz="841247">
              <a:lnSpc>
                <a:spcPct val="72000"/>
              </a:lnSpc>
              <a:spcBef>
                <a:spcPts val="400"/>
              </a:spcBef>
              <a:defRPr sz="2208"/>
            </a:pPr>
            <a:r>
              <a:t>The best examples of this build tension or captures the reader’s curiosity, makes the reader </a:t>
            </a:r>
            <a:r>
              <a:rPr i="1"/>
              <a:t>want </a:t>
            </a:r>
            <a:r>
              <a:t>to know the solution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itle 1"/>
          <p:cNvSpPr txBox="1"/>
          <p:nvPr>
            <p:ph type="title"/>
          </p:nvPr>
        </p:nvSpPr>
        <p:spPr>
          <a:prstGeom prst="rect">
            <a:avLst/>
          </a:prstGeom>
        </p:spPr>
        <p:txBody>
          <a:bodyPr/>
          <a:lstStyle/>
          <a:p>
            <a:pPr/>
            <a:r>
              <a:t>The Introduction: 3 components</a:t>
            </a:r>
          </a:p>
        </p:txBody>
      </p:sp>
      <p:sp>
        <p:nvSpPr>
          <p:cNvPr id="137" name="Content Placeholder 2"/>
          <p:cNvSpPr txBox="1"/>
          <p:nvPr>
            <p:ph type="body" idx="1"/>
          </p:nvPr>
        </p:nvSpPr>
        <p:spPr>
          <a:xfrm>
            <a:off x="628650" y="1690689"/>
            <a:ext cx="7886700" cy="4899260"/>
          </a:xfrm>
          <a:prstGeom prst="rect">
            <a:avLst/>
          </a:prstGeom>
        </p:spPr>
        <p:txBody>
          <a:bodyPr/>
          <a:lstStyle/>
          <a:p>
            <a:pPr marL="0" indent="0">
              <a:buSzTx/>
              <a:buNone/>
              <a:defRPr b="1" sz="3200"/>
            </a:pPr>
            <a:r>
              <a:t>3.  Occupy the niche</a:t>
            </a:r>
          </a:p>
          <a:p>
            <a:pPr lvl="1" marL="685800" indent="-228600">
              <a:spcBef>
                <a:spcPts val="500"/>
              </a:spcBef>
              <a:defRPr sz="2400"/>
            </a:pPr>
            <a:r>
              <a:t>Here is where you provide the solution the reader is waiting for!</a:t>
            </a:r>
          </a:p>
          <a:p>
            <a:pPr lvl="1" marL="685800" indent="-228600">
              <a:spcBef>
                <a:spcPts val="500"/>
              </a:spcBef>
              <a:defRPr sz="2400"/>
            </a:pPr>
            <a:r>
              <a:t>Define your research question, hypotheses, and overall approach. The more specific, the better.</a:t>
            </a:r>
          </a:p>
          <a:p>
            <a:pPr lvl="1" marL="685800" indent="-228600">
              <a:spcBef>
                <a:spcPts val="500"/>
              </a:spcBef>
              <a:defRPr sz="2400"/>
            </a:pPr>
            <a:r>
              <a:t>Also need to explain </a:t>
            </a:r>
            <a:r>
              <a:rPr b="1">
                <a:solidFill>
                  <a:srgbClr val="C00000"/>
                </a:solidFill>
              </a:rPr>
              <a:t>why your study fills the gap you just identified. </a:t>
            </a:r>
            <a:r>
              <a:t>It may be obvious to you but help the reader out! (we’re tired)</a:t>
            </a:r>
          </a:p>
          <a:p>
            <a:pPr lvl="1" marL="685800" indent="-228600">
              <a:spcBef>
                <a:spcPts val="500"/>
              </a:spcBef>
              <a:defRPr sz="2400"/>
            </a:pPr>
            <a:r>
              <a:t>Sometimes the last sentence of the Introduction gives the key finding.</a:t>
            </a:r>
          </a:p>
          <a:p>
            <a:pPr lvl="1" marL="685800" indent="-228600">
              <a:spcBef>
                <a:spcPts val="500"/>
              </a:spcBef>
              <a:defRPr sz="2400"/>
            </a:pPr>
            <a:r>
              <a:t>Includes</a:t>
            </a:r>
            <a:r>
              <a:rPr i="1"/>
              <a:t> one of the five pivotal paragraphs! </a:t>
            </a:r>
            <a:r>
              <a:t>Why so important?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TextBox 1"/>
          <p:cNvSpPr txBox="1"/>
          <p:nvPr/>
        </p:nvSpPr>
        <p:spPr>
          <a:xfrm>
            <a:off x="883919" y="762000"/>
            <a:ext cx="7528561" cy="56629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600">
                <a:solidFill>
                  <a:srgbClr val="C00000"/>
                </a:solidFill>
              </a:defRPr>
            </a:pPr>
            <a:r>
              <a:t>A note on structure within paragraphs</a:t>
            </a:r>
          </a:p>
          <a:p>
            <a:pPr/>
          </a:p>
          <a:p>
            <a:pPr>
              <a:defRPr sz="2400"/>
            </a:pPr>
            <a:r>
              <a:t>Each paragraph should have a </a:t>
            </a:r>
            <a:r>
              <a:rPr b="1">
                <a:solidFill>
                  <a:srgbClr val="FF0000"/>
                </a:solidFill>
              </a:rPr>
              <a:t>topic sentence</a:t>
            </a:r>
            <a:r>
              <a:t>, a series of sentences in logical order, and a </a:t>
            </a:r>
            <a:r>
              <a:rPr b="1">
                <a:solidFill>
                  <a:srgbClr val="FF0000"/>
                </a:solidFill>
              </a:rPr>
              <a:t>concluding sentence</a:t>
            </a:r>
            <a:r>
              <a:rPr b="1"/>
              <a:t> </a:t>
            </a:r>
            <a:r>
              <a:t>that provides a link to the next paragraph.</a:t>
            </a:r>
          </a:p>
          <a:p>
            <a:pPr>
              <a:defRPr sz="2400"/>
            </a:pPr>
          </a:p>
          <a:p>
            <a:pPr>
              <a:defRPr sz="2400"/>
            </a:pPr>
            <a:r>
              <a:t>Awkward transitions within a paragraph, and between paragraphs are a sure way to lose readers. Remember you want them to follow you from broad to narrow without losing them along the way!</a:t>
            </a:r>
          </a:p>
          <a:p>
            <a:pPr>
              <a:defRPr sz="2400"/>
            </a:pPr>
          </a:p>
          <a:p>
            <a:pPr>
              <a:defRPr sz="2400"/>
            </a:pPr>
            <a:r>
              <a:t>Middle sentences should </a:t>
            </a:r>
            <a:r>
              <a:rPr b="1">
                <a:solidFill>
                  <a:srgbClr val="FF0000"/>
                </a:solidFill>
              </a:rPr>
              <a:t>provide references </a:t>
            </a:r>
            <a:r>
              <a:t>that support and/or elaborate on the topic sentence.  If you find yourself deviating from the topic sentence, either rewrite it or </a:t>
            </a:r>
            <a:r>
              <a:rPr b="1">
                <a:solidFill>
                  <a:srgbClr val="FF0000"/>
                </a:solidFill>
              </a:rPr>
              <a:t>start a new paragraph</a:t>
            </a:r>
            <a:r>
              <a:t>.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Title 1"/>
          <p:cNvSpPr txBox="1"/>
          <p:nvPr/>
        </p:nvSpPr>
        <p:spPr>
          <a:xfrm>
            <a:off x="605187" y="304967"/>
            <a:ext cx="7795261" cy="6539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lnSpc>
                <a:spcPct val="90000"/>
              </a:lnSpc>
              <a:defRPr sz="4400">
                <a:latin typeface="Calibri Light"/>
                <a:ea typeface="Calibri Light"/>
                <a:cs typeface="Calibri Light"/>
                <a:sym typeface="Calibri Light"/>
              </a:defRPr>
            </a:lvl1pPr>
          </a:lstStyle>
          <a:p>
            <a:pPr/>
            <a:r>
              <a:t>Class/Homework Activity #1</a:t>
            </a:r>
          </a:p>
        </p:txBody>
      </p:sp>
      <p:sp>
        <p:nvSpPr>
          <p:cNvPr id="142" name="TextBox 2"/>
          <p:cNvSpPr txBox="1"/>
          <p:nvPr/>
        </p:nvSpPr>
        <p:spPr>
          <a:xfrm>
            <a:off x="605187" y="1082502"/>
            <a:ext cx="7528561" cy="47145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AutoNum type="arabicPeriod" startAt="1"/>
            </a:pPr>
            <a:r>
              <a:t>Reverse Outline Activity</a:t>
            </a:r>
          </a:p>
          <a:p>
            <a:pPr marL="342900" indent="-342900">
              <a:buSzPct val="100000"/>
              <a:buAutoNum type="arabicPeriod" startAt="1"/>
            </a:pPr>
          </a:p>
          <a:p>
            <a:pPr/>
            <a:r>
              <a:t>	- One popular and help way to write a paper is to start with an outline, where you use bullet points, numbers, or ideas to block out the structure of a paper. </a:t>
            </a:r>
          </a:p>
          <a:p>
            <a:pPr/>
          </a:p>
          <a:p>
            <a:pPr/>
            <a:r>
              <a:t>	- This method works </a:t>
            </a:r>
            <a:r>
              <a:rPr b="1" u="sng">
                <a:solidFill>
                  <a:srgbClr val="FF0000"/>
                </a:solidFill>
              </a:rPr>
              <a:t>in reverse </a:t>
            </a:r>
            <a:r>
              <a:t>if you want to critically analyze the structure of a scientific paper</a:t>
            </a:r>
          </a:p>
          <a:p>
            <a:pPr/>
          </a:p>
          <a:p>
            <a:pPr/>
            <a:r>
              <a:t>	- Read the introduction of the paper by Orejas et al. (2016) and </a:t>
            </a:r>
            <a:r>
              <a:rPr b="1" u="sng">
                <a:solidFill>
                  <a:srgbClr val="FF0000"/>
                </a:solidFill>
              </a:rPr>
              <a:t>create an outline</a:t>
            </a:r>
            <a:r>
              <a:t> showing their thought process and how they guide us through the background introduction towards their objectives.  On the PDF document, highlight any topic sentences or transitional sentences you can identify. </a:t>
            </a:r>
          </a:p>
          <a:p>
            <a:pPr/>
          </a:p>
          <a:p>
            <a:pPr/>
            <a:r>
              <a:t>	- Turn in both your highlighted PDF and your outline on Canvas by Wednesday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Title 1"/>
          <p:cNvSpPr txBox="1"/>
          <p:nvPr/>
        </p:nvSpPr>
        <p:spPr>
          <a:xfrm>
            <a:off x="674369" y="365125"/>
            <a:ext cx="7795261" cy="6539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lnSpc>
                <a:spcPct val="90000"/>
              </a:lnSpc>
              <a:defRPr sz="4400">
                <a:latin typeface="Calibri Light"/>
                <a:ea typeface="Calibri Light"/>
                <a:cs typeface="Calibri Light"/>
                <a:sym typeface="Calibri Light"/>
              </a:defRPr>
            </a:lvl1pPr>
          </a:lstStyle>
          <a:p>
            <a:pPr/>
            <a:r>
              <a:t>Class/Homework activity #2</a:t>
            </a:r>
          </a:p>
        </p:txBody>
      </p:sp>
      <p:sp>
        <p:nvSpPr>
          <p:cNvPr id="145" name="TextBox 2"/>
          <p:cNvSpPr txBox="1"/>
          <p:nvPr/>
        </p:nvSpPr>
        <p:spPr>
          <a:xfrm>
            <a:off x="674369" y="1490007"/>
            <a:ext cx="7528561" cy="18656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pPr>
            <a:r>
              <a:t>1. Read the “mock introductions to edit” document which contains intros written by students from past papers</a:t>
            </a:r>
          </a:p>
          <a:p>
            <a:pPr>
              <a:defRPr sz="2400"/>
            </a:pPr>
          </a:p>
          <a:p>
            <a:pPr>
              <a:defRPr sz="2400"/>
            </a:pPr>
            <a:r>
              <a:t>2. Read the instructions in that document, edit it, save it, and submit it on canvas. </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itle 1"/>
          <p:cNvSpPr txBox="1"/>
          <p:nvPr/>
        </p:nvSpPr>
        <p:spPr>
          <a:xfrm>
            <a:off x="402386" y="197782"/>
            <a:ext cx="7795261" cy="6539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914400">
              <a:lnSpc>
                <a:spcPct val="90000"/>
              </a:lnSpc>
              <a:defRPr sz="4400">
                <a:latin typeface="Calibri Light"/>
                <a:ea typeface="Calibri Light"/>
                <a:cs typeface="Calibri Light"/>
                <a:sym typeface="Calibri Light"/>
              </a:defRPr>
            </a:lvl1pPr>
          </a:lstStyle>
          <a:p>
            <a:pPr/>
            <a:r>
              <a:t>Class/Homework activity #3</a:t>
            </a:r>
          </a:p>
        </p:txBody>
      </p:sp>
      <p:sp>
        <p:nvSpPr>
          <p:cNvPr id="148" name="TextBox 2"/>
          <p:cNvSpPr txBox="1"/>
          <p:nvPr/>
        </p:nvSpPr>
        <p:spPr>
          <a:xfrm>
            <a:off x="402387" y="1027906"/>
            <a:ext cx="8695893" cy="51803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pPr>
            <a:r>
              <a:t>Find data for your paper hypothesis. </a:t>
            </a:r>
          </a:p>
          <a:p>
            <a:pPr>
              <a:defRPr sz="2400"/>
            </a:pPr>
          </a:p>
          <a:p>
            <a:pPr>
              <a:defRPr sz="2400"/>
            </a:pPr>
            <a:r>
              <a:t>What kind of data do I need?</a:t>
            </a:r>
          </a:p>
          <a:p>
            <a:pPr>
              <a:defRPr sz="2400"/>
            </a:pPr>
            <a:r>
              <a:t>	- Control</a:t>
            </a:r>
          </a:p>
          <a:p>
            <a:pPr>
              <a:defRPr sz="2400"/>
            </a:pPr>
            <a:r>
              <a:t>	- </a:t>
            </a:r>
            <a:r>
              <a:rPr b="1"/>
              <a:t>Variables</a:t>
            </a:r>
            <a:r>
              <a:t> (independent, dependent)</a:t>
            </a:r>
          </a:p>
          <a:p>
            <a:pPr>
              <a:defRPr sz="2400"/>
            </a:pPr>
            <a:r>
              <a:t>	- Independent </a:t>
            </a:r>
            <a:r>
              <a:rPr b="1"/>
              <a:t>replicates</a:t>
            </a:r>
            <a:endParaRPr b="1"/>
          </a:p>
          <a:p>
            <a:pPr>
              <a:defRPr sz="2400"/>
            </a:pPr>
          </a:p>
          <a:p>
            <a:pPr>
              <a:defRPr sz="2400"/>
            </a:pPr>
            <a:r>
              <a:t>Where can I find data?</a:t>
            </a:r>
          </a:p>
          <a:p>
            <a:pPr>
              <a:defRPr sz="2400"/>
            </a:pPr>
            <a:r>
              <a:t>	- Google search for databases</a:t>
            </a:r>
          </a:p>
          <a:p>
            <a:pPr>
              <a:defRPr sz="2400"/>
            </a:pPr>
            <a:r>
              <a:t>	- Gather from several published studies that measure the same type of variables</a:t>
            </a:r>
          </a:p>
          <a:p>
            <a:pPr>
              <a:defRPr sz="2400"/>
            </a:pPr>
            <a:r>
              <a:t>	- UW libraries data resource page</a:t>
            </a:r>
          </a:p>
          <a:p>
            <a:pPr>
              <a:defRPr sz="2400"/>
            </a:pPr>
            <a:r>
              <a:t>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
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74" r:id="rId3"/>
    <p:sldId id="287" r:id="rId4"/>
    <p:sldId id="289" r:id="rId5"/>
    <p:sldId id="275" r:id="rId6"/>
    <p:sldId id="276" r:id="rId7"/>
    <p:sldId id="277" r:id="rId8"/>
    <p:sldId id="286" r:id="rId9"/>
    <p:sldId id="290" r:id="rId10"/>
    <p:sldId id="291" r:id="rId11"/>
    <p:sldId id="265" r:id="rId12"/>
    <p:sldId id="272" r:id="rId13"/>
    <p:sldId id="268" r:id="rId14"/>
    <p:sldId id="260" r:id="rId15"/>
    <p:sldId id="284" r:id="rId16"/>
    <p:sldId id="281" r:id="rId17"/>
    <p:sldId id="282" r:id="rId18"/>
    <p:sldId id="283" r:id="rId19"/>
    <p:sldId id="270" r:id="rId20"/>
    <p:sldId id="267" r:id="rId21"/>
    <p:sldId id="285" r:id="rId22"/>
    <p:sldId id="26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1"/>
    <p:restoredTop sz="94626"/>
  </p:normalViewPr>
  <p:slideViewPr>
    <p:cSldViewPr>
      <p:cViewPr varScale="1">
        <p:scale>
          <a:sx n="121" d="100"/>
          <a:sy n="121" d="100"/>
        </p:scale>
        <p:origin x="208"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4F2D4C7-4E03-458A-A6AE-CAFEEA055544}" type="datetimeFigureOut">
              <a:rPr lang="en-US" smtClean="0"/>
              <a:t>4/2/24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306397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F2D4C7-4E03-458A-A6AE-CAFEEA055544}" type="datetimeFigureOut">
              <a:rPr lang="en-US" smtClean="0"/>
              <a:t>4/2/24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2533993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2D4C7-4E03-458A-A6AE-CAFEEA055544}" type="datetimeFigureOut">
              <a:rPr lang="en-US" smtClean="0"/>
              <a:t>4/2/24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152832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F2D4C7-4E03-458A-A6AE-CAFEEA055544}" type="datetimeFigureOut">
              <a:rPr lang="en-US" smtClean="0"/>
              <a:t>4/2/24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1551103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4F2D4C7-4E03-458A-A6AE-CAFEEA055544}" type="datetimeFigureOut">
              <a:rPr lang="en-US" smtClean="0"/>
              <a:t>4/2/24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1094521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4F2D4C7-4E03-458A-A6AE-CAFEEA055544}" type="datetimeFigureOut">
              <a:rPr lang="en-US" smtClean="0"/>
              <a:t>4/2/24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1295676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2D4C7-4E03-458A-A6AE-CAFEEA055544}" type="datetimeFigureOut">
              <a:rPr lang="en-US" smtClean="0"/>
              <a:t>4/2/24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995305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2D4C7-4E03-458A-A6AE-CAFEEA055544}" type="datetimeFigureOut">
              <a:rPr lang="en-US" smtClean="0"/>
              <a:t>4/2/24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582978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2D4C7-4E03-458A-A6AE-CAFEEA055544}" type="datetimeFigureOut">
              <a:rPr lang="en-US" smtClean="0"/>
              <a:t>4/2/24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1773934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F2D4C7-4E03-458A-A6AE-CAFEEA055544}" type="datetimeFigureOut">
              <a:rPr lang="en-US" smtClean="0"/>
              <a:t>4/2/24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3106662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F2D4C7-4E03-458A-A6AE-CAFEEA055544}" type="datetimeFigureOut">
              <a:rPr lang="en-US" smtClean="0"/>
              <a:t>4/2/24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3A186-2EFD-4566-99DD-1ADBB13CD5ED}" type="slidenum">
              <a:rPr lang="en-US" smtClean="0"/>
              <a:t>‹#›</a:t>
            </a:fld>
            <a:endParaRPr lang="en-US"/>
          </a:p>
        </p:txBody>
      </p:sp>
    </p:spTree>
    <p:extLst>
      <p:ext uri="{BB962C8B-B14F-4D97-AF65-F5344CB8AC3E}">
        <p14:creationId xmlns:p14="http://schemas.microsoft.com/office/powerpoint/2010/main" val="24143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2D4C7-4E03-458A-A6AE-CAFEEA055544}" type="datetimeFigureOut">
              <a:rPr lang="en-US" smtClean="0"/>
              <a:t>4/2/24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43A186-2EFD-4566-99DD-1ADBB13CD5ED}" type="slidenum">
              <a:rPr lang="en-US" smtClean="0"/>
              <a:t>‹#›</a:t>
            </a:fld>
            <a:endParaRPr lang="en-US"/>
          </a:p>
        </p:txBody>
      </p:sp>
    </p:spTree>
    <p:extLst>
      <p:ext uri="{BB962C8B-B14F-4D97-AF65-F5344CB8AC3E}">
        <p14:creationId xmlns:p14="http://schemas.microsoft.com/office/powerpoint/2010/main" val="1031970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catalog.lib.washington.edu/search~"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828288"/>
            <a:ext cx="6934200" cy="6186309"/>
          </a:xfrm>
          <a:prstGeom prst="rect">
            <a:avLst/>
          </a:prstGeom>
          <a:noFill/>
        </p:spPr>
        <p:txBody>
          <a:bodyPr wrap="square" rtlCol="0">
            <a:spAutoFit/>
          </a:bodyPr>
          <a:lstStyle/>
          <a:p>
            <a:r>
              <a:rPr lang="en-US" sz="4000" dirty="0">
                <a:solidFill>
                  <a:srgbClr val="C00000"/>
                </a:solidFill>
                <a:latin typeface="Calibri Light" panose="020F0302020204030204" pitchFamily="34" charset="0"/>
                <a:cs typeface="Calibri Light" panose="020F0302020204030204" pitchFamily="34" charset="0"/>
              </a:rPr>
              <a:t>Scientific journals and articles:</a:t>
            </a:r>
            <a:endParaRPr lang="en-US" sz="3200" b="1" dirty="0">
              <a:solidFill>
                <a:srgbClr val="FF0000"/>
              </a:solidFill>
            </a:endParaRPr>
          </a:p>
          <a:p>
            <a:endParaRPr lang="en-US" sz="3200" dirty="0">
              <a:solidFill>
                <a:srgbClr val="FF0000"/>
              </a:solidFill>
            </a:endParaRPr>
          </a:p>
          <a:p>
            <a:endParaRPr lang="en-US" sz="3200" dirty="0">
              <a:solidFill>
                <a:srgbClr val="FF0000"/>
              </a:solidFill>
            </a:endParaRPr>
          </a:p>
          <a:p>
            <a:r>
              <a:rPr lang="en-US" sz="3200" dirty="0"/>
              <a:t>So much to read; so little time.  </a:t>
            </a:r>
          </a:p>
          <a:p>
            <a:endParaRPr lang="en-US" sz="3200" dirty="0"/>
          </a:p>
          <a:p>
            <a:r>
              <a:rPr lang="en-US" sz="3200" dirty="0"/>
              <a:t>So, what are we looking for?</a:t>
            </a:r>
          </a:p>
          <a:p>
            <a:endParaRPr lang="en-US" sz="3200" dirty="0"/>
          </a:p>
          <a:p>
            <a:r>
              <a:rPr lang="en-US" sz="3200" dirty="0"/>
              <a:t>Today: </a:t>
            </a:r>
          </a:p>
          <a:p>
            <a:pPr marL="971550" lvl="1" indent="-514350">
              <a:buFont typeface="+mj-lt"/>
              <a:buAutoNum type="arabicPeriod"/>
            </a:pPr>
            <a:r>
              <a:rPr lang="en-US" sz="3200" dirty="0"/>
              <a:t>The process of publishing science</a:t>
            </a:r>
          </a:p>
          <a:p>
            <a:pPr marL="971550" lvl="1" indent="-514350">
              <a:buFont typeface="+mj-lt"/>
              <a:buAutoNum type="arabicPeriod"/>
            </a:pPr>
            <a:r>
              <a:rPr lang="en-US" sz="3200" dirty="0"/>
              <a:t>Scientific journals</a:t>
            </a:r>
          </a:p>
          <a:p>
            <a:pPr marL="971550" lvl="1" indent="-514350">
              <a:buFont typeface="+mj-lt"/>
              <a:buAutoNum type="arabicPeriod"/>
            </a:pPr>
            <a:r>
              <a:rPr lang="en-US" sz="3200" dirty="0"/>
              <a:t>The art of the title</a:t>
            </a:r>
          </a:p>
          <a:p>
            <a:endParaRPr lang="en-US" dirty="0"/>
          </a:p>
          <a:p>
            <a:endParaRPr lang="en-US" dirty="0"/>
          </a:p>
        </p:txBody>
      </p:sp>
    </p:spTree>
    <p:extLst>
      <p:ext uri="{BB962C8B-B14F-4D97-AF65-F5344CB8AC3E}">
        <p14:creationId xmlns:p14="http://schemas.microsoft.com/office/powerpoint/2010/main" val="2763286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4E2D2B-DF6E-194F-8941-FB02E94E4BC9}"/>
              </a:ext>
            </a:extLst>
          </p:cNvPr>
          <p:cNvSpPr txBox="1"/>
          <p:nvPr/>
        </p:nvSpPr>
        <p:spPr>
          <a:xfrm>
            <a:off x="381000" y="228600"/>
            <a:ext cx="6019800" cy="584775"/>
          </a:xfrm>
          <a:prstGeom prst="rect">
            <a:avLst/>
          </a:prstGeom>
          <a:noFill/>
        </p:spPr>
        <p:txBody>
          <a:bodyPr wrap="square" rtlCol="0">
            <a:spAutoFit/>
          </a:bodyPr>
          <a:lstStyle/>
          <a:p>
            <a:r>
              <a:rPr lang="en-US" sz="3200" dirty="0">
                <a:solidFill>
                  <a:srgbClr val="C00000"/>
                </a:solidFill>
              </a:rPr>
              <a:t>How is science published?</a:t>
            </a:r>
          </a:p>
        </p:txBody>
      </p:sp>
      <p:sp>
        <p:nvSpPr>
          <p:cNvPr id="3" name="TextBox 2">
            <a:extLst>
              <a:ext uri="{FF2B5EF4-FFF2-40B4-BE49-F238E27FC236}">
                <a16:creationId xmlns:a16="http://schemas.microsoft.com/office/drawing/2014/main" id="{C80A0B3C-D4A1-7440-AAAD-22C9B4ADF5D5}"/>
              </a:ext>
            </a:extLst>
          </p:cNvPr>
          <p:cNvSpPr txBox="1"/>
          <p:nvPr/>
        </p:nvSpPr>
        <p:spPr>
          <a:xfrm>
            <a:off x="381000" y="935534"/>
            <a:ext cx="8077200" cy="5693866"/>
          </a:xfrm>
          <a:prstGeom prst="rect">
            <a:avLst/>
          </a:prstGeom>
          <a:noFill/>
        </p:spPr>
        <p:txBody>
          <a:bodyPr wrap="square" rtlCol="0">
            <a:spAutoFit/>
          </a:bodyPr>
          <a:lstStyle/>
          <a:p>
            <a:pPr marL="457200" indent="-457200">
              <a:buFont typeface="+mj-lt"/>
              <a:buAutoNum type="arabicPeriod"/>
            </a:pPr>
            <a:r>
              <a:rPr lang="en-US" sz="2400" b="1" dirty="0"/>
              <a:t>Choose a journal to submit your manuscript</a:t>
            </a:r>
          </a:p>
          <a:p>
            <a:pPr marL="914400" lvl="1" indent="-457200">
              <a:buFont typeface="Arial" panose="020B0604020202020204" pitchFamily="34" charset="0"/>
              <a:buChar char="•"/>
            </a:pPr>
            <a:r>
              <a:rPr lang="en-US" sz="2200" dirty="0"/>
              <a:t>Often you write the draft of the manuscript with this journal in mind far in advance</a:t>
            </a:r>
          </a:p>
          <a:p>
            <a:pPr marL="914400" lvl="1" indent="-457200">
              <a:buFont typeface="Arial" panose="020B0604020202020204" pitchFamily="34" charset="0"/>
              <a:buChar char="•"/>
            </a:pPr>
            <a:r>
              <a:rPr lang="en-US" sz="2200" dirty="0"/>
              <a:t>Each journal has specific formatting requirements you must follow</a:t>
            </a:r>
          </a:p>
          <a:p>
            <a:pPr marL="457200" indent="-457200">
              <a:buFont typeface="+mj-lt"/>
              <a:buAutoNum type="arabicPeriod"/>
            </a:pPr>
            <a:r>
              <a:rPr lang="en-US" sz="2400" b="1" dirty="0"/>
              <a:t>Submit the manuscript online</a:t>
            </a:r>
          </a:p>
          <a:p>
            <a:pPr marL="457200" indent="-457200">
              <a:buFont typeface="+mj-lt"/>
              <a:buAutoNum type="arabicPeriod"/>
            </a:pPr>
            <a:r>
              <a:rPr lang="en-US" sz="2400" b="1" dirty="0"/>
              <a:t>An editor sends the manuscript out to 2-4 anonymous peer reviewers</a:t>
            </a:r>
          </a:p>
          <a:p>
            <a:pPr marL="914400" lvl="1" indent="-457200">
              <a:buFont typeface="Arial" panose="020B0604020202020204" pitchFamily="34" charset="0"/>
              <a:buChar char="•"/>
            </a:pPr>
            <a:r>
              <a:rPr lang="en-US" sz="2200" dirty="0"/>
              <a:t>Who are peer reviewers and how are they chosen?</a:t>
            </a:r>
          </a:p>
          <a:p>
            <a:pPr marL="457200" indent="-457200">
              <a:buFont typeface="+mj-lt"/>
              <a:buAutoNum type="arabicPeriod"/>
            </a:pPr>
            <a:r>
              <a:rPr lang="en-US" sz="2400" b="1" dirty="0"/>
              <a:t>Reviews come back and the editor makes a decision</a:t>
            </a:r>
          </a:p>
          <a:p>
            <a:pPr marL="914400" lvl="1" indent="-457200">
              <a:buFont typeface="Arial" panose="020B0604020202020204" pitchFamily="34" charset="0"/>
              <a:buChar char="•"/>
            </a:pPr>
            <a:r>
              <a:rPr lang="en-US" sz="2200" dirty="0"/>
              <a:t>Usually five options: Accept-as-is, Minor revisions, Major revisions, Reject + resubmit, or Reject without option to resubmit</a:t>
            </a:r>
          </a:p>
          <a:p>
            <a:pPr marL="457200" indent="-457200">
              <a:buFont typeface="+mj-lt"/>
              <a:buAutoNum type="arabicPeriod"/>
            </a:pPr>
            <a:r>
              <a:rPr lang="en-US" sz="2400" b="1" dirty="0"/>
              <a:t>Manuscript is accepted to the journal! </a:t>
            </a:r>
          </a:p>
          <a:p>
            <a:pPr marL="914400" lvl="1" indent="-457200">
              <a:buFont typeface="Arial" panose="020B0604020202020204" pitchFamily="34" charset="0"/>
              <a:buChar char="•"/>
            </a:pPr>
            <a:r>
              <a:rPr lang="en-US" sz="2200" dirty="0"/>
              <a:t>Journal staff type-set the article and it is published (usually a month or more after acceptance)</a:t>
            </a:r>
          </a:p>
        </p:txBody>
      </p:sp>
    </p:spTree>
    <p:extLst>
      <p:ext uri="{BB962C8B-B14F-4D97-AF65-F5344CB8AC3E}">
        <p14:creationId xmlns:p14="http://schemas.microsoft.com/office/powerpoint/2010/main" val="285742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8D8972-4880-2F02-070E-C475F2EC35DF}"/>
              </a:ext>
            </a:extLst>
          </p:cNvPr>
          <p:cNvSpPr txBox="1"/>
          <p:nvPr/>
        </p:nvSpPr>
        <p:spPr>
          <a:xfrm>
            <a:off x="3657600" y="1518500"/>
            <a:ext cx="12954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Study</a:t>
            </a:r>
          </a:p>
        </p:txBody>
      </p:sp>
      <p:sp>
        <p:nvSpPr>
          <p:cNvPr id="3" name="TextBox 2">
            <a:extLst>
              <a:ext uri="{FF2B5EF4-FFF2-40B4-BE49-F238E27FC236}">
                <a16:creationId xmlns:a16="http://schemas.microsoft.com/office/drawing/2014/main" id="{01961CDF-413E-091C-6403-F783383D11A2}"/>
              </a:ext>
            </a:extLst>
          </p:cNvPr>
          <p:cNvSpPr txBox="1"/>
          <p:nvPr/>
        </p:nvSpPr>
        <p:spPr>
          <a:xfrm>
            <a:off x="914400" y="1518500"/>
            <a:ext cx="16764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Question</a:t>
            </a:r>
          </a:p>
        </p:txBody>
      </p:sp>
      <p:sp>
        <p:nvSpPr>
          <p:cNvPr id="4" name="TextBox 3">
            <a:extLst>
              <a:ext uri="{FF2B5EF4-FFF2-40B4-BE49-F238E27FC236}">
                <a16:creationId xmlns:a16="http://schemas.microsoft.com/office/drawing/2014/main" id="{32FA6F92-ABA6-C5E9-535C-27DA11733EFF}"/>
              </a:ext>
            </a:extLst>
          </p:cNvPr>
          <p:cNvSpPr txBox="1"/>
          <p:nvPr/>
        </p:nvSpPr>
        <p:spPr>
          <a:xfrm>
            <a:off x="6172200" y="1510625"/>
            <a:ext cx="18288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Manuscript</a:t>
            </a:r>
          </a:p>
        </p:txBody>
      </p:sp>
      <p:sp>
        <p:nvSpPr>
          <p:cNvPr id="5" name="TextBox 4">
            <a:extLst>
              <a:ext uri="{FF2B5EF4-FFF2-40B4-BE49-F238E27FC236}">
                <a16:creationId xmlns:a16="http://schemas.microsoft.com/office/drawing/2014/main" id="{0EA14926-2891-6283-9ADC-38060212BB12}"/>
              </a:ext>
            </a:extLst>
          </p:cNvPr>
          <p:cNvSpPr txBox="1"/>
          <p:nvPr/>
        </p:nvSpPr>
        <p:spPr>
          <a:xfrm>
            <a:off x="6324600" y="3581400"/>
            <a:ext cx="18288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Submit to Journal</a:t>
            </a:r>
          </a:p>
        </p:txBody>
      </p:sp>
      <p:sp>
        <p:nvSpPr>
          <p:cNvPr id="6" name="TextBox 5">
            <a:extLst>
              <a:ext uri="{FF2B5EF4-FFF2-40B4-BE49-F238E27FC236}">
                <a16:creationId xmlns:a16="http://schemas.microsoft.com/office/drawing/2014/main" id="{A3A5BBB6-44D7-028F-0285-0285223047EA}"/>
              </a:ext>
            </a:extLst>
          </p:cNvPr>
          <p:cNvSpPr txBox="1"/>
          <p:nvPr/>
        </p:nvSpPr>
        <p:spPr>
          <a:xfrm>
            <a:off x="3554634" y="3454051"/>
            <a:ext cx="1575483"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External Review</a:t>
            </a:r>
          </a:p>
        </p:txBody>
      </p:sp>
      <p:sp>
        <p:nvSpPr>
          <p:cNvPr id="7" name="TextBox 6">
            <a:extLst>
              <a:ext uri="{FF2B5EF4-FFF2-40B4-BE49-F238E27FC236}">
                <a16:creationId xmlns:a16="http://schemas.microsoft.com/office/drawing/2014/main" id="{8F4FC289-5626-7AAC-F803-0FBBF5FFE210}"/>
              </a:ext>
            </a:extLst>
          </p:cNvPr>
          <p:cNvSpPr txBox="1"/>
          <p:nvPr/>
        </p:nvSpPr>
        <p:spPr>
          <a:xfrm>
            <a:off x="609600" y="3455469"/>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Response FROM Editor</a:t>
            </a:r>
          </a:p>
        </p:txBody>
      </p:sp>
      <p:sp>
        <p:nvSpPr>
          <p:cNvPr id="8" name="TextBox 7">
            <a:extLst>
              <a:ext uri="{FF2B5EF4-FFF2-40B4-BE49-F238E27FC236}">
                <a16:creationId xmlns:a16="http://schemas.microsoft.com/office/drawing/2014/main" id="{7B10E7B1-5C29-278C-DE50-6D7C81623158}"/>
              </a:ext>
            </a:extLst>
          </p:cNvPr>
          <p:cNvSpPr txBox="1"/>
          <p:nvPr/>
        </p:nvSpPr>
        <p:spPr>
          <a:xfrm>
            <a:off x="609600" y="5410200"/>
            <a:ext cx="1828800" cy="646331"/>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Response TO Editor</a:t>
            </a:r>
          </a:p>
        </p:txBody>
      </p:sp>
      <p:sp>
        <p:nvSpPr>
          <p:cNvPr id="9" name="TextBox 8">
            <a:extLst>
              <a:ext uri="{FF2B5EF4-FFF2-40B4-BE49-F238E27FC236}">
                <a16:creationId xmlns:a16="http://schemas.microsoft.com/office/drawing/2014/main" id="{AAA41373-05C9-B21D-CE6B-75E11D60FD6B}"/>
              </a:ext>
            </a:extLst>
          </p:cNvPr>
          <p:cNvSpPr txBox="1"/>
          <p:nvPr/>
        </p:nvSpPr>
        <p:spPr>
          <a:xfrm>
            <a:off x="3505200" y="5422913"/>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Manuscript</a:t>
            </a:r>
          </a:p>
          <a:p>
            <a:pPr algn="ctr"/>
            <a:r>
              <a:rPr lang="en-US" dirty="0"/>
              <a:t>Accepted</a:t>
            </a:r>
          </a:p>
        </p:txBody>
      </p:sp>
      <p:sp>
        <p:nvSpPr>
          <p:cNvPr id="10" name="TextBox 9">
            <a:extLst>
              <a:ext uri="{FF2B5EF4-FFF2-40B4-BE49-F238E27FC236}">
                <a16:creationId xmlns:a16="http://schemas.microsoft.com/office/drawing/2014/main" id="{39F26A8A-BA84-02AE-1395-45027A72B586}"/>
              </a:ext>
            </a:extLst>
          </p:cNvPr>
          <p:cNvSpPr txBox="1"/>
          <p:nvPr/>
        </p:nvSpPr>
        <p:spPr>
          <a:xfrm>
            <a:off x="6705602" y="5422913"/>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Manuscript</a:t>
            </a:r>
          </a:p>
          <a:p>
            <a:pPr algn="ctr"/>
            <a:r>
              <a:rPr lang="en-US" dirty="0"/>
              <a:t>Published</a:t>
            </a:r>
          </a:p>
        </p:txBody>
      </p:sp>
      <p:sp>
        <p:nvSpPr>
          <p:cNvPr id="11" name="Down Arrow 10">
            <a:extLst>
              <a:ext uri="{FF2B5EF4-FFF2-40B4-BE49-F238E27FC236}">
                <a16:creationId xmlns:a16="http://schemas.microsoft.com/office/drawing/2014/main" id="{4736001D-C164-CD1A-2612-76CE4CD762C0}"/>
              </a:ext>
            </a:extLst>
          </p:cNvPr>
          <p:cNvSpPr/>
          <p:nvPr/>
        </p:nvSpPr>
        <p:spPr>
          <a:xfrm rot="16200000">
            <a:off x="2956932" y="1297449"/>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658AD5AF-7A0C-6EF5-70B6-054FFF4C91DB}"/>
              </a:ext>
            </a:extLst>
          </p:cNvPr>
          <p:cNvSpPr/>
          <p:nvPr/>
        </p:nvSpPr>
        <p:spPr>
          <a:xfrm rot="16200000">
            <a:off x="5319132" y="1297449"/>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C0F9DD98-7DAF-6EE4-1B93-B4E29EBDFFA6}"/>
              </a:ext>
            </a:extLst>
          </p:cNvPr>
          <p:cNvSpPr/>
          <p:nvPr/>
        </p:nvSpPr>
        <p:spPr>
          <a:xfrm>
            <a:off x="6934200" y="2326931"/>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7F0D451C-355B-27CB-8ECE-AEEDD80D6659}"/>
              </a:ext>
            </a:extLst>
          </p:cNvPr>
          <p:cNvSpPr/>
          <p:nvPr/>
        </p:nvSpPr>
        <p:spPr>
          <a:xfrm rot="5400000">
            <a:off x="5471532" y="3371500"/>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202F7B78-942A-1737-A2D5-01DCEB47F14C}"/>
              </a:ext>
            </a:extLst>
          </p:cNvPr>
          <p:cNvSpPr/>
          <p:nvPr/>
        </p:nvSpPr>
        <p:spPr>
          <a:xfrm rot="5400000">
            <a:off x="2844117" y="3371500"/>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FD39619F-CA7B-A814-C3D8-B1B7FB723120}"/>
              </a:ext>
            </a:extLst>
          </p:cNvPr>
          <p:cNvSpPr/>
          <p:nvPr/>
        </p:nvSpPr>
        <p:spPr>
          <a:xfrm>
            <a:off x="1371600" y="4413248"/>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a:extLst>
              <a:ext uri="{FF2B5EF4-FFF2-40B4-BE49-F238E27FC236}">
                <a16:creationId xmlns:a16="http://schemas.microsoft.com/office/drawing/2014/main" id="{E15818CE-C44B-93ED-E38E-14EA4F70033D}"/>
              </a:ext>
            </a:extLst>
          </p:cNvPr>
          <p:cNvSpPr/>
          <p:nvPr/>
        </p:nvSpPr>
        <p:spPr>
          <a:xfrm rot="16200000">
            <a:off x="2819400" y="5260886"/>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a:extLst>
              <a:ext uri="{FF2B5EF4-FFF2-40B4-BE49-F238E27FC236}">
                <a16:creationId xmlns:a16="http://schemas.microsoft.com/office/drawing/2014/main" id="{67FF2B1D-05E4-2516-37E1-EDD24C12DF12}"/>
              </a:ext>
            </a:extLst>
          </p:cNvPr>
          <p:cNvSpPr/>
          <p:nvPr/>
        </p:nvSpPr>
        <p:spPr>
          <a:xfrm rot="16200000">
            <a:off x="5877249" y="5241858"/>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a:extLst>
              <a:ext uri="{FF2B5EF4-FFF2-40B4-BE49-F238E27FC236}">
                <a16:creationId xmlns:a16="http://schemas.microsoft.com/office/drawing/2014/main" id="{5178436C-99D0-4D14-83FE-734CBDF09479}"/>
              </a:ext>
            </a:extLst>
          </p:cNvPr>
          <p:cNvSpPr/>
          <p:nvPr/>
        </p:nvSpPr>
        <p:spPr>
          <a:xfrm rot="10800000">
            <a:off x="1379034" y="2350607"/>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a:extLst>
              <a:ext uri="{FF2B5EF4-FFF2-40B4-BE49-F238E27FC236}">
                <a16:creationId xmlns:a16="http://schemas.microsoft.com/office/drawing/2014/main" id="{8AD63044-2421-A2B4-4A05-334FE5CE77CC}"/>
              </a:ext>
            </a:extLst>
          </p:cNvPr>
          <p:cNvSpPr/>
          <p:nvPr/>
        </p:nvSpPr>
        <p:spPr>
          <a:xfrm rot="18473688">
            <a:off x="2811343" y="4316193"/>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854F257-0E0E-3AD8-3486-77A7D5A21326}"/>
              </a:ext>
            </a:extLst>
          </p:cNvPr>
          <p:cNvSpPr txBox="1"/>
          <p:nvPr/>
        </p:nvSpPr>
        <p:spPr>
          <a:xfrm>
            <a:off x="1720266" y="2616603"/>
            <a:ext cx="1725834" cy="369332"/>
          </a:xfrm>
          <a:prstGeom prst="rect">
            <a:avLst/>
          </a:prstGeom>
          <a:noFill/>
        </p:spPr>
        <p:txBody>
          <a:bodyPr wrap="square" rtlCol="0">
            <a:spAutoFit/>
          </a:bodyPr>
          <a:lstStyle/>
          <a:p>
            <a:r>
              <a:rPr lang="en-US" dirty="0">
                <a:solidFill>
                  <a:srgbClr val="FF0000"/>
                </a:solidFill>
              </a:rPr>
              <a:t>REJECT</a:t>
            </a:r>
          </a:p>
        </p:txBody>
      </p:sp>
      <p:sp>
        <p:nvSpPr>
          <p:cNvPr id="23" name="TextBox 22">
            <a:extLst>
              <a:ext uri="{FF2B5EF4-FFF2-40B4-BE49-F238E27FC236}">
                <a16:creationId xmlns:a16="http://schemas.microsoft.com/office/drawing/2014/main" id="{E2021E7B-E629-21B2-4517-B74138609F5C}"/>
              </a:ext>
            </a:extLst>
          </p:cNvPr>
          <p:cNvSpPr txBox="1"/>
          <p:nvPr/>
        </p:nvSpPr>
        <p:spPr>
          <a:xfrm>
            <a:off x="51483" y="4634299"/>
            <a:ext cx="1725834" cy="369332"/>
          </a:xfrm>
          <a:prstGeom prst="rect">
            <a:avLst/>
          </a:prstGeom>
          <a:noFill/>
        </p:spPr>
        <p:txBody>
          <a:bodyPr wrap="square" rtlCol="0">
            <a:spAutoFit/>
          </a:bodyPr>
          <a:lstStyle/>
          <a:p>
            <a:r>
              <a:rPr lang="en-US" dirty="0">
                <a:solidFill>
                  <a:srgbClr val="0070C0"/>
                </a:solidFill>
              </a:rPr>
              <a:t>RESUBMIT</a:t>
            </a:r>
          </a:p>
        </p:txBody>
      </p:sp>
      <p:sp>
        <p:nvSpPr>
          <p:cNvPr id="24" name="TextBox 23">
            <a:extLst>
              <a:ext uri="{FF2B5EF4-FFF2-40B4-BE49-F238E27FC236}">
                <a16:creationId xmlns:a16="http://schemas.microsoft.com/office/drawing/2014/main" id="{94C198FE-1600-CD58-CC99-6365E4E67C51}"/>
              </a:ext>
            </a:extLst>
          </p:cNvPr>
          <p:cNvSpPr txBox="1"/>
          <p:nvPr/>
        </p:nvSpPr>
        <p:spPr>
          <a:xfrm>
            <a:off x="2934840" y="4264967"/>
            <a:ext cx="1725834" cy="369332"/>
          </a:xfrm>
          <a:prstGeom prst="rect">
            <a:avLst/>
          </a:prstGeom>
          <a:noFill/>
        </p:spPr>
        <p:txBody>
          <a:bodyPr wrap="square" rtlCol="0">
            <a:spAutoFit/>
          </a:bodyPr>
          <a:lstStyle/>
          <a:p>
            <a:r>
              <a:rPr lang="en-US" dirty="0">
                <a:solidFill>
                  <a:srgbClr val="00B050"/>
                </a:solidFill>
              </a:rPr>
              <a:t>ACCEPT</a:t>
            </a:r>
          </a:p>
        </p:txBody>
      </p:sp>
      <p:sp>
        <p:nvSpPr>
          <p:cNvPr id="25" name="Left Brace 24">
            <a:extLst>
              <a:ext uri="{FF2B5EF4-FFF2-40B4-BE49-F238E27FC236}">
                <a16:creationId xmlns:a16="http://schemas.microsoft.com/office/drawing/2014/main" id="{CC706CA3-1AC0-BB34-0F6E-5C6EC38348DD}"/>
              </a:ext>
            </a:extLst>
          </p:cNvPr>
          <p:cNvSpPr/>
          <p:nvPr/>
        </p:nvSpPr>
        <p:spPr>
          <a:xfrm rot="5400000">
            <a:off x="2735706" y="-851102"/>
            <a:ext cx="398268" cy="3732315"/>
          </a:xfrm>
          <a:prstGeom prst="leftBrace">
            <a:avLst>
              <a:gd name="adj1" fmla="val 8333"/>
              <a:gd name="adj2" fmla="val 502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407C4BBD-EAEF-60C2-F17E-375A329B342A}"/>
              </a:ext>
            </a:extLst>
          </p:cNvPr>
          <p:cNvSpPr txBox="1"/>
          <p:nvPr/>
        </p:nvSpPr>
        <p:spPr>
          <a:xfrm>
            <a:off x="1206537" y="453931"/>
            <a:ext cx="3934090" cy="369332"/>
          </a:xfrm>
          <a:prstGeom prst="rect">
            <a:avLst/>
          </a:prstGeom>
          <a:noFill/>
        </p:spPr>
        <p:txBody>
          <a:bodyPr wrap="none" rtlCol="0">
            <a:spAutoFit/>
          </a:bodyPr>
          <a:lstStyle/>
          <a:p>
            <a:r>
              <a:rPr lang="en-US" dirty="0"/>
              <a:t>The Scientific Method (see week 1 ppts)</a:t>
            </a:r>
          </a:p>
        </p:txBody>
      </p:sp>
    </p:spTree>
    <p:extLst>
      <p:ext uri="{BB962C8B-B14F-4D97-AF65-F5344CB8AC3E}">
        <p14:creationId xmlns:p14="http://schemas.microsoft.com/office/powerpoint/2010/main" val="3989051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8D8972-4880-2F02-070E-C475F2EC35DF}"/>
              </a:ext>
            </a:extLst>
          </p:cNvPr>
          <p:cNvSpPr txBox="1"/>
          <p:nvPr/>
        </p:nvSpPr>
        <p:spPr>
          <a:xfrm>
            <a:off x="3657600" y="1518500"/>
            <a:ext cx="12954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Study</a:t>
            </a:r>
          </a:p>
        </p:txBody>
      </p:sp>
      <p:sp>
        <p:nvSpPr>
          <p:cNvPr id="3" name="TextBox 2">
            <a:extLst>
              <a:ext uri="{FF2B5EF4-FFF2-40B4-BE49-F238E27FC236}">
                <a16:creationId xmlns:a16="http://schemas.microsoft.com/office/drawing/2014/main" id="{01961CDF-413E-091C-6403-F783383D11A2}"/>
              </a:ext>
            </a:extLst>
          </p:cNvPr>
          <p:cNvSpPr txBox="1"/>
          <p:nvPr/>
        </p:nvSpPr>
        <p:spPr>
          <a:xfrm>
            <a:off x="914400" y="1518500"/>
            <a:ext cx="16764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Question</a:t>
            </a:r>
          </a:p>
        </p:txBody>
      </p:sp>
      <p:sp>
        <p:nvSpPr>
          <p:cNvPr id="4" name="TextBox 3">
            <a:extLst>
              <a:ext uri="{FF2B5EF4-FFF2-40B4-BE49-F238E27FC236}">
                <a16:creationId xmlns:a16="http://schemas.microsoft.com/office/drawing/2014/main" id="{32FA6F92-ABA6-C5E9-535C-27DA11733EFF}"/>
              </a:ext>
            </a:extLst>
          </p:cNvPr>
          <p:cNvSpPr txBox="1"/>
          <p:nvPr/>
        </p:nvSpPr>
        <p:spPr>
          <a:xfrm>
            <a:off x="6172200" y="1510625"/>
            <a:ext cx="18288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Manuscript</a:t>
            </a:r>
          </a:p>
        </p:txBody>
      </p:sp>
      <p:sp>
        <p:nvSpPr>
          <p:cNvPr id="5" name="TextBox 4">
            <a:extLst>
              <a:ext uri="{FF2B5EF4-FFF2-40B4-BE49-F238E27FC236}">
                <a16:creationId xmlns:a16="http://schemas.microsoft.com/office/drawing/2014/main" id="{0EA14926-2891-6283-9ADC-38060212BB12}"/>
              </a:ext>
            </a:extLst>
          </p:cNvPr>
          <p:cNvSpPr txBox="1"/>
          <p:nvPr/>
        </p:nvSpPr>
        <p:spPr>
          <a:xfrm>
            <a:off x="6324600" y="3581400"/>
            <a:ext cx="18288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Submit to Journal</a:t>
            </a:r>
          </a:p>
        </p:txBody>
      </p:sp>
      <p:sp>
        <p:nvSpPr>
          <p:cNvPr id="6" name="TextBox 5">
            <a:extLst>
              <a:ext uri="{FF2B5EF4-FFF2-40B4-BE49-F238E27FC236}">
                <a16:creationId xmlns:a16="http://schemas.microsoft.com/office/drawing/2014/main" id="{A3A5BBB6-44D7-028F-0285-0285223047EA}"/>
              </a:ext>
            </a:extLst>
          </p:cNvPr>
          <p:cNvSpPr txBox="1"/>
          <p:nvPr/>
        </p:nvSpPr>
        <p:spPr>
          <a:xfrm>
            <a:off x="3554634" y="3454051"/>
            <a:ext cx="1575483"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External Review</a:t>
            </a:r>
          </a:p>
        </p:txBody>
      </p:sp>
      <p:sp>
        <p:nvSpPr>
          <p:cNvPr id="7" name="TextBox 6">
            <a:extLst>
              <a:ext uri="{FF2B5EF4-FFF2-40B4-BE49-F238E27FC236}">
                <a16:creationId xmlns:a16="http://schemas.microsoft.com/office/drawing/2014/main" id="{8F4FC289-5626-7AAC-F803-0FBBF5FFE210}"/>
              </a:ext>
            </a:extLst>
          </p:cNvPr>
          <p:cNvSpPr txBox="1"/>
          <p:nvPr/>
        </p:nvSpPr>
        <p:spPr>
          <a:xfrm>
            <a:off x="609600" y="3455469"/>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Response FROM Editor</a:t>
            </a:r>
          </a:p>
        </p:txBody>
      </p:sp>
      <p:sp>
        <p:nvSpPr>
          <p:cNvPr id="8" name="TextBox 7">
            <a:extLst>
              <a:ext uri="{FF2B5EF4-FFF2-40B4-BE49-F238E27FC236}">
                <a16:creationId xmlns:a16="http://schemas.microsoft.com/office/drawing/2014/main" id="{7B10E7B1-5C29-278C-DE50-6D7C81623158}"/>
              </a:ext>
            </a:extLst>
          </p:cNvPr>
          <p:cNvSpPr txBox="1"/>
          <p:nvPr/>
        </p:nvSpPr>
        <p:spPr>
          <a:xfrm>
            <a:off x="609600" y="5410200"/>
            <a:ext cx="1828800" cy="646331"/>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Response TO Editor</a:t>
            </a:r>
          </a:p>
        </p:txBody>
      </p:sp>
      <p:sp>
        <p:nvSpPr>
          <p:cNvPr id="9" name="TextBox 8">
            <a:extLst>
              <a:ext uri="{FF2B5EF4-FFF2-40B4-BE49-F238E27FC236}">
                <a16:creationId xmlns:a16="http://schemas.microsoft.com/office/drawing/2014/main" id="{AAA41373-05C9-B21D-CE6B-75E11D60FD6B}"/>
              </a:ext>
            </a:extLst>
          </p:cNvPr>
          <p:cNvSpPr txBox="1"/>
          <p:nvPr/>
        </p:nvSpPr>
        <p:spPr>
          <a:xfrm>
            <a:off x="3505200" y="5422913"/>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Manuscript</a:t>
            </a:r>
          </a:p>
          <a:p>
            <a:pPr algn="ctr"/>
            <a:r>
              <a:rPr lang="en-US" dirty="0"/>
              <a:t>Accepted</a:t>
            </a:r>
          </a:p>
        </p:txBody>
      </p:sp>
      <p:sp>
        <p:nvSpPr>
          <p:cNvPr id="10" name="TextBox 9">
            <a:extLst>
              <a:ext uri="{FF2B5EF4-FFF2-40B4-BE49-F238E27FC236}">
                <a16:creationId xmlns:a16="http://schemas.microsoft.com/office/drawing/2014/main" id="{39F26A8A-BA84-02AE-1395-45027A72B586}"/>
              </a:ext>
            </a:extLst>
          </p:cNvPr>
          <p:cNvSpPr txBox="1"/>
          <p:nvPr/>
        </p:nvSpPr>
        <p:spPr>
          <a:xfrm>
            <a:off x="6705602" y="5422913"/>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Manuscript</a:t>
            </a:r>
          </a:p>
          <a:p>
            <a:pPr algn="ctr"/>
            <a:r>
              <a:rPr lang="en-US" dirty="0"/>
              <a:t>Published</a:t>
            </a:r>
          </a:p>
        </p:txBody>
      </p:sp>
      <p:sp>
        <p:nvSpPr>
          <p:cNvPr id="11" name="Down Arrow 10">
            <a:extLst>
              <a:ext uri="{FF2B5EF4-FFF2-40B4-BE49-F238E27FC236}">
                <a16:creationId xmlns:a16="http://schemas.microsoft.com/office/drawing/2014/main" id="{4736001D-C164-CD1A-2612-76CE4CD762C0}"/>
              </a:ext>
            </a:extLst>
          </p:cNvPr>
          <p:cNvSpPr/>
          <p:nvPr/>
        </p:nvSpPr>
        <p:spPr>
          <a:xfrm rot="16200000">
            <a:off x="2956932" y="1297449"/>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658AD5AF-7A0C-6EF5-70B6-054FFF4C91DB}"/>
              </a:ext>
            </a:extLst>
          </p:cNvPr>
          <p:cNvSpPr/>
          <p:nvPr/>
        </p:nvSpPr>
        <p:spPr>
          <a:xfrm rot="16200000">
            <a:off x="5319132" y="1297449"/>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C0F9DD98-7DAF-6EE4-1B93-B4E29EBDFFA6}"/>
              </a:ext>
            </a:extLst>
          </p:cNvPr>
          <p:cNvSpPr/>
          <p:nvPr/>
        </p:nvSpPr>
        <p:spPr>
          <a:xfrm>
            <a:off x="6934200" y="2326931"/>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7F0D451C-355B-27CB-8ECE-AEEDD80D6659}"/>
              </a:ext>
            </a:extLst>
          </p:cNvPr>
          <p:cNvSpPr/>
          <p:nvPr/>
        </p:nvSpPr>
        <p:spPr>
          <a:xfrm rot="5400000">
            <a:off x="5471532" y="3371500"/>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202F7B78-942A-1737-A2D5-01DCEB47F14C}"/>
              </a:ext>
            </a:extLst>
          </p:cNvPr>
          <p:cNvSpPr/>
          <p:nvPr/>
        </p:nvSpPr>
        <p:spPr>
          <a:xfrm rot="5400000">
            <a:off x="2844117" y="3371500"/>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FD39619F-CA7B-A814-C3D8-B1B7FB723120}"/>
              </a:ext>
            </a:extLst>
          </p:cNvPr>
          <p:cNvSpPr/>
          <p:nvPr/>
        </p:nvSpPr>
        <p:spPr>
          <a:xfrm>
            <a:off x="1371600" y="4413248"/>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a:extLst>
              <a:ext uri="{FF2B5EF4-FFF2-40B4-BE49-F238E27FC236}">
                <a16:creationId xmlns:a16="http://schemas.microsoft.com/office/drawing/2014/main" id="{E15818CE-C44B-93ED-E38E-14EA4F70033D}"/>
              </a:ext>
            </a:extLst>
          </p:cNvPr>
          <p:cNvSpPr/>
          <p:nvPr/>
        </p:nvSpPr>
        <p:spPr>
          <a:xfrm rot="16200000">
            <a:off x="2819400" y="5260886"/>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a:extLst>
              <a:ext uri="{FF2B5EF4-FFF2-40B4-BE49-F238E27FC236}">
                <a16:creationId xmlns:a16="http://schemas.microsoft.com/office/drawing/2014/main" id="{67FF2B1D-05E4-2516-37E1-EDD24C12DF12}"/>
              </a:ext>
            </a:extLst>
          </p:cNvPr>
          <p:cNvSpPr/>
          <p:nvPr/>
        </p:nvSpPr>
        <p:spPr>
          <a:xfrm rot="16200000">
            <a:off x="5877249" y="5241858"/>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a:extLst>
              <a:ext uri="{FF2B5EF4-FFF2-40B4-BE49-F238E27FC236}">
                <a16:creationId xmlns:a16="http://schemas.microsoft.com/office/drawing/2014/main" id="{5178436C-99D0-4D14-83FE-734CBDF09479}"/>
              </a:ext>
            </a:extLst>
          </p:cNvPr>
          <p:cNvSpPr/>
          <p:nvPr/>
        </p:nvSpPr>
        <p:spPr>
          <a:xfrm rot="10800000">
            <a:off x="1379034" y="2350607"/>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a:extLst>
              <a:ext uri="{FF2B5EF4-FFF2-40B4-BE49-F238E27FC236}">
                <a16:creationId xmlns:a16="http://schemas.microsoft.com/office/drawing/2014/main" id="{8AD63044-2421-A2B4-4A05-334FE5CE77CC}"/>
              </a:ext>
            </a:extLst>
          </p:cNvPr>
          <p:cNvSpPr/>
          <p:nvPr/>
        </p:nvSpPr>
        <p:spPr>
          <a:xfrm rot="18473688">
            <a:off x="2811343" y="4316193"/>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854F257-0E0E-3AD8-3486-77A7D5A21326}"/>
              </a:ext>
            </a:extLst>
          </p:cNvPr>
          <p:cNvSpPr txBox="1"/>
          <p:nvPr/>
        </p:nvSpPr>
        <p:spPr>
          <a:xfrm>
            <a:off x="1720266" y="2616603"/>
            <a:ext cx="1725834" cy="369332"/>
          </a:xfrm>
          <a:prstGeom prst="rect">
            <a:avLst/>
          </a:prstGeom>
          <a:noFill/>
        </p:spPr>
        <p:txBody>
          <a:bodyPr wrap="square" rtlCol="0">
            <a:spAutoFit/>
          </a:bodyPr>
          <a:lstStyle/>
          <a:p>
            <a:r>
              <a:rPr lang="en-US" dirty="0">
                <a:solidFill>
                  <a:srgbClr val="FF0000"/>
                </a:solidFill>
              </a:rPr>
              <a:t>REJECT</a:t>
            </a:r>
          </a:p>
        </p:txBody>
      </p:sp>
      <p:sp>
        <p:nvSpPr>
          <p:cNvPr id="23" name="TextBox 22">
            <a:extLst>
              <a:ext uri="{FF2B5EF4-FFF2-40B4-BE49-F238E27FC236}">
                <a16:creationId xmlns:a16="http://schemas.microsoft.com/office/drawing/2014/main" id="{E2021E7B-E629-21B2-4517-B74138609F5C}"/>
              </a:ext>
            </a:extLst>
          </p:cNvPr>
          <p:cNvSpPr txBox="1"/>
          <p:nvPr/>
        </p:nvSpPr>
        <p:spPr>
          <a:xfrm>
            <a:off x="51483" y="4634299"/>
            <a:ext cx="1725834" cy="369332"/>
          </a:xfrm>
          <a:prstGeom prst="rect">
            <a:avLst/>
          </a:prstGeom>
          <a:noFill/>
        </p:spPr>
        <p:txBody>
          <a:bodyPr wrap="square" rtlCol="0">
            <a:spAutoFit/>
          </a:bodyPr>
          <a:lstStyle/>
          <a:p>
            <a:r>
              <a:rPr lang="en-US" dirty="0">
                <a:solidFill>
                  <a:srgbClr val="0070C0"/>
                </a:solidFill>
              </a:rPr>
              <a:t>RESUBMIT</a:t>
            </a:r>
          </a:p>
        </p:txBody>
      </p:sp>
      <p:sp>
        <p:nvSpPr>
          <p:cNvPr id="24" name="TextBox 23">
            <a:extLst>
              <a:ext uri="{FF2B5EF4-FFF2-40B4-BE49-F238E27FC236}">
                <a16:creationId xmlns:a16="http://schemas.microsoft.com/office/drawing/2014/main" id="{94C198FE-1600-CD58-CC99-6365E4E67C51}"/>
              </a:ext>
            </a:extLst>
          </p:cNvPr>
          <p:cNvSpPr txBox="1"/>
          <p:nvPr/>
        </p:nvSpPr>
        <p:spPr>
          <a:xfrm>
            <a:off x="2934840" y="4264967"/>
            <a:ext cx="1725834" cy="369332"/>
          </a:xfrm>
          <a:prstGeom prst="rect">
            <a:avLst/>
          </a:prstGeom>
          <a:noFill/>
        </p:spPr>
        <p:txBody>
          <a:bodyPr wrap="square" rtlCol="0">
            <a:spAutoFit/>
          </a:bodyPr>
          <a:lstStyle/>
          <a:p>
            <a:r>
              <a:rPr lang="en-US" dirty="0">
                <a:solidFill>
                  <a:srgbClr val="00B050"/>
                </a:solidFill>
              </a:rPr>
              <a:t>ACCEPT</a:t>
            </a:r>
          </a:p>
        </p:txBody>
      </p:sp>
      <p:sp>
        <p:nvSpPr>
          <p:cNvPr id="25" name="Left Brace 24">
            <a:extLst>
              <a:ext uri="{FF2B5EF4-FFF2-40B4-BE49-F238E27FC236}">
                <a16:creationId xmlns:a16="http://schemas.microsoft.com/office/drawing/2014/main" id="{CC706CA3-1AC0-BB34-0F6E-5C6EC38348DD}"/>
              </a:ext>
            </a:extLst>
          </p:cNvPr>
          <p:cNvSpPr/>
          <p:nvPr/>
        </p:nvSpPr>
        <p:spPr>
          <a:xfrm rot="5400000">
            <a:off x="2735706" y="-851102"/>
            <a:ext cx="398268" cy="3732315"/>
          </a:xfrm>
          <a:prstGeom prst="leftBrace">
            <a:avLst>
              <a:gd name="adj1" fmla="val 8333"/>
              <a:gd name="adj2" fmla="val 502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407C4BBD-EAEF-60C2-F17E-375A329B342A}"/>
              </a:ext>
            </a:extLst>
          </p:cNvPr>
          <p:cNvSpPr txBox="1"/>
          <p:nvPr/>
        </p:nvSpPr>
        <p:spPr>
          <a:xfrm>
            <a:off x="1206537" y="453931"/>
            <a:ext cx="3934090" cy="369332"/>
          </a:xfrm>
          <a:prstGeom prst="rect">
            <a:avLst/>
          </a:prstGeom>
          <a:noFill/>
        </p:spPr>
        <p:txBody>
          <a:bodyPr wrap="none" rtlCol="0">
            <a:spAutoFit/>
          </a:bodyPr>
          <a:lstStyle/>
          <a:p>
            <a:r>
              <a:rPr lang="en-US" dirty="0"/>
              <a:t>The Scientific Method (see week 1 ppts)</a:t>
            </a:r>
          </a:p>
        </p:txBody>
      </p:sp>
      <p:sp>
        <p:nvSpPr>
          <p:cNvPr id="21" name="TextBox 20">
            <a:extLst>
              <a:ext uri="{FF2B5EF4-FFF2-40B4-BE49-F238E27FC236}">
                <a16:creationId xmlns:a16="http://schemas.microsoft.com/office/drawing/2014/main" id="{180A1D89-11EB-51AE-DBE7-C4AA26E93FE4}"/>
              </a:ext>
            </a:extLst>
          </p:cNvPr>
          <p:cNvSpPr txBox="1"/>
          <p:nvPr/>
        </p:nvSpPr>
        <p:spPr>
          <a:xfrm>
            <a:off x="5524500" y="346209"/>
            <a:ext cx="3429000" cy="954107"/>
          </a:xfrm>
          <a:prstGeom prst="rect">
            <a:avLst/>
          </a:prstGeom>
          <a:noFill/>
          <a:ln>
            <a:solidFill>
              <a:schemeClr val="tx1"/>
            </a:solidFill>
          </a:ln>
        </p:spPr>
        <p:txBody>
          <a:bodyPr wrap="square" rtlCol="0">
            <a:spAutoFit/>
          </a:bodyPr>
          <a:lstStyle/>
          <a:p>
            <a:pPr algn="ctr"/>
            <a:r>
              <a:rPr lang="en-US" sz="2800" dirty="0"/>
              <a:t>3 – 12 months (years if multiple journals)</a:t>
            </a:r>
          </a:p>
        </p:txBody>
      </p:sp>
    </p:spTree>
    <p:extLst>
      <p:ext uri="{BB962C8B-B14F-4D97-AF65-F5344CB8AC3E}">
        <p14:creationId xmlns:p14="http://schemas.microsoft.com/office/powerpoint/2010/main" val="1819865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4E2D2B-DF6E-194F-8941-FB02E94E4BC9}"/>
              </a:ext>
            </a:extLst>
          </p:cNvPr>
          <p:cNvSpPr txBox="1"/>
          <p:nvPr/>
        </p:nvSpPr>
        <p:spPr>
          <a:xfrm>
            <a:off x="381000" y="228600"/>
            <a:ext cx="7924800" cy="1569660"/>
          </a:xfrm>
          <a:prstGeom prst="rect">
            <a:avLst/>
          </a:prstGeom>
          <a:noFill/>
        </p:spPr>
        <p:txBody>
          <a:bodyPr wrap="square" rtlCol="0">
            <a:spAutoFit/>
          </a:bodyPr>
          <a:lstStyle/>
          <a:p>
            <a:r>
              <a:rPr lang="en-US" sz="3200" dirty="0">
                <a:solidFill>
                  <a:srgbClr val="C00000"/>
                </a:solidFill>
              </a:rPr>
              <a:t>How is science published?</a:t>
            </a:r>
          </a:p>
          <a:p>
            <a:endParaRPr lang="en-US" sz="3200" dirty="0">
              <a:solidFill>
                <a:srgbClr val="C00000"/>
              </a:solidFill>
            </a:endParaRPr>
          </a:p>
          <a:p>
            <a:r>
              <a:rPr lang="en-US" sz="3200" dirty="0"/>
              <a:t>An example from my post-doc’s experience:</a:t>
            </a:r>
          </a:p>
        </p:txBody>
      </p:sp>
      <p:pic>
        <p:nvPicPr>
          <p:cNvPr id="3" name="Picture 2" descr="A screenshot of a cell phone&#10;&#10;Description automatically generated">
            <a:extLst>
              <a:ext uri="{FF2B5EF4-FFF2-40B4-BE49-F238E27FC236}">
                <a16:creationId xmlns:a16="http://schemas.microsoft.com/office/drawing/2014/main" id="{C8FCAA01-E758-5985-7076-0A2E45DF1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028596"/>
            <a:ext cx="8839200" cy="4846989"/>
          </a:xfrm>
          <a:prstGeom prst="rect">
            <a:avLst/>
          </a:prstGeom>
        </p:spPr>
      </p:pic>
    </p:spTree>
    <p:extLst>
      <p:ext uri="{BB962C8B-B14F-4D97-AF65-F5344CB8AC3E}">
        <p14:creationId xmlns:p14="http://schemas.microsoft.com/office/powerpoint/2010/main" val="1283521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4E2D2B-DF6E-194F-8941-FB02E94E4BC9}"/>
              </a:ext>
            </a:extLst>
          </p:cNvPr>
          <p:cNvSpPr txBox="1"/>
          <p:nvPr/>
        </p:nvSpPr>
        <p:spPr>
          <a:xfrm>
            <a:off x="381000" y="228600"/>
            <a:ext cx="8686800" cy="1569660"/>
          </a:xfrm>
          <a:prstGeom prst="rect">
            <a:avLst/>
          </a:prstGeom>
          <a:noFill/>
        </p:spPr>
        <p:txBody>
          <a:bodyPr wrap="square" rtlCol="0">
            <a:spAutoFit/>
          </a:bodyPr>
          <a:lstStyle/>
          <a:p>
            <a:r>
              <a:rPr lang="en-US" sz="3200" dirty="0">
                <a:solidFill>
                  <a:srgbClr val="C00000"/>
                </a:solidFill>
              </a:rPr>
              <a:t>How is science published?</a:t>
            </a:r>
          </a:p>
          <a:p>
            <a:endParaRPr lang="en-US" sz="3200" dirty="0">
              <a:solidFill>
                <a:srgbClr val="C00000"/>
              </a:solidFill>
            </a:endParaRPr>
          </a:p>
          <a:p>
            <a:r>
              <a:rPr lang="en-US" sz="3200" dirty="0"/>
              <a:t>An example from my post-doc’s experience:</a:t>
            </a:r>
          </a:p>
        </p:txBody>
      </p:sp>
      <p:pic>
        <p:nvPicPr>
          <p:cNvPr id="3" name="Picture 2" descr="A picture containing knife&#10;&#10;Description automatically generated">
            <a:extLst>
              <a:ext uri="{FF2B5EF4-FFF2-40B4-BE49-F238E27FC236}">
                <a16:creationId xmlns:a16="http://schemas.microsoft.com/office/drawing/2014/main" id="{C18BFE5C-3409-0F89-6B52-682761F76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7" y="1709783"/>
            <a:ext cx="3505200" cy="1719217"/>
          </a:xfrm>
          <a:prstGeom prst="rect">
            <a:avLst/>
          </a:prstGeom>
        </p:spPr>
      </p:pic>
    </p:spTree>
    <p:extLst>
      <p:ext uri="{BB962C8B-B14F-4D97-AF65-F5344CB8AC3E}">
        <p14:creationId xmlns:p14="http://schemas.microsoft.com/office/powerpoint/2010/main" val="4190260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4E2D2B-DF6E-194F-8941-FB02E94E4BC9}"/>
              </a:ext>
            </a:extLst>
          </p:cNvPr>
          <p:cNvSpPr txBox="1"/>
          <p:nvPr/>
        </p:nvSpPr>
        <p:spPr>
          <a:xfrm>
            <a:off x="381000" y="228600"/>
            <a:ext cx="9296400" cy="1569660"/>
          </a:xfrm>
          <a:prstGeom prst="rect">
            <a:avLst/>
          </a:prstGeom>
          <a:noFill/>
        </p:spPr>
        <p:txBody>
          <a:bodyPr wrap="square" rtlCol="0">
            <a:spAutoFit/>
          </a:bodyPr>
          <a:lstStyle/>
          <a:p>
            <a:r>
              <a:rPr lang="en-US" sz="3200" dirty="0">
                <a:solidFill>
                  <a:srgbClr val="C00000"/>
                </a:solidFill>
              </a:rPr>
              <a:t>How is science published?</a:t>
            </a:r>
          </a:p>
          <a:p>
            <a:endParaRPr lang="en-US" sz="3200" dirty="0"/>
          </a:p>
          <a:p>
            <a:r>
              <a:rPr lang="en-US" sz="3200" dirty="0"/>
              <a:t>An example from my post-doc’s experience:</a:t>
            </a:r>
          </a:p>
        </p:txBody>
      </p:sp>
      <p:sp>
        <p:nvSpPr>
          <p:cNvPr id="3" name="TextBox 2">
            <a:extLst>
              <a:ext uri="{FF2B5EF4-FFF2-40B4-BE49-F238E27FC236}">
                <a16:creationId xmlns:a16="http://schemas.microsoft.com/office/drawing/2014/main" id="{2517BC47-B814-4D4D-9CA7-D7D25B583AE8}"/>
              </a:ext>
            </a:extLst>
          </p:cNvPr>
          <p:cNvSpPr txBox="1"/>
          <p:nvPr/>
        </p:nvSpPr>
        <p:spPr>
          <a:xfrm>
            <a:off x="214312" y="3336593"/>
            <a:ext cx="8877300" cy="3508653"/>
          </a:xfrm>
          <a:prstGeom prst="rect">
            <a:avLst/>
          </a:prstGeom>
          <a:noFill/>
        </p:spPr>
        <p:txBody>
          <a:bodyPr wrap="square" rtlCol="0">
            <a:spAutoFit/>
          </a:bodyPr>
          <a:lstStyle/>
          <a:p>
            <a:r>
              <a:rPr lang="en-US" sz="2400" b="1" dirty="0"/>
              <a:t>Behind the scenes, it took 1 year from final draft to published paper</a:t>
            </a:r>
          </a:p>
          <a:p>
            <a:pPr marL="342900" indent="-342900">
              <a:buFont typeface="Arial" panose="020B0604020202020204" pitchFamily="34" charset="0"/>
              <a:buChar char="•"/>
            </a:pPr>
            <a:r>
              <a:rPr lang="en-US" sz="2200" dirty="0"/>
              <a:t>October 2017: finished the “final” draft, submit </a:t>
            </a:r>
            <a:r>
              <a:rPr lang="en-US" sz="2200" i="1" dirty="0"/>
              <a:t>PNAS</a:t>
            </a:r>
          </a:p>
          <a:p>
            <a:pPr marL="342900" indent="-342900">
              <a:buFont typeface="Arial" panose="020B0604020202020204" pitchFamily="34" charset="0"/>
              <a:buChar char="•"/>
            </a:pPr>
            <a:r>
              <a:rPr lang="en-US" sz="2200" dirty="0"/>
              <a:t>November 2017: </a:t>
            </a:r>
            <a:r>
              <a:rPr lang="en-US" sz="2200" i="1" dirty="0"/>
              <a:t>PNAS</a:t>
            </a:r>
            <a:r>
              <a:rPr lang="en-US" sz="2200" dirty="0"/>
              <a:t> </a:t>
            </a:r>
            <a:r>
              <a:rPr lang="en-US" sz="2200" dirty="0">
                <a:solidFill>
                  <a:srgbClr val="FF0000"/>
                </a:solidFill>
              </a:rPr>
              <a:t>reject</a:t>
            </a:r>
            <a:r>
              <a:rPr lang="en-US" sz="2200" dirty="0"/>
              <a:t>, reformat + submit </a:t>
            </a:r>
            <a:r>
              <a:rPr lang="en-US" sz="2200" i="1" dirty="0" err="1"/>
              <a:t>PLoS</a:t>
            </a:r>
            <a:r>
              <a:rPr lang="en-US" sz="2200" i="1" dirty="0"/>
              <a:t> Biology. </a:t>
            </a:r>
          </a:p>
          <a:p>
            <a:pPr marL="1257300" lvl="2" indent="-342900">
              <a:buFont typeface="Arial" panose="020B0604020202020204" pitchFamily="34" charset="0"/>
              <a:buChar char="•"/>
            </a:pPr>
            <a:r>
              <a:rPr lang="en-US" sz="2200" dirty="0"/>
              <a:t>2 days later </a:t>
            </a:r>
            <a:r>
              <a:rPr lang="en-US" sz="2200" i="1" dirty="0" err="1"/>
              <a:t>PLoS</a:t>
            </a:r>
            <a:r>
              <a:rPr lang="en-US" sz="2200" i="1" dirty="0"/>
              <a:t> Biol </a:t>
            </a:r>
            <a:r>
              <a:rPr lang="en-US" sz="2200" dirty="0">
                <a:solidFill>
                  <a:srgbClr val="FF0000"/>
                </a:solidFill>
              </a:rPr>
              <a:t>reject</a:t>
            </a:r>
            <a:r>
              <a:rPr lang="en-US" sz="2200" dirty="0"/>
              <a:t>, reformat + submit to </a:t>
            </a:r>
            <a:r>
              <a:rPr lang="en-US" sz="2200" i="1" dirty="0"/>
              <a:t>Proc. B</a:t>
            </a:r>
          </a:p>
          <a:p>
            <a:pPr marL="342900" indent="-342900">
              <a:buFont typeface="Arial" panose="020B0604020202020204" pitchFamily="34" charset="0"/>
              <a:buChar char="•"/>
            </a:pPr>
            <a:r>
              <a:rPr lang="en-US" sz="2200" dirty="0"/>
              <a:t>March 2018: Decision: </a:t>
            </a:r>
            <a:r>
              <a:rPr lang="en-US" sz="2200" dirty="0">
                <a:solidFill>
                  <a:srgbClr val="FF0000"/>
                </a:solidFill>
              </a:rPr>
              <a:t>Reject</a:t>
            </a:r>
            <a:r>
              <a:rPr lang="en-US" sz="2200" dirty="0"/>
              <a:t> + resubmit</a:t>
            </a:r>
          </a:p>
          <a:p>
            <a:pPr marL="342900" indent="-342900">
              <a:buFont typeface="Arial" panose="020B0604020202020204" pitchFamily="34" charset="0"/>
              <a:buChar char="•"/>
            </a:pPr>
            <a:r>
              <a:rPr lang="en-US" sz="2200" dirty="0"/>
              <a:t>June 2018: revisions done, sent back to </a:t>
            </a:r>
            <a:r>
              <a:rPr lang="en-US" sz="2200" i="1" dirty="0"/>
              <a:t>Proc B</a:t>
            </a:r>
          </a:p>
          <a:p>
            <a:pPr marL="342900" indent="-342900">
              <a:buFont typeface="Arial" panose="020B0604020202020204" pitchFamily="34" charset="0"/>
              <a:buChar char="•"/>
            </a:pPr>
            <a:r>
              <a:rPr lang="en-US" sz="2200" dirty="0"/>
              <a:t>August 2018: Decision: Minor revisions</a:t>
            </a:r>
          </a:p>
          <a:p>
            <a:pPr marL="342900" indent="-342900">
              <a:buFont typeface="Arial" panose="020B0604020202020204" pitchFamily="34" charset="0"/>
              <a:buChar char="•"/>
            </a:pPr>
            <a:r>
              <a:rPr lang="en-US" sz="2200" dirty="0"/>
              <a:t>September 2018: revisions done, sent back to </a:t>
            </a:r>
            <a:r>
              <a:rPr lang="en-US" sz="2200" i="1" dirty="0"/>
              <a:t>Proc B</a:t>
            </a:r>
          </a:p>
          <a:p>
            <a:pPr marL="342900" indent="-342900">
              <a:buFont typeface="Arial" panose="020B0604020202020204" pitchFamily="34" charset="0"/>
              <a:buChar char="•"/>
            </a:pPr>
            <a:r>
              <a:rPr lang="en-US" sz="2200" dirty="0"/>
              <a:t>September 2018: </a:t>
            </a:r>
            <a:r>
              <a:rPr lang="en-US" sz="2200" dirty="0">
                <a:solidFill>
                  <a:srgbClr val="FF0000"/>
                </a:solidFill>
              </a:rPr>
              <a:t>Accept</a:t>
            </a:r>
            <a:r>
              <a:rPr lang="en-US" sz="2200" dirty="0"/>
              <a:t> as-is</a:t>
            </a:r>
          </a:p>
          <a:p>
            <a:pPr marL="342900" indent="-342900">
              <a:buFont typeface="Arial" panose="020B0604020202020204" pitchFamily="34" charset="0"/>
              <a:buChar char="•"/>
            </a:pPr>
            <a:r>
              <a:rPr lang="en-US" sz="2200" dirty="0"/>
              <a:t>October 2018: Paper comes out in journal</a:t>
            </a:r>
          </a:p>
        </p:txBody>
      </p:sp>
      <p:sp>
        <p:nvSpPr>
          <p:cNvPr id="4" name="TextBox 3">
            <a:extLst>
              <a:ext uri="{FF2B5EF4-FFF2-40B4-BE49-F238E27FC236}">
                <a16:creationId xmlns:a16="http://schemas.microsoft.com/office/drawing/2014/main" id="{21F92912-0444-7245-90BC-8129E643C700}"/>
              </a:ext>
            </a:extLst>
          </p:cNvPr>
          <p:cNvSpPr txBox="1"/>
          <p:nvPr/>
        </p:nvSpPr>
        <p:spPr>
          <a:xfrm>
            <a:off x="4838700" y="1719308"/>
            <a:ext cx="4305300" cy="1569660"/>
          </a:xfrm>
          <a:prstGeom prst="rect">
            <a:avLst/>
          </a:prstGeom>
          <a:noFill/>
        </p:spPr>
        <p:txBody>
          <a:bodyPr wrap="square" rtlCol="0">
            <a:spAutoFit/>
          </a:bodyPr>
          <a:lstStyle/>
          <a:p>
            <a:r>
              <a:rPr lang="en-US" sz="2400" dirty="0">
                <a:solidFill>
                  <a:srgbClr val="FF0000"/>
                </a:solidFill>
              </a:rPr>
              <a:t>Lessons: </a:t>
            </a:r>
          </a:p>
          <a:p>
            <a:pPr marL="342900" indent="-342900">
              <a:buFont typeface="+mj-lt"/>
              <a:buAutoNum type="arabicPeriod"/>
            </a:pPr>
            <a:r>
              <a:rPr lang="en-US" sz="2400" dirty="0">
                <a:solidFill>
                  <a:srgbClr val="FF0000"/>
                </a:solidFill>
              </a:rPr>
              <a:t>Publishing takes a long time</a:t>
            </a:r>
          </a:p>
          <a:p>
            <a:pPr marL="342900" indent="-342900">
              <a:buFont typeface="+mj-lt"/>
              <a:buAutoNum type="arabicPeriod"/>
            </a:pPr>
            <a:r>
              <a:rPr lang="en-US" sz="2400" dirty="0">
                <a:solidFill>
                  <a:srgbClr val="FF0000"/>
                </a:solidFill>
              </a:rPr>
              <a:t>Rejection is the NORM! </a:t>
            </a:r>
          </a:p>
          <a:p>
            <a:r>
              <a:rPr lang="en-US" sz="2400" dirty="0">
                <a:solidFill>
                  <a:srgbClr val="FF0000"/>
                </a:solidFill>
              </a:rPr>
              <a:t>	</a:t>
            </a:r>
            <a:r>
              <a:rPr lang="en-US" sz="1600" dirty="0">
                <a:solidFill>
                  <a:srgbClr val="FF0000"/>
                </a:solidFill>
              </a:rPr>
              <a:t>(cue 5 stages of grief)</a:t>
            </a:r>
          </a:p>
        </p:txBody>
      </p:sp>
      <p:pic>
        <p:nvPicPr>
          <p:cNvPr id="7" name="Picture 6" descr="A picture containing knife&#10;&#10;Description automatically generated">
            <a:extLst>
              <a:ext uri="{FF2B5EF4-FFF2-40B4-BE49-F238E27FC236}">
                <a16:creationId xmlns:a16="http://schemas.microsoft.com/office/drawing/2014/main" id="{A6C96386-7A5E-DAD7-1E8D-721EB67758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7" y="1709783"/>
            <a:ext cx="3505200" cy="1719217"/>
          </a:xfrm>
          <a:prstGeom prst="rect">
            <a:avLst/>
          </a:prstGeom>
        </p:spPr>
      </p:pic>
    </p:spTree>
    <p:extLst>
      <p:ext uri="{BB962C8B-B14F-4D97-AF65-F5344CB8AC3E}">
        <p14:creationId xmlns:p14="http://schemas.microsoft.com/office/powerpoint/2010/main" val="343371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8D11DA-FB4E-904F-8265-856946066252}"/>
              </a:ext>
            </a:extLst>
          </p:cNvPr>
          <p:cNvSpPr txBox="1"/>
          <p:nvPr/>
        </p:nvSpPr>
        <p:spPr>
          <a:xfrm>
            <a:off x="381000" y="228600"/>
            <a:ext cx="6019800" cy="1569660"/>
          </a:xfrm>
          <a:prstGeom prst="rect">
            <a:avLst/>
          </a:prstGeom>
          <a:noFill/>
        </p:spPr>
        <p:txBody>
          <a:bodyPr wrap="square" rtlCol="0">
            <a:spAutoFit/>
          </a:bodyPr>
          <a:lstStyle/>
          <a:p>
            <a:r>
              <a:rPr lang="en-US" sz="3200" dirty="0">
                <a:solidFill>
                  <a:srgbClr val="C00000"/>
                </a:solidFill>
              </a:rPr>
              <a:t>How is science published?</a:t>
            </a:r>
          </a:p>
          <a:p>
            <a:endParaRPr lang="en-US" sz="3200" dirty="0">
              <a:solidFill>
                <a:srgbClr val="C00000"/>
              </a:solidFill>
            </a:endParaRPr>
          </a:p>
          <a:p>
            <a:r>
              <a:rPr lang="en-US" sz="3200" dirty="0"/>
              <a:t>An example from my experience:</a:t>
            </a:r>
          </a:p>
        </p:txBody>
      </p:sp>
      <p:sp>
        <p:nvSpPr>
          <p:cNvPr id="5" name="TextBox 4">
            <a:extLst>
              <a:ext uri="{FF2B5EF4-FFF2-40B4-BE49-F238E27FC236}">
                <a16:creationId xmlns:a16="http://schemas.microsoft.com/office/drawing/2014/main" id="{0C8F3640-D400-5F41-A87E-B30585061725}"/>
              </a:ext>
            </a:extLst>
          </p:cNvPr>
          <p:cNvSpPr txBox="1"/>
          <p:nvPr/>
        </p:nvSpPr>
        <p:spPr>
          <a:xfrm>
            <a:off x="457200" y="1798260"/>
            <a:ext cx="586740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“Final draft” submitted to Systematic Biology – summer 2014</a:t>
            </a:r>
          </a:p>
          <a:p>
            <a:pPr marL="285750" indent="-285750">
              <a:buFont typeface="Arial" panose="020B0604020202020204" pitchFamily="34" charset="0"/>
              <a:buChar char="•"/>
            </a:pPr>
            <a:r>
              <a:rPr lang="en-US" dirty="0"/>
              <a:t>3 rejections in 3 different journals</a:t>
            </a:r>
          </a:p>
          <a:p>
            <a:pPr marL="285750" indent="-285750">
              <a:buFont typeface="Arial" panose="020B0604020202020204" pitchFamily="34" charset="0"/>
              <a:buChar char="•"/>
            </a:pPr>
            <a:r>
              <a:rPr lang="en-US" dirty="0"/>
              <a:t>2 additional rounds of revision in Molecular Phylogenetics and Evolution</a:t>
            </a:r>
          </a:p>
          <a:p>
            <a:pPr marL="285750" indent="-285750">
              <a:buFont typeface="Arial" panose="020B0604020202020204" pitchFamily="34" charset="0"/>
              <a:buChar char="•"/>
            </a:pPr>
            <a:r>
              <a:rPr lang="en-US" dirty="0"/>
              <a:t>Finally published in 2018</a:t>
            </a:r>
          </a:p>
          <a:p>
            <a:endParaRPr lang="en-US" dirty="0"/>
          </a:p>
          <a:p>
            <a:endParaRPr lang="en-US" dirty="0"/>
          </a:p>
        </p:txBody>
      </p:sp>
    </p:spTree>
    <p:extLst>
      <p:ext uri="{BB962C8B-B14F-4D97-AF65-F5344CB8AC3E}">
        <p14:creationId xmlns:p14="http://schemas.microsoft.com/office/powerpoint/2010/main" val="333051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B4F07F-9687-3C4A-B3DA-3AAFFC4A5E49}"/>
              </a:ext>
            </a:extLst>
          </p:cNvPr>
          <p:cNvPicPr>
            <a:picLocks noChangeAspect="1"/>
          </p:cNvPicPr>
          <p:nvPr/>
        </p:nvPicPr>
        <p:blipFill>
          <a:blip r:embed="rId2"/>
          <a:stretch>
            <a:fillRect/>
          </a:stretch>
        </p:blipFill>
        <p:spPr>
          <a:xfrm>
            <a:off x="1371599" y="3429000"/>
            <a:ext cx="6600697" cy="3260171"/>
          </a:xfrm>
          <a:prstGeom prst="rect">
            <a:avLst/>
          </a:prstGeom>
        </p:spPr>
      </p:pic>
      <p:sp>
        <p:nvSpPr>
          <p:cNvPr id="4" name="TextBox 3">
            <a:extLst>
              <a:ext uri="{FF2B5EF4-FFF2-40B4-BE49-F238E27FC236}">
                <a16:creationId xmlns:a16="http://schemas.microsoft.com/office/drawing/2014/main" id="{0E8D11DA-FB4E-904F-8265-856946066252}"/>
              </a:ext>
            </a:extLst>
          </p:cNvPr>
          <p:cNvSpPr txBox="1"/>
          <p:nvPr/>
        </p:nvSpPr>
        <p:spPr>
          <a:xfrm>
            <a:off x="381000" y="228600"/>
            <a:ext cx="6019800" cy="1569660"/>
          </a:xfrm>
          <a:prstGeom prst="rect">
            <a:avLst/>
          </a:prstGeom>
          <a:noFill/>
        </p:spPr>
        <p:txBody>
          <a:bodyPr wrap="square" rtlCol="0">
            <a:spAutoFit/>
          </a:bodyPr>
          <a:lstStyle/>
          <a:p>
            <a:r>
              <a:rPr lang="en-US" sz="3200" dirty="0">
                <a:solidFill>
                  <a:srgbClr val="C00000"/>
                </a:solidFill>
              </a:rPr>
              <a:t>How is science published?</a:t>
            </a:r>
          </a:p>
          <a:p>
            <a:endParaRPr lang="en-US" sz="3200" dirty="0">
              <a:solidFill>
                <a:srgbClr val="C00000"/>
              </a:solidFill>
            </a:endParaRPr>
          </a:p>
          <a:p>
            <a:r>
              <a:rPr lang="en-US" sz="3200" dirty="0"/>
              <a:t>An example from my experience:</a:t>
            </a:r>
          </a:p>
        </p:txBody>
      </p:sp>
      <p:sp>
        <p:nvSpPr>
          <p:cNvPr id="5" name="TextBox 4">
            <a:extLst>
              <a:ext uri="{FF2B5EF4-FFF2-40B4-BE49-F238E27FC236}">
                <a16:creationId xmlns:a16="http://schemas.microsoft.com/office/drawing/2014/main" id="{0C8F3640-D400-5F41-A87E-B30585061725}"/>
              </a:ext>
            </a:extLst>
          </p:cNvPr>
          <p:cNvSpPr txBox="1"/>
          <p:nvPr/>
        </p:nvSpPr>
        <p:spPr>
          <a:xfrm>
            <a:off x="457200" y="1798260"/>
            <a:ext cx="586740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“Final draft” submitted to Systematic Biology – summer 2014</a:t>
            </a:r>
          </a:p>
          <a:p>
            <a:pPr marL="285750" indent="-285750">
              <a:buFont typeface="Arial" panose="020B0604020202020204" pitchFamily="34" charset="0"/>
              <a:buChar char="•"/>
            </a:pPr>
            <a:r>
              <a:rPr lang="en-US" dirty="0"/>
              <a:t>3 rejections in 3 different journals</a:t>
            </a:r>
          </a:p>
          <a:p>
            <a:pPr marL="285750" indent="-285750">
              <a:buFont typeface="Arial" panose="020B0604020202020204" pitchFamily="34" charset="0"/>
              <a:buChar char="•"/>
            </a:pPr>
            <a:r>
              <a:rPr lang="en-US" dirty="0"/>
              <a:t>2 additional rounds of revision in Molecular Phylogenetics and Evolution</a:t>
            </a:r>
          </a:p>
          <a:p>
            <a:pPr marL="285750" indent="-285750">
              <a:buFont typeface="Arial" panose="020B0604020202020204" pitchFamily="34" charset="0"/>
              <a:buChar char="•"/>
            </a:pPr>
            <a:r>
              <a:rPr lang="en-US" dirty="0"/>
              <a:t>Finally published in 2018</a:t>
            </a:r>
          </a:p>
          <a:p>
            <a:endParaRPr lang="en-US" dirty="0"/>
          </a:p>
          <a:p>
            <a:endParaRPr lang="en-US" dirty="0"/>
          </a:p>
        </p:txBody>
      </p:sp>
    </p:spTree>
    <p:extLst>
      <p:ext uri="{BB962C8B-B14F-4D97-AF65-F5344CB8AC3E}">
        <p14:creationId xmlns:p14="http://schemas.microsoft.com/office/powerpoint/2010/main" val="3245066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8D8972-4880-2F02-070E-C475F2EC35DF}"/>
              </a:ext>
            </a:extLst>
          </p:cNvPr>
          <p:cNvSpPr txBox="1"/>
          <p:nvPr/>
        </p:nvSpPr>
        <p:spPr>
          <a:xfrm>
            <a:off x="3657600" y="1518500"/>
            <a:ext cx="12954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Study</a:t>
            </a:r>
          </a:p>
        </p:txBody>
      </p:sp>
      <p:sp>
        <p:nvSpPr>
          <p:cNvPr id="3" name="TextBox 2">
            <a:extLst>
              <a:ext uri="{FF2B5EF4-FFF2-40B4-BE49-F238E27FC236}">
                <a16:creationId xmlns:a16="http://schemas.microsoft.com/office/drawing/2014/main" id="{01961CDF-413E-091C-6403-F783383D11A2}"/>
              </a:ext>
            </a:extLst>
          </p:cNvPr>
          <p:cNvSpPr txBox="1"/>
          <p:nvPr/>
        </p:nvSpPr>
        <p:spPr>
          <a:xfrm>
            <a:off x="914400" y="1518500"/>
            <a:ext cx="16764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Question</a:t>
            </a:r>
          </a:p>
        </p:txBody>
      </p:sp>
      <p:sp>
        <p:nvSpPr>
          <p:cNvPr id="4" name="TextBox 3">
            <a:extLst>
              <a:ext uri="{FF2B5EF4-FFF2-40B4-BE49-F238E27FC236}">
                <a16:creationId xmlns:a16="http://schemas.microsoft.com/office/drawing/2014/main" id="{32FA6F92-ABA6-C5E9-535C-27DA11733EFF}"/>
              </a:ext>
            </a:extLst>
          </p:cNvPr>
          <p:cNvSpPr txBox="1"/>
          <p:nvPr/>
        </p:nvSpPr>
        <p:spPr>
          <a:xfrm>
            <a:off x="6172200" y="1510625"/>
            <a:ext cx="18288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The Manuscript</a:t>
            </a:r>
          </a:p>
        </p:txBody>
      </p:sp>
      <p:sp>
        <p:nvSpPr>
          <p:cNvPr id="5" name="TextBox 4">
            <a:extLst>
              <a:ext uri="{FF2B5EF4-FFF2-40B4-BE49-F238E27FC236}">
                <a16:creationId xmlns:a16="http://schemas.microsoft.com/office/drawing/2014/main" id="{0EA14926-2891-6283-9ADC-38060212BB12}"/>
              </a:ext>
            </a:extLst>
          </p:cNvPr>
          <p:cNvSpPr txBox="1"/>
          <p:nvPr/>
        </p:nvSpPr>
        <p:spPr>
          <a:xfrm>
            <a:off x="6324600" y="3581400"/>
            <a:ext cx="1828800" cy="369332"/>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Submit to Journal</a:t>
            </a:r>
          </a:p>
        </p:txBody>
      </p:sp>
      <p:sp>
        <p:nvSpPr>
          <p:cNvPr id="6" name="TextBox 5">
            <a:extLst>
              <a:ext uri="{FF2B5EF4-FFF2-40B4-BE49-F238E27FC236}">
                <a16:creationId xmlns:a16="http://schemas.microsoft.com/office/drawing/2014/main" id="{A3A5BBB6-44D7-028F-0285-0285223047EA}"/>
              </a:ext>
            </a:extLst>
          </p:cNvPr>
          <p:cNvSpPr txBox="1"/>
          <p:nvPr/>
        </p:nvSpPr>
        <p:spPr>
          <a:xfrm>
            <a:off x="3554634" y="3454051"/>
            <a:ext cx="1575483"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External Review</a:t>
            </a:r>
          </a:p>
        </p:txBody>
      </p:sp>
      <p:sp>
        <p:nvSpPr>
          <p:cNvPr id="7" name="TextBox 6">
            <a:extLst>
              <a:ext uri="{FF2B5EF4-FFF2-40B4-BE49-F238E27FC236}">
                <a16:creationId xmlns:a16="http://schemas.microsoft.com/office/drawing/2014/main" id="{8F4FC289-5626-7AAC-F803-0FBBF5FFE210}"/>
              </a:ext>
            </a:extLst>
          </p:cNvPr>
          <p:cNvSpPr txBox="1"/>
          <p:nvPr/>
        </p:nvSpPr>
        <p:spPr>
          <a:xfrm>
            <a:off x="609600" y="3455469"/>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Response FROM Editor</a:t>
            </a:r>
          </a:p>
        </p:txBody>
      </p:sp>
      <p:sp>
        <p:nvSpPr>
          <p:cNvPr id="8" name="TextBox 7">
            <a:extLst>
              <a:ext uri="{FF2B5EF4-FFF2-40B4-BE49-F238E27FC236}">
                <a16:creationId xmlns:a16="http://schemas.microsoft.com/office/drawing/2014/main" id="{7B10E7B1-5C29-278C-DE50-6D7C81623158}"/>
              </a:ext>
            </a:extLst>
          </p:cNvPr>
          <p:cNvSpPr txBox="1"/>
          <p:nvPr/>
        </p:nvSpPr>
        <p:spPr>
          <a:xfrm>
            <a:off x="609600" y="5410200"/>
            <a:ext cx="1828800" cy="646331"/>
          </a:xfrm>
          <a:prstGeom prst="rect">
            <a:avLst/>
          </a:prstGeom>
          <a:solidFill>
            <a:schemeClr val="accent1">
              <a:lumMod val="40000"/>
              <a:lumOff val="60000"/>
            </a:schemeClr>
          </a:solidFill>
          <a:ln w="19050">
            <a:solidFill>
              <a:schemeClr val="tx1"/>
            </a:solidFill>
          </a:ln>
        </p:spPr>
        <p:txBody>
          <a:bodyPr wrap="square" rtlCol="0">
            <a:spAutoFit/>
          </a:bodyPr>
          <a:lstStyle/>
          <a:p>
            <a:pPr algn="ctr"/>
            <a:r>
              <a:rPr lang="en-US" dirty="0"/>
              <a:t>Response TO Editor</a:t>
            </a:r>
          </a:p>
        </p:txBody>
      </p:sp>
      <p:sp>
        <p:nvSpPr>
          <p:cNvPr id="9" name="TextBox 8">
            <a:extLst>
              <a:ext uri="{FF2B5EF4-FFF2-40B4-BE49-F238E27FC236}">
                <a16:creationId xmlns:a16="http://schemas.microsoft.com/office/drawing/2014/main" id="{AAA41373-05C9-B21D-CE6B-75E11D60FD6B}"/>
              </a:ext>
            </a:extLst>
          </p:cNvPr>
          <p:cNvSpPr txBox="1"/>
          <p:nvPr/>
        </p:nvSpPr>
        <p:spPr>
          <a:xfrm>
            <a:off x="3505200" y="5422913"/>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Manuscript</a:t>
            </a:r>
          </a:p>
          <a:p>
            <a:pPr algn="ctr"/>
            <a:r>
              <a:rPr lang="en-US" dirty="0"/>
              <a:t>Accepted</a:t>
            </a:r>
          </a:p>
        </p:txBody>
      </p:sp>
      <p:sp>
        <p:nvSpPr>
          <p:cNvPr id="10" name="TextBox 9">
            <a:extLst>
              <a:ext uri="{FF2B5EF4-FFF2-40B4-BE49-F238E27FC236}">
                <a16:creationId xmlns:a16="http://schemas.microsoft.com/office/drawing/2014/main" id="{39F26A8A-BA84-02AE-1395-45027A72B586}"/>
              </a:ext>
            </a:extLst>
          </p:cNvPr>
          <p:cNvSpPr txBox="1"/>
          <p:nvPr/>
        </p:nvSpPr>
        <p:spPr>
          <a:xfrm>
            <a:off x="6705602" y="5422913"/>
            <a:ext cx="1828800" cy="646331"/>
          </a:xfrm>
          <a:prstGeom prst="rect">
            <a:avLst/>
          </a:prstGeom>
          <a:solidFill>
            <a:schemeClr val="accent6">
              <a:lumMod val="40000"/>
              <a:lumOff val="60000"/>
            </a:schemeClr>
          </a:solidFill>
          <a:ln w="19050">
            <a:solidFill>
              <a:schemeClr val="tx1"/>
            </a:solidFill>
          </a:ln>
        </p:spPr>
        <p:txBody>
          <a:bodyPr wrap="square" rtlCol="0">
            <a:spAutoFit/>
          </a:bodyPr>
          <a:lstStyle/>
          <a:p>
            <a:pPr algn="ctr"/>
            <a:r>
              <a:rPr lang="en-US" dirty="0"/>
              <a:t>Manuscript</a:t>
            </a:r>
          </a:p>
          <a:p>
            <a:pPr algn="ctr"/>
            <a:r>
              <a:rPr lang="en-US" dirty="0"/>
              <a:t>Published</a:t>
            </a:r>
          </a:p>
        </p:txBody>
      </p:sp>
      <p:sp>
        <p:nvSpPr>
          <p:cNvPr id="11" name="Down Arrow 10">
            <a:extLst>
              <a:ext uri="{FF2B5EF4-FFF2-40B4-BE49-F238E27FC236}">
                <a16:creationId xmlns:a16="http://schemas.microsoft.com/office/drawing/2014/main" id="{4736001D-C164-CD1A-2612-76CE4CD762C0}"/>
              </a:ext>
            </a:extLst>
          </p:cNvPr>
          <p:cNvSpPr/>
          <p:nvPr/>
        </p:nvSpPr>
        <p:spPr>
          <a:xfrm rot="16200000">
            <a:off x="2956932" y="1297449"/>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658AD5AF-7A0C-6EF5-70B6-054FFF4C91DB}"/>
              </a:ext>
            </a:extLst>
          </p:cNvPr>
          <p:cNvSpPr/>
          <p:nvPr/>
        </p:nvSpPr>
        <p:spPr>
          <a:xfrm rot="16200000">
            <a:off x="5319132" y="1297449"/>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C0F9DD98-7DAF-6EE4-1B93-B4E29EBDFFA6}"/>
              </a:ext>
            </a:extLst>
          </p:cNvPr>
          <p:cNvSpPr/>
          <p:nvPr/>
        </p:nvSpPr>
        <p:spPr>
          <a:xfrm>
            <a:off x="6934200" y="2326931"/>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7F0D451C-355B-27CB-8ECE-AEEDD80D6659}"/>
              </a:ext>
            </a:extLst>
          </p:cNvPr>
          <p:cNvSpPr/>
          <p:nvPr/>
        </p:nvSpPr>
        <p:spPr>
          <a:xfrm rot="5400000">
            <a:off x="5471532" y="3371500"/>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202F7B78-942A-1737-A2D5-01DCEB47F14C}"/>
              </a:ext>
            </a:extLst>
          </p:cNvPr>
          <p:cNvSpPr/>
          <p:nvPr/>
        </p:nvSpPr>
        <p:spPr>
          <a:xfrm rot="5400000">
            <a:off x="2844117" y="3371500"/>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FD39619F-CA7B-A814-C3D8-B1B7FB723120}"/>
              </a:ext>
            </a:extLst>
          </p:cNvPr>
          <p:cNvSpPr/>
          <p:nvPr/>
        </p:nvSpPr>
        <p:spPr>
          <a:xfrm>
            <a:off x="1371600" y="4413248"/>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a:extLst>
              <a:ext uri="{FF2B5EF4-FFF2-40B4-BE49-F238E27FC236}">
                <a16:creationId xmlns:a16="http://schemas.microsoft.com/office/drawing/2014/main" id="{E15818CE-C44B-93ED-E38E-14EA4F70033D}"/>
              </a:ext>
            </a:extLst>
          </p:cNvPr>
          <p:cNvSpPr/>
          <p:nvPr/>
        </p:nvSpPr>
        <p:spPr>
          <a:xfrm rot="16200000">
            <a:off x="2819400" y="5260886"/>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a:extLst>
              <a:ext uri="{FF2B5EF4-FFF2-40B4-BE49-F238E27FC236}">
                <a16:creationId xmlns:a16="http://schemas.microsoft.com/office/drawing/2014/main" id="{67FF2B1D-05E4-2516-37E1-EDD24C12DF12}"/>
              </a:ext>
            </a:extLst>
          </p:cNvPr>
          <p:cNvSpPr/>
          <p:nvPr/>
        </p:nvSpPr>
        <p:spPr>
          <a:xfrm rot="16200000">
            <a:off x="5877249" y="5241858"/>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a:extLst>
              <a:ext uri="{FF2B5EF4-FFF2-40B4-BE49-F238E27FC236}">
                <a16:creationId xmlns:a16="http://schemas.microsoft.com/office/drawing/2014/main" id="{5178436C-99D0-4D14-83FE-734CBDF09479}"/>
              </a:ext>
            </a:extLst>
          </p:cNvPr>
          <p:cNvSpPr/>
          <p:nvPr/>
        </p:nvSpPr>
        <p:spPr>
          <a:xfrm rot="10800000">
            <a:off x="1379034" y="2350607"/>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a:extLst>
              <a:ext uri="{FF2B5EF4-FFF2-40B4-BE49-F238E27FC236}">
                <a16:creationId xmlns:a16="http://schemas.microsoft.com/office/drawing/2014/main" id="{8AD63044-2421-A2B4-4A05-334FE5CE77CC}"/>
              </a:ext>
            </a:extLst>
          </p:cNvPr>
          <p:cNvSpPr/>
          <p:nvPr/>
        </p:nvSpPr>
        <p:spPr>
          <a:xfrm rot="18473688">
            <a:off x="2811343" y="4316193"/>
            <a:ext cx="304800" cy="8114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854F257-0E0E-3AD8-3486-77A7D5A21326}"/>
              </a:ext>
            </a:extLst>
          </p:cNvPr>
          <p:cNvSpPr txBox="1"/>
          <p:nvPr/>
        </p:nvSpPr>
        <p:spPr>
          <a:xfrm>
            <a:off x="1720266" y="2616603"/>
            <a:ext cx="1725834" cy="369332"/>
          </a:xfrm>
          <a:prstGeom prst="rect">
            <a:avLst/>
          </a:prstGeom>
          <a:noFill/>
        </p:spPr>
        <p:txBody>
          <a:bodyPr wrap="square" rtlCol="0">
            <a:spAutoFit/>
          </a:bodyPr>
          <a:lstStyle/>
          <a:p>
            <a:r>
              <a:rPr lang="en-US" dirty="0">
                <a:solidFill>
                  <a:srgbClr val="FF0000"/>
                </a:solidFill>
              </a:rPr>
              <a:t>REJECT</a:t>
            </a:r>
          </a:p>
        </p:txBody>
      </p:sp>
      <p:sp>
        <p:nvSpPr>
          <p:cNvPr id="23" name="TextBox 22">
            <a:extLst>
              <a:ext uri="{FF2B5EF4-FFF2-40B4-BE49-F238E27FC236}">
                <a16:creationId xmlns:a16="http://schemas.microsoft.com/office/drawing/2014/main" id="{E2021E7B-E629-21B2-4517-B74138609F5C}"/>
              </a:ext>
            </a:extLst>
          </p:cNvPr>
          <p:cNvSpPr txBox="1"/>
          <p:nvPr/>
        </p:nvSpPr>
        <p:spPr>
          <a:xfrm>
            <a:off x="51483" y="4634299"/>
            <a:ext cx="1725834" cy="369332"/>
          </a:xfrm>
          <a:prstGeom prst="rect">
            <a:avLst/>
          </a:prstGeom>
          <a:noFill/>
        </p:spPr>
        <p:txBody>
          <a:bodyPr wrap="square" rtlCol="0">
            <a:spAutoFit/>
          </a:bodyPr>
          <a:lstStyle/>
          <a:p>
            <a:r>
              <a:rPr lang="en-US" dirty="0">
                <a:solidFill>
                  <a:srgbClr val="0070C0"/>
                </a:solidFill>
              </a:rPr>
              <a:t>RESUBMIT</a:t>
            </a:r>
          </a:p>
        </p:txBody>
      </p:sp>
      <p:sp>
        <p:nvSpPr>
          <p:cNvPr id="24" name="TextBox 23">
            <a:extLst>
              <a:ext uri="{FF2B5EF4-FFF2-40B4-BE49-F238E27FC236}">
                <a16:creationId xmlns:a16="http://schemas.microsoft.com/office/drawing/2014/main" id="{94C198FE-1600-CD58-CC99-6365E4E67C51}"/>
              </a:ext>
            </a:extLst>
          </p:cNvPr>
          <p:cNvSpPr txBox="1"/>
          <p:nvPr/>
        </p:nvSpPr>
        <p:spPr>
          <a:xfrm>
            <a:off x="2934840" y="4264967"/>
            <a:ext cx="1725834" cy="369332"/>
          </a:xfrm>
          <a:prstGeom prst="rect">
            <a:avLst/>
          </a:prstGeom>
          <a:noFill/>
        </p:spPr>
        <p:txBody>
          <a:bodyPr wrap="square" rtlCol="0">
            <a:spAutoFit/>
          </a:bodyPr>
          <a:lstStyle/>
          <a:p>
            <a:r>
              <a:rPr lang="en-US" dirty="0">
                <a:solidFill>
                  <a:srgbClr val="00B050"/>
                </a:solidFill>
              </a:rPr>
              <a:t>ACCEPT</a:t>
            </a:r>
          </a:p>
        </p:txBody>
      </p:sp>
      <p:sp>
        <p:nvSpPr>
          <p:cNvPr id="25" name="Left Brace 24">
            <a:extLst>
              <a:ext uri="{FF2B5EF4-FFF2-40B4-BE49-F238E27FC236}">
                <a16:creationId xmlns:a16="http://schemas.microsoft.com/office/drawing/2014/main" id="{CC706CA3-1AC0-BB34-0F6E-5C6EC38348DD}"/>
              </a:ext>
            </a:extLst>
          </p:cNvPr>
          <p:cNvSpPr/>
          <p:nvPr/>
        </p:nvSpPr>
        <p:spPr>
          <a:xfrm rot="5400000">
            <a:off x="2735706" y="-851102"/>
            <a:ext cx="398268" cy="3732315"/>
          </a:xfrm>
          <a:prstGeom prst="leftBrace">
            <a:avLst>
              <a:gd name="adj1" fmla="val 8333"/>
              <a:gd name="adj2" fmla="val 502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407C4BBD-EAEF-60C2-F17E-375A329B342A}"/>
              </a:ext>
            </a:extLst>
          </p:cNvPr>
          <p:cNvSpPr txBox="1"/>
          <p:nvPr/>
        </p:nvSpPr>
        <p:spPr>
          <a:xfrm>
            <a:off x="1206537" y="453931"/>
            <a:ext cx="3934090" cy="369332"/>
          </a:xfrm>
          <a:prstGeom prst="rect">
            <a:avLst/>
          </a:prstGeom>
          <a:noFill/>
        </p:spPr>
        <p:txBody>
          <a:bodyPr wrap="none" rtlCol="0">
            <a:spAutoFit/>
          </a:bodyPr>
          <a:lstStyle/>
          <a:p>
            <a:r>
              <a:rPr lang="en-US" dirty="0"/>
              <a:t>The Scientific Method (see week 1 ppts)</a:t>
            </a:r>
          </a:p>
        </p:txBody>
      </p:sp>
    </p:spTree>
    <p:extLst>
      <p:ext uri="{BB962C8B-B14F-4D97-AF65-F5344CB8AC3E}">
        <p14:creationId xmlns:p14="http://schemas.microsoft.com/office/powerpoint/2010/main" val="1256900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533400"/>
            <a:ext cx="7772400" cy="3908762"/>
          </a:xfrm>
          <a:prstGeom prst="rect">
            <a:avLst/>
          </a:prstGeom>
          <a:noFill/>
        </p:spPr>
        <p:txBody>
          <a:bodyPr wrap="square" rtlCol="0">
            <a:spAutoFit/>
          </a:bodyPr>
          <a:lstStyle/>
          <a:p>
            <a:r>
              <a:rPr lang="en-US" sz="3200" dirty="0">
                <a:solidFill>
                  <a:srgbClr val="C00000"/>
                </a:solidFill>
              </a:rPr>
              <a:t>Class activity 1:  </a:t>
            </a:r>
          </a:p>
          <a:p>
            <a:endParaRPr lang="en-US" sz="3200" dirty="0">
              <a:solidFill>
                <a:srgbClr val="C00000"/>
              </a:solidFill>
            </a:endParaRPr>
          </a:p>
          <a:p>
            <a:r>
              <a:rPr lang="en-US" sz="2800" dirty="0"/>
              <a:t>We will look at the names of selected journals and you will indicate whether you would regard them as </a:t>
            </a:r>
          </a:p>
          <a:p>
            <a:pPr algn="ctr"/>
            <a:endParaRPr lang="en-US" sz="3200" b="1" dirty="0">
              <a:solidFill>
                <a:srgbClr val="FF0000"/>
              </a:solidFill>
            </a:endParaRPr>
          </a:p>
          <a:p>
            <a:pPr marL="342900" indent="-342900">
              <a:buAutoNum type="arabicParenR"/>
            </a:pPr>
            <a:r>
              <a:rPr lang="en-US" sz="3200" dirty="0"/>
              <a:t>  likely to read</a:t>
            </a:r>
          </a:p>
          <a:p>
            <a:pPr marL="342900" indent="-342900">
              <a:buAutoNum type="arabicParenR"/>
            </a:pPr>
            <a:r>
              <a:rPr lang="en-US" sz="3200" dirty="0"/>
              <a:t>  might read if I had time</a:t>
            </a:r>
          </a:p>
          <a:p>
            <a:pPr marL="342900" indent="-342900">
              <a:buAutoNum type="arabicParenR"/>
            </a:pPr>
            <a:r>
              <a:rPr lang="en-US" sz="3200" dirty="0"/>
              <a:t>  not likely to read</a:t>
            </a:r>
          </a:p>
        </p:txBody>
      </p:sp>
      <p:sp>
        <p:nvSpPr>
          <p:cNvPr id="4" name="TextBox 3"/>
          <p:cNvSpPr txBox="1"/>
          <p:nvPr/>
        </p:nvSpPr>
        <p:spPr>
          <a:xfrm>
            <a:off x="609600" y="4972942"/>
            <a:ext cx="7772400" cy="1384995"/>
          </a:xfrm>
          <a:prstGeom prst="rect">
            <a:avLst/>
          </a:prstGeom>
          <a:noFill/>
        </p:spPr>
        <p:txBody>
          <a:bodyPr wrap="square" rtlCol="0">
            <a:spAutoFit/>
          </a:bodyPr>
          <a:lstStyle/>
          <a:p>
            <a:r>
              <a:rPr lang="en-US" sz="2800" b="1" dirty="0"/>
              <a:t>Remember, we are all busy and no one can read everything.  There are 12 journals, so you must choose </a:t>
            </a:r>
            <a:r>
              <a:rPr lang="en-US" sz="2800" b="1" dirty="0">
                <a:solidFill>
                  <a:srgbClr val="C00000"/>
                </a:solidFill>
              </a:rPr>
              <a:t>4 to read, 4 “maybes” and 4 that you’d skip.  </a:t>
            </a:r>
          </a:p>
        </p:txBody>
      </p:sp>
    </p:spTree>
    <p:extLst>
      <p:ext uri="{BB962C8B-B14F-4D97-AF65-F5344CB8AC3E}">
        <p14:creationId xmlns:p14="http://schemas.microsoft.com/office/powerpoint/2010/main" val="1820954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7364" y="685800"/>
            <a:ext cx="8001000" cy="5632311"/>
          </a:xfrm>
          <a:prstGeom prst="rect">
            <a:avLst/>
          </a:prstGeom>
          <a:noFill/>
        </p:spPr>
        <p:txBody>
          <a:bodyPr wrap="square" rtlCol="0">
            <a:spAutoFit/>
          </a:bodyPr>
          <a:lstStyle/>
          <a:p>
            <a:r>
              <a:rPr lang="en-US" sz="2400" b="1" dirty="0"/>
              <a:t>				</a:t>
            </a:r>
            <a:r>
              <a:rPr lang="en-US" sz="2400" b="1" dirty="0">
                <a:solidFill>
                  <a:srgbClr val="FF0000"/>
                </a:solidFill>
              </a:rPr>
              <a:t>Would you read this journal:</a:t>
            </a:r>
          </a:p>
          <a:p>
            <a:r>
              <a:rPr lang="en-US" sz="2400" b="1" u="sng" dirty="0"/>
              <a:t>Journal title			      Yes          Maybe	Not Likely</a:t>
            </a:r>
          </a:p>
          <a:p>
            <a:r>
              <a:rPr lang="en-US" sz="2400" dirty="0"/>
              <a:t>Marine Biology</a:t>
            </a:r>
          </a:p>
          <a:p>
            <a:r>
              <a:rPr lang="en-US" sz="2400" dirty="0"/>
              <a:t>Freshwater Biology</a:t>
            </a:r>
          </a:p>
          <a:p>
            <a:r>
              <a:rPr lang="en-US" sz="2400" dirty="0"/>
              <a:t>Animal </a:t>
            </a:r>
            <a:r>
              <a:rPr lang="en-US" sz="2400" dirty="0" err="1"/>
              <a:t>Behaviour</a:t>
            </a:r>
            <a:endParaRPr lang="en-US" sz="2400" dirty="0"/>
          </a:p>
          <a:p>
            <a:r>
              <a:rPr lang="en-US" sz="2400" dirty="0"/>
              <a:t>Ecological Modeling </a:t>
            </a:r>
          </a:p>
          <a:p>
            <a:r>
              <a:rPr lang="en-US" sz="2400" dirty="0"/>
              <a:t>Ecology</a:t>
            </a:r>
          </a:p>
          <a:p>
            <a:r>
              <a:rPr lang="en-US" sz="2400" dirty="0"/>
              <a:t>Molecular Ecology</a:t>
            </a:r>
          </a:p>
          <a:p>
            <a:r>
              <a:rPr lang="en-US" sz="2400" dirty="0"/>
              <a:t>Journal of Fish Biology</a:t>
            </a:r>
          </a:p>
          <a:p>
            <a:r>
              <a:rPr lang="en-US" sz="2400" dirty="0"/>
              <a:t>Journal of Crustacean Biology</a:t>
            </a:r>
          </a:p>
          <a:p>
            <a:r>
              <a:rPr lang="en-US" sz="2400" dirty="0"/>
              <a:t>Journal of Fish Diseases</a:t>
            </a:r>
          </a:p>
          <a:p>
            <a:r>
              <a:rPr lang="en-US" sz="2400" dirty="0"/>
              <a:t>Science</a:t>
            </a:r>
          </a:p>
          <a:p>
            <a:r>
              <a:rPr lang="en-US" sz="2400" dirty="0"/>
              <a:t>Canadian Journal of Zoology</a:t>
            </a:r>
          </a:p>
          <a:p>
            <a:r>
              <a:rPr lang="en-US" sz="2400" dirty="0"/>
              <a:t>Canadian Journal of Fisheries</a:t>
            </a:r>
          </a:p>
          <a:p>
            <a:r>
              <a:rPr lang="en-US" sz="2400" dirty="0"/>
              <a:t>	and Aquatic Sciences</a:t>
            </a:r>
          </a:p>
        </p:txBody>
      </p:sp>
      <p:cxnSp>
        <p:nvCxnSpPr>
          <p:cNvPr id="4" name="Straight Connector 3"/>
          <p:cNvCxnSpPr>
            <a:cxnSpLocks/>
          </p:cNvCxnSpPr>
          <p:nvPr/>
        </p:nvCxnSpPr>
        <p:spPr>
          <a:xfrm>
            <a:off x="4343400" y="1143000"/>
            <a:ext cx="76296" cy="518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6858000" y="1143000"/>
            <a:ext cx="76200" cy="51751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486400" y="1143000"/>
            <a:ext cx="76200" cy="51751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305800" y="1143000"/>
            <a:ext cx="76200" cy="51751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27364" y="18288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33400" y="22098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33400" y="44196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33400" y="40386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33400" y="25908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33400" y="29718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3400" y="32766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33400" y="36576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33400" y="48006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33400" y="51054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33400" y="54864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33400" y="6324600"/>
            <a:ext cx="7816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4727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152400"/>
            <a:ext cx="8305800" cy="461665"/>
          </a:xfrm>
          <a:prstGeom prst="rect">
            <a:avLst/>
          </a:prstGeom>
          <a:noFill/>
        </p:spPr>
        <p:txBody>
          <a:bodyPr wrap="square" rtlCol="0">
            <a:spAutoFit/>
          </a:bodyPr>
          <a:lstStyle/>
          <a:p>
            <a:pPr algn="ctr"/>
            <a:r>
              <a:rPr lang="en-US" sz="2400" b="1" dirty="0">
                <a:solidFill>
                  <a:srgbClr val="C00000"/>
                </a:solidFill>
              </a:rPr>
              <a:t>Journals in which SAFS faculty published in 2002–2012</a:t>
            </a:r>
          </a:p>
        </p:txBody>
      </p:sp>
      <p:graphicFrame>
        <p:nvGraphicFramePr>
          <p:cNvPr id="2" name="Table 1">
            <a:extLst>
              <a:ext uri="{FF2B5EF4-FFF2-40B4-BE49-F238E27FC236}">
                <a16:creationId xmlns:a16="http://schemas.microsoft.com/office/drawing/2014/main" id="{27DC8284-D1A8-E779-33D4-485F843AA4E1}"/>
              </a:ext>
            </a:extLst>
          </p:cNvPr>
          <p:cNvGraphicFramePr>
            <a:graphicFrameLocks noGrp="1"/>
          </p:cNvGraphicFramePr>
          <p:nvPr>
            <p:extLst>
              <p:ext uri="{D42A27DB-BD31-4B8C-83A1-F6EECF244321}">
                <p14:modId xmlns:p14="http://schemas.microsoft.com/office/powerpoint/2010/main" val="1840620501"/>
              </p:ext>
            </p:extLst>
          </p:nvPr>
        </p:nvGraphicFramePr>
        <p:xfrm>
          <a:off x="685801" y="838200"/>
          <a:ext cx="8001000" cy="5883543"/>
        </p:xfrm>
        <a:graphic>
          <a:graphicData uri="http://schemas.openxmlformats.org/drawingml/2006/table">
            <a:tbl>
              <a:tblPr/>
              <a:tblGrid>
                <a:gridCol w="4228935">
                  <a:extLst>
                    <a:ext uri="{9D8B030D-6E8A-4147-A177-3AD203B41FA5}">
                      <a16:colId xmlns:a16="http://schemas.microsoft.com/office/drawing/2014/main" val="703049257"/>
                    </a:ext>
                  </a:extLst>
                </a:gridCol>
                <a:gridCol w="985495">
                  <a:extLst>
                    <a:ext uri="{9D8B030D-6E8A-4147-A177-3AD203B41FA5}">
                      <a16:colId xmlns:a16="http://schemas.microsoft.com/office/drawing/2014/main" val="1626253618"/>
                    </a:ext>
                  </a:extLst>
                </a:gridCol>
                <a:gridCol w="1801075">
                  <a:extLst>
                    <a:ext uri="{9D8B030D-6E8A-4147-A177-3AD203B41FA5}">
                      <a16:colId xmlns:a16="http://schemas.microsoft.com/office/drawing/2014/main" val="2420040324"/>
                    </a:ext>
                  </a:extLst>
                </a:gridCol>
                <a:gridCol w="985495">
                  <a:extLst>
                    <a:ext uri="{9D8B030D-6E8A-4147-A177-3AD203B41FA5}">
                      <a16:colId xmlns:a16="http://schemas.microsoft.com/office/drawing/2014/main" val="1274589824"/>
                    </a:ext>
                  </a:extLst>
                </a:gridCol>
              </a:tblGrid>
              <a:tr h="149273">
                <a:tc>
                  <a:txBody>
                    <a:bodyPr/>
                    <a:lstStyle/>
                    <a:p>
                      <a:pPr algn="l" fontAlgn="b"/>
                      <a:r>
                        <a:rPr lang="en-US" sz="1050" b="0" i="0" u="none" strike="noStrike">
                          <a:solidFill>
                            <a:srgbClr val="000000"/>
                          </a:solidFill>
                          <a:effectLst/>
                          <a:latin typeface="Aptos Narrow" panose="020B0004020202020204" pitchFamily="34" charset="0"/>
                        </a:rPr>
                        <a:t>2002-2012</a:t>
                      </a:r>
                    </a:p>
                  </a:txBody>
                  <a:tcPr marL="5397" marR="5397" marT="5397" marB="0" anchor="b">
                    <a:lnL>
                      <a:noFill/>
                    </a:lnL>
                    <a:lnR>
                      <a:noFill/>
                    </a:lnR>
                    <a:lnT>
                      <a:noFill/>
                    </a:lnT>
                    <a:lnB>
                      <a:noFill/>
                    </a:lnB>
                    <a:noFill/>
                  </a:tcPr>
                </a:tc>
                <a:tc>
                  <a:txBody>
                    <a:bodyPr/>
                    <a:lstStyle/>
                    <a:p>
                      <a:pPr algn="l" fontAlgn="b"/>
                      <a:endParaRPr lang="en-US" sz="1050" b="0" i="0" u="none" strike="noStrike">
                        <a:solidFill>
                          <a:srgbClr val="000000"/>
                        </a:solidFill>
                        <a:effectLst/>
                        <a:latin typeface="Aptos Narrow" panose="020B0004020202020204" pitchFamily="34" charset="0"/>
                      </a:endParaRPr>
                    </a:p>
                  </a:txBody>
                  <a:tcPr marL="5397" marR="5397" marT="5397" marB="0" anchor="b">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2013-2023</a:t>
                      </a:r>
                    </a:p>
                  </a:txBody>
                  <a:tcPr marL="5397" marR="5397" marT="5397" marB="0" anchor="b">
                    <a:lnL>
                      <a:noFill/>
                    </a:lnL>
                    <a:lnR>
                      <a:noFill/>
                    </a:lnR>
                    <a:lnT>
                      <a:noFill/>
                    </a:lnT>
                    <a:lnB>
                      <a:noFill/>
                    </a:lnB>
                    <a:noFill/>
                  </a:tcPr>
                </a:tc>
                <a:tc>
                  <a:txBody>
                    <a:bodyPr/>
                    <a:lstStyle/>
                    <a:p>
                      <a:pPr algn="l" fontAlgn="b"/>
                      <a:endParaRPr lang="en-US" sz="1050" b="0" i="0" u="none" strike="noStrike">
                        <a:solidFill>
                          <a:srgbClr val="000000"/>
                        </a:solidFill>
                        <a:effectLst/>
                        <a:latin typeface="Aptos Narrow" panose="020B0004020202020204" pitchFamily="34" charset="0"/>
                      </a:endParaRPr>
                    </a:p>
                  </a:txBody>
                  <a:tcPr marL="5397" marR="5397" marT="5397" marB="0" anchor="b">
                    <a:lnL>
                      <a:noFill/>
                    </a:lnL>
                    <a:lnR>
                      <a:noFill/>
                    </a:lnR>
                    <a:lnT>
                      <a:noFill/>
                    </a:lnT>
                    <a:lnB>
                      <a:noFill/>
                    </a:lnB>
                    <a:noFill/>
                  </a:tcPr>
                </a:tc>
                <a:extLst>
                  <a:ext uri="{0D108BD9-81ED-4DB2-BD59-A6C34878D82A}">
                    <a16:rowId xmlns:a16="http://schemas.microsoft.com/office/drawing/2014/main" val="2021112178"/>
                  </a:ext>
                </a:extLst>
              </a:tr>
              <a:tr h="365255">
                <a:tc>
                  <a:txBody>
                    <a:bodyPr/>
                    <a:lstStyle/>
                    <a:p>
                      <a:pPr algn="l" rtl="0" fontAlgn="ctr"/>
                      <a:r>
                        <a:rPr lang="en-US" sz="1200" b="0" i="1" u="none" strike="noStrike">
                          <a:solidFill>
                            <a:srgbClr val="000000"/>
                          </a:solidFill>
                          <a:effectLst/>
                          <a:latin typeface="Calibri" panose="020F0502020204030204" pitchFamily="34" charset="0"/>
                        </a:rPr>
                        <a:t>Canadian Journal of Fisheries and Aquatic Sciences</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85</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Fish Res</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121</a:t>
                      </a:r>
                    </a:p>
                  </a:txBody>
                  <a:tcPr marL="5397" marR="5397" marT="5397" marB="0" anchor="b">
                    <a:lnL>
                      <a:noFill/>
                    </a:lnL>
                    <a:lnR>
                      <a:noFill/>
                    </a:lnR>
                    <a:lnT>
                      <a:noFill/>
                    </a:lnT>
                    <a:lnB>
                      <a:noFill/>
                    </a:lnB>
                    <a:noFill/>
                  </a:tcPr>
                </a:tc>
                <a:extLst>
                  <a:ext uri="{0D108BD9-81ED-4DB2-BD59-A6C34878D82A}">
                    <a16:rowId xmlns:a16="http://schemas.microsoft.com/office/drawing/2014/main" val="2644310118"/>
                  </a:ext>
                </a:extLst>
              </a:tr>
              <a:tr h="365255">
                <a:tc>
                  <a:txBody>
                    <a:bodyPr/>
                    <a:lstStyle/>
                    <a:p>
                      <a:pPr algn="l" rtl="0" fontAlgn="ctr"/>
                      <a:r>
                        <a:rPr lang="en-US" sz="1200" b="0" i="1" u="none" strike="noStrike">
                          <a:solidFill>
                            <a:srgbClr val="000000"/>
                          </a:solidFill>
                          <a:effectLst/>
                          <a:latin typeface="Calibri" panose="020F0502020204030204" pitchFamily="34" charset="0"/>
                        </a:rPr>
                        <a:t>Transactions of the American Fisheries Society</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56</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ICES J Mar Sci</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113</a:t>
                      </a:r>
                    </a:p>
                  </a:txBody>
                  <a:tcPr marL="5397" marR="5397" marT="5397" marB="0" anchor="b">
                    <a:lnL>
                      <a:noFill/>
                    </a:lnL>
                    <a:lnR>
                      <a:noFill/>
                    </a:lnR>
                    <a:lnT>
                      <a:noFill/>
                    </a:lnT>
                    <a:lnB>
                      <a:noFill/>
                    </a:lnB>
                    <a:noFill/>
                  </a:tcPr>
                </a:tc>
                <a:extLst>
                  <a:ext uri="{0D108BD9-81ED-4DB2-BD59-A6C34878D82A}">
                    <a16:rowId xmlns:a16="http://schemas.microsoft.com/office/drawing/2014/main" val="2433788363"/>
                  </a:ext>
                </a:extLst>
              </a:tr>
              <a:tr h="195922">
                <a:tc>
                  <a:txBody>
                    <a:bodyPr/>
                    <a:lstStyle/>
                    <a:p>
                      <a:pPr algn="l" rtl="0" fontAlgn="ctr"/>
                      <a:r>
                        <a:rPr lang="en-US" sz="1200" b="0" i="1" u="none" strike="noStrike">
                          <a:solidFill>
                            <a:srgbClr val="000000"/>
                          </a:solidFill>
                          <a:effectLst/>
                          <a:latin typeface="Calibri" panose="020F0502020204030204" pitchFamily="34" charset="0"/>
                        </a:rPr>
                        <a:t>Fisheries Research</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38</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Can J Fish Aquat Sci</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100</a:t>
                      </a:r>
                    </a:p>
                  </a:txBody>
                  <a:tcPr marL="5397" marR="5397" marT="5397" marB="0" anchor="b">
                    <a:lnL>
                      <a:noFill/>
                    </a:lnL>
                    <a:lnR>
                      <a:noFill/>
                    </a:lnR>
                    <a:lnT>
                      <a:noFill/>
                    </a:lnT>
                    <a:lnB>
                      <a:noFill/>
                    </a:lnB>
                    <a:noFill/>
                  </a:tcPr>
                </a:tc>
                <a:extLst>
                  <a:ext uri="{0D108BD9-81ED-4DB2-BD59-A6C34878D82A}">
                    <a16:rowId xmlns:a16="http://schemas.microsoft.com/office/drawing/2014/main" val="2778137279"/>
                  </a:ext>
                </a:extLst>
              </a:tr>
              <a:tr h="195922">
                <a:tc>
                  <a:txBody>
                    <a:bodyPr/>
                    <a:lstStyle/>
                    <a:p>
                      <a:pPr algn="l" rtl="0" fontAlgn="ctr"/>
                      <a:r>
                        <a:rPr lang="en-US" sz="1200" b="0" i="1" u="none" strike="noStrike">
                          <a:solidFill>
                            <a:srgbClr val="000000"/>
                          </a:solidFill>
                          <a:effectLst/>
                          <a:latin typeface="Calibri" panose="020F0502020204030204" pitchFamily="34" charset="0"/>
                        </a:rPr>
                        <a:t>ICES Journal of Marine Science</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32</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PLOS ONE</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76</a:t>
                      </a:r>
                    </a:p>
                  </a:txBody>
                  <a:tcPr marL="5397" marR="5397" marT="5397" marB="0" anchor="b">
                    <a:lnL>
                      <a:noFill/>
                    </a:lnL>
                    <a:lnR>
                      <a:noFill/>
                    </a:lnR>
                    <a:lnT>
                      <a:noFill/>
                    </a:lnT>
                    <a:lnB>
                      <a:noFill/>
                    </a:lnB>
                    <a:noFill/>
                  </a:tcPr>
                </a:tc>
                <a:extLst>
                  <a:ext uri="{0D108BD9-81ED-4DB2-BD59-A6C34878D82A}">
                    <a16:rowId xmlns:a16="http://schemas.microsoft.com/office/drawing/2014/main" val="1005979119"/>
                  </a:ext>
                </a:extLst>
              </a:tr>
              <a:tr h="195922">
                <a:tc>
                  <a:txBody>
                    <a:bodyPr/>
                    <a:lstStyle/>
                    <a:p>
                      <a:pPr algn="l" rtl="0" fontAlgn="ctr"/>
                      <a:r>
                        <a:rPr lang="en-US" sz="1200" b="0" i="1" u="none" strike="noStrike">
                          <a:solidFill>
                            <a:srgbClr val="000000"/>
                          </a:solidFill>
                          <a:effectLst/>
                          <a:latin typeface="Calibri" panose="020F0502020204030204" pitchFamily="34" charset="0"/>
                        </a:rPr>
                        <a:t>Marine Ecology Progress Series</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31</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Fish and Fisheries</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68</a:t>
                      </a:r>
                    </a:p>
                  </a:txBody>
                  <a:tcPr marL="5397" marR="5397" marT="5397" marB="0" anchor="b">
                    <a:lnL>
                      <a:noFill/>
                    </a:lnL>
                    <a:lnR>
                      <a:noFill/>
                    </a:lnR>
                    <a:lnT>
                      <a:noFill/>
                    </a:lnT>
                    <a:lnB>
                      <a:noFill/>
                    </a:lnB>
                    <a:noFill/>
                  </a:tcPr>
                </a:tc>
                <a:extLst>
                  <a:ext uri="{0D108BD9-81ED-4DB2-BD59-A6C34878D82A}">
                    <a16:rowId xmlns:a16="http://schemas.microsoft.com/office/drawing/2014/main" val="455736490"/>
                  </a:ext>
                </a:extLst>
              </a:tr>
              <a:tr h="195922">
                <a:tc>
                  <a:txBody>
                    <a:bodyPr/>
                    <a:lstStyle/>
                    <a:p>
                      <a:pPr algn="l" rtl="0" fontAlgn="ctr"/>
                      <a:r>
                        <a:rPr lang="en-US" sz="1200" b="0" i="1" u="none" strike="noStrike">
                          <a:solidFill>
                            <a:srgbClr val="000000"/>
                          </a:solidFill>
                          <a:effectLst/>
                          <a:latin typeface="Calibri" panose="020F0502020204030204" pitchFamily="34" charset="0"/>
                        </a:rPr>
                        <a:t>Ecology</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23</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Mar Ecol Prog Ser</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65</a:t>
                      </a:r>
                    </a:p>
                  </a:txBody>
                  <a:tcPr marL="5397" marR="5397" marT="5397" marB="0" anchor="b">
                    <a:lnL>
                      <a:noFill/>
                    </a:lnL>
                    <a:lnR>
                      <a:noFill/>
                    </a:lnR>
                    <a:lnT>
                      <a:noFill/>
                    </a:lnT>
                    <a:lnB>
                      <a:noFill/>
                    </a:lnB>
                    <a:noFill/>
                  </a:tcPr>
                </a:tc>
                <a:extLst>
                  <a:ext uri="{0D108BD9-81ED-4DB2-BD59-A6C34878D82A}">
                    <a16:rowId xmlns:a16="http://schemas.microsoft.com/office/drawing/2014/main" val="243985019"/>
                  </a:ext>
                </a:extLst>
              </a:tr>
              <a:tr h="365255">
                <a:tc>
                  <a:txBody>
                    <a:bodyPr/>
                    <a:lstStyle/>
                    <a:p>
                      <a:pPr algn="l" rtl="0" fontAlgn="ctr"/>
                      <a:r>
                        <a:rPr lang="en-US" sz="1200" b="0" i="1" u="none" strike="noStrike">
                          <a:solidFill>
                            <a:srgbClr val="000000"/>
                          </a:solidFill>
                          <a:effectLst/>
                          <a:latin typeface="Calibri" panose="020F0502020204030204" pitchFamily="34" charset="0"/>
                        </a:rPr>
                        <a:t>Journal of Cetacean Research and Management</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23</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Trans Am Fish Soc</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49</a:t>
                      </a:r>
                    </a:p>
                  </a:txBody>
                  <a:tcPr marL="5397" marR="5397" marT="5397" marB="0" anchor="b">
                    <a:lnL>
                      <a:noFill/>
                    </a:lnL>
                    <a:lnR>
                      <a:noFill/>
                    </a:lnR>
                    <a:lnT>
                      <a:noFill/>
                    </a:lnT>
                    <a:lnB>
                      <a:noFill/>
                    </a:lnB>
                    <a:noFill/>
                  </a:tcPr>
                </a:tc>
                <a:extLst>
                  <a:ext uri="{0D108BD9-81ED-4DB2-BD59-A6C34878D82A}">
                    <a16:rowId xmlns:a16="http://schemas.microsoft.com/office/drawing/2014/main" val="1463202590"/>
                  </a:ext>
                </a:extLst>
              </a:tr>
              <a:tr h="195922">
                <a:tc>
                  <a:txBody>
                    <a:bodyPr/>
                    <a:lstStyle/>
                    <a:p>
                      <a:pPr algn="l" rtl="0" fontAlgn="ctr"/>
                      <a:r>
                        <a:rPr lang="en-US" sz="1200" b="0" i="1" u="none" strike="noStrike">
                          <a:solidFill>
                            <a:srgbClr val="000000"/>
                          </a:solidFill>
                          <a:effectLst/>
                          <a:latin typeface="Calibri" panose="020F0502020204030204" pitchFamily="34" charset="0"/>
                        </a:rPr>
                        <a:t>Copeia</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21</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Proc Nat Acad Sci</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46</a:t>
                      </a:r>
                    </a:p>
                  </a:txBody>
                  <a:tcPr marL="5397" marR="5397" marT="5397" marB="0" anchor="b">
                    <a:lnL>
                      <a:noFill/>
                    </a:lnL>
                    <a:lnR>
                      <a:noFill/>
                    </a:lnR>
                    <a:lnT>
                      <a:noFill/>
                    </a:lnT>
                    <a:lnB>
                      <a:noFill/>
                    </a:lnB>
                    <a:noFill/>
                  </a:tcPr>
                </a:tc>
                <a:extLst>
                  <a:ext uri="{0D108BD9-81ED-4DB2-BD59-A6C34878D82A}">
                    <a16:rowId xmlns:a16="http://schemas.microsoft.com/office/drawing/2014/main" val="617535725"/>
                  </a:ext>
                </a:extLst>
              </a:tr>
              <a:tr h="195922">
                <a:tc>
                  <a:txBody>
                    <a:bodyPr/>
                    <a:lstStyle/>
                    <a:p>
                      <a:pPr algn="l" rtl="0" fontAlgn="ctr"/>
                      <a:r>
                        <a:rPr lang="en-US" sz="1200" b="0" i="1" u="none" strike="noStrike">
                          <a:solidFill>
                            <a:srgbClr val="000000"/>
                          </a:solidFill>
                          <a:effectLst/>
                          <a:latin typeface="Calibri" panose="020F0502020204030204" pitchFamily="34" charset="0"/>
                        </a:rPr>
                        <a:t>Ecological Applications</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19</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Ecol Appl</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36</a:t>
                      </a:r>
                    </a:p>
                  </a:txBody>
                  <a:tcPr marL="5397" marR="5397" marT="5397" marB="0" anchor="b">
                    <a:lnL>
                      <a:noFill/>
                    </a:lnL>
                    <a:lnR>
                      <a:noFill/>
                    </a:lnR>
                    <a:lnT>
                      <a:noFill/>
                    </a:lnT>
                    <a:lnB>
                      <a:noFill/>
                    </a:lnB>
                    <a:noFill/>
                  </a:tcPr>
                </a:tc>
                <a:extLst>
                  <a:ext uri="{0D108BD9-81ED-4DB2-BD59-A6C34878D82A}">
                    <a16:rowId xmlns:a16="http://schemas.microsoft.com/office/drawing/2014/main" val="4109821342"/>
                  </a:ext>
                </a:extLst>
              </a:tr>
              <a:tr h="195922">
                <a:tc>
                  <a:txBody>
                    <a:bodyPr/>
                    <a:lstStyle/>
                    <a:p>
                      <a:pPr algn="l" rtl="0" fontAlgn="ctr"/>
                      <a:r>
                        <a:rPr lang="en-US" sz="1200" b="0" i="1" u="none" strike="noStrike">
                          <a:solidFill>
                            <a:srgbClr val="000000"/>
                          </a:solidFill>
                          <a:effectLst/>
                          <a:latin typeface="Calibri" panose="020F0502020204030204" pitchFamily="34" charset="0"/>
                        </a:rPr>
                        <a:t>Fish and Fisheries </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19</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Ecol Evol</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36</a:t>
                      </a:r>
                    </a:p>
                  </a:txBody>
                  <a:tcPr marL="5397" marR="5397" marT="5397" marB="0" anchor="b">
                    <a:lnL>
                      <a:noFill/>
                    </a:lnL>
                    <a:lnR>
                      <a:noFill/>
                    </a:lnR>
                    <a:lnT>
                      <a:noFill/>
                    </a:lnT>
                    <a:lnB>
                      <a:noFill/>
                    </a:lnB>
                    <a:noFill/>
                  </a:tcPr>
                </a:tc>
                <a:extLst>
                  <a:ext uri="{0D108BD9-81ED-4DB2-BD59-A6C34878D82A}">
                    <a16:rowId xmlns:a16="http://schemas.microsoft.com/office/drawing/2014/main" val="3837862060"/>
                  </a:ext>
                </a:extLst>
              </a:tr>
              <a:tr h="195922">
                <a:tc>
                  <a:txBody>
                    <a:bodyPr/>
                    <a:lstStyle/>
                    <a:p>
                      <a:pPr algn="l" rtl="0" fontAlgn="ctr"/>
                      <a:r>
                        <a:rPr lang="en-US" sz="1200" b="0" i="1" u="none" strike="noStrike">
                          <a:solidFill>
                            <a:srgbClr val="000000"/>
                          </a:solidFill>
                          <a:effectLst/>
                          <a:latin typeface="Calibri" panose="020F0502020204030204" pitchFamily="34" charset="0"/>
                        </a:rPr>
                        <a:t>Journal of Fish Biology</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19</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Front. Mar. Sci.</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34</a:t>
                      </a:r>
                    </a:p>
                  </a:txBody>
                  <a:tcPr marL="5397" marR="5397" marT="5397" marB="0" anchor="b">
                    <a:lnL>
                      <a:noFill/>
                    </a:lnL>
                    <a:lnR>
                      <a:noFill/>
                    </a:lnR>
                    <a:lnT>
                      <a:noFill/>
                    </a:lnT>
                    <a:lnB>
                      <a:noFill/>
                    </a:lnB>
                    <a:noFill/>
                  </a:tcPr>
                </a:tc>
                <a:extLst>
                  <a:ext uri="{0D108BD9-81ED-4DB2-BD59-A6C34878D82A}">
                    <a16:rowId xmlns:a16="http://schemas.microsoft.com/office/drawing/2014/main" val="3302098907"/>
                  </a:ext>
                </a:extLst>
              </a:tr>
              <a:tr h="365255">
                <a:tc>
                  <a:txBody>
                    <a:bodyPr/>
                    <a:lstStyle/>
                    <a:p>
                      <a:pPr algn="l" rtl="0" fontAlgn="ctr"/>
                      <a:r>
                        <a:rPr lang="en-US" sz="1200" b="0" i="1" u="none" strike="noStrike">
                          <a:solidFill>
                            <a:srgbClr val="000000"/>
                          </a:solidFill>
                          <a:effectLst/>
                          <a:latin typeface="Calibri" panose="020F0502020204030204" pitchFamily="34" charset="0"/>
                        </a:rPr>
                        <a:t>North Pacific Anadromous Fish Commission Bulletin</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19</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Ecology</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31</a:t>
                      </a:r>
                    </a:p>
                  </a:txBody>
                  <a:tcPr marL="5397" marR="5397" marT="5397" marB="0" anchor="b">
                    <a:lnL>
                      <a:noFill/>
                    </a:lnL>
                    <a:lnR>
                      <a:noFill/>
                    </a:lnR>
                    <a:lnT>
                      <a:noFill/>
                    </a:lnT>
                    <a:lnB>
                      <a:noFill/>
                    </a:lnB>
                    <a:noFill/>
                  </a:tcPr>
                </a:tc>
                <a:extLst>
                  <a:ext uri="{0D108BD9-81ED-4DB2-BD59-A6C34878D82A}">
                    <a16:rowId xmlns:a16="http://schemas.microsoft.com/office/drawing/2014/main" val="1664537844"/>
                  </a:ext>
                </a:extLst>
              </a:tr>
              <a:tr h="195922">
                <a:tc>
                  <a:txBody>
                    <a:bodyPr/>
                    <a:lstStyle/>
                    <a:p>
                      <a:pPr algn="l" rtl="0" fontAlgn="ctr"/>
                      <a:r>
                        <a:rPr lang="en-US" sz="1200" b="0" i="1" u="none" strike="noStrike">
                          <a:solidFill>
                            <a:srgbClr val="000000"/>
                          </a:solidFill>
                          <a:effectLst/>
                          <a:latin typeface="Calibri" panose="020F0502020204030204" pitchFamily="34" charset="0"/>
                        </a:rPr>
                        <a:t>Fisheries Oceanography</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18</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Ecosphere</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31</a:t>
                      </a:r>
                    </a:p>
                  </a:txBody>
                  <a:tcPr marL="5397" marR="5397" marT="5397" marB="0" anchor="b">
                    <a:lnL>
                      <a:noFill/>
                    </a:lnL>
                    <a:lnR>
                      <a:noFill/>
                    </a:lnR>
                    <a:lnT>
                      <a:noFill/>
                    </a:lnT>
                    <a:lnB>
                      <a:noFill/>
                    </a:lnB>
                    <a:noFill/>
                  </a:tcPr>
                </a:tc>
                <a:extLst>
                  <a:ext uri="{0D108BD9-81ED-4DB2-BD59-A6C34878D82A}">
                    <a16:rowId xmlns:a16="http://schemas.microsoft.com/office/drawing/2014/main" val="315981273"/>
                  </a:ext>
                </a:extLst>
              </a:tr>
              <a:tr h="195922">
                <a:tc>
                  <a:txBody>
                    <a:bodyPr/>
                    <a:lstStyle/>
                    <a:p>
                      <a:pPr algn="l" rtl="0" fontAlgn="ctr"/>
                      <a:r>
                        <a:rPr lang="en-US" sz="1200" b="0" i="1" u="none" strike="noStrike">
                          <a:solidFill>
                            <a:srgbClr val="000000"/>
                          </a:solidFill>
                          <a:effectLst/>
                          <a:latin typeface="Calibri" panose="020F0502020204030204" pitchFamily="34" charset="0"/>
                        </a:rPr>
                        <a:t>Fisheries</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18</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Deep-Sea Res Part II</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28</a:t>
                      </a:r>
                    </a:p>
                  </a:txBody>
                  <a:tcPr marL="5397" marR="5397" marT="5397" marB="0" anchor="b">
                    <a:lnL>
                      <a:noFill/>
                    </a:lnL>
                    <a:lnR>
                      <a:noFill/>
                    </a:lnR>
                    <a:lnT>
                      <a:noFill/>
                    </a:lnT>
                    <a:lnB>
                      <a:noFill/>
                    </a:lnB>
                    <a:noFill/>
                  </a:tcPr>
                </a:tc>
                <a:extLst>
                  <a:ext uri="{0D108BD9-81ED-4DB2-BD59-A6C34878D82A}">
                    <a16:rowId xmlns:a16="http://schemas.microsoft.com/office/drawing/2014/main" val="3671786929"/>
                  </a:ext>
                </a:extLst>
              </a:tr>
              <a:tr h="365255">
                <a:tc>
                  <a:txBody>
                    <a:bodyPr/>
                    <a:lstStyle/>
                    <a:p>
                      <a:pPr algn="l" rtl="0" fontAlgn="ctr"/>
                      <a:r>
                        <a:rPr lang="en-US" sz="1200" b="0" i="1" u="none" strike="noStrike">
                          <a:solidFill>
                            <a:srgbClr val="000000"/>
                          </a:solidFill>
                          <a:effectLst/>
                          <a:latin typeface="Calibri" panose="020F0502020204030204" pitchFamily="34" charset="0"/>
                        </a:rPr>
                        <a:t>Proceedings of the National Academy of Sciences</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18</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Mol Ecol</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27</a:t>
                      </a:r>
                    </a:p>
                  </a:txBody>
                  <a:tcPr marL="5397" marR="5397" marT="5397" marB="0" anchor="b">
                    <a:lnL>
                      <a:noFill/>
                    </a:lnL>
                    <a:lnR>
                      <a:noFill/>
                    </a:lnR>
                    <a:lnT>
                      <a:noFill/>
                    </a:lnT>
                    <a:lnB>
                      <a:noFill/>
                    </a:lnB>
                    <a:noFill/>
                  </a:tcPr>
                </a:tc>
                <a:extLst>
                  <a:ext uri="{0D108BD9-81ED-4DB2-BD59-A6C34878D82A}">
                    <a16:rowId xmlns:a16="http://schemas.microsoft.com/office/drawing/2014/main" val="3444764924"/>
                  </a:ext>
                </a:extLst>
              </a:tr>
              <a:tr h="195922">
                <a:tc>
                  <a:txBody>
                    <a:bodyPr/>
                    <a:lstStyle/>
                    <a:p>
                      <a:pPr algn="l" rtl="0" fontAlgn="ctr"/>
                      <a:r>
                        <a:rPr lang="en-US" sz="1200" b="0" i="1" u="none" strike="noStrike">
                          <a:solidFill>
                            <a:srgbClr val="000000"/>
                          </a:solidFill>
                          <a:effectLst/>
                          <a:latin typeface="Calibri" panose="020F0502020204030204" pitchFamily="34" charset="0"/>
                        </a:rPr>
                        <a:t>Fishery Bulletin</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17</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Glob Change Biol</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26</a:t>
                      </a:r>
                    </a:p>
                  </a:txBody>
                  <a:tcPr marL="5397" marR="5397" marT="5397" marB="0" anchor="b">
                    <a:lnL>
                      <a:noFill/>
                    </a:lnL>
                    <a:lnR>
                      <a:noFill/>
                    </a:lnR>
                    <a:lnT>
                      <a:noFill/>
                    </a:lnT>
                    <a:lnB>
                      <a:noFill/>
                    </a:lnB>
                    <a:noFill/>
                  </a:tcPr>
                </a:tc>
                <a:extLst>
                  <a:ext uri="{0D108BD9-81ED-4DB2-BD59-A6C34878D82A}">
                    <a16:rowId xmlns:a16="http://schemas.microsoft.com/office/drawing/2014/main" val="1951794553"/>
                  </a:ext>
                </a:extLst>
              </a:tr>
              <a:tr h="195922">
                <a:tc>
                  <a:txBody>
                    <a:bodyPr/>
                    <a:lstStyle/>
                    <a:p>
                      <a:pPr algn="l" rtl="0" fontAlgn="ctr"/>
                      <a:r>
                        <a:rPr lang="en-US" sz="1200" b="0" i="1" u="none" strike="noStrike">
                          <a:solidFill>
                            <a:srgbClr val="000000"/>
                          </a:solidFill>
                          <a:effectLst/>
                          <a:latin typeface="Calibri" panose="020F0502020204030204" pitchFamily="34" charset="0"/>
                        </a:rPr>
                        <a:t>Marine and Freshwater Research</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17</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N Am J Fish Mgmt</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25</a:t>
                      </a:r>
                    </a:p>
                  </a:txBody>
                  <a:tcPr marL="5397" marR="5397" marT="5397" marB="0" anchor="b">
                    <a:lnL>
                      <a:noFill/>
                    </a:lnL>
                    <a:lnR>
                      <a:noFill/>
                    </a:lnR>
                    <a:lnT>
                      <a:noFill/>
                    </a:lnT>
                    <a:lnB>
                      <a:noFill/>
                    </a:lnB>
                    <a:noFill/>
                  </a:tcPr>
                </a:tc>
                <a:extLst>
                  <a:ext uri="{0D108BD9-81ED-4DB2-BD59-A6C34878D82A}">
                    <a16:rowId xmlns:a16="http://schemas.microsoft.com/office/drawing/2014/main" val="3756572734"/>
                  </a:ext>
                </a:extLst>
              </a:tr>
              <a:tr h="365255">
                <a:tc>
                  <a:txBody>
                    <a:bodyPr/>
                    <a:lstStyle/>
                    <a:p>
                      <a:pPr algn="l" rtl="0" fontAlgn="ctr"/>
                      <a:r>
                        <a:rPr lang="en-US" sz="1200" b="0" i="1" u="none" strike="noStrike">
                          <a:solidFill>
                            <a:srgbClr val="000000"/>
                          </a:solidFill>
                          <a:effectLst/>
                          <a:latin typeface="Calibri" panose="020F0502020204030204" pitchFamily="34" charset="0"/>
                        </a:rPr>
                        <a:t>North American Journal of Fisheries Management</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15</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J Appl Ecol</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24</a:t>
                      </a:r>
                    </a:p>
                  </a:txBody>
                  <a:tcPr marL="5397" marR="5397" marT="5397" marB="0" anchor="b">
                    <a:lnL>
                      <a:noFill/>
                    </a:lnL>
                    <a:lnR>
                      <a:noFill/>
                    </a:lnR>
                    <a:lnT>
                      <a:noFill/>
                    </a:lnT>
                    <a:lnB>
                      <a:noFill/>
                    </a:lnB>
                    <a:noFill/>
                  </a:tcPr>
                </a:tc>
                <a:extLst>
                  <a:ext uri="{0D108BD9-81ED-4DB2-BD59-A6C34878D82A}">
                    <a16:rowId xmlns:a16="http://schemas.microsoft.com/office/drawing/2014/main" val="2539236512"/>
                  </a:ext>
                </a:extLst>
              </a:tr>
              <a:tr h="195922">
                <a:tc>
                  <a:txBody>
                    <a:bodyPr/>
                    <a:lstStyle/>
                    <a:p>
                      <a:pPr algn="l" rtl="0" fontAlgn="ctr"/>
                      <a:r>
                        <a:rPr lang="en-US" sz="1200" b="0" i="1" u="none" strike="noStrike">
                          <a:solidFill>
                            <a:srgbClr val="000000"/>
                          </a:solidFill>
                          <a:effectLst/>
                          <a:latin typeface="Calibri" panose="020F0502020204030204" pitchFamily="34" charset="0"/>
                        </a:rPr>
                        <a:t>Conservation Biology</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14</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Mar Policy</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24</a:t>
                      </a:r>
                    </a:p>
                  </a:txBody>
                  <a:tcPr marL="5397" marR="5397" marT="5397" marB="0" anchor="b">
                    <a:lnL>
                      <a:noFill/>
                    </a:lnL>
                    <a:lnR>
                      <a:noFill/>
                    </a:lnR>
                    <a:lnT>
                      <a:noFill/>
                    </a:lnT>
                    <a:lnB>
                      <a:noFill/>
                    </a:lnB>
                    <a:noFill/>
                  </a:tcPr>
                </a:tc>
                <a:extLst>
                  <a:ext uri="{0D108BD9-81ED-4DB2-BD59-A6C34878D82A}">
                    <a16:rowId xmlns:a16="http://schemas.microsoft.com/office/drawing/2014/main" val="1196525078"/>
                  </a:ext>
                </a:extLst>
              </a:tr>
              <a:tr h="195922">
                <a:tc>
                  <a:txBody>
                    <a:bodyPr/>
                    <a:lstStyle/>
                    <a:p>
                      <a:pPr algn="l" rtl="0" fontAlgn="ctr"/>
                      <a:r>
                        <a:rPr lang="en-US" sz="1200" b="0" i="1" u="none" strike="noStrike">
                          <a:solidFill>
                            <a:srgbClr val="000000"/>
                          </a:solidFill>
                          <a:effectLst/>
                          <a:latin typeface="Calibri" panose="020F0502020204030204" pitchFamily="34" charset="0"/>
                        </a:rPr>
                        <a:t>Freshwater Biology</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14</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Sci Rep</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24</a:t>
                      </a:r>
                    </a:p>
                  </a:txBody>
                  <a:tcPr marL="5397" marR="5397" marT="5397" marB="0" anchor="b">
                    <a:lnL>
                      <a:noFill/>
                    </a:lnL>
                    <a:lnR>
                      <a:noFill/>
                    </a:lnR>
                    <a:lnT>
                      <a:noFill/>
                    </a:lnT>
                    <a:lnB>
                      <a:noFill/>
                    </a:lnB>
                    <a:noFill/>
                  </a:tcPr>
                </a:tc>
                <a:extLst>
                  <a:ext uri="{0D108BD9-81ED-4DB2-BD59-A6C34878D82A}">
                    <a16:rowId xmlns:a16="http://schemas.microsoft.com/office/drawing/2014/main" val="292399375"/>
                  </a:ext>
                </a:extLst>
              </a:tr>
              <a:tr h="195922">
                <a:tc>
                  <a:txBody>
                    <a:bodyPr/>
                    <a:lstStyle/>
                    <a:p>
                      <a:pPr algn="l" rtl="0" fontAlgn="ctr"/>
                      <a:r>
                        <a:rPr lang="en-US" sz="1200" b="0" i="1" u="none" strike="noStrike">
                          <a:solidFill>
                            <a:srgbClr val="000000"/>
                          </a:solidFill>
                          <a:effectLst/>
                          <a:latin typeface="Calibri" panose="020F0502020204030204" pitchFamily="34" charset="0"/>
                        </a:rPr>
                        <a:t>Ecosystems</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13</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Environ Biol Fish</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23</a:t>
                      </a:r>
                    </a:p>
                  </a:txBody>
                  <a:tcPr marL="5397" marR="5397" marT="5397" marB="0" anchor="b">
                    <a:lnL>
                      <a:noFill/>
                    </a:lnL>
                    <a:lnR>
                      <a:noFill/>
                    </a:lnR>
                    <a:lnT>
                      <a:noFill/>
                    </a:lnT>
                    <a:lnB>
                      <a:noFill/>
                    </a:lnB>
                    <a:noFill/>
                  </a:tcPr>
                </a:tc>
                <a:extLst>
                  <a:ext uri="{0D108BD9-81ED-4DB2-BD59-A6C34878D82A}">
                    <a16:rowId xmlns:a16="http://schemas.microsoft.com/office/drawing/2014/main" val="994551526"/>
                  </a:ext>
                </a:extLst>
              </a:tr>
              <a:tr h="195922">
                <a:tc>
                  <a:txBody>
                    <a:bodyPr/>
                    <a:lstStyle/>
                    <a:p>
                      <a:pPr algn="l" rtl="0" fontAlgn="ctr"/>
                      <a:r>
                        <a:rPr lang="en-US" sz="1200" b="0" i="1" u="none" strike="noStrike">
                          <a:solidFill>
                            <a:srgbClr val="000000"/>
                          </a:solidFill>
                          <a:effectLst/>
                          <a:latin typeface="Calibri" panose="020F0502020204030204" pitchFamily="34" charset="0"/>
                        </a:rPr>
                        <a:t>Limnology and Oceanography</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13</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Science</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23</a:t>
                      </a:r>
                    </a:p>
                  </a:txBody>
                  <a:tcPr marL="5397" marR="5397" marT="5397" marB="0" anchor="b">
                    <a:lnL>
                      <a:noFill/>
                    </a:lnL>
                    <a:lnR>
                      <a:noFill/>
                    </a:lnR>
                    <a:lnT>
                      <a:noFill/>
                    </a:lnT>
                    <a:lnB>
                      <a:noFill/>
                    </a:lnB>
                    <a:noFill/>
                  </a:tcPr>
                </a:tc>
                <a:extLst>
                  <a:ext uri="{0D108BD9-81ED-4DB2-BD59-A6C34878D82A}">
                    <a16:rowId xmlns:a16="http://schemas.microsoft.com/office/drawing/2014/main" val="1415297637"/>
                  </a:ext>
                </a:extLst>
              </a:tr>
              <a:tr h="195922">
                <a:tc>
                  <a:txBody>
                    <a:bodyPr/>
                    <a:lstStyle/>
                    <a:p>
                      <a:pPr algn="l" rtl="0" fontAlgn="ctr"/>
                      <a:r>
                        <a:rPr lang="en-US" sz="1200" b="0" i="1" u="none" strike="noStrike">
                          <a:solidFill>
                            <a:srgbClr val="000000"/>
                          </a:solidFill>
                          <a:effectLst/>
                          <a:latin typeface="Calibri" panose="020F0502020204030204" pitchFamily="34" charset="0"/>
                        </a:rPr>
                        <a:t>Ecological Modeling</a:t>
                      </a:r>
                    </a:p>
                  </a:txBody>
                  <a:tcPr marL="5397" marR="5397" marT="5397" marB="0" anchor="ctr">
                    <a:lnL>
                      <a:noFill/>
                    </a:lnL>
                    <a:lnR>
                      <a:noFill/>
                    </a:lnR>
                    <a:lnT>
                      <a:noFill/>
                    </a:lnT>
                    <a:lnB>
                      <a:noFill/>
                    </a:lnB>
                    <a:noFill/>
                  </a:tcPr>
                </a:tc>
                <a:tc>
                  <a:txBody>
                    <a:bodyPr/>
                    <a:lstStyle/>
                    <a:p>
                      <a:pPr algn="l" rtl="0" fontAlgn="ctr"/>
                      <a:r>
                        <a:rPr lang="en-US" sz="1200" b="0" i="0" u="none" strike="noStrike">
                          <a:solidFill>
                            <a:srgbClr val="000000"/>
                          </a:solidFill>
                          <a:effectLst/>
                          <a:latin typeface="Calibri" panose="020F0502020204030204" pitchFamily="34" charset="0"/>
                        </a:rPr>
                        <a:t>12</a:t>
                      </a:r>
                    </a:p>
                  </a:txBody>
                  <a:tcPr marL="5397" marR="5397" marT="5397" marB="0" anchor="ctr">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Ecol Model</a:t>
                      </a:r>
                    </a:p>
                  </a:txBody>
                  <a:tcPr marL="5397" marR="5397" marT="5397" marB="0" anchor="b">
                    <a:lnL>
                      <a:noFill/>
                    </a:lnL>
                    <a:lnR>
                      <a:noFill/>
                    </a:lnR>
                    <a:lnT>
                      <a:noFill/>
                    </a:lnT>
                    <a:lnB>
                      <a:noFill/>
                    </a:lnB>
                    <a:noFill/>
                  </a:tcPr>
                </a:tc>
                <a:tc>
                  <a:txBody>
                    <a:bodyPr/>
                    <a:lstStyle/>
                    <a:p>
                      <a:pPr algn="r" fontAlgn="b"/>
                      <a:r>
                        <a:rPr lang="en-US" sz="1050" b="0" i="0" u="none" strike="noStrike">
                          <a:solidFill>
                            <a:srgbClr val="000000"/>
                          </a:solidFill>
                          <a:effectLst/>
                          <a:latin typeface="Aptos Narrow" panose="020B0004020202020204" pitchFamily="34" charset="0"/>
                        </a:rPr>
                        <a:t>22</a:t>
                      </a:r>
                    </a:p>
                  </a:txBody>
                  <a:tcPr marL="5397" marR="5397" marT="5397" marB="0" anchor="b">
                    <a:lnL>
                      <a:noFill/>
                    </a:lnL>
                    <a:lnR>
                      <a:noFill/>
                    </a:lnR>
                    <a:lnT>
                      <a:noFill/>
                    </a:lnT>
                    <a:lnB>
                      <a:noFill/>
                    </a:lnB>
                    <a:noFill/>
                  </a:tcPr>
                </a:tc>
                <a:extLst>
                  <a:ext uri="{0D108BD9-81ED-4DB2-BD59-A6C34878D82A}">
                    <a16:rowId xmlns:a16="http://schemas.microsoft.com/office/drawing/2014/main" val="419946865"/>
                  </a:ext>
                </a:extLst>
              </a:tr>
              <a:tr h="195922">
                <a:tc>
                  <a:txBody>
                    <a:bodyPr/>
                    <a:lstStyle/>
                    <a:p>
                      <a:pPr algn="l" fontAlgn="b"/>
                      <a:r>
                        <a:rPr lang="en-US" sz="1200" b="0" i="1" u="none" strike="noStrike">
                          <a:solidFill>
                            <a:srgbClr val="000000"/>
                          </a:solidFill>
                          <a:effectLst/>
                          <a:latin typeface="Calibri" panose="020F0502020204030204" pitchFamily="34" charset="0"/>
                        </a:rPr>
                        <a:t>Science</a:t>
                      </a:r>
                    </a:p>
                  </a:txBody>
                  <a:tcPr marL="5397" marR="5397" marT="5397" marB="0" anchor="b">
                    <a:lnL>
                      <a:noFill/>
                    </a:lnL>
                    <a:lnR>
                      <a:noFill/>
                    </a:lnR>
                    <a:lnT>
                      <a:noFill/>
                    </a:lnT>
                    <a:lnB>
                      <a:noFill/>
                    </a:lnB>
                    <a:noFill/>
                  </a:tcPr>
                </a:tc>
                <a:tc>
                  <a:txBody>
                    <a:bodyPr/>
                    <a:lstStyle/>
                    <a:p>
                      <a:pPr algn="l" fontAlgn="b"/>
                      <a:r>
                        <a:rPr lang="en-US" sz="1200" b="0" i="0" u="none" strike="noStrike">
                          <a:solidFill>
                            <a:srgbClr val="000000"/>
                          </a:solidFill>
                          <a:effectLst/>
                          <a:latin typeface="Calibri" panose="020F0502020204030204" pitchFamily="34" charset="0"/>
                        </a:rPr>
                        <a:t>12</a:t>
                      </a:r>
                    </a:p>
                  </a:txBody>
                  <a:tcPr marL="5397" marR="5397" marT="5397" marB="0" anchor="b">
                    <a:lnL>
                      <a:noFill/>
                    </a:lnL>
                    <a:lnR>
                      <a:noFill/>
                    </a:lnR>
                    <a:lnT>
                      <a:noFill/>
                    </a:lnT>
                    <a:lnB>
                      <a:noFill/>
                    </a:lnB>
                    <a:noFill/>
                  </a:tcPr>
                </a:tc>
                <a:tc>
                  <a:txBody>
                    <a:bodyPr/>
                    <a:lstStyle/>
                    <a:p>
                      <a:pPr algn="l" fontAlgn="b"/>
                      <a:r>
                        <a:rPr lang="en-US" sz="1050" b="0" i="0" u="none" strike="noStrike">
                          <a:solidFill>
                            <a:srgbClr val="000000"/>
                          </a:solidFill>
                          <a:effectLst/>
                          <a:latin typeface="Aptos Narrow" panose="020B0004020202020204" pitchFamily="34" charset="0"/>
                        </a:rPr>
                        <a:t>Proc R Soc Lond B</a:t>
                      </a:r>
                    </a:p>
                  </a:txBody>
                  <a:tcPr marL="5397" marR="5397" marT="5397" marB="0" anchor="b">
                    <a:lnL>
                      <a:noFill/>
                    </a:lnL>
                    <a:lnR>
                      <a:noFill/>
                    </a:lnR>
                    <a:lnT>
                      <a:noFill/>
                    </a:lnT>
                    <a:lnB>
                      <a:noFill/>
                    </a:lnB>
                    <a:noFill/>
                  </a:tcPr>
                </a:tc>
                <a:tc>
                  <a:txBody>
                    <a:bodyPr/>
                    <a:lstStyle/>
                    <a:p>
                      <a:pPr algn="r" fontAlgn="b"/>
                      <a:r>
                        <a:rPr lang="en-US" sz="1050" b="0" i="0" u="none" strike="noStrike" dirty="0">
                          <a:solidFill>
                            <a:srgbClr val="000000"/>
                          </a:solidFill>
                          <a:effectLst/>
                          <a:latin typeface="Aptos Narrow" panose="020B0004020202020204" pitchFamily="34" charset="0"/>
                        </a:rPr>
                        <a:t>22</a:t>
                      </a:r>
                    </a:p>
                  </a:txBody>
                  <a:tcPr marL="5397" marR="5397" marT="5397" marB="0" anchor="b">
                    <a:lnL>
                      <a:noFill/>
                    </a:lnL>
                    <a:lnR>
                      <a:noFill/>
                    </a:lnR>
                    <a:lnT>
                      <a:noFill/>
                    </a:lnT>
                    <a:lnB>
                      <a:noFill/>
                    </a:lnB>
                    <a:noFill/>
                  </a:tcPr>
                </a:tc>
                <a:extLst>
                  <a:ext uri="{0D108BD9-81ED-4DB2-BD59-A6C34878D82A}">
                    <a16:rowId xmlns:a16="http://schemas.microsoft.com/office/drawing/2014/main" val="2682987090"/>
                  </a:ext>
                </a:extLst>
              </a:tr>
            </a:tbl>
          </a:graphicData>
        </a:graphic>
      </p:graphicFrame>
    </p:spTree>
    <p:extLst>
      <p:ext uri="{BB962C8B-B14F-4D97-AF65-F5344CB8AC3E}">
        <p14:creationId xmlns:p14="http://schemas.microsoft.com/office/powerpoint/2010/main" val="866509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95400" y="1600200"/>
            <a:ext cx="6553200" cy="1200329"/>
          </a:xfrm>
          <a:prstGeom prst="rect">
            <a:avLst/>
          </a:prstGeom>
          <a:noFill/>
        </p:spPr>
        <p:txBody>
          <a:bodyPr wrap="square" rtlCol="0">
            <a:spAutoFit/>
          </a:bodyPr>
          <a:lstStyle/>
          <a:p>
            <a:r>
              <a:rPr lang="en-US" sz="3600" dirty="0"/>
              <a:t>Or, you never get a second chance to make a first impression.</a:t>
            </a:r>
          </a:p>
        </p:txBody>
      </p:sp>
      <p:sp>
        <p:nvSpPr>
          <p:cNvPr id="3" name="TextBox 2">
            <a:extLst>
              <a:ext uri="{FF2B5EF4-FFF2-40B4-BE49-F238E27FC236}">
                <a16:creationId xmlns:a16="http://schemas.microsoft.com/office/drawing/2014/main" id="{56765C4C-BE1F-014D-9F5B-25D7633ECDC6}"/>
              </a:ext>
            </a:extLst>
          </p:cNvPr>
          <p:cNvSpPr txBox="1"/>
          <p:nvPr/>
        </p:nvSpPr>
        <p:spPr>
          <a:xfrm>
            <a:off x="381000" y="228600"/>
            <a:ext cx="6019800" cy="584775"/>
          </a:xfrm>
          <a:prstGeom prst="rect">
            <a:avLst/>
          </a:prstGeom>
          <a:noFill/>
        </p:spPr>
        <p:txBody>
          <a:bodyPr wrap="square" rtlCol="0">
            <a:spAutoFit/>
          </a:bodyPr>
          <a:lstStyle/>
          <a:p>
            <a:r>
              <a:rPr lang="en-US" sz="3200" dirty="0">
                <a:solidFill>
                  <a:srgbClr val="C00000"/>
                </a:solidFill>
              </a:rPr>
              <a:t>The art of the title</a:t>
            </a:r>
          </a:p>
        </p:txBody>
      </p:sp>
    </p:spTree>
    <p:extLst>
      <p:ext uri="{BB962C8B-B14F-4D97-AF65-F5344CB8AC3E}">
        <p14:creationId xmlns:p14="http://schemas.microsoft.com/office/powerpoint/2010/main" val="55298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B6E88A-2C1D-F94C-81D1-9C464DC85BB1}"/>
              </a:ext>
            </a:extLst>
          </p:cNvPr>
          <p:cNvSpPr txBox="1"/>
          <p:nvPr/>
        </p:nvSpPr>
        <p:spPr>
          <a:xfrm>
            <a:off x="381000" y="228600"/>
            <a:ext cx="6019800" cy="584775"/>
          </a:xfrm>
          <a:prstGeom prst="rect">
            <a:avLst/>
          </a:prstGeom>
          <a:noFill/>
        </p:spPr>
        <p:txBody>
          <a:bodyPr wrap="square" rtlCol="0">
            <a:spAutoFit/>
          </a:bodyPr>
          <a:lstStyle/>
          <a:p>
            <a:r>
              <a:rPr lang="en-US" sz="3200" dirty="0">
                <a:solidFill>
                  <a:srgbClr val="C00000"/>
                </a:solidFill>
              </a:rPr>
              <a:t>The art of the title</a:t>
            </a:r>
          </a:p>
        </p:txBody>
      </p:sp>
      <p:sp>
        <p:nvSpPr>
          <p:cNvPr id="3" name="TextBox 2">
            <a:extLst>
              <a:ext uri="{FF2B5EF4-FFF2-40B4-BE49-F238E27FC236}">
                <a16:creationId xmlns:a16="http://schemas.microsoft.com/office/drawing/2014/main" id="{0AACB288-2B64-4F46-A6B7-96A5C0948CC6}"/>
              </a:ext>
            </a:extLst>
          </p:cNvPr>
          <p:cNvSpPr txBox="1"/>
          <p:nvPr/>
        </p:nvSpPr>
        <p:spPr>
          <a:xfrm>
            <a:off x="377370" y="1143000"/>
            <a:ext cx="6019799" cy="830997"/>
          </a:xfrm>
          <a:prstGeom prst="rect">
            <a:avLst/>
          </a:prstGeom>
          <a:noFill/>
        </p:spPr>
        <p:txBody>
          <a:bodyPr wrap="square" rtlCol="0">
            <a:spAutoFit/>
          </a:bodyPr>
          <a:lstStyle/>
          <a:p>
            <a:r>
              <a:rPr lang="en-US" sz="2400" dirty="0"/>
              <a:t>Imagine you do a study on anole biogeography. What is your title going to be?</a:t>
            </a:r>
          </a:p>
        </p:txBody>
      </p:sp>
      <p:pic>
        <p:nvPicPr>
          <p:cNvPr id="5" name="Picture 4" descr="A lizard looking at the camera&#10;&#10;Description automatically generated">
            <a:extLst>
              <a:ext uri="{FF2B5EF4-FFF2-40B4-BE49-F238E27FC236}">
                <a16:creationId xmlns:a16="http://schemas.microsoft.com/office/drawing/2014/main" id="{94135AA9-21EF-8E44-99EA-279E0A311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0" y="199526"/>
            <a:ext cx="1752600" cy="3748207"/>
          </a:xfrm>
          <a:prstGeom prst="rect">
            <a:avLst/>
          </a:prstGeom>
        </p:spPr>
      </p:pic>
    </p:spTree>
    <p:extLst>
      <p:ext uri="{BB962C8B-B14F-4D97-AF65-F5344CB8AC3E}">
        <p14:creationId xmlns:p14="http://schemas.microsoft.com/office/powerpoint/2010/main" val="2527502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B6E88A-2C1D-F94C-81D1-9C464DC85BB1}"/>
              </a:ext>
            </a:extLst>
          </p:cNvPr>
          <p:cNvSpPr txBox="1"/>
          <p:nvPr/>
        </p:nvSpPr>
        <p:spPr>
          <a:xfrm>
            <a:off x="381000" y="228600"/>
            <a:ext cx="6019800" cy="584775"/>
          </a:xfrm>
          <a:prstGeom prst="rect">
            <a:avLst/>
          </a:prstGeom>
          <a:noFill/>
        </p:spPr>
        <p:txBody>
          <a:bodyPr wrap="square" rtlCol="0">
            <a:spAutoFit/>
          </a:bodyPr>
          <a:lstStyle/>
          <a:p>
            <a:r>
              <a:rPr lang="en-US" sz="3200" dirty="0">
                <a:solidFill>
                  <a:srgbClr val="C00000"/>
                </a:solidFill>
              </a:rPr>
              <a:t>The art of the title</a:t>
            </a:r>
          </a:p>
        </p:txBody>
      </p:sp>
      <p:sp>
        <p:nvSpPr>
          <p:cNvPr id="3" name="TextBox 2">
            <a:extLst>
              <a:ext uri="{FF2B5EF4-FFF2-40B4-BE49-F238E27FC236}">
                <a16:creationId xmlns:a16="http://schemas.microsoft.com/office/drawing/2014/main" id="{0AACB288-2B64-4F46-A6B7-96A5C0948CC6}"/>
              </a:ext>
            </a:extLst>
          </p:cNvPr>
          <p:cNvSpPr txBox="1"/>
          <p:nvPr/>
        </p:nvSpPr>
        <p:spPr>
          <a:xfrm>
            <a:off x="377370" y="1143000"/>
            <a:ext cx="6019799" cy="830997"/>
          </a:xfrm>
          <a:prstGeom prst="rect">
            <a:avLst/>
          </a:prstGeom>
          <a:noFill/>
        </p:spPr>
        <p:txBody>
          <a:bodyPr wrap="square" rtlCol="0">
            <a:spAutoFit/>
          </a:bodyPr>
          <a:lstStyle/>
          <a:p>
            <a:r>
              <a:rPr lang="en-US" sz="2400" dirty="0"/>
              <a:t>Imagine you do a study on anole biogeography. What is your title going to be?</a:t>
            </a:r>
          </a:p>
        </p:txBody>
      </p:sp>
      <p:pic>
        <p:nvPicPr>
          <p:cNvPr id="5" name="Picture 4" descr="A lizard looking at the camera&#10;&#10;Description automatically generated">
            <a:extLst>
              <a:ext uri="{FF2B5EF4-FFF2-40B4-BE49-F238E27FC236}">
                <a16:creationId xmlns:a16="http://schemas.microsoft.com/office/drawing/2014/main" id="{94135AA9-21EF-8E44-99EA-279E0A311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0" y="199526"/>
            <a:ext cx="1752600" cy="3748207"/>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CB718E04-A533-324F-95F4-3FF5C58FA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169" y="2463800"/>
            <a:ext cx="6172200" cy="4394200"/>
          </a:xfrm>
          <a:prstGeom prst="rect">
            <a:avLst/>
          </a:prstGeom>
        </p:spPr>
      </p:pic>
    </p:spTree>
    <p:extLst>
      <p:ext uri="{BB962C8B-B14F-4D97-AF65-F5344CB8AC3E}">
        <p14:creationId xmlns:p14="http://schemas.microsoft.com/office/powerpoint/2010/main" val="2277146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B6E88A-2C1D-F94C-81D1-9C464DC85BB1}"/>
              </a:ext>
            </a:extLst>
          </p:cNvPr>
          <p:cNvSpPr txBox="1"/>
          <p:nvPr/>
        </p:nvSpPr>
        <p:spPr>
          <a:xfrm>
            <a:off x="381000" y="228600"/>
            <a:ext cx="6019800" cy="584775"/>
          </a:xfrm>
          <a:prstGeom prst="rect">
            <a:avLst/>
          </a:prstGeom>
          <a:noFill/>
        </p:spPr>
        <p:txBody>
          <a:bodyPr wrap="square" rtlCol="0">
            <a:spAutoFit/>
          </a:bodyPr>
          <a:lstStyle/>
          <a:p>
            <a:r>
              <a:rPr lang="en-US" sz="3200" dirty="0">
                <a:solidFill>
                  <a:srgbClr val="C00000"/>
                </a:solidFill>
              </a:rPr>
              <a:t>The art of the title</a:t>
            </a:r>
          </a:p>
        </p:txBody>
      </p:sp>
      <p:sp>
        <p:nvSpPr>
          <p:cNvPr id="3" name="TextBox 2">
            <a:extLst>
              <a:ext uri="{FF2B5EF4-FFF2-40B4-BE49-F238E27FC236}">
                <a16:creationId xmlns:a16="http://schemas.microsoft.com/office/drawing/2014/main" id="{0AACB288-2B64-4F46-A6B7-96A5C0948CC6}"/>
              </a:ext>
            </a:extLst>
          </p:cNvPr>
          <p:cNvSpPr txBox="1"/>
          <p:nvPr/>
        </p:nvSpPr>
        <p:spPr>
          <a:xfrm>
            <a:off x="377370" y="1143000"/>
            <a:ext cx="6019799" cy="830997"/>
          </a:xfrm>
          <a:prstGeom prst="rect">
            <a:avLst/>
          </a:prstGeom>
          <a:noFill/>
        </p:spPr>
        <p:txBody>
          <a:bodyPr wrap="square" rtlCol="0">
            <a:spAutoFit/>
          </a:bodyPr>
          <a:lstStyle/>
          <a:p>
            <a:r>
              <a:rPr lang="en-US" sz="2400" dirty="0"/>
              <a:t>Imagine you do a study on anole biogeography. What is your title going to be?</a:t>
            </a:r>
          </a:p>
        </p:txBody>
      </p:sp>
      <p:pic>
        <p:nvPicPr>
          <p:cNvPr id="6" name="Picture 5" descr="A picture containing bird, flower&#10;&#10;Description automatically generated">
            <a:extLst>
              <a:ext uri="{FF2B5EF4-FFF2-40B4-BE49-F238E27FC236}">
                <a16:creationId xmlns:a16="http://schemas.microsoft.com/office/drawing/2014/main" id="{6E21EB1C-F542-9C47-8B58-36E7EF685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3608727"/>
            <a:ext cx="9144000" cy="2106273"/>
          </a:xfrm>
          <a:prstGeom prst="rect">
            <a:avLst/>
          </a:prstGeom>
        </p:spPr>
      </p:pic>
      <p:pic>
        <p:nvPicPr>
          <p:cNvPr id="5" name="Picture 4" descr="A lizard looking at the camera&#10;&#10;Description automatically generated">
            <a:extLst>
              <a:ext uri="{FF2B5EF4-FFF2-40B4-BE49-F238E27FC236}">
                <a16:creationId xmlns:a16="http://schemas.microsoft.com/office/drawing/2014/main" id="{94135AA9-21EF-8E44-99EA-279E0A311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199526"/>
            <a:ext cx="1752600" cy="3748207"/>
          </a:xfrm>
          <a:prstGeom prst="rect">
            <a:avLst/>
          </a:prstGeom>
        </p:spPr>
      </p:pic>
    </p:spTree>
    <p:extLst>
      <p:ext uri="{BB962C8B-B14F-4D97-AF65-F5344CB8AC3E}">
        <p14:creationId xmlns:p14="http://schemas.microsoft.com/office/powerpoint/2010/main" val="404038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B6E88A-2C1D-F94C-81D1-9C464DC85BB1}"/>
              </a:ext>
            </a:extLst>
          </p:cNvPr>
          <p:cNvSpPr txBox="1"/>
          <p:nvPr/>
        </p:nvSpPr>
        <p:spPr>
          <a:xfrm>
            <a:off x="381000" y="228600"/>
            <a:ext cx="6019800" cy="584775"/>
          </a:xfrm>
          <a:prstGeom prst="rect">
            <a:avLst/>
          </a:prstGeom>
          <a:noFill/>
        </p:spPr>
        <p:txBody>
          <a:bodyPr wrap="square" rtlCol="0">
            <a:spAutoFit/>
          </a:bodyPr>
          <a:lstStyle/>
          <a:p>
            <a:r>
              <a:rPr lang="en-US" sz="3200" dirty="0">
                <a:solidFill>
                  <a:srgbClr val="C00000"/>
                </a:solidFill>
              </a:rPr>
              <a:t>The art of the title</a:t>
            </a:r>
          </a:p>
        </p:txBody>
      </p:sp>
      <p:sp>
        <p:nvSpPr>
          <p:cNvPr id="3" name="TextBox 2">
            <a:extLst>
              <a:ext uri="{FF2B5EF4-FFF2-40B4-BE49-F238E27FC236}">
                <a16:creationId xmlns:a16="http://schemas.microsoft.com/office/drawing/2014/main" id="{0AACB288-2B64-4F46-A6B7-96A5C0948CC6}"/>
              </a:ext>
            </a:extLst>
          </p:cNvPr>
          <p:cNvSpPr txBox="1"/>
          <p:nvPr/>
        </p:nvSpPr>
        <p:spPr>
          <a:xfrm>
            <a:off x="377370" y="1143000"/>
            <a:ext cx="6019799" cy="830997"/>
          </a:xfrm>
          <a:prstGeom prst="rect">
            <a:avLst/>
          </a:prstGeom>
          <a:noFill/>
        </p:spPr>
        <p:txBody>
          <a:bodyPr wrap="square" rtlCol="0">
            <a:spAutoFit/>
          </a:bodyPr>
          <a:lstStyle/>
          <a:p>
            <a:r>
              <a:rPr lang="en-US" sz="2400" dirty="0"/>
              <a:t>Imagine you do a study on anole biogeography. What is your title going to be?</a:t>
            </a:r>
          </a:p>
        </p:txBody>
      </p:sp>
      <p:pic>
        <p:nvPicPr>
          <p:cNvPr id="6" name="Picture 5" descr="A screenshot of a cell phone&#10;&#10;Description automatically generated">
            <a:extLst>
              <a:ext uri="{FF2B5EF4-FFF2-40B4-BE49-F238E27FC236}">
                <a16:creationId xmlns:a16="http://schemas.microsoft.com/office/drawing/2014/main" id="{C0C44B0B-CDEA-B047-884E-EB5995EC59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3445426"/>
            <a:ext cx="8991600" cy="2829204"/>
          </a:xfrm>
          <a:prstGeom prst="rect">
            <a:avLst/>
          </a:prstGeom>
        </p:spPr>
      </p:pic>
      <p:pic>
        <p:nvPicPr>
          <p:cNvPr id="5" name="Picture 4" descr="A lizard looking at the camera&#10;&#10;Description automatically generated">
            <a:extLst>
              <a:ext uri="{FF2B5EF4-FFF2-40B4-BE49-F238E27FC236}">
                <a16:creationId xmlns:a16="http://schemas.microsoft.com/office/drawing/2014/main" id="{94135AA9-21EF-8E44-99EA-279E0A311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199526"/>
            <a:ext cx="1752600" cy="3748207"/>
          </a:xfrm>
          <a:prstGeom prst="rect">
            <a:avLst/>
          </a:prstGeom>
        </p:spPr>
      </p:pic>
    </p:spTree>
    <p:extLst>
      <p:ext uri="{BB962C8B-B14F-4D97-AF65-F5344CB8AC3E}">
        <p14:creationId xmlns:p14="http://schemas.microsoft.com/office/powerpoint/2010/main" val="3295636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305104"/>
            <a:ext cx="7391400" cy="4093428"/>
          </a:xfrm>
          <a:prstGeom prst="rect">
            <a:avLst/>
          </a:prstGeom>
        </p:spPr>
        <p:txBody>
          <a:bodyPr wrap="square">
            <a:spAutoFit/>
          </a:bodyPr>
          <a:lstStyle/>
          <a:p>
            <a:r>
              <a:rPr lang="en-US" sz="3200" dirty="0">
                <a:solidFill>
                  <a:srgbClr val="C00000"/>
                </a:solidFill>
              </a:rPr>
              <a:t>Class activity 2:  </a:t>
            </a:r>
          </a:p>
          <a:p>
            <a:pPr algn="ctr"/>
            <a:endParaRPr lang="en-US" sz="3200" dirty="0"/>
          </a:p>
          <a:p>
            <a:r>
              <a:rPr lang="en-US" sz="2800" dirty="0"/>
              <a:t>Let’s now go on-line to the UW library, find a journal, open the table of contents, and look at it.   We will use the </a:t>
            </a:r>
            <a:r>
              <a:rPr lang="en-US" sz="2800" i="1" dirty="0"/>
              <a:t>Canadian Journal of Fisheries and Aquatic Sciences </a:t>
            </a:r>
            <a:r>
              <a:rPr lang="en-US" sz="2800" dirty="0"/>
              <a:t>as an example.</a:t>
            </a:r>
          </a:p>
          <a:p>
            <a:endParaRPr lang="en-US" sz="2800" dirty="0"/>
          </a:p>
          <a:p>
            <a:pPr algn="ctr"/>
            <a:r>
              <a:rPr lang="en-US" sz="2400" b="1" dirty="0">
                <a:hlinkClick r:id="rId2"/>
              </a:rPr>
              <a:t>http://catalog.lib.washington.edu/search~</a:t>
            </a:r>
            <a:endParaRPr lang="en-US" sz="2400" b="1" dirty="0"/>
          </a:p>
          <a:p>
            <a:pPr algn="ctr"/>
            <a:endParaRPr lang="en-US" sz="3200" b="1" dirty="0">
              <a:solidFill>
                <a:srgbClr val="FF0000"/>
              </a:solidFill>
            </a:endParaRPr>
          </a:p>
        </p:txBody>
      </p:sp>
    </p:spTree>
    <p:extLst>
      <p:ext uri="{BB962C8B-B14F-4D97-AF65-F5344CB8AC3E}">
        <p14:creationId xmlns:p14="http://schemas.microsoft.com/office/powerpoint/2010/main" val="3696513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850642"/>
            <a:ext cx="7924800" cy="5016758"/>
          </a:xfrm>
          <a:prstGeom prst="rect">
            <a:avLst/>
          </a:prstGeom>
          <a:noFill/>
        </p:spPr>
        <p:txBody>
          <a:bodyPr wrap="square" rtlCol="0">
            <a:spAutoFit/>
          </a:bodyPr>
          <a:lstStyle/>
          <a:p>
            <a:r>
              <a:rPr lang="en-US" sz="3200" dirty="0"/>
              <a:t>Let’s look at the most recent issue of the journal and scan the titles.  Which would you choose to read, and why?  Do some words in the titles intrigue you or turn you off?  </a:t>
            </a:r>
          </a:p>
          <a:p>
            <a:endParaRPr lang="en-US" sz="3200" dirty="0"/>
          </a:p>
          <a:p>
            <a:r>
              <a:rPr lang="en-US" sz="3200" dirty="0"/>
              <a:t>Are you looking for reference to a place such as “Alaska” or an organism such as “octopus” or a theme such as “conservation” or a discipline such as “genetics”?</a:t>
            </a:r>
            <a:endParaRPr lang="en-US" sz="3200" b="1" dirty="0">
              <a:solidFill>
                <a:srgbClr val="FF0000"/>
              </a:solidFill>
            </a:endParaRPr>
          </a:p>
          <a:p>
            <a:pPr algn="ctr"/>
            <a:endParaRPr lang="en-US" sz="3200" b="1" dirty="0">
              <a:solidFill>
                <a:srgbClr val="FF0000"/>
              </a:solidFill>
            </a:endParaRPr>
          </a:p>
        </p:txBody>
      </p:sp>
    </p:spTree>
    <p:extLst>
      <p:ext uri="{BB962C8B-B14F-4D97-AF65-F5344CB8AC3E}">
        <p14:creationId xmlns:p14="http://schemas.microsoft.com/office/powerpoint/2010/main" val="244956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B6E88A-2C1D-F94C-81D1-9C464DC85BB1}"/>
              </a:ext>
            </a:extLst>
          </p:cNvPr>
          <p:cNvSpPr txBox="1"/>
          <p:nvPr/>
        </p:nvSpPr>
        <p:spPr>
          <a:xfrm>
            <a:off x="381000" y="228600"/>
            <a:ext cx="6019800" cy="584775"/>
          </a:xfrm>
          <a:prstGeom prst="rect">
            <a:avLst/>
          </a:prstGeom>
          <a:noFill/>
        </p:spPr>
        <p:txBody>
          <a:bodyPr wrap="square" rtlCol="0">
            <a:spAutoFit/>
          </a:bodyPr>
          <a:lstStyle/>
          <a:p>
            <a:r>
              <a:rPr lang="en-US" sz="3200" dirty="0">
                <a:solidFill>
                  <a:srgbClr val="C00000"/>
                </a:solidFill>
              </a:rPr>
              <a:t>3. The art of the title</a:t>
            </a:r>
          </a:p>
        </p:txBody>
      </p:sp>
      <p:sp>
        <p:nvSpPr>
          <p:cNvPr id="4" name="TextBox 3">
            <a:extLst>
              <a:ext uri="{FF2B5EF4-FFF2-40B4-BE49-F238E27FC236}">
                <a16:creationId xmlns:a16="http://schemas.microsoft.com/office/drawing/2014/main" id="{646C993D-719E-0243-8DDC-0F76C303F9A6}"/>
              </a:ext>
            </a:extLst>
          </p:cNvPr>
          <p:cNvSpPr txBox="1"/>
          <p:nvPr/>
        </p:nvSpPr>
        <p:spPr>
          <a:xfrm>
            <a:off x="533400" y="1447800"/>
            <a:ext cx="8077200" cy="4893647"/>
          </a:xfrm>
          <a:prstGeom prst="rect">
            <a:avLst/>
          </a:prstGeom>
          <a:noFill/>
        </p:spPr>
        <p:txBody>
          <a:bodyPr wrap="square" rtlCol="0">
            <a:spAutoFit/>
          </a:bodyPr>
          <a:lstStyle/>
          <a:p>
            <a:r>
              <a:rPr lang="en-US" sz="2600" dirty="0"/>
              <a:t>The unspoken rules of the title:</a:t>
            </a:r>
          </a:p>
          <a:p>
            <a:endParaRPr lang="en-US" sz="2600" dirty="0"/>
          </a:p>
          <a:p>
            <a:pPr marL="457200" indent="-457200">
              <a:buFont typeface="+mj-lt"/>
              <a:buAutoNum type="arabicPeriod"/>
            </a:pPr>
            <a:r>
              <a:rPr lang="en-US" sz="2600" dirty="0"/>
              <a:t>Don’t underestimate the power that your title can have</a:t>
            </a:r>
          </a:p>
          <a:p>
            <a:pPr marL="457200" indent="-457200">
              <a:buFont typeface="+mj-lt"/>
              <a:buAutoNum type="arabicPeriod"/>
            </a:pPr>
            <a:r>
              <a:rPr lang="en-US" sz="2600" dirty="0"/>
              <a:t>Tailor the title to your audience, which may be dictated by the choice of journal</a:t>
            </a:r>
          </a:p>
          <a:p>
            <a:pPr marL="457200" indent="-457200">
              <a:buFont typeface="+mj-lt"/>
              <a:buAutoNum type="arabicPeriod"/>
            </a:pPr>
            <a:r>
              <a:rPr lang="en-US" sz="2600" dirty="0"/>
              <a:t>Too broad, and you risk disappointing people</a:t>
            </a:r>
          </a:p>
          <a:p>
            <a:pPr marL="457200" indent="-457200">
              <a:buFont typeface="+mj-lt"/>
              <a:buAutoNum type="arabicPeriod"/>
            </a:pPr>
            <a:r>
              <a:rPr lang="en-US" sz="2600" dirty="0"/>
              <a:t>Too narrow, and you risk selling yourself short</a:t>
            </a:r>
          </a:p>
          <a:p>
            <a:pPr marL="457200" indent="-457200">
              <a:buFont typeface="+mj-lt"/>
              <a:buAutoNum type="arabicPeriod"/>
            </a:pPr>
            <a:r>
              <a:rPr lang="en-US" sz="2600" dirty="0"/>
              <a:t>When in doubt, use a title that tells the main message</a:t>
            </a:r>
          </a:p>
          <a:p>
            <a:pPr marL="457200" indent="-457200">
              <a:buFont typeface="+mj-lt"/>
              <a:buAutoNum type="arabicPeriod"/>
            </a:pPr>
            <a:endParaRPr lang="en-US" sz="2600" dirty="0"/>
          </a:p>
          <a:p>
            <a:pPr marL="457200" indent="-457200">
              <a:buFont typeface="+mj-lt"/>
              <a:buAutoNum type="arabicPeriod"/>
            </a:pPr>
            <a:endParaRPr lang="en-US" sz="2600" dirty="0"/>
          </a:p>
          <a:p>
            <a:r>
              <a:rPr lang="en-US" sz="2600" dirty="0"/>
              <a:t>Many people will </a:t>
            </a:r>
            <a:r>
              <a:rPr lang="en-US" sz="2600" i="1" dirty="0"/>
              <a:t>only </a:t>
            </a:r>
            <a:r>
              <a:rPr lang="en-US" sz="2600" dirty="0"/>
              <a:t>read the title. </a:t>
            </a:r>
          </a:p>
          <a:p>
            <a:r>
              <a:rPr lang="en-US" sz="2600" dirty="0"/>
              <a:t>What would you want those people to know?</a:t>
            </a:r>
            <a:endParaRPr lang="en-US" sz="2400" dirty="0"/>
          </a:p>
        </p:txBody>
      </p:sp>
    </p:spTree>
    <p:extLst>
      <p:ext uri="{BB962C8B-B14F-4D97-AF65-F5344CB8AC3E}">
        <p14:creationId xmlns:p14="http://schemas.microsoft.com/office/powerpoint/2010/main" val="175890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1382018"/>
            <a:ext cx="8534400" cy="5293757"/>
          </a:xfrm>
          <a:prstGeom prst="rect">
            <a:avLst/>
          </a:prstGeom>
        </p:spPr>
        <p:txBody>
          <a:bodyPr wrap="square">
            <a:spAutoFit/>
          </a:bodyPr>
          <a:lstStyle/>
          <a:p>
            <a:r>
              <a:rPr lang="en-US" sz="2600" dirty="0"/>
              <a:t>1.  Choose a single journal article that speaks to you in some way. It does not have to be on the same topic as your project. This choice is very important.  You will read that article closely, write about it, tease it apart, present it to the class, and in other ways make it a focal part of your experience in this course. </a:t>
            </a:r>
            <a:r>
              <a:rPr lang="en-US" sz="2600" b="1" dirty="0"/>
              <a:t>It will be the basis of your poster later in the course. </a:t>
            </a:r>
            <a:r>
              <a:rPr lang="en-US" sz="2600" dirty="0"/>
              <a:t>We will continue looking in class on Thursday. </a:t>
            </a:r>
          </a:p>
          <a:p>
            <a:endParaRPr lang="en-US" sz="2600" dirty="0">
              <a:solidFill>
                <a:srgbClr val="0070C0"/>
              </a:solidFill>
            </a:endParaRPr>
          </a:p>
          <a:p>
            <a:r>
              <a:rPr lang="en-US" sz="2600" dirty="0"/>
              <a:t>2. Write down a refined question for your research paper, including a set of hypotheses (H-null and H-alternative) for your project. I will do one-on-ones with you today about continuing to refine your project.  </a:t>
            </a:r>
            <a:r>
              <a:rPr lang="en-US" sz="2600" b="1" u="sng" dirty="0"/>
              <a:t>This is due before class Thursday. </a:t>
            </a:r>
            <a:r>
              <a:rPr lang="en-US" sz="2600"/>
              <a:t>Submit on canvas. </a:t>
            </a:r>
            <a:endParaRPr lang="en-US" sz="2600" b="1" u="sng" dirty="0"/>
          </a:p>
        </p:txBody>
      </p:sp>
      <p:sp>
        <p:nvSpPr>
          <p:cNvPr id="5" name="TextBox 4"/>
          <p:cNvSpPr txBox="1"/>
          <p:nvPr/>
        </p:nvSpPr>
        <p:spPr>
          <a:xfrm>
            <a:off x="609600" y="304800"/>
            <a:ext cx="5715000" cy="1077218"/>
          </a:xfrm>
          <a:prstGeom prst="rect">
            <a:avLst/>
          </a:prstGeom>
          <a:noFill/>
        </p:spPr>
        <p:txBody>
          <a:bodyPr wrap="square" rtlCol="0">
            <a:spAutoFit/>
          </a:bodyPr>
          <a:lstStyle/>
          <a:p>
            <a:r>
              <a:rPr lang="en-US" sz="3200" b="1" dirty="0">
                <a:solidFill>
                  <a:srgbClr val="C00000"/>
                </a:solidFill>
              </a:rPr>
              <a:t>Assignments for today and Thursday:</a:t>
            </a:r>
          </a:p>
        </p:txBody>
      </p:sp>
    </p:spTree>
    <p:extLst>
      <p:ext uri="{BB962C8B-B14F-4D97-AF65-F5344CB8AC3E}">
        <p14:creationId xmlns:p14="http://schemas.microsoft.com/office/powerpoint/2010/main" val="861338099"/>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1F497D"/>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14818</TotalTime>
  <Words>1320</Words>
  <Application>Microsoft Macintosh PowerPoint</Application>
  <PresentationFormat>On-screen Show (4:3)</PresentationFormat>
  <Paragraphs>261</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 Narrow</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 Quinn</dc:creator>
  <cp:lastModifiedBy>Luke M. Tornabene</cp:lastModifiedBy>
  <cp:revision>147</cp:revision>
  <dcterms:created xsi:type="dcterms:W3CDTF">2011-10-19T19:32:16Z</dcterms:created>
  <dcterms:modified xsi:type="dcterms:W3CDTF">2024-04-02T21:15:02Z</dcterms:modified>
</cp:coreProperties>
</file>
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304" r:id="rId3"/>
    <p:sldId id="259" r:id="rId4"/>
    <p:sldId id="313" r:id="rId5"/>
    <p:sldId id="305" r:id="rId6"/>
    <p:sldId id="306" r:id="rId7"/>
    <p:sldId id="335" r:id="rId8"/>
    <p:sldId id="308" r:id="rId9"/>
    <p:sldId id="309" r:id="rId10"/>
    <p:sldId id="311" r:id="rId11"/>
    <p:sldId id="316" r:id="rId12"/>
    <p:sldId id="336" r:id="rId13"/>
    <p:sldId id="317" r:id="rId14"/>
    <p:sldId id="320" r:id="rId15"/>
    <p:sldId id="321" r:id="rId16"/>
    <p:sldId id="322" r:id="rId17"/>
    <p:sldId id="342" r:id="rId18"/>
    <p:sldId id="324" r:id="rId19"/>
    <p:sldId id="325" r:id="rId20"/>
    <p:sldId id="326" r:id="rId21"/>
    <p:sldId id="286" r:id="rId22"/>
    <p:sldId id="331" r:id="rId23"/>
    <p:sldId id="337" r:id="rId24"/>
    <p:sldId id="307" r:id="rId25"/>
    <p:sldId id="339" r:id="rId26"/>
    <p:sldId id="281" r:id="rId27"/>
    <p:sldId id="343" r:id="rId28"/>
    <p:sldId id="332" r:id="rId29"/>
    <p:sldId id="344" r:id="rId30"/>
    <p:sldId id="333" r:id="rId31"/>
    <p:sldId id="30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48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9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chel%20Hovel\Desktop\Graphing%20exampl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chel%20Hovel\Desktop\Graphing%20exampl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chel%20Hovel\Desktop\Graphing%20examp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Anglerfish</a:t>
            </a:r>
            <a:r>
              <a:rPr lang="en-US" sz="1400" baseline="0"/>
              <a:t> capture depth and fork length</a:t>
            </a:r>
            <a:endParaRPr lang="en-US" sz="1400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'[Graphing examples.xlsx]Scatterplot'!$A$2</c:f>
              <c:strCache>
                <c:ptCount val="1"/>
                <c:pt idx="0">
                  <c:v>fangtooth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4"/>
            <c:spPr>
              <a:solidFill>
                <a:schemeClr val="bg1">
                  <a:lumMod val="65000"/>
                </a:schemeClr>
              </a:solidFill>
              <a:ln>
                <a:noFill/>
              </a:ln>
            </c:spPr>
          </c:marker>
          <c:trendline>
            <c:spPr>
              <a:ln w="31750"/>
            </c:spPr>
            <c:trendlineType val="linear"/>
            <c:dispRSqr val="1"/>
            <c:dispEq val="0"/>
            <c:trendlineLbl>
              <c:layout>
                <c:manualLayout>
                  <c:x val="4.0930008748906399E-2"/>
                  <c:y val="-0.24771872265966799"/>
                </c:manualLayout>
              </c:layout>
              <c:numFmt formatCode="General" sourceLinked="0"/>
            </c:trendlineLbl>
          </c:trendline>
          <c:xVal>
            <c:numRef>
              <c:f>'[Graphing examples.xlsx]Scatterplot'!$C$2:$C$101</c:f>
              <c:numCache>
                <c:formatCode>0</c:formatCode>
                <c:ptCount val="100"/>
                <c:pt idx="0">
                  <c:v>725</c:v>
                </c:pt>
                <c:pt idx="1">
                  <c:v>487</c:v>
                </c:pt>
                <c:pt idx="2">
                  <c:v>710</c:v>
                </c:pt>
                <c:pt idx="3">
                  <c:v>647</c:v>
                </c:pt>
                <c:pt idx="4">
                  <c:v>402</c:v>
                </c:pt>
                <c:pt idx="5">
                  <c:v>696</c:v>
                </c:pt>
                <c:pt idx="6">
                  <c:v>418</c:v>
                </c:pt>
                <c:pt idx="7">
                  <c:v>718</c:v>
                </c:pt>
                <c:pt idx="8">
                  <c:v>523</c:v>
                </c:pt>
                <c:pt idx="9">
                  <c:v>660</c:v>
                </c:pt>
                <c:pt idx="10">
                  <c:v>611</c:v>
                </c:pt>
                <c:pt idx="11">
                  <c:v>678</c:v>
                </c:pt>
                <c:pt idx="12">
                  <c:v>422</c:v>
                </c:pt>
                <c:pt idx="13">
                  <c:v>588</c:v>
                </c:pt>
                <c:pt idx="14">
                  <c:v>517</c:v>
                </c:pt>
                <c:pt idx="15">
                  <c:v>681</c:v>
                </c:pt>
                <c:pt idx="16">
                  <c:v>463</c:v>
                </c:pt>
                <c:pt idx="17">
                  <c:v>490</c:v>
                </c:pt>
                <c:pt idx="18">
                  <c:v>501</c:v>
                </c:pt>
                <c:pt idx="19">
                  <c:v>462</c:v>
                </c:pt>
                <c:pt idx="20">
                  <c:v>585</c:v>
                </c:pt>
                <c:pt idx="21">
                  <c:v>657</c:v>
                </c:pt>
                <c:pt idx="22">
                  <c:v>521</c:v>
                </c:pt>
                <c:pt idx="23">
                  <c:v>467</c:v>
                </c:pt>
                <c:pt idx="24">
                  <c:v>488</c:v>
                </c:pt>
                <c:pt idx="25">
                  <c:v>519</c:v>
                </c:pt>
                <c:pt idx="26">
                  <c:v>525</c:v>
                </c:pt>
                <c:pt idx="27">
                  <c:v>600</c:v>
                </c:pt>
                <c:pt idx="28">
                  <c:v>622</c:v>
                </c:pt>
                <c:pt idx="29">
                  <c:v>550</c:v>
                </c:pt>
                <c:pt idx="30">
                  <c:v>656</c:v>
                </c:pt>
                <c:pt idx="31">
                  <c:v>540</c:v>
                </c:pt>
                <c:pt idx="32">
                  <c:v>711</c:v>
                </c:pt>
                <c:pt idx="33">
                  <c:v>629</c:v>
                </c:pt>
                <c:pt idx="34">
                  <c:v>500</c:v>
                </c:pt>
                <c:pt idx="35">
                  <c:v>512</c:v>
                </c:pt>
                <c:pt idx="36">
                  <c:v>406</c:v>
                </c:pt>
                <c:pt idx="37">
                  <c:v>743</c:v>
                </c:pt>
                <c:pt idx="38">
                  <c:v>444</c:v>
                </c:pt>
                <c:pt idx="39">
                  <c:v>522</c:v>
                </c:pt>
                <c:pt idx="40">
                  <c:v>588</c:v>
                </c:pt>
                <c:pt idx="41">
                  <c:v>517</c:v>
                </c:pt>
                <c:pt idx="42">
                  <c:v>411</c:v>
                </c:pt>
                <c:pt idx="43">
                  <c:v>439</c:v>
                </c:pt>
                <c:pt idx="44">
                  <c:v>741</c:v>
                </c:pt>
                <c:pt idx="45">
                  <c:v>541</c:v>
                </c:pt>
                <c:pt idx="46">
                  <c:v>686</c:v>
                </c:pt>
                <c:pt idx="47">
                  <c:v>710</c:v>
                </c:pt>
                <c:pt idx="48">
                  <c:v>634</c:v>
                </c:pt>
                <c:pt idx="49">
                  <c:v>566</c:v>
                </c:pt>
                <c:pt idx="50">
                  <c:v>695</c:v>
                </c:pt>
                <c:pt idx="51">
                  <c:v>726</c:v>
                </c:pt>
                <c:pt idx="52">
                  <c:v>434</c:v>
                </c:pt>
                <c:pt idx="53">
                  <c:v>581</c:v>
                </c:pt>
                <c:pt idx="54">
                  <c:v>733</c:v>
                </c:pt>
                <c:pt idx="55">
                  <c:v>719</c:v>
                </c:pt>
                <c:pt idx="56">
                  <c:v>497</c:v>
                </c:pt>
                <c:pt idx="57">
                  <c:v>728</c:v>
                </c:pt>
                <c:pt idx="58">
                  <c:v>634</c:v>
                </c:pt>
                <c:pt idx="59">
                  <c:v>728</c:v>
                </c:pt>
                <c:pt idx="60">
                  <c:v>647</c:v>
                </c:pt>
                <c:pt idx="61">
                  <c:v>623</c:v>
                </c:pt>
                <c:pt idx="62">
                  <c:v>497</c:v>
                </c:pt>
                <c:pt idx="63">
                  <c:v>530</c:v>
                </c:pt>
                <c:pt idx="64">
                  <c:v>499</c:v>
                </c:pt>
                <c:pt idx="65">
                  <c:v>605</c:v>
                </c:pt>
                <c:pt idx="66">
                  <c:v>582</c:v>
                </c:pt>
                <c:pt idx="67">
                  <c:v>649</c:v>
                </c:pt>
                <c:pt idx="68">
                  <c:v>596</c:v>
                </c:pt>
                <c:pt idx="69">
                  <c:v>619</c:v>
                </c:pt>
                <c:pt idx="70">
                  <c:v>725</c:v>
                </c:pt>
                <c:pt idx="71">
                  <c:v>533</c:v>
                </c:pt>
                <c:pt idx="72">
                  <c:v>662</c:v>
                </c:pt>
                <c:pt idx="73">
                  <c:v>585</c:v>
                </c:pt>
                <c:pt idx="74">
                  <c:v>672</c:v>
                </c:pt>
                <c:pt idx="75">
                  <c:v>632</c:v>
                </c:pt>
                <c:pt idx="76">
                  <c:v>651</c:v>
                </c:pt>
                <c:pt idx="77">
                  <c:v>669</c:v>
                </c:pt>
                <c:pt idx="78">
                  <c:v>654</c:v>
                </c:pt>
                <c:pt idx="79">
                  <c:v>552</c:v>
                </c:pt>
                <c:pt idx="80">
                  <c:v>440</c:v>
                </c:pt>
                <c:pt idx="81">
                  <c:v>505</c:v>
                </c:pt>
                <c:pt idx="82">
                  <c:v>717</c:v>
                </c:pt>
                <c:pt idx="83">
                  <c:v>489</c:v>
                </c:pt>
                <c:pt idx="84">
                  <c:v>600</c:v>
                </c:pt>
                <c:pt idx="85">
                  <c:v>529</c:v>
                </c:pt>
                <c:pt idx="86">
                  <c:v>570</c:v>
                </c:pt>
                <c:pt idx="87">
                  <c:v>473</c:v>
                </c:pt>
                <c:pt idx="88">
                  <c:v>588</c:v>
                </c:pt>
                <c:pt idx="89">
                  <c:v>520</c:v>
                </c:pt>
                <c:pt idx="90">
                  <c:v>558</c:v>
                </c:pt>
                <c:pt idx="91">
                  <c:v>637</c:v>
                </c:pt>
                <c:pt idx="92">
                  <c:v>509</c:v>
                </c:pt>
                <c:pt idx="93">
                  <c:v>538</c:v>
                </c:pt>
                <c:pt idx="94">
                  <c:v>691</c:v>
                </c:pt>
                <c:pt idx="95">
                  <c:v>688</c:v>
                </c:pt>
                <c:pt idx="96">
                  <c:v>465</c:v>
                </c:pt>
                <c:pt idx="97">
                  <c:v>715</c:v>
                </c:pt>
                <c:pt idx="98">
                  <c:v>514</c:v>
                </c:pt>
                <c:pt idx="99">
                  <c:v>664</c:v>
                </c:pt>
              </c:numCache>
            </c:numRef>
          </c:xVal>
          <c:yVal>
            <c:numRef>
              <c:f>'[Graphing examples.xlsx]Scatterplot'!$D$2:$D$101</c:f>
              <c:numCache>
                <c:formatCode>0</c:formatCode>
                <c:ptCount val="100"/>
                <c:pt idx="0">
                  <c:v>1.00405632521932</c:v>
                </c:pt>
                <c:pt idx="1">
                  <c:v>20.27220699740629</c:v>
                </c:pt>
                <c:pt idx="2">
                  <c:v>18.476064673997591</c:v>
                </c:pt>
                <c:pt idx="3">
                  <c:v>31.725475744212599</c:v>
                </c:pt>
                <c:pt idx="4">
                  <c:v>9.2195867465189743</c:v>
                </c:pt>
                <c:pt idx="5">
                  <c:v>11.94932229541584</c:v>
                </c:pt>
                <c:pt idx="6">
                  <c:v>25.855925805472179</c:v>
                </c:pt>
                <c:pt idx="7">
                  <c:v>9.9004647250945688</c:v>
                </c:pt>
                <c:pt idx="8">
                  <c:v>19.197848875627081</c:v>
                </c:pt>
                <c:pt idx="9">
                  <c:v>15.95089374540351</c:v>
                </c:pt>
                <c:pt idx="10">
                  <c:v>19.112449828146641</c:v>
                </c:pt>
                <c:pt idx="11">
                  <c:v>23.48455125278112</c:v>
                </c:pt>
                <c:pt idx="12">
                  <c:v>12.287693283858459</c:v>
                </c:pt>
                <c:pt idx="13">
                  <c:v>15.24426389412622</c:v>
                </c:pt>
                <c:pt idx="14">
                  <c:v>10.68235910151647</c:v>
                </c:pt>
                <c:pt idx="15">
                  <c:v>16.98271445720281</c:v>
                </c:pt>
                <c:pt idx="16">
                  <c:v>18.996537794561679</c:v>
                </c:pt>
                <c:pt idx="17">
                  <c:v>38.811849135012729</c:v>
                </c:pt>
                <c:pt idx="18">
                  <c:v>23.88211719967854</c:v>
                </c:pt>
                <c:pt idx="19">
                  <c:v>20.6939774008416</c:v>
                </c:pt>
                <c:pt idx="20">
                  <c:v>38.726924572015683</c:v>
                </c:pt>
                <c:pt idx="21">
                  <c:v>14.5754223447958</c:v>
                </c:pt>
                <c:pt idx="22">
                  <c:v>24.37166683892973</c:v>
                </c:pt>
                <c:pt idx="23">
                  <c:v>38.690373855082463</c:v>
                </c:pt>
                <c:pt idx="24">
                  <c:v>24.05233717415129</c:v>
                </c:pt>
                <c:pt idx="25">
                  <c:v>37.956341767898422</c:v>
                </c:pt>
                <c:pt idx="26">
                  <c:v>27.56449291180969</c:v>
                </c:pt>
                <c:pt idx="27">
                  <c:v>35.631001749204387</c:v>
                </c:pt>
                <c:pt idx="28">
                  <c:v>44.437735426730526</c:v>
                </c:pt>
                <c:pt idx="29">
                  <c:v>37.383742215445153</c:v>
                </c:pt>
                <c:pt idx="30">
                  <c:v>18.980515724563489</c:v>
                </c:pt>
                <c:pt idx="31">
                  <c:v>11.195706370618421</c:v>
                </c:pt>
                <c:pt idx="32">
                  <c:v>38.621036191807072</c:v>
                </c:pt>
                <c:pt idx="33">
                  <c:v>43.4520158246278</c:v>
                </c:pt>
                <c:pt idx="34">
                  <c:v>47.767118349852844</c:v>
                </c:pt>
                <c:pt idx="35">
                  <c:v>19.247612953550519</c:v>
                </c:pt>
                <c:pt idx="36">
                  <c:v>44.477629976002078</c:v>
                </c:pt>
                <c:pt idx="37">
                  <c:v>48.988771255021668</c:v>
                </c:pt>
                <c:pt idx="38">
                  <c:v>48.157830034232333</c:v>
                </c:pt>
                <c:pt idx="39">
                  <c:v>5.5746174672504676</c:v>
                </c:pt>
                <c:pt idx="40">
                  <c:v>30.862387042417112</c:v>
                </c:pt>
                <c:pt idx="41">
                  <c:v>50.814757912389567</c:v>
                </c:pt>
                <c:pt idx="42">
                  <c:v>32.282642130055763</c:v>
                </c:pt>
                <c:pt idx="43">
                  <c:v>24.127429098634369</c:v>
                </c:pt>
                <c:pt idx="44">
                  <c:v>11.68254489384945</c:v>
                </c:pt>
                <c:pt idx="45">
                  <c:v>41.763496646548163</c:v>
                </c:pt>
                <c:pt idx="46">
                  <c:v>18.976571474550649</c:v>
                </c:pt>
                <c:pt idx="47">
                  <c:v>51.000844390452848</c:v>
                </c:pt>
                <c:pt idx="48">
                  <c:v>58.816273292149901</c:v>
                </c:pt>
                <c:pt idx="49">
                  <c:v>39.483634978900163</c:v>
                </c:pt>
                <c:pt idx="50">
                  <c:v>37.73299139272148</c:v>
                </c:pt>
                <c:pt idx="51">
                  <c:v>25.248305211975339</c:v>
                </c:pt>
                <c:pt idx="52">
                  <c:v>31.868885748495732</c:v>
                </c:pt>
                <c:pt idx="53">
                  <c:v>29.945630032032948</c:v>
                </c:pt>
                <c:pt idx="54">
                  <c:v>25.199544314031471</c:v>
                </c:pt>
                <c:pt idx="55">
                  <c:v>47.997719505009357</c:v>
                </c:pt>
                <c:pt idx="56">
                  <c:v>57.570114063967132</c:v>
                </c:pt>
                <c:pt idx="57">
                  <c:v>40.859203084600992</c:v>
                </c:pt>
                <c:pt idx="58">
                  <c:v>42.325692966706008</c:v>
                </c:pt>
                <c:pt idx="59">
                  <c:v>47.028425728896011</c:v>
                </c:pt>
                <c:pt idx="60">
                  <c:v>28.580703040367819</c:v>
                </c:pt>
                <c:pt idx="61">
                  <c:v>21.243402054727099</c:v>
                </c:pt>
                <c:pt idx="62">
                  <c:v>27.329414981251251</c:v>
                </c:pt>
                <c:pt idx="63">
                  <c:v>52.913943168603531</c:v>
                </c:pt>
                <c:pt idx="64">
                  <c:v>19.058992254303561</c:v>
                </c:pt>
                <c:pt idx="65">
                  <c:v>14.20634179916294</c:v>
                </c:pt>
                <c:pt idx="66">
                  <c:v>10.5519842455593</c:v>
                </c:pt>
                <c:pt idx="67">
                  <c:v>38.624573779226218</c:v>
                </c:pt>
                <c:pt idx="68">
                  <c:v>48.173159136872172</c:v>
                </c:pt>
                <c:pt idx="69">
                  <c:v>41.798384205219001</c:v>
                </c:pt>
                <c:pt idx="70">
                  <c:v>19.00687312918112</c:v>
                </c:pt>
                <c:pt idx="71">
                  <c:v>61.686332385483666</c:v>
                </c:pt>
                <c:pt idx="72">
                  <c:v>37.116204389551513</c:v>
                </c:pt>
                <c:pt idx="73">
                  <c:v>19.817799566500209</c:v>
                </c:pt>
                <c:pt idx="74">
                  <c:v>3.8127655338690079</c:v>
                </c:pt>
                <c:pt idx="75">
                  <c:v>57.3931925366862</c:v>
                </c:pt>
                <c:pt idx="76">
                  <c:v>33.221378031319482</c:v>
                </c:pt>
                <c:pt idx="77">
                  <c:v>36.378518438341757</c:v>
                </c:pt>
                <c:pt idx="78">
                  <c:v>52.479857161058852</c:v>
                </c:pt>
                <c:pt idx="79">
                  <c:v>20.866554833320141</c:v>
                </c:pt>
                <c:pt idx="80">
                  <c:v>24.422081799964889</c:v>
                </c:pt>
                <c:pt idx="81">
                  <c:v>51.405162316976231</c:v>
                </c:pt>
                <c:pt idx="82">
                  <c:v>29.82165385890017</c:v>
                </c:pt>
                <c:pt idx="83">
                  <c:v>17.83940176084576</c:v>
                </c:pt>
                <c:pt idx="84">
                  <c:v>74.26646741238001</c:v>
                </c:pt>
                <c:pt idx="85">
                  <c:v>27.97056002925855</c:v>
                </c:pt>
                <c:pt idx="86">
                  <c:v>26.996070180433321</c:v>
                </c:pt>
                <c:pt idx="87">
                  <c:v>41.736022501802353</c:v>
                </c:pt>
                <c:pt idx="88">
                  <c:v>59.632587443923768</c:v>
                </c:pt>
                <c:pt idx="89">
                  <c:v>61.319476522790573</c:v>
                </c:pt>
                <c:pt idx="90">
                  <c:v>53.976736877789278</c:v>
                </c:pt>
                <c:pt idx="91">
                  <c:v>3.2624698630510629</c:v>
                </c:pt>
                <c:pt idx="92">
                  <c:v>26.405643687222479</c:v>
                </c:pt>
                <c:pt idx="93">
                  <c:v>9.8519945592716702</c:v>
                </c:pt>
                <c:pt idx="94">
                  <c:v>59.919012378528301</c:v>
                </c:pt>
                <c:pt idx="95">
                  <c:v>57.759510219898502</c:v>
                </c:pt>
                <c:pt idx="96">
                  <c:v>8.83244812854457</c:v>
                </c:pt>
                <c:pt idx="97">
                  <c:v>44.463836482985123</c:v>
                </c:pt>
                <c:pt idx="98">
                  <c:v>40.266660537956326</c:v>
                </c:pt>
                <c:pt idx="99">
                  <c:v>15.597929920611181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765-429E-9A6A-A7F8F32798F4}"/>
            </c:ext>
          </c:extLst>
        </c:ser>
        <c:ser>
          <c:idx val="1"/>
          <c:order val="1"/>
          <c:tx>
            <c:strRef>
              <c:f>'[Graphing examples.xlsx]Scatterplot'!$A$102</c:f>
              <c:strCache>
                <c:ptCount val="1"/>
                <c:pt idx="0">
                  <c:v>viperfish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3"/>
            <c:spPr>
              <a:solidFill>
                <a:schemeClr val="bg2">
                  <a:lumMod val="10000"/>
                </a:schemeClr>
              </a:solidFill>
              <a:ln>
                <a:noFill/>
              </a:ln>
            </c:spPr>
          </c:marker>
          <c:trendline>
            <c:spPr>
              <a:ln w="31750">
                <a:prstDash val="solid"/>
              </a:ln>
            </c:spPr>
            <c:trendlineType val="linear"/>
            <c:dispRSqr val="1"/>
            <c:dispEq val="0"/>
            <c:trendlineLbl>
              <c:layout>
                <c:manualLayout>
                  <c:x val="-0.43793153980752397"/>
                  <c:y val="-0.20122265966754199"/>
                </c:manualLayout>
              </c:layout>
              <c:numFmt formatCode="General" sourceLinked="0"/>
            </c:trendlineLbl>
          </c:trendline>
          <c:xVal>
            <c:numRef>
              <c:f>'[Graphing examples.xlsx]Scatterplot'!$C$102:$C$200</c:f>
              <c:numCache>
                <c:formatCode>0</c:formatCode>
                <c:ptCount val="99"/>
                <c:pt idx="0">
                  <c:v>312.41488688363631</c:v>
                </c:pt>
                <c:pt idx="1">
                  <c:v>382.58929725925202</c:v>
                </c:pt>
                <c:pt idx="2">
                  <c:v>381.46251063904202</c:v>
                </c:pt>
                <c:pt idx="3">
                  <c:v>300.88550154356437</c:v>
                </c:pt>
                <c:pt idx="4">
                  <c:v>446.71165824494221</c:v>
                </c:pt>
                <c:pt idx="5">
                  <c:v>475.81161269564461</c:v>
                </c:pt>
                <c:pt idx="6">
                  <c:v>322.57918493938348</c:v>
                </c:pt>
                <c:pt idx="7">
                  <c:v>524.17362263015605</c:v>
                </c:pt>
                <c:pt idx="8">
                  <c:v>147.21816294716069</c:v>
                </c:pt>
                <c:pt idx="9">
                  <c:v>128.07496039074081</c:v>
                </c:pt>
                <c:pt idx="10">
                  <c:v>462.28844378887692</c:v>
                </c:pt>
                <c:pt idx="11">
                  <c:v>516.98131155025351</c:v>
                </c:pt>
                <c:pt idx="12">
                  <c:v>489.36853247559122</c:v>
                </c:pt>
                <c:pt idx="13">
                  <c:v>256.10329277461022</c:v>
                </c:pt>
                <c:pt idx="14">
                  <c:v>597.25999753624944</c:v>
                </c:pt>
                <c:pt idx="15">
                  <c:v>472.71621928457159</c:v>
                </c:pt>
                <c:pt idx="16">
                  <c:v>204.68808208834619</c:v>
                </c:pt>
                <c:pt idx="17">
                  <c:v>266.95746124503069</c:v>
                </c:pt>
                <c:pt idx="18">
                  <c:v>247.6062546062069</c:v>
                </c:pt>
                <c:pt idx="19">
                  <c:v>404.25632439154208</c:v>
                </c:pt>
                <c:pt idx="20">
                  <c:v>445.62224424750582</c:v>
                </c:pt>
                <c:pt idx="21">
                  <c:v>416.37622069969979</c:v>
                </c:pt>
                <c:pt idx="22">
                  <c:v>396.91680935138749</c:v>
                </c:pt>
                <c:pt idx="23">
                  <c:v>493.34609628961039</c:v>
                </c:pt>
                <c:pt idx="24">
                  <c:v>593.8368436413366</c:v>
                </c:pt>
                <c:pt idx="25">
                  <c:v>371.796866890302</c:v>
                </c:pt>
                <c:pt idx="26">
                  <c:v>509.81836155110221</c:v>
                </c:pt>
                <c:pt idx="27">
                  <c:v>298.007625725352</c:v>
                </c:pt>
                <c:pt idx="28">
                  <c:v>144.0432377099911</c:v>
                </c:pt>
                <c:pt idx="29">
                  <c:v>282.43601807711048</c:v>
                </c:pt>
                <c:pt idx="30">
                  <c:v>296.93209036635221</c:v>
                </c:pt>
                <c:pt idx="31">
                  <c:v>398.30697327369222</c:v>
                </c:pt>
                <c:pt idx="32">
                  <c:v>207.91433992214959</c:v>
                </c:pt>
                <c:pt idx="33">
                  <c:v>193.64232201087381</c:v>
                </c:pt>
                <c:pt idx="34">
                  <c:v>250.43956526936259</c:v>
                </c:pt>
                <c:pt idx="35">
                  <c:v>256.19054462430711</c:v>
                </c:pt>
                <c:pt idx="36">
                  <c:v>574.00160624875116</c:v>
                </c:pt>
                <c:pt idx="37">
                  <c:v>176.90202904098919</c:v>
                </c:pt>
                <c:pt idx="38">
                  <c:v>460.9967006635826</c:v>
                </c:pt>
                <c:pt idx="39">
                  <c:v>528.70946425492207</c:v>
                </c:pt>
                <c:pt idx="40">
                  <c:v>156.2755797977907</c:v>
                </c:pt>
                <c:pt idx="41">
                  <c:v>240.61396028538601</c:v>
                </c:pt>
                <c:pt idx="42">
                  <c:v>465.80937214220722</c:v>
                </c:pt>
                <c:pt idx="43">
                  <c:v>161.00343165622709</c:v>
                </c:pt>
                <c:pt idx="44">
                  <c:v>210.86062600710599</c:v>
                </c:pt>
                <c:pt idx="45">
                  <c:v>348.103987316423</c:v>
                </c:pt>
                <c:pt idx="46">
                  <c:v>241.9727776228776</c:v>
                </c:pt>
                <c:pt idx="47">
                  <c:v>355.91432114361447</c:v>
                </c:pt>
                <c:pt idx="48">
                  <c:v>296.60677529877171</c:v>
                </c:pt>
                <c:pt idx="49">
                  <c:v>554.72551510774338</c:v>
                </c:pt>
                <c:pt idx="50">
                  <c:v>254.86355200743299</c:v>
                </c:pt>
                <c:pt idx="51">
                  <c:v>159.11735461063179</c:v>
                </c:pt>
                <c:pt idx="52">
                  <c:v>280.65138491723411</c:v>
                </c:pt>
                <c:pt idx="53">
                  <c:v>470.70978763459232</c:v>
                </c:pt>
                <c:pt idx="54">
                  <c:v>137.21908178132671</c:v>
                </c:pt>
                <c:pt idx="55">
                  <c:v>581.37450962319576</c:v>
                </c:pt>
                <c:pt idx="56">
                  <c:v>346.65412603924921</c:v>
                </c:pt>
                <c:pt idx="57">
                  <c:v>594.37405498380303</c:v>
                </c:pt>
                <c:pt idx="58">
                  <c:v>190.7403894275167</c:v>
                </c:pt>
                <c:pt idx="59">
                  <c:v>240.87403435206099</c:v>
                </c:pt>
                <c:pt idx="60">
                  <c:v>139.10987328868561</c:v>
                </c:pt>
                <c:pt idx="61">
                  <c:v>238.99778016979241</c:v>
                </c:pt>
                <c:pt idx="62">
                  <c:v>542.41681863382939</c:v>
                </c:pt>
                <c:pt idx="63">
                  <c:v>321.72775038616697</c:v>
                </c:pt>
                <c:pt idx="64">
                  <c:v>449.68327387510942</c:v>
                </c:pt>
                <c:pt idx="65">
                  <c:v>360.6178003910095</c:v>
                </c:pt>
                <c:pt idx="66">
                  <c:v>103.63818426664839</c:v>
                </c:pt>
                <c:pt idx="67">
                  <c:v>340.22884912052109</c:v>
                </c:pt>
                <c:pt idx="68">
                  <c:v>593.80392050738476</c:v>
                </c:pt>
                <c:pt idx="69">
                  <c:v>123.9088277308248</c:v>
                </c:pt>
                <c:pt idx="70">
                  <c:v>148.5195798620195</c:v>
                </c:pt>
                <c:pt idx="71">
                  <c:v>280.25570053448899</c:v>
                </c:pt>
                <c:pt idx="72">
                  <c:v>438.30909338167078</c:v>
                </c:pt>
                <c:pt idx="73">
                  <c:v>187.43662551051841</c:v>
                </c:pt>
                <c:pt idx="74">
                  <c:v>329.51448661510062</c:v>
                </c:pt>
                <c:pt idx="75">
                  <c:v>479.622386514428</c:v>
                </c:pt>
                <c:pt idx="76">
                  <c:v>169.807514731965</c:v>
                </c:pt>
                <c:pt idx="77">
                  <c:v>185.02143232451539</c:v>
                </c:pt>
                <c:pt idx="78">
                  <c:v>440.77942360490999</c:v>
                </c:pt>
                <c:pt idx="79">
                  <c:v>157.0477714389543</c:v>
                </c:pt>
                <c:pt idx="80">
                  <c:v>464.73433692914949</c:v>
                </c:pt>
                <c:pt idx="81">
                  <c:v>155.00570234023661</c:v>
                </c:pt>
                <c:pt idx="82">
                  <c:v>312.37835037703638</c:v>
                </c:pt>
                <c:pt idx="83">
                  <c:v>137.9395106222353</c:v>
                </c:pt>
                <c:pt idx="84">
                  <c:v>322.67472451366228</c:v>
                </c:pt>
                <c:pt idx="85">
                  <c:v>474.57721371668691</c:v>
                </c:pt>
                <c:pt idx="86">
                  <c:v>554.69112075587122</c:v>
                </c:pt>
                <c:pt idx="87">
                  <c:v>405.13639638660419</c:v>
                </c:pt>
                <c:pt idx="88">
                  <c:v>213.05493715159011</c:v>
                </c:pt>
                <c:pt idx="89">
                  <c:v>107.8148300614628</c:v>
                </c:pt>
                <c:pt idx="90">
                  <c:v>180.58875122922379</c:v>
                </c:pt>
                <c:pt idx="91">
                  <c:v>155.27844177951999</c:v>
                </c:pt>
                <c:pt idx="92">
                  <c:v>112.58694625766</c:v>
                </c:pt>
                <c:pt idx="93">
                  <c:v>155.94567311579829</c:v>
                </c:pt>
                <c:pt idx="94">
                  <c:v>467.19807385884451</c:v>
                </c:pt>
                <c:pt idx="95">
                  <c:v>351.09579628663857</c:v>
                </c:pt>
                <c:pt idx="96">
                  <c:v>375.61792855541438</c:v>
                </c:pt>
                <c:pt idx="97">
                  <c:v>295.62781928603829</c:v>
                </c:pt>
                <c:pt idx="98">
                  <c:v>362.90553411636921</c:v>
                </c:pt>
              </c:numCache>
            </c:numRef>
          </c:xVal>
          <c:yVal>
            <c:numRef>
              <c:f>'[Graphing examples.xlsx]Scatterplot'!$D$102:$D$200</c:f>
              <c:numCache>
                <c:formatCode>0</c:formatCode>
                <c:ptCount val="99"/>
                <c:pt idx="0">
                  <c:v>1.9930059214752001</c:v>
                </c:pt>
                <c:pt idx="1">
                  <c:v>3.3297889640963172</c:v>
                </c:pt>
                <c:pt idx="2">
                  <c:v>4.4366620634923803</c:v>
                </c:pt>
                <c:pt idx="3">
                  <c:v>4.1582551261373286</c:v>
                </c:pt>
                <c:pt idx="4">
                  <c:v>1.1945899125549331</c:v>
                </c:pt>
                <c:pt idx="5">
                  <c:v>4.0445744550345886</c:v>
                </c:pt>
                <c:pt idx="6">
                  <c:v>5.0566843030959676</c:v>
                </c:pt>
                <c:pt idx="7">
                  <c:v>2.1442826210537591</c:v>
                </c:pt>
                <c:pt idx="8">
                  <c:v>4.8830486416210324</c:v>
                </c:pt>
                <c:pt idx="9">
                  <c:v>3.878102308462557</c:v>
                </c:pt>
                <c:pt idx="10">
                  <c:v>5.9672390671608966</c:v>
                </c:pt>
                <c:pt idx="11">
                  <c:v>5.0900418194332318</c:v>
                </c:pt>
                <c:pt idx="12">
                  <c:v>6.0159893134684506</c:v>
                </c:pt>
                <c:pt idx="13">
                  <c:v>3.758342021957207</c:v>
                </c:pt>
                <c:pt idx="14">
                  <c:v>4.5741911741163399</c:v>
                </c:pt>
                <c:pt idx="15">
                  <c:v>5.3030640826680022</c:v>
                </c:pt>
                <c:pt idx="16">
                  <c:v>8.8738115428332272</c:v>
                </c:pt>
                <c:pt idx="17">
                  <c:v>11.088174375093701</c:v>
                </c:pt>
                <c:pt idx="18">
                  <c:v>12.20189826178758</c:v>
                </c:pt>
                <c:pt idx="19">
                  <c:v>6.7312520778313401</c:v>
                </c:pt>
                <c:pt idx="20">
                  <c:v>3.277763311928815</c:v>
                </c:pt>
                <c:pt idx="21">
                  <c:v>9.448305069257442</c:v>
                </c:pt>
                <c:pt idx="22">
                  <c:v>6.8147873454815686</c:v>
                </c:pt>
                <c:pt idx="23">
                  <c:v>9.3229581877343417</c:v>
                </c:pt>
                <c:pt idx="24">
                  <c:v>9.0963428739869698</c:v>
                </c:pt>
                <c:pt idx="25">
                  <c:v>5.6264263415658817</c:v>
                </c:pt>
                <c:pt idx="26">
                  <c:v>2.4841385193358332</c:v>
                </c:pt>
                <c:pt idx="27">
                  <c:v>16.41115160991772</c:v>
                </c:pt>
                <c:pt idx="28">
                  <c:v>10.83171018941648</c:v>
                </c:pt>
                <c:pt idx="29">
                  <c:v>18.631202973836889</c:v>
                </c:pt>
                <c:pt idx="30">
                  <c:v>16.580143189923731</c:v>
                </c:pt>
                <c:pt idx="31">
                  <c:v>2.5423011045934372</c:v>
                </c:pt>
                <c:pt idx="32">
                  <c:v>18.066936178506339</c:v>
                </c:pt>
                <c:pt idx="33">
                  <c:v>9.3598334666635399</c:v>
                </c:pt>
                <c:pt idx="34">
                  <c:v>17.398939385857499</c:v>
                </c:pt>
                <c:pt idx="35">
                  <c:v>8.3396740519726738</c:v>
                </c:pt>
                <c:pt idx="36">
                  <c:v>8.3207453979203052</c:v>
                </c:pt>
                <c:pt idx="37">
                  <c:v>13.98495093263042</c:v>
                </c:pt>
                <c:pt idx="38">
                  <c:v>4.4507290422218126</c:v>
                </c:pt>
                <c:pt idx="39">
                  <c:v>13.170836704764071</c:v>
                </c:pt>
                <c:pt idx="40">
                  <c:v>21.34956322811604</c:v>
                </c:pt>
                <c:pt idx="41">
                  <c:v>20.940498903642009</c:v>
                </c:pt>
                <c:pt idx="42">
                  <c:v>21.536024418419821</c:v>
                </c:pt>
                <c:pt idx="43">
                  <c:v>25.210324453730919</c:v>
                </c:pt>
                <c:pt idx="44">
                  <c:v>21.792533503263641</c:v>
                </c:pt>
                <c:pt idx="45">
                  <c:v>24.868027091868349</c:v>
                </c:pt>
                <c:pt idx="46">
                  <c:v>9.8444499948018969</c:v>
                </c:pt>
                <c:pt idx="47">
                  <c:v>22.596297596018101</c:v>
                </c:pt>
                <c:pt idx="48">
                  <c:v>14.164284300248729</c:v>
                </c:pt>
                <c:pt idx="49">
                  <c:v>5.95488889870962</c:v>
                </c:pt>
                <c:pt idx="50">
                  <c:v>7.4571570487056444</c:v>
                </c:pt>
                <c:pt idx="51">
                  <c:v>19.165592708299929</c:v>
                </c:pt>
                <c:pt idx="52">
                  <c:v>11.685653522416199</c:v>
                </c:pt>
                <c:pt idx="53">
                  <c:v>15.22700041450411</c:v>
                </c:pt>
                <c:pt idx="54">
                  <c:v>15.01450103451274</c:v>
                </c:pt>
                <c:pt idx="55">
                  <c:v>8.3650421689360499</c:v>
                </c:pt>
                <c:pt idx="56">
                  <c:v>17.234142968261921</c:v>
                </c:pt>
                <c:pt idx="57">
                  <c:v>13.329099373167439</c:v>
                </c:pt>
                <c:pt idx="58">
                  <c:v>7.395667261053724</c:v>
                </c:pt>
                <c:pt idx="59">
                  <c:v>16.51690326807644</c:v>
                </c:pt>
                <c:pt idx="60">
                  <c:v>18.906887725792568</c:v>
                </c:pt>
                <c:pt idx="61">
                  <c:v>13.67020735984277</c:v>
                </c:pt>
                <c:pt idx="62">
                  <c:v>13.953181404053611</c:v>
                </c:pt>
                <c:pt idx="63">
                  <c:v>19.636676737707489</c:v>
                </c:pt>
                <c:pt idx="64">
                  <c:v>18.46532916843805</c:v>
                </c:pt>
                <c:pt idx="65">
                  <c:v>18.86161685897418</c:v>
                </c:pt>
                <c:pt idx="66">
                  <c:v>11.60647551688256</c:v>
                </c:pt>
                <c:pt idx="67">
                  <c:v>27.41509720896768</c:v>
                </c:pt>
                <c:pt idx="68">
                  <c:v>4.9295526129681404</c:v>
                </c:pt>
                <c:pt idx="69">
                  <c:v>25.37702044278598</c:v>
                </c:pt>
                <c:pt idx="70">
                  <c:v>42.353448575519863</c:v>
                </c:pt>
                <c:pt idx="71">
                  <c:v>35.096162981471522</c:v>
                </c:pt>
                <c:pt idx="72">
                  <c:v>17.19177726311986</c:v>
                </c:pt>
                <c:pt idx="73">
                  <c:v>14.54012909031011</c:v>
                </c:pt>
                <c:pt idx="74">
                  <c:v>26.48597499482322</c:v>
                </c:pt>
                <c:pt idx="75">
                  <c:v>23.9488385633835</c:v>
                </c:pt>
                <c:pt idx="76">
                  <c:v>24.41524425373245</c:v>
                </c:pt>
                <c:pt idx="77">
                  <c:v>36.464908976775803</c:v>
                </c:pt>
                <c:pt idx="78">
                  <c:v>20.003085935554111</c:v>
                </c:pt>
                <c:pt idx="79">
                  <c:v>23.933203592955689</c:v>
                </c:pt>
                <c:pt idx="80">
                  <c:v>25.730727082015679</c:v>
                </c:pt>
                <c:pt idx="81">
                  <c:v>19.986668169675241</c:v>
                </c:pt>
                <c:pt idx="82">
                  <c:v>36.300882794924647</c:v>
                </c:pt>
                <c:pt idx="83">
                  <c:v>29.304425917067562</c:v>
                </c:pt>
                <c:pt idx="84">
                  <c:v>23.417299922789439</c:v>
                </c:pt>
                <c:pt idx="85">
                  <c:v>25.558798907383689</c:v>
                </c:pt>
                <c:pt idx="86">
                  <c:v>49.337803800638817</c:v>
                </c:pt>
                <c:pt idx="87">
                  <c:v>19.044050984175371</c:v>
                </c:pt>
                <c:pt idx="88">
                  <c:v>33.476942296875279</c:v>
                </c:pt>
                <c:pt idx="89">
                  <c:v>24.23805735784623</c:v>
                </c:pt>
                <c:pt idx="90">
                  <c:v>26.275164320970209</c:v>
                </c:pt>
                <c:pt idx="91">
                  <c:v>23.519713634672861</c:v>
                </c:pt>
                <c:pt idx="92">
                  <c:v>14.031813185342999</c:v>
                </c:pt>
                <c:pt idx="93">
                  <c:v>17.06002916745437</c:v>
                </c:pt>
                <c:pt idx="94">
                  <c:v>14.30344080956567</c:v>
                </c:pt>
                <c:pt idx="95">
                  <c:v>15.15503868009538</c:v>
                </c:pt>
                <c:pt idx="96">
                  <c:v>28.84815575097851</c:v>
                </c:pt>
                <c:pt idx="97">
                  <c:v>7.8863264900009522</c:v>
                </c:pt>
                <c:pt idx="98">
                  <c:v>46.078536831342667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765-429E-9A6A-A7F8F32798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263571296"/>
        <c:axId val="-1258362176"/>
      </c:scatterChart>
      <c:valAx>
        <c:axId val="-12635712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Depth (m)</a:t>
                </a:r>
              </a:p>
            </c:rich>
          </c:tx>
          <c:overlay val="0"/>
        </c:title>
        <c:numFmt formatCode="0" sourceLinked="1"/>
        <c:majorTickMark val="out"/>
        <c:minorTickMark val="out"/>
        <c:tickLblPos val="nextTo"/>
        <c:crossAx val="-1258362176"/>
        <c:crosses val="autoZero"/>
        <c:crossBetween val="midCat"/>
      </c:valAx>
      <c:valAx>
        <c:axId val="-125836217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Fish Length (cm)</a:t>
                </a:r>
              </a:p>
            </c:rich>
          </c:tx>
          <c:overlay val="0"/>
        </c:title>
        <c:numFmt formatCode="0" sourceLinked="1"/>
        <c:majorTickMark val="out"/>
        <c:minorTickMark val="none"/>
        <c:tickLblPos val="nextTo"/>
        <c:crossAx val="-1263571296"/>
        <c:crosses val="autoZero"/>
        <c:crossBetween val="midCat"/>
      </c:valAx>
    </c:plotArea>
    <c:legend>
      <c:legendPos val="r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145472222222222"/>
          <c:y val="0.19130395158938501"/>
          <c:w val="0.15913801399825001"/>
          <c:h val="0.1674343832021"/>
        </c:manualLayout>
      </c:layout>
      <c:overlay val="1"/>
    </c:legend>
    <c:plotVisOnly val="1"/>
    <c:dispBlanksAs val="gap"/>
    <c:showDLblsOverMax val="0"/>
  </c:chart>
  <c:spPr>
    <a:solidFill>
      <a:schemeClr val="bg2"/>
    </a:solidFill>
    <a:ln>
      <a:solidFill>
        <a:schemeClr val="tx1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8722635047877"/>
          <c:y val="4.0836848100375002E-2"/>
          <c:w val="0.855819645501533"/>
          <c:h val="0.77342588755353003"/>
        </c:manualLayout>
      </c:layout>
      <c:lineChart>
        <c:grouping val="standard"/>
        <c:varyColors val="0"/>
        <c:ser>
          <c:idx val="0"/>
          <c:order val="0"/>
          <c:tx>
            <c:v>Sharks</c:v>
          </c:tx>
          <c:spPr>
            <a:ln>
              <a:solidFill>
                <a:schemeClr val="tx1"/>
              </a:solidFill>
            </a:ln>
          </c:spPr>
          <c:marker>
            <c:symbol val="none"/>
          </c:marker>
          <c:cat>
            <c:numRef>
              <c:f>'[Graphing examples.xlsx]Sheet3'!$A$2:$A$27</c:f>
              <c:numCache>
                <c:formatCode>General</c:formatCode>
                <c:ptCount val="26"/>
                <c:pt idx="0">
                  <c:v>1987</c:v>
                </c:pt>
                <c:pt idx="1">
                  <c:v>1988</c:v>
                </c:pt>
                <c:pt idx="2">
                  <c:v>1989</c:v>
                </c:pt>
                <c:pt idx="3">
                  <c:v>1990</c:v>
                </c:pt>
                <c:pt idx="4">
                  <c:v>1991</c:v>
                </c:pt>
                <c:pt idx="5">
                  <c:v>1992</c:v>
                </c:pt>
                <c:pt idx="6">
                  <c:v>1993</c:v>
                </c:pt>
                <c:pt idx="7">
                  <c:v>1994</c:v>
                </c:pt>
                <c:pt idx="8">
                  <c:v>1995</c:v>
                </c:pt>
                <c:pt idx="9">
                  <c:v>1996</c:v>
                </c:pt>
                <c:pt idx="10">
                  <c:v>1997</c:v>
                </c:pt>
                <c:pt idx="11">
                  <c:v>1998</c:v>
                </c:pt>
                <c:pt idx="12">
                  <c:v>1999</c:v>
                </c:pt>
                <c:pt idx="13">
                  <c:v>2000</c:v>
                </c:pt>
                <c:pt idx="14">
                  <c:v>2001</c:v>
                </c:pt>
                <c:pt idx="15">
                  <c:v>2002</c:v>
                </c:pt>
                <c:pt idx="16">
                  <c:v>2003</c:v>
                </c:pt>
                <c:pt idx="17">
                  <c:v>2004</c:v>
                </c:pt>
                <c:pt idx="18">
                  <c:v>2005</c:v>
                </c:pt>
                <c:pt idx="19">
                  <c:v>2006</c:v>
                </c:pt>
                <c:pt idx="20">
                  <c:v>2007</c:v>
                </c:pt>
                <c:pt idx="21">
                  <c:v>2008</c:v>
                </c:pt>
                <c:pt idx="22">
                  <c:v>2009</c:v>
                </c:pt>
                <c:pt idx="23">
                  <c:v>2010</c:v>
                </c:pt>
                <c:pt idx="24">
                  <c:v>2011</c:v>
                </c:pt>
                <c:pt idx="25">
                  <c:v>2012</c:v>
                </c:pt>
              </c:numCache>
            </c:numRef>
          </c:cat>
          <c:val>
            <c:numRef>
              <c:f>'[Graphing examples.xlsx]Sheet3'!$B$2:$B$27</c:f>
              <c:numCache>
                <c:formatCode>General</c:formatCode>
                <c:ptCount val="26"/>
                <c:pt idx="0">
                  <c:v>1693</c:v>
                </c:pt>
                <c:pt idx="1">
                  <c:v>1537</c:v>
                </c:pt>
                <c:pt idx="2">
                  <c:v>1927</c:v>
                </c:pt>
                <c:pt idx="3">
                  <c:v>1658</c:v>
                </c:pt>
                <c:pt idx="4">
                  <c:v>1956</c:v>
                </c:pt>
                <c:pt idx="5">
                  <c:v>2447</c:v>
                </c:pt>
                <c:pt idx="6">
                  <c:v>2486</c:v>
                </c:pt>
                <c:pt idx="7">
                  <c:v>2197</c:v>
                </c:pt>
                <c:pt idx="8">
                  <c:v>2541</c:v>
                </c:pt>
                <c:pt idx="9">
                  <c:v>2450</c:v>
                </c:pt>
                <c:pt idx="10">
                  <c:v>2888</c:v>
                </c:pt>
                <c:pt idx="11">
                  <c:v>2597</c:v>
                </c:pt>
                <c:pt idx="12">
                  <c:v>3136</c:v>
                </c:pt>
                <c:pt idx="13">
                  <c:v>3355</c:v>
                </c:pt>
                <c:pt idx="14">
                  <c:v>3010</c:v>
                </c:pt>
                <c:pt idx="15">
                  <c:v>3566</c:v>
                </c:pt>
                <c:pt idx="16">
                  <c:v>3204</c:v>
                </c:pt>
                <c:pt idx="17">
                  <c:v>3681</c:v>
                </c:pt>
                <c:pt idx="18">
                  <c:v>3353</c:v>
                </c:pt>
                <c:pt idx="19">
                  <c:v>3361</c:v>
                </c:pt>
                <c:pt idx="20">
                  <c:v>3932</c:v>
                </c:pt>
                <c:pt idx="21">
                  <c:v>3847</c:v>
                </c:pt>
                <c:pt idx="22">
                  <c:v>3614</c:v>
                </c:pt>
                <c:pt idx="23">
                  <c:v>3632</c:v>
                </c:pt>
                <c:pt idx="24">
                  <c:v>3930</c:v>
                </c:pt>
                <c:pt idx="25">
                  <c:v>4070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DD-495E-B57C-A37D2A156778}"/>
            </c:ext>
          </c:extLst>
        </c:ser>
        <c:ser>
          <c:idx val="1"/>
          <c:order val="1"/>
          <c:tx>
            <c:v>Rays</c:v>
          </c:tx>
          <c:spPr>
            <a:ln>
              <a:solidFill>
                <a:schemeClr val="bg1">
                  <a:lumMod val="65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'[Graphing examples.xlsx]Sheet3'!$A$2:$A$27</c:f>
              <c:numCache>
                <c:formatCode>General</c:formatCode>
                <c:ptCount val="26"/>
                <c:pt idx="0">
                  <c:v>1987</c:v>
                </c:pt>
                <c:pt idx="1">
                  <c:v>1988</c:v>
                </c:pt>
                <c:pt idx="2">
                  <c:v>1989</c:v>
                </c:pt>
                <c:pt idx="3">
                  <c:v>1990</c:v>
                </c:pt>
                <c:pt idx="4">
                  <c:v>1991</c:v>
                </c:pt>
                <c:pt idx="5">
                  <c:v>1992</c:v>
                </c:pt>
                <c:pt idx="6">
                  <c:v>1993</c:v>
                </c:pt>
                <c:pt idx="7">
                  <c:v>1994</c:v>
                </c:pt>
                <c:pt idx="8">
                  <c:v>1995</c:v>
                </c:pt>
                <c:pt idx="9">
                  <c:v>1996</c:v>
                </c:pt>
                <c:pt idx="10">
                  <c:v>1997</c:v>
                </c:pt>
                <c:pt idx="11">
                  <c:v>1998</c:v>
                </c:pt>
                <c:pt idx="12">
                  <c:v>1999</c:v>
                </c:pt>
                <c:pt idx="13">
                  <c:v>2000</c:v>
                </c:pt>
                <c:pt idx="14">
                  <c:v>2001</c:v>
                </c:pt>
                <c:pt idx="15">
                  <c:v>2002</c:v>
                </c:pt>
                <c:pt idx="16">
                  <c:v>2003</c:v>
                </c:pt>
                <c:pt idx="17">
                  <c:v>2004</c:v>
                </c:pt>
                <c:pt idx="18">
                  <c:v>2005</c:v>
                </c:pt>
                <c:pt idx="19">
                  <c:v>2006</c:v>
                </c:pt>
                <c:pt idx="20">
                  <c:v>2007</c:v>
                </c:pt>
                <c:pt idx="21">
                  <c:v>2008</c:v>
                </c:pt>
                <c:pt idx="22">
                  <c:v>2009</c:v>
                </c:pt>
                <c:pt idx="23">
                  <c:v>2010</c:v>
                </c:pt>
                <c:pt idx="24">
                  <c:v>2011</c:v>
                </c:pt>
                <c:pt idx="25">
                  <c:v>2012</c:v>
                </c:pt>
              </c:numCache>
            </c:numRef>
          </c:cat>
          <c:val>
            <c:numRef>
              <c:f>'[Graphing examples.xlsx]Sheet3'!$F$2:$F$27</c:f>
              <c:numCache>
                <c:formatCode>General</c:formatCode>
                <c:ptCount val="26"/>
                <c:pt idx="0">
                  <c:v>743</c:v>
                </c:pt>
                <c:pt idx="1">
                  <c:v>833</c:v>
                </c:pt>
                <c:pt idx="2">
                  <c:v>1916</c:v>
                </c:pt>
                <c:pt idx="3">
                  <c:v>1636</c:v>
                </c:pt>
                <c:pt idx="4">
                  <c:v>2048</c:v>
                </c:pt>
                <c:pt idx="5">
                  <c:v>1907</c:v>
                </c:pt>
                <c:pt idx="6">
                  <c:v>1586</c:v>
                </c:pt>
                <c:pt idx="7">
                  <c:v>2246</c:v>
                </c:pt>
                <c:pt idx="8">
                  <c:v>1706</c:v>
                </c:pt>
                <c:pt idx="9">
                  <c:v>2234</c:v>
                </c:pt>
                <c:pt idx="10">
                  <c:v>2175</c:v>
                </c:pt>
                <c:pt idx="11">
                  <c:v>2812</c:v>
                </c:pt>
                <c:pt idx="12">
                  <c:v>2560</c:v>
                </c:pt>
                <c:pt idx="13">
                  <c:v>2939</c:v>
                </c:pt>
                <c:pt idx="14">
                  <c:v>2710</c:v>
                </c:pt>
                <c:pt idx="15">
                  <c:v>2796</c:v>
                </c:pt>
                <c:pt idx="16">
                  <c:v>2839</c:v>
                </c:pt>
                <c:pt idx="17">
                  <c:v>2530</c:v>
                </c:pt>
                <c:pt idx="18">
                  <c:v>2762</c:v>
                </c:pt>
                <c:pt idx="19">
                  <c:v>2962</c:v>
                </c:pt>
                <c:pt idx="20">
                  <c:v>2929</c:v>
                </c:pt>
                <c:pt idx="21">
                  <c:v>3843</c:v>
                </c:pt>
                <c:pt idx="22">
                  <c:v>3992</c:v>
                </c:pt>
                <c:pt idx="23">
                  <c:v>3703</c:v>
                </c:pt>
                <c:pt idx="24">
                  <c:v>3824</c:v>
                </c:pt>
                <c:pt idx="25">
                  <c:v>4198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DD-495E-B57C-A37D2A1567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1262358896"/>
        <c:axId val="-1261772352"/>
      </c:lineChart>
      <c:catAx>
        <c:axId val="-12623588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1261772352"/>
        <c:crosses val="autoZero"/>
        <c:auto val="1"/>
        <c:lblAlgn val="ctr"/>
        <c:lblOffset val="100"/>
        <c:noMultiLvlLbl val="0"/>
      </c:catAx>
      <c:valAx>
        <c:axId val="-12617723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Number of fish</a:t>
                </a:r>
              </a:p>
            </c:rich>
          </c:tx>
          <c:layout>
            <c:manualLayout>
              <c:xMode val="edge"/>
              <c:yMode val="edge"/>
              <c:x val="1.4705882352941201E-2"/>
              <c:y val="0.29035513941820801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-1262358896"/>
        <c:crosses val="autoZero"/>
        <c:crossBetween val="between"/>
      </c:valAx>
      <c:spPr>
        <a:solidFill>
          <a:schemeClr val="bg2"/>
        </a:solidFill>
      </c:spPr>
    </c:plotArea>
    <c:legend>
      <c:legendPos val="r"/>
      <c:layout>
        <c:manualLayout>
          <c:xMode val="edge"/>
          <c:yMode val="edge"/>
          <c:x val="0.85279909481823801"/>
          <c:y val="0.63083229727862999"/>
          <c:w val="0.115464850275959"/>
          <c:h val="0.15737360132615"/>
        </c:manualLayout>
      </c:layout>
      <c:overlay val="0"/>
    </c:legend>
    <c:plotVisOnly val="1"/>
    <c:dispBlanksAs val="gap"/>
    <c:showDLblsOverMax val="0"/>
  </c:chart>
  <c:spPr>
    <a:solidFill>
      <a:schemeClr val="bg2"/>
    </a:solidFill>
    <a:ln>
      <a:solidFill>
        <a:schemeClr val="tx1"/>
      </a:solidFill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'[Graphing examples.xlsx]Sheet3'!$F$45</c:f>
              <c:strCache>
                <c:ptCount val="1"/>
                <c:pt idx="0">
                  <c:v>total catch</c:v>
                </c:pt>
              </c:strCache>
            </c:strRef>
          </c:tx>
          <c:invertIfNegative val="0"/>
          <c:cat>
            <c:strRef>
              <c:f>'[Graphing examples.xlsx]Sheet3'!$E$46:$E$48</c:f>
              <c:strCache>
                <c:ptCount val="3"/>
                <c:pt idx="0">
                  <c:v>Atlantic</c:v>
                </c:pt>
                <c:pt idx="1">
                  <c:v>Pacifc</c:v>
                </c:pt>
                <c:pt idx="2">
                  <c:v>Indian</c:v>
                </c:pt>
              </c:strCache>
            </c:strRef>
          </c:cat>
          <c:val>
            <c:numRef>
              <c:f>'[Graphing examples.xlsx]Sheet3'!$F$46:$F$48</c:f>
              <c:numCache>
                <c:formatCode>General</c:formatCode>
                <c:ptCount val="3"/>
                <c:pt idx="0">
                  <c:v>50</c:v>
                </c:pt>
                <c:pt idx="1">
                  <c:v>70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53-44D1-9075-DBF1BDE1FA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327695760"/>
        <c:axId val="-1266653536"/>
      </c:barChart>
      <c:catAx>
        <c:axId val="-13276957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ocean</a:t>
                </a:r>
              </a:p>
            </c:rich>
          </c:tx>
          <c:layout>
            <c:manualLayout>
              <c:xMode val="edge"/>
              <c:yMode val="edge"/>
              <c:x val="0.50170253718285196"/>
              <c:y val="0.89719889180519097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-1266653536"/>
        <c:crosses val="autoZero"/>
        <c:auto val="1"/>
        <c:lblAlgn val="ctr"/>
        <c:lblOffset val="100"/>
        <c:noMultiLvlLbl val="0"/>
      </c:catAx>
      <c:valAx>
        <c:axId val="-12666535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Number of</a:t>
                </a:r>
                <a:r>
                  <a:rPr lang="en-US" baseline="0"/>
                  <a:t> fish (millions)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2.2222222222222199E-2"/>
              <c:y val="0.30394867308253098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-132769576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solidFill>
      <a:schemeClr val="bg2"/>
    </a:solidFill>
    <a:ln>
      <a:solidFill>
        <a:schemeClr val="tx1"/>
      </a:solidFill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88985A-88BF-004F-BA12-638866C13F29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67B6A-E34B-7A46-B131-6D45C9BB2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98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let’s walk though some examples of plots that we might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516E34-0426-4F44-8BB4-64E87425A3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28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7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7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9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5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2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9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3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3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2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7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CF10A-D855-8646-8EA4-D529A085C181}" type="datetimeFigureOut">
              <a:rPr lang="en-US" smtClean="0"/>
              <a:t>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169D4-F6D5-5848-9DF9-89818D83A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9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ckoboard.com/blog/pie-chart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38F12-F311-C14D-A015-38A5E9739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52007"/>
            <a:ext cx="7772400" cy="11285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Figures and Tables</a:t>
            </a:r>
            <a:br>
              <a:rPr lang="en-US" dirty="0">
                <a:solidFill>
                  <a:srgbClr val="C00000"/>
                </a:solidFill>
              </a:rPr>
            </a:br>
            <a:br>
              <a:rPr lang="en-US" dirty="0">
                <a:solidFill>
                  <a:srgbClr val="C00000"/>
                </a:solidFill>
              </a:rPr>
            </a:br>
            <a:r>
              <a:rPr lang="en-US" sz="4000" dirty="0">
                <a:solidFill>
                  <a:srgbClr val="C00000"/>
                </a:solidFill>
              </a:rPr>
              <a:t>The Results section: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F786A6-0F23-D54A-BF35-6DF3DADBA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268386"/>
            <a:ext cx="6858000" cy="1128562"/>
          </a:xfrm>
        </p:spPr>
        <p:txBody>
          <a:bodyPr/>
          <a:lstStyle/>
          <a:p>
            <a:r>
              <a:rPr lang="en-US" dirty="0"/>
              <a:t>Fish 290</a:t>
            </a:r>
          </a:p>
          <a:p>
            <a:r>
              <a:rPr lang="en-US" dirty="0"/>
              <a:t>Tuesday Feb 4</a:t>
            </a:r>
          </a:p>
        </p:txBody>
      </p:sp>
    </p:spTree>
    <p:extLst>
      <p:ext uri="{BB962C8B-B14F-4D97-AF65-F5344CB8AC3E}">
        <p14:creationId xmlns:p14="http://schemas.microsoft.com/office/powerpoint/2010/main" val="2750055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DEFB-F0DF-2B40-9F84-B8722F36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78286-DEE0-994F-8297-13F2FF12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8251"/>
            <a:ext cx="7886700" cy="43831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will spend the next 3 class periods on the Results section, including figures and tables.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time in class is limited.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readings on Canvas* are chosen to fill in gaps we might not cover in class.</a:t>
            </a:r>
          </a:p>
          <a:p>
            <a:pPr marL="0" indent="0">
              <a:buNone/>
            </a:pPr>
            <a:endParaRPr lang="en-US" dirty="0"/>
          </a:p>
          <a:p>
            <a:pPr marL="0" indent="0" algn="r">
              <a:buNone/>
            </a:pPr>
            <a:r>
              <a:rPr lang="en-US" sz="2000" dirty="0"/>
              <a:t>*readings from </a:t>
            </a:r>
            <a:r>
              <a:rPr lang="en-US" sz="2000" i="1" dirty="0"/>
              <a:t>The Scientist’s Guide to Writing </a:t>
            </a:r>
            <a:r>
              <a:rPr lang="en-US" sz="2000" dirty="0"/>
              <a:t>by Stephen Heard</a:t>
            </a:r>
          </a:p>
        </p:txBody>
      </p:sp>
    </p:spTree>
    <p:extLst>
      <p:ext uri="{BB962C8B-B14F-4D97-AF65-F5344CB8AC3E}">
        <p14:creationId xmlns:p14="http://schemas.microsoft.com/office/powerpoint/2010/main" val="419542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Three complementary approaches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3200" dirty="0"/>
              <a:t>Today’s agenda: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When to use a figure, table, or neither?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options do I have for figures?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to make an </a:t>
            </a:r>
            <a:r>
              <a:rPr lang="en-US" sz="3200" i="1" dirty="0"/>
              <a:t>effective </a:t>
            </a:r>
            <a:r>
              <a:rPr lang="en-US" sz="3200" dirty="0"/>
              <a:t>figure or table?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55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Three complementary approaches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Text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We state in words what we found - what happened.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We will cover text in more detail later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Figures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Graphs help </a:t>
            </a:r>
            <a:r>
              <a:rPr lang="en-US" sz="2400" b="1" dirty="0"/>
              <a:t>visualize</a:t>
            </a:r>
            <a:r>
              <a:rPr lang="en-US" sz="2400" dirty="0"/>
              <a:t> complex relationships and draw the reader’s attention to the most important findings.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Tables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Provide </a:t>
            </a:r>
            <a:r>
              <a:rPr lang="en-US" sz="2400" b="1" dirty="0"/>
              <a:t>details</a:t>
            </a:r>
            <a:r>
              <a:rPr lang="en-US" sz="2400" dirty="0"/>
              <a:t> on the results that are important</a:t>
            </a:r>
          </a:p>
          <a:p>
            <a:endParaRPr lang="en-US" sz="2400" dirty="0"/>
          </a:p>
          <a:p>
            <a:r>
              <a:rPr lang="en-US" sz="2400" dirty="0"/>
              <a:t>Most journals encourage “supplemental” or “appendix” tables for more details. Journals also encourage electronic storage of raw data for public access (this is a new feature of science).</a:t>
            </a:r>
          </a:p>
          <a:p>
            <a:endParaRPr lang="en-US" sz="2400" dirty="0"/>
          </a:p>
          <a:p>
            <a:r>
              <a:rPr lang="en-US" sz="2400" dirty="0"/>
              <a:t>For your studies, including raw data as a table is Fine.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201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rgbClr val="C00000"/>
                </a:solidFill>
              </a:rPr>
              <a:t>Three complementary approaches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b="1" dirty="0"/>
              <a:t>Not every result needs a figure or table. </a:t>
            </a:r>
            <a:r>
              <a:rPr lang="en-US" sz="2800" dirty="0"/>
              <a:t>Too many graphics will dilute your main points and confuse your reader. If everything is important than nothing is.</a:t>
            </a:r>
          </a:p>
          <a:p>
            <a:endParaRPr lang="en-US" sz="2800" dirty="0"/>
          </a:p>
          <a:p>
            <a:r>
              <a:rPr lang="en-US" sz="2800" dirty="0"/>
              <a:t>When do I use a figure? </a:t>
            </a:r>
          </a:p>
          <a:p>
            <a:endParaRPr lang="en-US" sz="2800" dirty="0"/>
          </a:p>
          <a:p>
            <a:r>
              <a:rPr lang="en-US" sz="2800" dirty="0"/>
              <a:t>When do I use a table? </a:t>
            </a:r>
          </a:p>
          <a:p>
            <a:endParaRPr lang="en-US" sz="2800" dirty="0"/>
          </a:p>
          <a:p>
            <a:r>
              <a:rPr lang="en-US" sz="2800" dirty="0"/>
              <a:t>When do I not bother with either and just write a sentence?</a:t>
            </a:r>
          </a:p>
        </p:txBody>
      </p:sp>
    </p:spTree>
    <p:extLst>
      <p:ext uri="{BB962C8B-B14F-4D97-AF65-F5344CB8AC3E}">
        <p14:creationId xmlns:p14="http://schemas.microsoft.com/office/powerpoint/2010/main" val="3247897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just a sentence: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400" dirty="0"/>
              <a:t>Remember that graphics compete for your reader’s attention. Use a sentence or two for simple results with few numbers.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F63C7-8992-194F-865B-07CC066893D3}"/>
              </a:ext>
            </a:extLst>
          </p:cNvPr>
          <p:cNvSpPr txBox="1"/>
          <p:nvPr/>
        </p:nvSpPr>
        <p:spPr>
          <a:xfrm>
            <a:off x="304800" y="6198513"/>
            <a:ext cx="8534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/>
              <a:t>How many data points are shown in this figure?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91F5086-59AB-0C40-9B0A-65DC0E28F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415" y="2653223"/>
            <a:ext cx="6463169" cy="3426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793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just a sentence: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400" dirty="0"/>
              <a:t>Remember that graphics compete for your reader’s attention. Use a sentence or two for simple results with few numbers.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F63C7-8992-194F-865B-07CC066893D3}"/>
              </a:ext>
            </a:extLst>
          </p:cNvPr>
          <p:cNvSpPr txBox="1"/>
          <p:nvPr/>
        </p:nvSpPr>
        <p:spPr>
          <a:xfrm>
            <a:off x="609600" y="3653712"/>
            <a:ext cx="84548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“Copepods comprised the highest proportion of prey items (75%). </a:t>
            </a:r>
            <a:r>
              <a:rPr lang="en-US" sz="2600" dirty="0" err="1"/>
              <a:t>Caldocerans</a:t>
            </a:r>
            <a:r>
              <a:rPr lang="en-US" sz="2600" dirty="0"/>
              <a:t> comprised 12% of prey items, and the remaining 13% of items were unidentified.”</a:t>
            </a:r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Do you need a figure to understand this result?</a:t>
            </a:r>
          </a:p>
        </p:txBody>
      </p:sp>
    </p:spTree>
    <p:extLst>
      <p:ext uri="{BB962C8B-B14F-4D97-AF65-F5344CB8AC3E}">
        <p14:creationId xmlns:p14="http://schemas.microsoft.com/office/powerpoint/2010/main" val="156429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a graphic (either figure or table):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Try this sentence on for size:</a:t>
            </a:r>
          </a:p>
          <a:p>
            <a:endParaRPr lang="en-US" sz="2800" dirty="0"/>
          </a:p>
          <a:p>
            <a:r>
              <a:rPr lang="en-US" sz="2400" dirty="0"/>
              <a:t>“For </a:t>
            </a:r>
            <a:r>
              <a:rPr lang="en-US" sz="2400" dirty="0" err="1"/>
              <a:t>lakebottom</a:t>
            </a:r>
            <a:r>
              <a:rPr lang="en-US" sz="2400" dirty="0"/>
              <a:t> sediments collected at the inflow, average grain size was 1.3 mm (± 0.4 mm standard deviation). Smaller grains predominated farther out: average 0.8 mm (± 0.2 mm) at 5 m from the inflow, 0.2 mm (± 0.004 mm) at 40 m, and 0.002 mm (± 0.0005 mm) at 60 m.”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C00000"/>
                </a:solidFill>
              </a:rPr>
              <a:t>UGH SO COMPLICATED!!!!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630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a graphic (either figure or table):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Try this sentence on for size:</a:t>
            </a:r>
          </a:p>
          <a:p>
            <a:endParaRPr lang="en-US" sz="2800" dirty="0"/>
          </a:p>
          <a:p>
            <a:r>
              <a:rPr lang="en-US" sz="2400" dirty="0"/>
              <a:t>“For </a:t>
            </a:r>
            <a:r>
              <a:rPr lang="en-US" sz="2400" dirty="0" err="1"/>
              <a:t>lakebottom</a:t>
            </a:r>
            <a:r>
              <a:rPr lang="en-US" sz="2400" dirty="0"/>
              <a:t> sediments collected at the inflow, average grain size was 1.3 mm (± 0.4 mm standard deviation). Smaller grains predominated farther out: average 0.8 mm (± 0.2 mm) at 5 m from the inflow, 0.2 mm (± 0.004 mm) at 40 m, and 0.002 mm (± 0.0005 mm) at 60 m.”</a:t>
            </a:r>
          </a:p>
          <a:p>
            <a:endParaRPr lang="en-US" sz="2800" dirty="0"/>
          </a:p>
          <a:p>
            <a:r>
              <a:rPr lang="en-US" sz="2800" dirty="0"/>
              <a:t>Numbers are inherently demanding to read. </a:t>
            </a:r>
          </a:p>
          <a:p>
            <a:r>
              <a:rPr lang="en-US" sz="2800" b="1" dirty="0"/>
              <a:t>Use a graphic to display complicated relationships or numerical information.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4827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a graphic (either figure or table):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“Grain size was large at the inflow and decreased farther out (Fig. 1).”</a:t>
            </a:r>
          </a:p>
        </p:txBody>
      </p:sp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2AF5073-3C5F-824B-BEFA-F12CDEE21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3829050" y="2588414"/>
            <a:ext cx="4781550" cy="42695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44D086-91FE-1849-822B-33A984B0ABBF}"/>
              </a:ext>
            </a:extLst>
          </p:cNvPr>
          <p:cNvSpPr txBox="1"/>
          <p:nvPr/>
        </p:nvSpPr>
        <p:spPr>
          <a:xfrm>
            <a:off x="533400" y="4492374"/>
            <a:ext cx="279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 breath of fresh air!</a:t>
            </a:r>
          </a:p>
        </p:txBody>
      </p:sp>
    </p:spTree>
    <p:extLst>
      <p:ext uri="{BB962C8B-B14F-4D97-AF65-F5344CB8AC3E}">
        <p14:creationId xmlns:p14="http://schemas.microsoft.com/office/powerpoint/2010/main" val="372341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a Figure versus a Table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Figures are best at showing </a:t>
            </a:r>
            <a:r>
              <a:rPr lang="en-US" sz="2800" i="1" dirty="0"/>
              <a:t>relationships </a:t>
            </a:r>
            <a:r>
              <a:rPr lang="en-US" sz="2800" dirty="0"/>
              <a:t>and</a:t>
            </a:r>
            <a:r>
              <a:rPr lang="en-US" sz="2800" i="1" dirty="0"/>
              <a:t> trends.</a:t>
            </a:r>
          </a:p>
          <a:p>
            <a:endParaRPr lang="en-US" sz="2800" dirty="0"/>
          </a:p>
          <a:p>
            <a:r>
              <a:rPr lang="en-US" sz="2800" dirty="0">
                <a:solidFill>
                  <a:schemeClr val="bg1"/>
                </a:solidFill>
              </a:rPr>
              <a:t>However, tables are good at showing </a:t>
            </a:r>
            <a:r>
              <a:rPr lang="en-US" sz="2800" i="1" dirty="0">
                <a:solidFill>
                  <a:schemeClr val="bg1"/>
                </a:solidFill>
              </a:rPr>
              <a:t>precise numbers </a:t>
            </a:r>
            <a:r>
              <a:rPr lang="en-US" sz="2800" dirty="0">
                <a:solidFill>
                  <a:schemeClr val="bg1"/>
                </a:solidFill>
              </a:rPr>
              <a:t>and </a:t>
            </a:r>
            <a:r>
              <a:rPr lang="en-US" sz="2800" i="1" dirty="0">
                <a:solidFill>
                  <a:schemeClr val="bg1"/>
                </a:solidFill>
              </a:rPr>
              <a:t>multiple variables at once.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i="1" dirty="0"/>
          </a:p>
          <a:p>
            <a:r>
              <a:rPr lang="en-US" sz="2800" b="1" dirty="0"/>
              <a:t>Think: what do I want the reader to take away from this graphic?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If it’s a </a:t>
            </a:r>
            <a:r>
              <a:rPr lang="en-US" sz="2600" b="1" dirty="0">
                <a:solidFill>
                  <a:srgbClr val="FF0000"/>
                </a:solidFill>
              </a:rPr>
              <a:t>trend</a:t>
            </a:r>
            <a:r>
              <a:rPr lang="en-US" sz="2600" dirty="0"/>
              <a:t> (an increase or decrease) or a relationship (two variables interact) then use a </a:t>
            </a:r>
            <a:r>
              <a:rPr lang="en-US" sz="2600" b="1" dirty="0">
                <a:solidFill>
                  <a:srgbClr val="FF0000"/>
                </a:solidFill>
              </a:rPr>
              <a:t>figure</a:t>
            </a:r>
            <a:r>
              <a:rPr lang="en-US" sz="2600" b="1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If it’s the exact value (like a p-value) and there are too many entries for one sentence, then use a </a:t>
            </a:r>
            <a:r>
              <a:rPr lang="en-US" sz="2600" b="1" dirty="0">
                <a:solidFill>
                  <a:schemeClr val="bg1"/>
                </a:solidFill>
              </a:rPr>
              <a:t>table.</a:t>
            </a:r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5765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When to use a Figure versus a Table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r>
              <a:rPr lang="en-US" sz="2800" dirty="0"/>
              <a:t>Figures are best at showing </a:t>
            </a:r>
            <a:r>
              <a:rPr lang="en-US" sz="2800" i="1" dirty="0"/>
              <a:t>relationships </a:t>
            </a:r>
            <a:r>
              <a:rPr lang="en-US" sz="2800" dirty="0"/>
              <a:t>and</a:t>
            </a:r>
            <a:r>
              <a:rPr lang="en-US" sz="2800" i="1" dirty="0"/>
              <a:t> trends.</a:t>
            </a:r>
          </a:p>
          <a:p>
            <a:endParaRPr lang="en-US" sz="2800" dirty="0"/>
          </a:p>
          <a:p>
            <a:r>
              <a:rPr lang="en-US" sz="2800" dirty="0"/>
              <a:t>However, tables are good at showing </a:t>
            </a:r>
            <a:r>
              <a:rPr lang="en-US" sz="2800" i="1" dirty="0"/>
              <a:t>precise numbers </a:t>
            </a:r>
            <a:r>
              <a:rPr lang="en-US" sz="2800" dirty="0"/>
              <a:t>and </a:t>
            </a:r>
            <a:r>
              <a:rPr lang="en-US" sz="2800" i="1" dirty="0"/>
              <a:t>multiple variables at once.</a:t>
            </a:r>
            <a:endParaRPr lang="en-US" sz="2800" dirty="0"/>
          </a:p>
          <a:p>
            <a:endParaRPr lang="en-US" sz="2800" i="1" dirty="0"/>
          </a:p>
          <a:p>
            <a:r>
              <a:rPr lang="en-US" sz="2800" b="1" dirty="0"/>
              <a:t>Think: what do I want the reader to take away from this graphic?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If it’s a </a:t>
            </a:r>
            <a:r>
              <a:rPr lang="en-US" sz="2600" b="1" dirty="0">
                <a:solidFill>
                  <a:srgbClr val="FF0000"/>
                </a:solidFill>
              </a:rPr>
              <a:t>trend</a:t>
            </a:r>
            <a:r>
              <a:rPr lang="en-US" sz="2600" dirty="0"/>
              <a:t> (an increase or decrease) or a relationship (two variables interact) then use a </a:t>
            </a:r>
            <a:r>
              <a:rPr lang="en-US" sz="2600" b="1" dirty="0">
                <a:solidFill>
                  <a:srgbClr val="FF0000"/>
                </a:solidFill>
              </a:rPr>
              <a:t>figure</a:t>
            </a:r>
            <a:r>
              <a:rPr lang="en-US" sz="2600" b="1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If it’s the </a:t>
            </a:r>
            <a:r>
              <a:rPr lang="en-US" sz="2600" b="1" dirty="0">
                <a:solidFill>
                  <a:srgbClr val="00B0F0"/>
                </a:solidFill>
              </a:rPr>
              <a:t>exact value </a:t>
            </a:r>
            <a:r>
              <a:rPr lang="en-US" sz="2600" dirty="0"/>
              <a:t>(like a p-value) and there are too many entries for one sentence, then use a </a:t>
            </a:r>
            <a:r>
              <a:rPr lang="en-US" sz="2600" b="1" dirty="0">
                <a:solidFill>
                  <a:srgbClr val="00B0F0"/>
                </a:solidFill>
              </a:rPr>
              <a:t>table</a:t>
            </a:r>
            <a:r>
              <a:rPr lang="en-US" sz="2600" b="1" dirty="0"/>
              <a:t>.</a:t>
            </a:r>
            <a:endParaRPr lang="en-US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98829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Three complementary approaches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3200" dirty="0"/>
              <a:t>Today’s agenda: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When to use a figure, table, or neither?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What options do I have for figures?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How to make an </a:t>
            </a:r>
            <a:r>
              <a:rPr lang="en-US" sz="3200" i="1" dirty="0"/>
              <a:t>effective </a:t>
            </a:r>
            <a:r>
              <a:rPr lang="en-US" sz="3200" dirty="0"/>
              <a:t>figure or table?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2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Types of figures: scatterplots 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566532"/>
              </p:ext>
            </p:extLst>
          </p:nvPr>
        </p:nvGraphicFramePr>
        <p:xfrm>
          <a:off x="1590261" y="861391"/>
          <a:ext cx="5382039" cy="3101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4241899"/>
            <a:ext cx="43434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Attributes: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Shows relationship between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Independent data (x axis) influences dependent data (y axis)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Good when both variables are continuous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Can show trends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Shows exact data points, not summary statistics (what is a summary statistic?)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43400" y="4211505"/>
            <a:ext cx="4343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Warnings: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Both variables MUST be continuous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Make sure multiple series on graph are comparable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Do not have too many different data sets</a:t>
            </a:r>
          </a:p>
        </p:txBody>
      </p:sp>
    </p:spTree>
    <p:extLst>
      <p:ext uri="{BB962C8B-B14F-4D97-AF65-F5344CB8AC3E}">
        <p14:creationId xmlns:p14="http://schemas.microsoft.com/office/powerpoint/2010/main" val="56490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4555006"/>
            <a:ext cx="4343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Attributes: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Good if one variable is continuous and one is numerical but discrete (e.g. time)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Can compare multiple series of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Suggests values between data points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Patterns are readily apparent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1392" y="4506542"/>
            <a:ext cx="4343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Warnings: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Data must be continuous!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 each line, one datum per observation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Intermediate values must be valid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Poor choice if few data points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Make sure multiple series on graph are comparable (same scale)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073989"/>
              </p:ext>
            </p:extLst>
          </p:nvPr>
        </p:nvGraphicFramePr>
        <p:xfrm>
          <a:off x="1118153" y="996237"/>
          <a:ext cx="6655904" cy="3167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DAD9A09-4297-5844-B2DF-0862D80CF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Types of figures: line plots 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79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9088" y="4511695"/>
            <a:ext cx="43434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Attributes: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Each bar represents a discrete data point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Patterns are visually striking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order of the bars can reveal patterns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Can compare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4643" y="4511695"/>
            <a:ext cx="4343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Warnings: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Not great for continuous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May not reveal variation around the mean or bar value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Bars order can suggest false trends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Takes up a </a:t>
            </a:r>
            <a:r>
              <a:rPr lang="en-US" i="1" dirty="0"/>
              <a:t>lot </a:t>
            </a:r>
            <a:r>
              <a:rPr lang="en-US" dirty="0"/>
              <a:t>of space to show a few data points- use wisely</a:t>
            </a: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2243262"/>
              </p:ext>
            </p:extLst>
          </p:nvPr>
        </p:nvGraphicFramePr>
        <p:xfrm>
          <a:off x="1845365" y="847526"/>
          <a:ext cx="5148470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33600" y="3733800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Numbers of fish caught per year in commercial fisheries in the Atlantic, Pacific, and Indian oceans.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D690706-FF9F-1C4A-A5B5-5168553F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Types of figures: bar graphs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45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6AEED-2B7C-A546-994E-094B98F3D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42" y="1561408"/>
            <a:ext cx="4699462" cy="37595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746BB83-7F95-3849-A1E0-107F29347EF5}"/>
              </a:ext>
            </a:extLst>
          </p:cNvPr>
          <p:cNvSpPr/>
          <p:nvPr/>
        </p:nvSpPr>
        <p:spPr>
          <a:xfrm>
            <a:off x="2162574" y="105439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Boxplots: </a:t>
            </a:r>
            <a:r>
              <a:rPr lang="en-US" dirty="0"/>
              <a:t>shows data spread including median, quartiles and outliers</a:t>
            </a:r>
            <a:endParaRPr lang="en-US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FD7239-A8B7-B842-A125-ACC40C95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17" y="338436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Types of figures: boxplots (box and whisker)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104AD-21BB-064C-952E-8486C6A534D0}"/>
              </a:ext>
            </a:extLst>
          </p:cNvPr>
          <p:cNvSpPr txBox="1"/>
          <p:nvPr/>
        </p:nvSpPr>
        <p:spPr>
          <a:xfrm>
            <a:off x="207817" y="5320978"/>
            <a:ext cx="57274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Attributes: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Bars show variation, including summary statistics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Patterns are visually striking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order of the bars can reveal patterns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Can compare categories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EEB2D-3D42-9244-8441-411AEE6A85AA}"/>
              </a:ext>
            </a:extLst>
          </p:cNvPr>
          <p:cNvSpPr txBox="1"/>
          <p:nvPr/>
        </p:nvSpPr>
        <p:spPr>
          <a:xfrm>
            <a:off x="5336771" y="5320978"/>
            <a:ext cx="381554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7030A0"/>
                </a:solidFill>
              </a:rPr>
              <a:t>Warnings: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Bars order can suggest false trends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“whiskers” can mean different things (standard deviation, vs quartiles vs. total range, etc.)</a:t>
            </a:r>
          </a:p>
        </p:txBody>
      </p:sp>
    </p:spTree>
    <p:extLst>
      <p:ext uri="{BB962C8B-B14F-4D97-AF65-F5344CB8AC3E}">
        <p14:creationId xmlns:p14="http://schemas.microsoft.com/office/powerpoint/2010/main" val="1834974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2175E-F0E8-D146-98F9-1B1B65E65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5948"/>
            <a:ext cx="7886700" cy="4971015"/>
          </a:xfrm>
        </p:spPr>
        <p:txBody>
          <a:bodyPr>
            <a:normAutofit/>
          </a:bodyPr>
          <a:lstStyle/>
          <a:p>
            <a:r>
              <a:rPr lang="en-US" b="1" dirty="0"/>
              <a:t>Maps, photographs, or flowcharts: </a:t>
            </a:r>
            <a:r>
              <a:rPr lang="en-US" dirty="0"/>
              <a:t>Usually does not show data or results. Instead, used to give the reader a sense of what you did (Methods)</a:t>
            </a:r>
            <a:endParaRPr lang="en-US" b="1" dirty="0"/>
          </a:p>
          <a:p>
            <a:r>
              <a:rPr lang="en-US" b="1" dirty="0"/>
              <a:t>Histogram: </a:t>
            </a:r>
            <a:r>
              <a:rPr lang="en-US" dirty="0"/>
              <a:t>uses bars to show counts of one variable.</a:t>
            </a:r>
          </a:p>
          <a:p>
            <a:r>
              <a:rPr lang="en-US" b="1" dirty="0"/>
              <a:t>Pie chart*: </a:t>
            </a:r>
            <a:r>
              <a:rPr lang="en-US" dirty="0"/>
              <a:t>shows proportions of a whole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400" dirty="0"/>
              <a:t>* The case for/against pie charts: </a:t>
            </a:r>
            <a:r>
              <a:rPr lang="en-US" sz="2400" dirty="0">
                <a:hlinkClick r:id="rId2"/>
              </a:rPr>
              <a:t>https://www.geckoboard.com/blog/pie-charts/</a:t>
            </a:r>
            <a:endParaRPr lang="en-US" sz="2400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821A6F-6632-7840-B888-3DFAFD72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5287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Other types of figures to consider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256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28600"/>
            <a:ext cx="8001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Presentation of Results: 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Three complementary approaches</a:t>
            </a:r>
          </a:p>
          <a:p>
            <a:endParaRPr lang="en-US" sz="2800" b="1" dirty="0">
              <a:solidFill>
                <a:srgbClr val="FF0000"/>
              </a:solidFill>
            </a:endParaRPr>
          </a:p>
          <a:p>
            <a:endParaRPr lang="en-US" sz="2800" b="1" dirty="0">
              <a:solidFill>
                <a:srgbClr val="FF0000"/>
              </a:solidFill>
            </a:endParaRPr>
          </a:p>
          <a:p>
            <a:r>
              <a:rPr lang="en-US" sz="3200" dirty="0"/>
              <a:t>Today’s agenda: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When to use a figure, table, or neither?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What options do I have for figures?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How to make an </a:t>
            </a:r>
            <a:r>
              <a:rPr lang="en-US" sz="3200" b="1" i="1" dirty="0"/>
              <a:t>effective </a:t>
            </a:r>
            <a:r>
              <a:rPr lang="en-US" sz="3200" b="1" dirty="0"/>
              <a:t>figure or table?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36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184" y="228600"/>
            <a:ext cx="836212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Making effective figures</a:t>
            </a:r>
          </a:p>
          <a:p>
            <a:endParaRPr lang="en-US" sz="2800" dirty="0"/>
          </a:p>
          <a:p>
            <a:r>
              <a:rPr lang="en-US" sz="2800" dirty="0"/>
              <a:t>There are many possible ways to display the same result. </a:t>
            </a:r>
          </a:p>
          <a:p>
            <a:endParaRPr lang="en-US" sz="2800" dirty="0"/>
          </a:p>
          <a:p>
            <a:r>
              <a:rPr lang="en-US" sz="2800" dirty="0"/>
              <a:t>Just because a program can make it, </a:t>
            </a:r>
          </a:p>
          <a:p>
            <a:r>
              <a:rPr lang="en-US" sz="2800" dirty="0"/>
              <a:t>doesn’t mean it’s correct or the best option.</a:t>
            </a:r>
            <a:endParaRPr lang="en-US" sz="3200" dirty="0"/>
          </a:p>
          <a:p>
            <a:endParaRPr lang="en-US" sz="28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C13AE-D437-CB4E-B1F2-261CABDFDE0D}"/>
              </a:ext>
            </a:extLst>
          </p:cNvPr>
          <p:cNvSpPr txBox="1"/>
          <p:nvPr/>
        </p:nvSpPr>
        <p:spPr>
          <a:xfrm>
            <a:off x="450574" y="3444865"/>
            <a:ext cx="836212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golden rule of figures and table design:</a:t>
            </a:r>
          </a:p>
          <a:p>
            <a:endParaRPr lang="en-US" sz="2800" dirty="0"/>
          </a:p>
          <a:p>
            <a:pPr algn="ctr"/>
            <a:r>
              <a:rPr lang="en-US" sz="3600" dirty="0"/>
              <a:t>Give readers the </a:t>
            </a:r>
            <a:r>
              <a:rPr lang="en-US" sz="3600" b="1" dirty="0">
                <a:solidFill>
                  <a:srgbClr val="C00000"/>
                </a:solidFill>
              </a:rPr>
              <a:t>most information capable of being digested </a:t>
            </a:r>
            <a:r>
              <a:rPr lang="en-US" sz="3600" dirty="0"/>
              <a:t>in the </a:t>
            </a:r>
            <a:r>
              <a:rPr lang="en-US" sz="3600" b="1" dirty="0">
                <a:solidFill>
                  <a:srgbClr val="C00000"/>
                </a:solidFill>
              </a:rPr>
              <a:t>shortest time </a:t>
            </a:r>
            <a:r>
              <a:rPr lang="en-US" sz="3600" dirty="0"/>
              <a:t>with the </a:t>
            </a:r>
            <a:r>
              <a:rPr lang="en-US" sz="3600" b="1" dirty="0">
                <a:solidFill>
                  <a:srgbClr val="C00000"/>
                </a:solidFill>
              </a:rPr>
              <a:t>least ink </a:t>
            </a:r>
            <a:r>
              <a:rPr lang="en-US" sz="3600" dirty="0"/>
              <a:t>in the </a:t>
            </a:r>
            <a:r>
              <a:rPr lang="en-US" sz="3600" b="1" dirty="0">
                <a:solidFill>
                  <a:srgbClr val="C00000"/>
                </a:solidFill>
              </a:rPr>
              <a:t>smallest space </a:t>
            </a:r>
            <a:r>
              <a:rPr lang="en-US" sz="3600" dirty="0"/>
              <a:t>possible.</a:t>
            </a:r>
          </a:p>
        </p:txBody>
      </p:sp>
    </p:spTree>
    <p:extLst>
      <p:ext uri="{BB962C8B-B14F-4D97-AF65-F5344CB8AC3E}">
        <p14:creationId xmlns:p14="http://schemas.microsoft.com/office/powerpoint/2010/main" val="145029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BB7185-71D4-E04F-AD3A-AB351761C2EB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5ED66-3318-D646-A782-313CAE535620}"/>
              </a:ext>
            </a:extLst>
          </p:cNvPr>
          <p:cNvSpPr txBox="1"/>
          <p:nvPr/>
        </p:nvSpPr>
        <p:spPr>
          <a:xfrm>
            <a:off x="914400" y="2921168"/>
            <a:ext cx="792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Critique the following figures. Avoid critiquing captions for now (we’ll come back to that)</a:t>
            </a:r>
          </a:p>
        </p:txBody>
      </p:sp>
    </p:spTree>
    <p:extLst>
      <p:ext uri="{BB962C8B-B14F-4D97-AF65-F5344CB8AC3E}">
        <p14:creationId xmlns:p14="http://schemas.microsoft.com/office/powerpoint/2010/main" val="3596541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211" y="1134070"/>
            <a:ext cx="6468789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71600" y="4563070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Graph showing average prey proportions in Lake Washington. Calculated from data collected from 1993-2011.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B7185-71D4-E04F-AD3A-AB351761C2EB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</p:spTree>
    <p:extLst>
      <p:ext uri="{BB962C8B-B14F-4D97-AF65-F5344CB8AC3E}">
        <p14:creationId xmlns:p14="http://schemas.microsoft.com/office/powerpoint/2010/main" val="4277376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211" y="1134070"/>
            <a:ext cx="6468789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371600" y="4563070"/>
            <a:ext cx="6248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Graph showing average prey proportions in Lake Washington. Calculated from data collected from 1993-2011.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B7185-71D4-E04F-AD3A-AB351761C2EB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5ED66-3318-D646-A782-313CAE535620}"/>
              </a:ext>
            </a:extLst>
          </p:cNvPr>
          <p:cNvSpPr txBox="1"/>
          <p:nvPr/>
        </p:nvSpPr>
        <p:spPr>
          <a:xfrm>
            <a:off x="895815" y="5454725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Critique:  This figure contains only three data points: the proportions of the three prey species.  This can easily be expressed in a single sentence.</a:t>
            </a:r>
          </a:p>
        </p:txBody>
      </p:sp>
    </p:spTree>
    <p:extLst>
      <p:ext uri="{BB962C8B-B14F-4D97-AF65-F5344CB8AC3E}">
        <p14:creationId xmlns:p14="http://schemas.microsoft.com/office/powerpoint/2010/main" val="111268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417" y="651540"/>
            <a:ext cx="5375552" cy="397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828800" y="4543095"/>
            <a:ext cx="533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Average stream velocity of habitat where fish were captured in Rock Creek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E3BB9-3AEA-F944-9941-CA2F9B06DA32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</p:spTree>
    <p:extLst>
      <p:ext uri="{BB962C8B-B14F-4D97-AF65-F5344CB8AC3E}">
        <p14:creationId xmlns:p14="http://schemas.microsoft.com/office/powerpoint/2010/main" val="4277902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417" y="651540"/>
            <a:ext cx="5375552" cy="397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828800" y="4543095"/>
            <a:ext cx="533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Average stream velocity of habitat where fish were captured in Rock Creek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462445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Critique:  Better, but the figure has the data in numerical form and this is redundant with the height of the bars.  In addition, there is no indication of variation around the means.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E3BB9-3AEA-F944-9941-CA2F9B06DA32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</p:spTree>
    <p:extLst>
      <p:ext uri="{BB962C8B-B14F-4D97-AF65-F5344CB8AC3E}">
        <p14:creationId xmlns:p14="http://schemas.microsoft.com/office/powerpoint/2010/main" val="61830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2" y="76200"/>
            <a:ext cx="7668578" cy="475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65822" y="4953000"/>
            <a:ext cx="77447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Stream velocity vs. depth of habitat occupied by captured fish in Rock Creek (fall) </a:t>
            </a:r>
          </a:p>
        </p:txBody>
      </p:sp>
    </p:spTree>
    <p:extLst>
      <p:ext uri="{BB962C8B-B14F-4D97-AF65-F5344CB8AC3E}">
        <p14:creationId xmlns:p14="http://schemas.microsoft.com/office/powerpoint/2010/main" val="3035282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22" y="76200"/>
            <a:ext cx="7668578" cy="4756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865822" y="4953000"/>
            <a:ext cx="77447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Stream velocity vs. depth of habitat occupied by captured fish in Rock Creek (fall)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5811" y="5705993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Critique:  This is better, but the two sets of points need more distinct symbols to tell them apart.</a:t>
            </a:r>
          </a:p>
        </p:txBody>
      </p:sp>
    </p:spTree>
    <p:extLst>
      <p:ext uri="{BB962C8B-B14F-4D97-AF65-F5344CB8AC3E}">
        <p14:creationId xmlns:p14="http://schemas.microsoft.com/office/powerpoint/2010/main" val="334516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4659868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average velocity (m/s) of where the instream species were found.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4F21F-BDA5-7949-B07D-75E7F3A2F9BA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32B9D19-9940-BF4F-9976-0C069DA9D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56" y="1179445"/>
            <a:ext cx="7044844" cy="3231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2234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4659868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average velocity (m/s) of where the instream species were found.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4F21F-BDA5-7949-B07D-75E7F3A2F9BA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39FDB-C33F-6040-94E9-39F138E7EE6A}"/>
              </a:ext>
            </a:extLst>
          </p:cNvPr>
          <p:cNvSpPr txBox="1"/>
          <p:nvPr/>
        </p:nvSpPr>
        <p:spPr>
          <a:xfrm>
            <a:off x="723900" y="5529351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</a:rPr>
              <a:t>Critique:  The x-axis has the label that belongs on the y-axis. Why are the species listed in this order?  It is alphabetical but so what?  What is the message here? Also, no variation among means shown.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32B9D19-9940-BF4F-9976-0C069DA9D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56" y="1179445"/>
            <a:ext cx="7044844" cy="3231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468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7300" y="1632323"/>
            <a:ext cx="68265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figures you just saw violate parts of the golden rule:</a:t>
            </a:r>
          </a:p>
          <a:p>
            <a:endParaRPr lang="en-US" sz="2800" dirty="0"/>
          </a:p>
          <a:p>
            <a:pPr algn="ctr"/>
            <a:r>
              <a:rPr lang="en-US" sz="2800" dirty="0"/>
              <a:t>	 Give readers the </a:t>
            </a:r>
            <a:r>
              <a:rPr lang="en-US" sz="2800" b="1" dirty="0">
                <a:solidFill>
                  <a:srgbClr val="C00000"/>
                </a:solidFill>
              </a:rPr>
              <a:t>most information* capable of being digested </a:t>
            </a:r>
            <a:r>
              <a:rPr lang="en-US" sz="2800" dirty="0"/>
              <a:t>in the </a:t>
            </a:r>
            <a:r>
              <a:rPr lang="en-US" sz="2800" b="1" dirty="0">
                <a:solidFill>
                  <a:srgbClr val="C00000"/>
                </a:solidFill>
              </a:rPr>
              <a:t>shortest time </a:t>
            </a:r>
            <a:r>
              <a:rPr lang="en-US" sz="2800" dirty="0"/>
              <a:t>with the </a:t>
            </a:r>
            <a:r>
              <a:rPr lang="en-US" sz="2800" b="1" dirty="0">
                <a:solidFill>
                  <a:srgbClr val="C00000"/>
                </a:solidFill>
              </a:rPr>
              <a:t>least ink </a:t>
            </a:r>
            <a:r>
              <a:rPr lang="en-US" sz="2800" dirty="0"/>
              <a:t>in the </a:t>
            </a:r>
            <a:r>
              <a:rPr lang="en-US" sz="2800" b="1" dirty="0">
                <a:solidFill>
                  <a:srgbClr val="C00000"/>
                </a:solidFill>
              </a:rPr>
              <a:t>smallest space </a:t>
            </a:r>
            <a:r>
              <a:rPr lang="en-US" sz="2800" dirty="0"/>
              <a:t>possible.</a:t>
            </a:r>
          </a:p>
          <a:p>
            <a:pPr algn="ctr"/>
            <a:r>
              <a:rPr lang="en-US" sz="2400" dirty="0"/>
              <a:t>*incorrect information doesn’t count. </a:t>
            </a:r>
          </a:p>
          <a:p>
            <a:pPr algn="ctr"/>
            <a:r>
              <a:rPr lang="en-US" sz="2400" dirty="0"/>
              <a:t>Do not mislead!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F5AB2-A989-E847-8291-8DA3B60B83F9}"/>
              </a:ext>
            </a:extLst>
          </p:cNvPr>
          <p:cNvSpPr/>
          <p:nvPr/>
        </p:nvSpPr>
        <p:spPr>
          <a:xfrm>
            <a:off x="145305" y="128320"/>
            <a:ext cx="36665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Making effective figures</a:t>
            </a:r>
          </a:p>
        </p:txBody>
      </p:sp>
    </p:spTree>
    <p:extLst>
      <p:ext uri="{BB962C8B-B14F-4D97-AF65-F5344CB8AC3E}">
        <p14:creationId xmlns:p14="http://schemas.microsoft.com/office/powerpoint/2010/main" val="36294403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6B22-0116-CC4C-9E64-FB03E5D5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Assignments for today and for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64DE2-5A73-9D4C-A73F-1CBE2378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114" y="1958008"/>
            <a:ext cx="8716616" cy="46917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/>
              <a:t>In class: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Work on practice data to get used to making graphs in Excel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Draw out ideas for figures and tables for your own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Make figures and tables for your own data</a:t>
            </a:r>
          </a:p>
          <a:p>
            <a:pPr marL="457200" lvl="1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At home: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Read “The Results Section” on Canvas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Continue data analysis/graphics on your own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Complete </a:t>
            </a:r>
            <a:r>
              <a:rPr lang="en-US" b="1" dirty="0"/>
              <a:t>peer reviews </a:t>
            </a:r>
            <a:r>
              <a:rPr lang="en-US" dirty="0"/>
              <a:t>by end-of-day </a:t>
            </a:r>
            <a:r>
              <a:rPr lang="en-US" b="1" dirty="0"/>
              <a:t>Thursday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Continue working on your </a:t>
            </a:r>
            <a:r>
              <a:rPr lang="en-US" dirty="0" err="1"/>
              <a:t>Intro+Methods</a:t>
            </a:r>
            <a:r>
              <a:rPr lang="en-US" dirty="0"/>
              <a:t> (</a:t>
            </a:r>
            <a:r>
              <a:rPr lang="en-US" b="1" dirty="0"/>
              <a:t>Methods due Friday</a:t>
            </a:r>
            <a:r>
              <a:rPr lang="en-US" dirty="0"/>
              <a:t>)</a:t>
            </a:r>
            <a:endParaRPr lang="en-US" sz="2600" b="1" dirty="0"/>
          </a:p>
          <a:p>
            <a:pPr marL="0" indent="0">
              <a:buNone/>
            </a:pPr>
            <a:r>
              <a:rPr lang="en-US" sz="2600" dirty="0"/>
              <a:t>Next time in class, we will cover Tables and Captions.</a:t>
            </a:r>
          </a:p>
        </p:txBody>
      </p:sp>
    </p:spTree>
    <p:extLst>
      <p:ext uri="{BB962C8B-B14F-4D97-AF65-F5344CB8AC3E}">
        <p14:creationId xmlns:p14="http://schemas.microsoft.com/office/powerpoint/2010/main" val="218144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1123</TotalTime>
  <Words>1784</Words>
  <Application>Microsoft Macintosh PowerPoint</Application>
  <PresentationFormat>On-screen Show (4:3)</PresentationFormat>
  <Paragraphs>213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Figures and Tables  The Results section: part 1</vt:lpstr>
      <vt:lpstr>Reading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figures: scatterplots </vt:lpstr>
      <vt:lpstr>Types of figures: line plots </vt:lpstr>
      <vt:lpstr>Types of figures: bar graphs</vt:lpstr>
      <vt:lpstr>Types of figures: boxplots (box and whisker)</vt:lpstr>
      <vt:lpstr>Other types of figures to consider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Assignments for today and for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Miller, Elizabeth Christina - (ecmiller)</dc:creator>
  <cp:lastModifiedBy>Luke M. Tornabene</cp:lastModifiedBy>
  <cp:revision>145</cp:revision>
  <dcterms:created xsi:type="dcterms:W3CDTF">2020-01-21T02:32:40Z</dcterms:created>
  <dcterms:modified xsi:type="dcterms:W3CDTF">2025-02-04T14:47:33Z</dcterms:modified>
</cp:coreProperties>
</file>
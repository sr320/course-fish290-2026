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catalog.lib.washington.edu/search~" TargetMode="Externa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extBox 1"/>
          <p:cNvSpPr txBox="1"/>
          <p:nvPr/>
        </p:nvSpPr>
        <p:spPr>
          <a:xfrm>
            <a:off x="1150619" y="828287"/>
            <a:ext cx="6842762" cy="62004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4000">
                <a:solidFill>
                  <a:srgbClr val="C00000"/>
                </a:solidFill>
                <a:latin typeface="Calibri Light"/>
                <a:ea typeface="Calibri Light"/>
                <a:cs typeface="Calibri Light"/>
                <a:sym typeface="Calibri Light"/>
              </a:defRPr>
            </a:pPr>
            <a:r>
              <a:t>Scientific journals and articles:</a:t>
            </a:r>
            <a:endParaRPr b="1" sz="3200">
              <a:solidFill>
                <a:srgbClr val="FF0000"/>
              </a:solidFill>
              <a:latin typeface="+mj-lt"/>
              <a:ea typeface="+mj-ea"/>
              <a:cs typeface="+mj-cs"/>
              <a:sym typeface="Calibri"/>
            </a:endParaRPr>
          </a:p>
          <a:p>
            <a:pPr>
              <a:defRPr sz="3200">
                <a:solidFill>
                  <a:srgbClr val="FF0000"/>
                </a:solidFill>
              </a:defRPr>
            </a:pPr>
          </a:p>
          <a:p>
            <a:pPr>
              <a:defRPr sz="3200">
                <a:solidFill>
                  <a:srgbClr val="FF0000"/>
                </a:solidFill>
              </a:defRPr>
            </a:pPr>
          </a:p>
          <a:p>
            <a:pPr>
              <a:defRPr sz="3200"/>
            </a:pPr>
            <a:r>
              <a:t>So much to read; so little time.  </a:t>
            </a:r>
          </a:p>
          <a:p>
            <a:pPr>
              <a:defRPr sz="3200"/>
            </a:pPr>
          </a:p>
          <a:p>
            <a:pPr>
              <a:defRPr sz="3200"/>
            </a:pPr>
            <a:r>
              <a:t>So, what are we looking for?</a:t>
            </a:r>
          </a:p>
          <a:p>
            <a:pPr>
              <a:defRPr sz="3200"/>
            </a:pPr>
          </a:p>
          <a:p>
            <a:pPr>
              <a:defRPr sz="3200"/>
            </a:pPr>
            <a:r>
              <a:t>Today: </a:t>
            </a:r>
          </a:p>
          <a:p>
            <a:pPr lvl="1" marL="971550" indent="-514350">
              <a:buSzPct val="100000"/>
              <a:buAutoNum type="arabicPeriod" startAt="1"/>
              <a:defRPr sz="3200"/>
            </a:pPr>
            <a:r>
              <a:t>Scientific journals</a:t>
            </a:r>
          </a:p>
          <a:p>
            <a:pPr lvl="1" marL="971550" indent="-514350">
              <a:buSzPct val="100000"/>
              <a:buAutoNum type="arabicPeriod" startAt="1"/>
              <a:defRPr sz="3200"/>
            </a:pPr>
            <a:r>
              <a:t>The art of the title</a:t>
            </a:r>
          </a:p>
          <a:p>
            <a:pPr lvl="1" marL="971550" indent="-514350">
              <a:buSzPct val="100000"/>
              <a:buAutoNum type="arabicPeriod" startAt="1"/>
              <a:defRPr sz="3200"/>
            </a:pPr>
            <a:r>
              <a:t>Readings </a:t>
            </a:r>
          </a:p>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TextBox 1"/>
          <p:cNvSpPr txBox="1"/>
          <p:nvPr/>
        </p:nvSpPr>
        <p:spPr>
          <a:xfrm>
            <a:off x="573083" y="685799"/>
            <a:ext cx="7909561" cy="55486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pPr>
            <a:r>
              <a:t>				</a:t>
            </a:r>
            <a:r>
              <a:rPr>
                <a:solidFill>
                  <a:srgbClr val="FF0000"/>
                </a:solidFill>
              </a:rPr>
              <a:t>Would you read this journal:</a:t>
            </a:r>
            <a:endParaRPr>
              <a:solidFill>
                <a:srgbClr val="FF0000"/>
              </a:solidFill>
            </a:endParaRPr>
          </a:p>
          <a:p>
            <a:pPr>
              <a:defRPr b="1" sz="2400" u="sng"/>
            </a:pPr>
            <a:r>
              <a:t>Journal title			      Yes          Maybe	Not Likely</a:t>
            </a:r>
          </a:p>
          <a:p>
            <a:pPr>
              <a:defRPr sz="2400"/>
            </a:pPr>
            <a:r>
              <a:t>Marine Biology</a:t>
            </a:r>
          </a:p>
          <a:p>
            <a:pPr>
              <a:defRPr sz="2400"/>
            </a:pPr>
            <a:r>
              <a:t>Freshwater Biology</a:t>
            </a:r>
          </a:p>
          <a:p>
            <a:pPr>
              <a:defRPr sz="2400"/>
            </a:pPr>
            <a:r>
              <a:t>Animal Behaviour</a:t>
            </a:r>
          </a:p>
          <a:p>
            <a:pPr>
              <a:defRPr sz="2400"/>
            </a:pPr>
            <a:r>
              <a:t>Ecological Modeling </a:t>
            </a:r>
          </a:p>
          <a:p>
            <a:pPr>
              <a:defRPr sz="2400"/>
            </a:pPr>
            <a:r>
              <a:t>Ecology</a:t>
            </a:r>
          </a:p>
          <a:p>
            <a:pPr>
              <a:defRPr sz="2400"/>
            </a:pPr>
            <a:r>
              <a:t>Molecular Ecology</a:t>
            </a:r>
          </a:p>
          <a:p>
            <a:pPr>
              <a:defRPr sz="2400"/>
            </a:pPr>
            <a:r>
              <a:t>Journal of Fish Biology</a:t>
            </a:r>
          </a:p>
          <a:p>
            <a:pPr>
              <a:defRPr sz="2400"/>
            </a:pPr>
            <a:r>
              <a:t>Journal of Crustacean Biology</a:t>
            </a:r>
          </a:p>
          <a:p>
            <a:pPr>
              <a:defRPr sz="2400"/>
            </a:pPr>
            <a:r>
              <a:t>Journal of Fish Diseases</a:t>
            </a:r>
          </a:p>
          <a:p>
            <a:pPr>
              <a:defRPr sz="2400"/>
            </a:pPr>
            <a:r>
              <a:t>Science</a:t>
            </a:r>
          </a:p>
          <a:p>
            <a:pPr>
              <a:defRPr sz="2400"/>
            </a:pPr>
            <a:r>
              <a:t>Canadian Journal of Zoology</a:t>
            </a:r>
          </a:p>
          <a:p>
            <a:pPr>
              <a:defRPr sz="2400"/>
            </a:pPr>
            <a:r>
              <a:t>Canadian Journal of Fisheries</a:t>
            </a:r>
          </a:p>
          <a:p>
            <a:pPr>
              <a:defRPr sz="2400"/>
            </a:pPr>
            <a:r>
              <a:t>	and Aquatic Sciences</a:t>
            </a:r>
          </a:p>
        </p:txBody>
      </p:sp>
      <p:sp>
        <p:nvSpPr>
          <p:cNvPr id="97" name="Straight Connector 3"/>
          <p:cNvSpPr/>
          <p:nvPr/>
        </p:nvSpPr>
        <p:spPr>
          <a:xfrm>
            <a:off x="4343400" y="1143000"/>
            <a:ext cx="76296" cy="5181601"/>
          </a:xfrm>
          <a:prstGeom prst="line">
            <a:avLst/>
          </a:prstGeom>
          <a:ln w="28575">
            <a:solidFill>
              <a:srgbClr val="000000"/>
            </a:solidFill>
          </a:ln>
        </p:spPr>
        <p:txBody>
          <a:bodyPr lIns="45719" rIns="45719"/>
          <a:lstStyle/>
          <a:p>
            <a:pPr/>
          </a:p>
        </p:txBody>
      </p:sp>
      <p:sp>
        <p:nvSpPr>
          <p:cNvPr id="98" name="Straight Connector 4"/>
          <p:cNvSpPr/>
          <p:nvPr/>
        </p:nvSpPr>
        <p:spPr>
          <a:xfrm>
            <a:off x="6858000" y="1142999"/>
            <a:ext cx="76201" cy="5175112"/>
          </a:xfrm>
          <a:prstGeom prst="line">
            <a:avLst/>
          </a:prstGeom>
          <a:ln w="28575">
            <a:solidFill>
              <a:srgbClr val="000000"/>
            </a:solidFill>
          </a:ln>
        </p:spPr>
        <p:txBody>
          <a:bodyPr lIns="45719" rIns="45719"/>
          <a:lstStyle/>
          <a:p>
            <a:pPr/>
          </a:p>
        </p:txBody>
      </p:sp>
      <p:sp>
        <p:nvSpPr>
          <p:cNvPr id="99" name="Straight Connector 5"/>
          <p:cNvSpPr/>
          <p:nvPr/>
        </p:nvSpPr>
        <p:spPr>
          <a:xfrm>
            <a:off x="5486400" y="1142999"/>
            <a:ext cx="76201" cy="5175112"/>
          </a:xfrm>
          <a:prstGeom prst="line">
            <a:avLst/>
          </a:prstGeom>
          <a:ln w="28575">
            <a:solidFill>
              <a:srgbClr val="000000"/>
            </a:solidFill>
          </a:ln>
        </p:spPr>
        <p:txBody>
          <a:bodyPr lIns="45719" rIns="45719"/>
          <a:lstStyle/>
          <a:p>
            <a:pPr/>
          </a:p>
        </p:txBody>
      </p:sp>
      <p:sp>
        <p:nvSpPr>
          <p:cNvPr id="100" name="Straight Connector 6"/>
          <p:cNvSpPr/>
          <p:nvPr/>
        </p:nvSpPr>
        <p:spPr>
          <a:xfrm>
            <a:off x="8305800" y="1142999"/>
            <a:ext cx="76201" cy="5175112"/>
          </a:xfrm>
          <a:prstGeom prst="line">
            <a:avLst/>
          </a:prstGeom>
          <a:ln w="28575">
            <a:solidFill>
              <a:srgbClr val="000000"/>
            </a:solidFill>
          </a:ln>
        </p:spPr>
        <p:txBody>
          <a:bodyPr lIns="45719" rIns="45719"/>
          <a:lstStyle/>
          <a:p>
            <a:pPr/>
          </a:p>
        </p:txBody>
      </p:sp>
      <p:sp>
        <p:nvSpPr>
          <p:cNvPr id="101" name="Straight Connector 8"/>
          <p:cNvSpPr/>
          <p:nvPr/>
        </p:nvSpPr>
        <p:spPr>
          <a:xfrm>
            <a:off x="527363" y="1828800"/>
            <a:ext cx="7816538" cy="0"/>
          </a:xfrm>
          <a:prstGeom prst="line">
            <a:avLst/>
          </a:prstGeom>
          <a:ln>
            <a:solidFill>
              <a:srgbClr val="000000"/>
            </a:solidFill>
          </a:ln>
        </p:spPr>
        <p:txBody>
          <a:bodyPr lIns="45719" rIns="45719"/>
          <a:lstStyle/>
          <a:p>
            <a:pPr/>
          </a:p>
        </p:txBody>
      </p:sp>
      <p:sp>
        <p:nvSpPr>
          <p:cNvPr id="102" name="Straight Connector 9"/>
          <p:cNvSpPr/>
          <p:nvPr/>
        </p:nvSpPr>
        <p:spPr>
          <a:xfrm>
            <a:off x="533399" y="2209800"/>
            <a:ext cx="7816538" cy="0"/>
          </a:xfrm>
          <a:prstGeom prst="line">
            <a:avLst/>
          </a:prstGeom>
          <a:ln>
            <a:solidFill>
              <a:srgbClr val="000000"/>
            </a:solidFill>
          </a:ln>
        </p:spPr>
        <p:txBody>
          <a:bodyPr lIns="45719" rIns="45719"/>
          <a:lstStyle/>
          <a:p>
            <a:pPr/>
          </a:p>
        </p:txBody>
      </p:sp>
      <p:sp>
        <p:nvSpPr>
          <p:cNvPr id="103" name="Straight Connector 10"/>
          <p:cNvSpPr/>
          <p:nvPr/>
        </p:nvSpPr>
        <p:spPr>
          <a:xfrm>
            <a:off x="533399" y="4419600"/>
            <a:ext cx="7816538" cy="0"/>
          </a:xfrm>
          <a:prstGeom prst="line">
            <a:avLst/>
          </a:prstGeom>
          <a:ln>
            <a:solidFill>
              <a:srgbClr val="000000"/>
            </a:solidFill>
          </a:ln>
        </p:spPr>
        <p:txBody>
          <a:bodyPr lIns="45719" rIns="45719"/>
          <a:lstStyle/>
          <a:p>
            <a:pPr/>
          </a:p>
        </p:txBody>
      </p:sp>
      <p:sp>
        <p:nvSpPr>
          <p:cNvPr id="104" name="Straight Connector 11"/>
          <p:cNvSpPr/>
          <p:nvPr/>
        </p:nvSpPr>
        <p:spPr>
          <a:xfrm>
            <a:off x="533399" y="4038600"/>
            <a:ext cx="7816538" cy="0"/>
          </a:xfrm>
          <a:prstGeom prst="line">
            <a:avLst/>
          </a:prstGeom>
          <a:ln>
            <a:solidFill>
              <a:srgbClr val="000000"/>
            </a:solidFill>
          </a:ln>
        </p:spPr>
        <p:txBody>
          <a:bodyPr lIns="45719" rIns="45719"/>
          <a:lstStyle/>
          <a:p>
            <a:pPr/>
          </a:p>
        </p:txBody>
      </p:sp>
      <p:sp>
        <p:nvSpPr>
          <p:cNvPr id="105" name="Straight Connector 13"/>
          <p:cNvSpPr/>
          <p:nvPr/>
        </p:nvSpPr>
        <p:spPr>
          <a:xfrm>
            <a:off x="533399" y="2590800"/>
            <a:ext cx="7816538" cy="0"/>
          </a:xfrm>
          <a:prstGeom prst="line">
            <a:avLst/>
          </a:prstGeom>
          <a:ln>
            <a:solidFill>
              <a:srgbClr val="000000"/>
            </a:solidFill>
          </a:ln>
        </p:spPr>
        <p:txBody>
          <a:bodyPr lIns="45719" rIns="45719"/>
          <a:lstStyle/>
          <a:p>
            <a:pPr/>
          </a:p>
        </p:txBody>
      </p:sp>
      <p:sp>
        <p:nvSpPr>
          <p:cNvPr id="106" name="Straight Connector 16"/>
          <p:cNvSpPr/>
          <p:nvPr/>
        </p:nvSpPr>
        <p:spPr>
          <a:xfrm>
            <a:off x="533399" y="2971800"/>
            <a:ext cx="7816538" cy="0"/>
          </a:xfrm>
          <a:prstGeom prst="line">
            <a:avLst/>
          </a:prstGeom>
          <a:ln>
            <a:solidFill>
              <a:srgbClr val="000000"/>
            </a:solidFill>
          </a:ln>
        </p:spPr>
        <p:txBody>
          <a:bodyPr lIns="45719" rIns="45719"/>
          <a:lstStyle/>
          <a:p>
            <a:pPr/>
          </a:p>
        </p:txBody>
      </p:sp>
      <p:sp>
        <p:nvSpPr>
          <p:cNvPr id="107" name="Straight Connector 18"/>
          <p:cNvSpPr/>
          <p:nvPr/>
        </p:nvSpPr>
        <p:spPr>
          <a:xfrm>
            <a:off x="533399" y="3276600"/>
            <a:ext cx="7816538" cy="0"/>
          </a:xfrm>
          <a:prstGeom prst="line">
            <a:avLst/>
          </a:prstGeom>
          <a:ln>
            <a:solidFill>
              <a:srgbClr val="000000"/>
            </a:solidFill>
          </a:ln>
        </p:spPr>
        <p:txBody>
          <a:bodyPr lIns="45719" rIns="45719"/>
          <a:lstStyle/>
          <a:p>
            <a:pPr/>
          </a:p>
        </p:txBody>
      </p:sp>
      <p:sp>
        <p:nvSpPr>
          <p:cNvPr id="108" name="Straight Connector 19"/>
          <p:cNvSpPr/>
          <p:nvPr/>
        </p:nvSpPr>
        <p:spPr>
          <a:xfrm>
            <a:off x="533399" y="3657600"/>
            <a:ext cx="7816538" cy="0"/>
          </a:xfrm>
          <a:prstGeom prst="line">
            <a:avLst/>
          </a:prstGeom>
          <a:ln>
            <a:solidFill>
              <a:srgbClr val="000000"/>
            </a:solidFill>
          </a:ln>
        </p:spPr>
        <p:txBody>
          <a:bodyPr lIns="45719" rIns="45719"/>
          <a:lstStyle/>
          <a:p>
            <a:pPr/>
          </a:p>
        </p:txBody>
      </p:sp>
      <p:sp>
        <p:nvSpPr>
          <p:cNvPr id="109" name="Straight Connector 20"/>
          <p:cNvSpPr/>
          <p:nvPr/>
        </p:nvSpPr>
        <p:spPr>
          <a:xfrm>
            <a:off x="533399" y="4800600"/>
            <a:ext cx="7816538" cy="0"/>
          </a:xfrm>
          <a:prstGeom prst="line">
            <a:avLst/>
          </a:prstGeom>
          <a:ln>
            <a:solidFill>
              <a:srgbClr val="000000"/>
            </a:solidFill>
          </a:ln>
        </p:spPr>
        <p:txBody>
          <a:bodyPr lIns="45719" rIns="45719"/>
          <a:lstStyle/>
          <a:p>
            <a:pPr/>
          </a:p>
        </p:txBody>
      </p:sp>
      <p:sp>
        <p:nvSpPr>
          <p:cNvPr id="110" name="Straight Connector 21"/>
          <p:cNvSpPr/>
          <p:nvPr/>
        </p:nvSpPr>
        <p:spPr>
          <a:xfrm>
            <a:off x="533399" y="5105400"/>
            <a:ext cx="7816538" cy="0"/>
          </a:xfrm>
          <a:prstGeom prst="line">
            <a:avLst/>
          </a:prstGeom>
          <a:ln>
            <a:solidFill>
              <a:srgbClr val="000000"/>
            </a:solidFill>
          </a:ln>
        </p:spPr>
        <p:txBody>
          <a:bodyPr lIns="45719" rIns="45719"/>
          <a:lstStyle/>
          <a:p>
            <a:pPr/>
          </a:p>
        </p:txBody>
      </p:sp>
      <p:sp>
        <p:nvSpPr>
          <p:cNvPr id="111" name="Straight Connector 22"/>
          <p:cNvSpPr/>
          <p:nvPr/>
        </p:nvSpPr>
        <p:spPr>
          <a:xfrm>
            <a:off x="533399" y="5486400"/>
            <a:ext cx="7816538" cy="0"/>
          </a:xfrm>
          <a:prstGeom prst="line">
            <a:avLst/>
          </a:prstGeom>
          <a:ln>
            <a:solidFill>
              <a:srgbClr val="000000"/>
            </a:solidFill>
          </a:ln>
        </p:spPr>
        <p:txBody>
          <a:bodyPr lIns="45719" rIns="45719"/>
          <a:lstStyle/>
          <a:p>
            <a:pPr/>
          </a:p>
        </p:txBody>
      </p:sp>
      <p:sp>
        <p:nvSpPr>
          <p:cNvPr id="112" name="Straight Connector 23"/>
          <p:cNvSpPr/>
          <p:nvPr/>
        </p:nvSpPr>
        <p:spPr>
          <a:xfrm>
            <a:off x="533399" y="6324600"/>
            <a:ext cx="7816538" cy="0"/>
          </a:xfrm>
          <a:prstGeom prst="line">
            <a:avLst/>
          </a:prstGeom>
          <a:ln>
            <a:solidFill>
              <a:srgbClr val="000000"/>
            </a:solidFill>
          </a:ln>
        </p:spPr>
        <p:txBody>
          <a:bodyPr lIns="45719" rIns="45719"/>
          <a:lstStyle/>
          <a:p>
            <a:pPr/>
          </a:p>
        </p:txBody>
      </p:sp>
      <p:pic>
        <p:nvPicPr>
          <p:cNvPr id="113" name="pasted-movie.png" descr="pasted-movie.png"/>
          <p:cNvPicPr>
            <a:picLocks noChangeAspect="0"/>
          </p:cNvPicPr>
          <p:nvPr/>
        </p:nvPicPr>
        <p:blipFill>
          <a:blip r:embed="rId2">
            <a:extLst/>
          </a:blip>
          <a:stretch>
            <a:fillRect/>
          </a:stretch>
        </p:blipFill>
        <p:spPr>
          <a:xfrm>
            <a:off x="4875208" y="1530391"/>
            <a:ext cx="2975081" cy="4254418"/>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extBox 4"/>
          <p:cNvSpPr txBox="1"/>
          <p:nvPr/>
        </p:nvSpPr>
        <p:spPr>
          <a:xfrm>
            <a:off x="-259081" y="152400"/>
            <a:ext cx="8214362"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400">
                <a:solidFill>
                  <a:srgbClr val="C00000"/>
                </a:solidFill>
              </a:defRPr>
            </a:lvl1pPr>
          </a:lstStyle>
          <a:p>
            <a:pPr/>
            <a:r>
              <a:t>Journals in which SAFS faculty published in 2002–2012</a:t>
            </a:r>
          </a:p>
        </p:txBody>
      </p:sp>
      <p:graphicFrame>
        <p:nvGraphicFramePr>
          <p:cNvPr id="116" name="Table 1"/>
          <p:cNvGraphicFramePr/>
          <p:nvPr/>
        </p:nvGraphicFramePr>
        <p:xfrm>
          <a:off x="685801" y="838200"/>
          <a:ext cx="8001001" cy="5867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228935"/>
                <a:gridCol w="985495"/>
                <a:gridCol w="1801075"/>
                <a:gridCol w="985495"/>
              </a:tblGrid>
              <a:tr h="149273">
                <a:tc>
                  <a:txBody>
                    <a:bodyPr/>
                    <a:lstStyle/>
                    <a:p>
                      <a:pPr algn="l">
                        <a:defRPr sz="1800"/>
                      </a:pPr>
                      <a:r>
                        <a:rPr sz="1000">
                          <a:latin typeface="Aptos Narrow"/>
                          <a:ea typeface="Aptos Narrow"/>
                          <a:cs typeface="Aptos Narrow"/>
                          <a:sym typeface="Aptos Narrow"/>
                        </a:rPr>
                        <a:t>2002-2012</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lgn="l">
                        <a:defRPr sz="1800"/>
                      </a:pP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2013-2023</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lgn="l">
                        <a:defRPr sz="1800"/>
                      </a:pPr>
                    </a:p>
                  </a:txBody>
                  <a:tcPr marL="5397" marR="5397" marT="5397" marB="5397" anchor="b" anchorCtr="0" horzOverflow="overflow">
                    <a:lnL w="12700">
                      <a:miter lim="400000"/>
                    </a:lnL>
                    <a:lnR w="12700">
                      <a:miter lim="400000"/>
                    </a:lnR>
                    <a:lnT w="12700">
                      <a:miter lim="400000"/>
                    </a:lnT>
                    <a:lnB w="12700">
                      <a:miter lim="400000"/>
                    </a:lnB>
                    <a:noFill/>
                  </a:tcPr>
                </a:tc>
              </a:tr>
              <a:tr h="365255">
                <a:tc>
                  <a:txBody>
                    <a:bodyPr/>
                    <a:lstStyle/>
                    <a:p>
                      <a:pPr algn="l">
                        <a:defRPr sz="1800"/>
                      </a:pPr>
                      <a:r>
                        <a:rPr i="1" sz="1200"/>
                        <a:t>Canadian Journal of Fisheries and Aquatic Sciences</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85</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Fish Res</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121</a:t>
                      </a:r>
                    </a:p>
                  </a:txBody>
                  <a:tcPr marL="5397" marR="5397" marT="5397" marB="5397" anchor="b" anchorCtr="0" horzOverflow="overflow">
                    <a:lnL w="12700">
                      <a:miter lim="400000"/>
                    </a:lnL>
                    <a:lnR w="12700">
                      <a:miter lim="400000"/>
                    </a:lnR>
                    <a:lnT w="12700">
                      <a:miter lim="400000"/>
                    </a:lnT>
                    <a:lnB w="12700">
                      <a:miter lim="400000"/>
                    </a:lnB>
                    <a:noFill/>
                  </a:tcPr>
                </a:tc>
              </a:tr>
              <a:tr h="365255">
                <a:tc>
                  <a:txBody>
                    <a:bodyPr/>
                    <a:lstStyle/>
                    <a:p>
                      <a:pPr algn="l">
                        <a:defRPr sz="1800"/>
                      </a:pPr>
                      <a:r>
                        <a:rPr i="1" sz="1200"/>
                        <a:t>Transactions of the American Fisheries Society</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56</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ICES J Mar Sci</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113</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Fisheries Research</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38</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Can J Fish Aquat Sci</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100</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ICES Journal of Marine Science</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32</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PLOS ONE</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76</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Marine Ecology Progress Series</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31</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Fish and Fisheries</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68</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Ecology</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23</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Mar Ecol Prog Ser</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65</a:t>
                      </a:r>
                    </a:p>
                  </a:txBody>
                  <a:tcPr marL="5397" marR="5397" marT="5397" marB="5397" anchor="b" anchorCtr="0" horzOverflow="overflow">
                    <a:lnL w="12700">
                      <a:miter lim="400000"/>
                    </a:lnL>
                    <a:lnR w="12700">
                      <a:miter lim="400000"/>
                    </a:lnR>
                    <a:lnT w="12700">
                      <a:miter lim="400000"/>
                    </a:lnT>
                    <a:lnB w="12700">
                      <a:miter lim="400000"/>
                    </a:lnB>
                    <a:noFill/>
                  </a:tcPr>
                </a:tc>
              </a:tr>
              <a:tr h="365255">
                <a:tc>
                  <a:txBody>
                    <a:bodyPr/>
                    <a:lstStyle/>
                    <a:p>
                      <a:pPr algn="l">
                        <a:defRPr sz="1800"/>
                      </a:pPr>
                      <a:r>
                        <a:rPr i="1" sz="1200"/>
                        <a:t>Journal of Cetacean Research and Management</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23</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Trans Am Fish Soc</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49</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Copeia</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21</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Proc Nat Acad Sci</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46</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Ecological Applications</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19</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Ecol Appl</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36</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Fish and Fisheries </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19</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Ecol Evol</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36</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Journal of Fish Biology</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19</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Front. Mar. Sci.</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34</a:t>
                      </a:r>
                    </a:p>
                  </a:txBody>
                  <a:tcPr marL="5397" marR="5397" marT="5397" marB="5397" anchor="b" anchorCtr="0" horzOverflow="overflow">
                    <a:lnL w="12700">
                      <a:miter lim="400000"/>
                    </a:lnL>
                    <a:lnR w="12700">
                      <a:miter lim="400000"/>
                    </a:lnR>
                    <a:lnT w="12700">
                      <a:miter lim="400000"/>
                    </a:lnT>
                    <a:lnB w="12700">
                      <a:miter lim="400000"/>
                    </a:lnB>
                    <a:noFill/>
                  </a:tcPr>
                </a:tc>
              </a:tr>
              <a:tr h="365255">
                <a:tc>
                  <a:txBody>
                    <a:bodyPr/>
                    <a:lstStyle/>
                    <a:p>
                      <a:pPr algn="l">
                        <a:defRPr sz="1800"/>
                      </a:pPr>
                      <a:r>
                        <a:rPr i="1" sz="1200"/>
                        <a:t>North Pacific Anadromous Fish Commission Bulletin</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19</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Ecology</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31</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Fisheries Oceanography</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18</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Ecosphere</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31</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Fisheries</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18</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Deep-Sea Res Part II</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28</a:t>
                      </a:r>
                    </a:p>
                  </a:txBody>
                  <a:tcPr marL="5397" marR="5397" marT="5397" marB="5397" anchor="b" anchorCtr="0" horzOverflow="overflow">
                    <a:lnL w="12700">
                      <a:miter lim="400000"/>
                    </a:lnL>
                    <a:lnR w="12700">
                      <a:miter lim="400000"/>
                    </a:lnR>
                    <a:lnT w="12700">
                      <a:miter lim="400000"/>
                    </a:lnT>
                    <a:lnB w="12700">
                      <a:miter lim="400000"/>
                    </a:lnB>
                    <a:noFill/>
                  </a:tcPr>
                </a:tc>
              </a:tr>
              <a:tr h="365255">
                <a:tc>
                  <a:txBody>
                    <a:bodyPr/>
                    <a:lstStyle/>
                    <a:p>
                      <a:pPr algn="l">
                        <a:defRPr sz="1800"/>
                      </a:pPr>
                      <a:r>
                        <a:rPr i="1" sz="1200"/>
                        <a:t>Proceedings of the National Academy of Sciences</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18</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Mol Ecol</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27</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Fishery Bulletin</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17</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Glob Change Biol</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26</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Marine and Freshwater Research</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17</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N Am J Fish Mgmt</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25</a:t>
                      </a:r>
                    </a:p>
                  </a:txBody>
                  <a:tcPr marL="5397" marR="5397" marT="5397" marB="5397" anchor="b" anchorCtr="0" horzOverflow="overflow">
                    <a:lnL w="12700">
                      <a:miter lim="400000"/>
                    </a:lnL>
                    <a:lnR w="12700">
                      <a:miter lim="400000"/>
                    </a:lnR>
                    <a:lnT w="12700">
                      <a:miter lim="400000"/>
                    </a:lnT>
                    <a:lnB w="12700">
                      <a:miter lim="400000"/>
                    </a:lnB>
                    <a:noFill/>
                  </a:tcPr>
                </a:tc>
              </a:tr>
              <a:tr h="365255">
                <a:tc>
                  <a:txBody>
                    <a:bodyPr/>
                    <a:lstStyle/>
                    <a:p>
                      <a:pPr algn="l">
                        <a:defRPr sz="1800"/>
                      </a:pPr>
                      <a:r>
                        <a:rPr i="1" sz="1200"/>
                        <a:t>North American Journal of Fisheries Management</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15</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J Appl Ecol</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24</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Conservation Biology</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14</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Mar Policy</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24</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Freshwater Biology</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14</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Sci Rep</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24</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Ecosystems</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13</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Environ Biol Fish</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23</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Limnology and Oceanography</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13</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Science</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23</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Ecological Modeling</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200"/>
                        <a:t>12</a:t>
                      </a:r>
                    </a:p>
                  </a:txBody>
                  <a:tcPr marL="5397" marR="5397" marT="5397" marB="5397" anchor="ctr"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Ecol Model</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22</a:t>
                      </a:r>
                    </a:p>
                  </a:txBody>
                  <a:tcPr marL="5397" marR="5397" marT="5397" marB="5397" anchor="b" anchorCtr="0" horzOverflow="overflow">
                    <a:lnL w="12700">
                      <a:miter lim="400000"/>
                    </a:lnL>
                    <a:lnR w="12700">
                      <a:miter lim="400000"/>
                    </a:lnR>
                    <a:lnT w="12700">
                      <a:miter lim="400000"/>
                    </a:lnT>
                    <a:lnB w="12700">
                      <a:miter lim="400000"/>
                    </a:lnB>
                    <a:noFill/>
                  </a:tcPr>
                </a:tc>
              </a:tr>
              <a:tr h="195922">
                <a:tc>
                  <a:txBody>
                    <a:bodyPr/>
                    <a:lstStyle/>
                    <a:p>
                      <a:pPr algn="l">
                        <a:defRPr sz="1800"/>
                      </a:pPr>
                      <a:r>
                        <a:rPr i="1" sz="1200"/>
                        <a:t>Science</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lgn="l">
                        <a:defRPr sz="1800"/>
                      </a:pPr>
                      <a:r>
                        <a:rPr sz="1200"/>
                        <a:t>12</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lgn="l">
                        <a:defRPr sz="1800"/>
                      </a:pPr>
                      <a:r>
                        <a:rPr sz="1000">
                          <a:latin typeface="Aptos Narrow"/>
                          <a:ea typeface="Aptos Narrow"/>
                          <a:cs typeface="Aptos Narrow"/>
                          <a:sym typeface="Aptos Narrow"/>
                        </a:rPr>
                        <a:t>Proc R Soc Lond B</a:t>
                      </a:r>
                    </a:p>
                  </a:txBody>
                  <a:tcPr marL="5397" marR="5397" marT="5397" marB="5397" anchor="b" anchorCtr="0" horzOverflow="overflow">
                    <a:lnL w="12700">
                      <a:miter lim="400000"/>
                    </a:lnL>
                    <a:lnR w="12700">
                      <a:miter lim="400000"/>
                    </a:lnR>
                    <a:lnT w="12700">
                      <a:miter lim="400000"/>
                    </a:lnT>
                    <a:lnB w="12700">
                      <a:miter lim="400000"/>
                    </a:lnB>
                    <a:noFill/>
                  </a:tcPr>
                </a:tc>
                <a:tc>
                  <a:txBody>
                    <a:bodyPr/>
                    <a:lstStyle/>
                    <a:p>
                      <a:pPr>
                        <a:defRPr sz="1800"/>
                      </a:pPr>
                      <a:r>
                        <a:rPr sz="1000">
                          <a:latin typeface="Aptos Narrow"/>
                          <a:ea typeface="Aptos Narrow"/>
                          <a:cs typeface="Aptos Narrow"/>
                          <a:sym typeface="Aptos Narrow"/>
                        </a:rPr>
                        <a:t>22</a:t>
                      </a:r>
                    </a:p>
                  </a:txBody>
                  <a:tcPr marL="5397" marR="5397" marT="5397" marB="5397" anchor="b" anchorCtr="0" horzOverflow="overflow">
                    <a:lnL w="12700">
                      <a:miter lim="400000"/>
                    </a:lnL>
                    <a:lnR w="12700">
                      <a:miter lim="400000"/>
                    </a:lnR>
                    <a:lnT w="12700">
                      <a:miter lim="400000"/>
                    </a:lnT>
                    <a:lnB w="12700">
                      <a:miter lim="400000"/>
                    </a:lnB>
                    <a:noFill/>
                  </a:tcPr>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Box 1"/>
          <p:cNvSpPr txBox="1"/>
          <p:nvPr/>
        </p:nvSpPr>
        <p:spPr>
          <a:xfrm>
            <a:off x="1341119" y="1600200"/>
            <a:ext cx="6461762" cy="11081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600"/>
            </a:lvl1pPr>
          </a:lstStyle>
          <a:p>
            <a:pPr/>
            <a:r>
              <a:t>Or, you never get a second chance to make a first impression.</a:t>
            </a:r>
          </a:p>
        </p:txBody>
      </p:sp>
      <p:sp>
        <p:nvSpPr>
          <p:cNvPr id="119" name="TextBox 2"/>
          <p:cNvSpPr txBox="1"/>
          <p:nvPr/>
        </p:nvSpPr>
        <p:spPr>
          <a:xfrm>
            <a:off x="426719" y="228599"/>
            <a:ext cx="5928362" cy="49704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200">
                <a:solidFill>
                  <a:srgbClr val="C00000"/>
                </a:solidFill>
              </a:defRPr>
            </a:lvl1pPr>
          </a:lstStyle>
          <a:p>
            <a:pPr/>
            <a:r>
              <a:t>The art of the title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extBox 1"/>
          <p:cNvSpPr txBox="1"/>
          <p:nvPr/>
        </p:nvSpPr>
        <p:spPr>
          <a:xfrm>
            <a:off x="426719" y="228599"/>
            <a:ext cx="5928362" cy="49704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200">
                <a:solidFill>
                  <a:srgbClr val="C00000"/>
                </a:solidFill>
              </a:defRPr>
            </a:lvl1pPr>
          </a:lstStyle>
          <a:p>
            <a:pPr/>
            <a:r>
              <a:t>The art of the title</a:t>
            </a:r>
          </a:p>
        </p:txBody>
      </p:sp>
      <p:sp>
        <p:nvSpPr>
          <p:cNvPr id="122" name="TextBox 2"/>
          <p:cNvSpPr txBox="1"/>
          <p:nvPr/>
        </p:nvSpPr>
        <p:spPr>
          <a:xfrm>
            <a:off x="423089" y="1142999"/>
            <a:ext cx="5928361" cy="7607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lvl1pPr>
          </a:lstStyle>
          <a:p>
            <a:pPr/>
            <a:r>
              <a:t>Imagine you do a study on anole biogeography. What is your title going to be?</a:t>
            </a:r>
          </a:p>
        </p:txBody>
      </p:sp>
      <p:pic>
        <p:nvPicPr>
          <p:cNvPr id="123" name="Picture 4" descr="Picture 4"/>
          <p:cNvPicPr>
            <a:picLocks noChangeAspect="1"/>
          </p:cNvPicPr>
          <p:nvPr/>
        </p:nvPicPr>
        <p:blipFill>
          <a:blip r:embed="rId2">
            <a:extLst/>
          </a:blip>
          <a:stretch>
            <a:fillRect/>
          </a:stretch>
        </p:blipFill>
        <p:spPr>
          <a:xfrm>
            <a:off x="7239000" y="199525"/>
            <a:ext cx="1752600" cy="3748208"/>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extBox 1"/>
          <p:cNvSpPr txBox="1"/>
          <p:nvPr/>
        </p:nvSpPr>
        <p:spPr>
          <a:xfrm>
            <a:off x="426719" y="228599"/>
            <a:ext cx="5928362" cy="49704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200">
                <a:solidFill>
                  <a:srgbClr val="C00000"/>
                </a:solidFill>
              </a:defRPr>
            </a:lvl1pPr>
          </a:lstStyle>
          <a:p>
            <a:pPr/>
            <a:r>
              <a:t>The art of the title</a:t>
            </a:r>
          </a:p>
        </p:txBody>
      </p:sp>
      <p:sp>
        <p:nvSpPr>
          <p:cNvPr id="126" name="TextBox 2"/>
          <p:cNvSpPr txBox="1"/>
          <p:nvPr/>
        </p:nvSpPr>
        <p:spPr>
          <a:xfrm>
            <a:off x="423089" y="1142999"/>
            <a:ext cx="5928361" cy="7607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lvl1pPr>
          </a:lstStyle>
          <a:p>
            <a:pPr/>
            <a:r>
              <a:t>Imagine you do a study on anole biogeography. What is your title going to be?</a:t>
            </a:r>
          </a:p>
        </p:txBody>
      </p:sp>
      <p:pic>
        <p:nvPicPr>
          <p:cNvPr id="127" name="Picture 4" descr="Picture 4"/>
          <p:cNvPicPr>
            <a:picLocks noChangeAspect="1"/>
          </p:cNvPicPr>
          <p:nvPr/>
        </p:nvPicPr>
        <p:blipFill>
          <a:blip r:embed="rId2">
            <a:extLst/>
          </a:blip>
          <a:stretch>
            <a:fillRect/>
          </a:stretch>
        </p:blipFill>
        <p:spPr>
          <a:xfrm>
            <a:off x="7239000" y="199525"/>
            <a:ext cx="1752600" cy="3748208"/>
          </a:xfrm>
          <a:prstGeom prst="rect">
            <a:avLst/>
          </a:prstGeom>
          <a:ln w="12700">
            <a:miter lim="400000"/>
          </a:ln>
        </p:spPr>
      </p:pic>
      <p:pic>
        <p:nvPicPr>
          <p:cNvPr id="128" name="Picture 6" descr="Picture 6"/>
          <p:cNvPicPr>
            <a:picLocks noChangeAspect="1"/>
          </p:cNvPicPr>
          <p:nvPr/>
        </p:nvPicPr>
        <p:blipFill>
          <a:blip r:embed="rId3">
            <a:extLst/>
          </a:blip>
          <a:stretch>
            <a:fillRect/>
          </a:stretch>
        </p:blipFill>
        <p:spPr>
          <a:xfrm>
            <a:off x="301168" y="2463800"/>
            <a:ext cx="6172201" cy="439420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TextBox 1"/>
          <p:cNvSpPr txBox="1"/>
          <p:nvPr/>
        </p:nvSpPr>
        <p:spPr>
          <a:xfrm>
            <a:off x="426719" y="228599"/>
            <a:ext cx="5928362" cy="49704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200">
                <a:solidFill>
                  <a:srgbClr val="C00000"/>
                </a:solidFill>
              </a:defRPr>
            </a:lvl1pPr>
          </a:lstStyle>
          <a:p>
            <a:pPr/>
            <a:r>
              <a:t>The art of the title</a:t>
            </a:r>
          </a:p>
        </p:txBody>
      </p:sp>
      <p:sp>
        <p:nvSpPr>
          <p:cNvPr id="131" name="TextBox 2"/>
          <p:cNvSpPr txBox="1"/>
          <p:nvPr/>
        </p:nvSpPr>
        <p:spPr>
          <a:xfrm>
            <a:off x="423089" y="1142999"/>
            <a:ext cx="5928361" cy="7607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lvl1pPr>
          </a:lstStyle>
          <a:p>
            <a:pPr/>
            <a:r>
              <a:t>Imagine you do a study on anole biogeography. What is your title going to be?</a:t>
            </a:r>
          </a:p>
        </p:txBody>
      </p:sp>
      <p:pic>
        <p:nvPicPr>
          <p:cNvPr id="132" name="Picture 5" descr="Picture 5"/>
          <p:cNvPicPr>
            <a:picLocks noChangeAspect="1"/>
          </p:cNvPicPr>
          <p:nvPr/>
        </p:nvPicPr>
        <p:blipFill>
          <a:blip r:embed="rId2">
            <a:extLst/>
          </a:blip>
          <a:stretch>
            <a:fillRect/>
          </a:stretch>
        </p:blipFill>
        <p:spPr>
          <a:xfrm>
            <a:off x="76200" y="3608727"/>
            <a:ext cx="9144000" cy="2106273"/>
          </a:xfrm>
          <a:prstGeom prst="rect">
            <a:avLst/>
          </a:prstGeom>
          <a:ln w="12700">
            <a:miter lim="400000"/>
          </a:ln>
        </p:spPr>
      </p:pic>
      <p:pic>
        <p:nvPicPr>
          <p:cNvPr id="133" name="Picture 4" descr="Picture 4"/>
          <p:cNvPicPr>
            <a:picLocks noChangeAspect="1"/>
          </p:cNvPicPr>
          <p:nvPr/>
        </p:nvPicPr>
        <p:blipFill>
          <a:blip r:embed="rId3">
            <a:extLst/>
          </a:blip>
          <a:stretch>
            <a:fillRect/>
          </a:stretch>
        </p:blipFill>
        <p:spPr>
          <a:xfrm>
            <a:off x="7239000" y="199525"/>
            <a:ext cx="1752600" cy="3748208"/>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extBox 1"/>
          <p:cNvSpPr txBox="1"/>
          <p:nvPr/>
        </p:nvSpPr>
        <p:spPr>
          <a:xfrm>
            <a:off x="426719" y="228599"/>
            <a:ext cx="5928362" cy="49704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200">
                <a:solidFill>
                  <a:srgbClr val="C00000"/>
                </a:solidFill>
              </a:defRPr>
            </a:lvl1pPr>
          </a:lstStyle>
          <a:p>
            <a:pPr/>
            <a:r>
              <a:t>The art of the title</a:t>
            </a:r>
          </a:p>
        </p:txBody>
      </p:sp>
      <p:sp>
        <p:nvSpPr>
          <p:cNvPr id="136" name="TextBox 2"/>
          <p:cNvSpPr txBox="1"/>
          <p:nvPr/>
        </p:nvSpPr>
        <p:spPr>
          <a:xfrm>
            <a:off x="423089" y="1142999"/>
            <a:ext cx="5928361" cy="7607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lvl1pPr>
          </a:lstStyle>
          <a:p>
            <a:pPr/>
            <a:r>
              <a:t>Imagine you do a study on anole biogeography. What is your title going to be?</a:t>
            </a:r>
          </a:p>
        </p:txBody>
      </p:sp>
      <p:pic>
        <p:nvPicPr>
          <p:cNvPr id="137" name="Picture 5" descr="Picture 5"/>
          <p:cNvPicPr>
            <a:picLocks noChangeAspect="1"/>
          </p:cNvPicPr>
          <p:nvPr/>
        </p:nvPicPr>
        <p:blipFill>
          <a:blip r:embed="rId2">
            <a:extLst/>
          </a:blip>
          <a:stretch>
            <a:fillRect/>
          </a:stretch>
        </p:blipFill>
        <p:spPr>
          <a:xfrm>
            <a:off x="76200" y="3445426"/>
            <a:ext cx="8991600" cy="2829205"/>
          </a:xfrm>
          <a:prstGeom prst="rect">
            <a:avLst/>
          </a:prstGeom>
          <a:ln w="12700">
            <a:miter lim="400000"/>
          </a:ln>
        </p:spPr>
      </p:pic>
      <p:pic>
        <p:nvPicPr>
          <p:cNvPr id="138" name="Picture 4" descr="Picture 4"/>
          <p:cNvPicPr>
            <a:picLocks noChangeAspect="1"/>
          </p:cNvPicPr>
          <p:nvPr/>
        </p:nvPicPr>
        <p:blipFill>
          <a:blip r:embed="rId3">
            <a:extLst/>
          </a:blip>
          <a:stretch>
            <a:fillRect/>
          </a:stretch>
        </p:blipFill>
        <p:spPr>
          <a:xfrm>
            <a:off x="7239000" y="199525"/>
            <a:ext cx="1752600" cy="3748208"/>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Rectangle 1"/>
          <p:cNvSpPr txBox="1"/>
          <p:nvPr/>
        </p:nvSpPr>
        <p:spPr>
          <a:xfrm>
            <a:off x="883919" y="1305103"/>
            <a:ext cx="7299962" cy="39103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solidFill>
                  <a:srgbClr val="C00000"/>
                </a:solidFill>
              </a:defRPr>
            </a:pPr>
            <a:r>
              <a:t>Class activity:  </a:t>
            </a:r>
          </a:p>
          <a:p>
            <a:pPr algn="ctr">
              <a:defRPr sz="3200"/>
            </a:pPr>
          </a:p>
          <a:p>
            <a:pPr>
              <a:defRPr sz="2800"/>
            </a:pPr>
            <a:r>
              <a:t>Let’s now go on-line to the UW library, find a journal, open the table of contents, and look at it.   We will use the </a:t>
            </a:r>
            <a:r>
              <a:rPr i="1"/>
              <a:t>Canadian Journal of Fisheries and Aquatic Sciences </a:t>
            </a:r>
            <a:r>
              <a:t>as an example.</a:t>
            </a:r>
          </a:p>
          <a:p>
            <a:pPr>
              <a:defRPr sz="2800"/>
            </a:pPr>
          </a:p>
          <a:p>
            <a:pPr algn="ctr">
              <a:defRPr b="1" sz="2400"/>
            </a:pPr>
            <a:r>
              <a:rPr u="sng">
                <a:solidFill>
                  <a:srgbClr val="0000FF"/>
                </a:solidFill>
                <a:uFill>
                  <a:solidFill>
                    <a:srgbClr val="0000FF"/>
                  </a:solidFill>
                </a:uFill>
                <a:hlinkClick r:id="rId2" invalidUrl="" action="" tgtFrame="" tooltip="" history="1" highlightClick="0" endSnd="0"/>
              </a:rPr>
              <a:t>http://catalog.lib.washington.edu/search~</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TextBox 1"/>
          <p:cNvSpPr txBox="1"/>
          <p:nvPr/>
        </p:nvSpPr>
        <p:spPr>
          <a:xfrm>
            <a:off x="579119" y="850641"/>
            <a:ext cx="7833362" cy="495474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pPr>
            <a:r>
              <a:t>Let’s look at the most recent issue of the journal and scan the titles.  Which would you choose to read, and why?  Do some words in the titles intrigue you or turn you off?  </a:t>
            </a:r>
          </a:p>
          <a:p>
            <a:pPr>
              <a:defRPr sz="3200"/>
            </a:pPr>
          </a:p>
          <a:p>
            <a:pPr>
              <a:defRPr sz="3200"/>
            </a:pPr>
            <a:r>
              <a:t>Are you looking for reference to a place such as “Alaska” or an organism such as “octopus” or a theme such as “conservation” or a discipline such as “genetics”?</a:t>
            </a:r>
            <a:endParaRPr b="1">
              <a:solidFill>
                <a:srgbClr val="FF0000"/>
              </a:solidFill>
            </a:endParaR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2"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TextBox 1"/>
          <p:cNvSpPr txBox="1"/>
          <p:nvPr/>
        </p:nvSpPr>
        <p:spPr>
          <a:xfrm>
            <a:off x="426719" y="228599"/>
            <a:ext cx="5928362" cy="49704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200">
                <a:solidFill>
                  <a:srgbClr val="C00000"/>
                </a:solidFill>
              </a:defRPr>
            </a:lvl1pPr>
          </a:lstStyle>
          <a:p>
            <a:pPr/>
            <a:r>
              <a:t>3. The art of the title</a:t>
            </a:r>
          </a:p>
        </p:txBody>
      </p:sp>
      <p:sp>
        <p:nvSpPr>
          <p:cNvPr id="145" name="TextBox 3"/>
          <p:cNvSpPr txBox="1"/>
          <p:nvPr/>
        </p:nvSpPr>
        <p:spPr>
          <a:xfrm>
            <a:off x="579119" y="1447799"/>
            <a:ext cx="7985762" cy="504776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600"/>
            </a:pPr>
            <a:r>
              <a:t>The unspoken rules of the title:</a:t>
            </a:r>
          </a:p>
          <a:p>
            <a:pPr>
              <a:defRPr sz="2600"/>
            </a:pPr>
          </a:p>
          <a:p>
            <a:pPr marL="457200" indent="-457200">
              <a:buSzPct val="100000"/>
              <a:buAutoNum type="arabicPeriod" startAt="1"/>
              <a:defRPr sz="2600"/>
            </a:pPr>
            <a:r>
              <a:t>Don’t underestimate the power that your title can have</a:t>
            </a:r>
          </a:p>
          <a:p>
            <a:pPr marL="457200" indent="-457200">
              <a:buSzPct val="100000"/>
              <a:buAutoNum type="arabicPeriod" startAt="1"/>
              <a:defRPr sz="2600"/>
            </a:pPr>
            <a:r>
              <a:t>Tailor the title to your audience, which may be dictated by the choice of journal</a:t>
            </a:r>
          </a:p>
          <a:p>
            <a:pPr marL="457200" indent="-457200">
              <a:buSzPct val="100000"/>
              <a:buAutoNum type="arabicPeriod" startAt="1"/>
              <a:defRPr sz="2600"/>
            </a:pPr>
            <a:r>
              <a:t>Too broad, and you risk disappointing people</a:t>
            </a:r>
          </a:p>
          <a:p>
            <a:pPr marL="457200" indent="-457200">
              <a:buSzPct val="100000"/>
              <a:buAutoNum type="arabicPeriod" startAt="1"/>
              <a:defRPr sz="2600"/>
            </a:pPr>
            <a:r>
              <a:t>Too narrow, and you risk selling yourself short</a:t>
            </a:r>
          </a:p>
          <a:p>
            <a:pPr marL="457200" indent="-457200">
              <a:buSzPct val="100000"/>
              <a:buAutoNum type="arabicPeriod" startAt="1"/>
              <a:defRPr sz="2600"/>
            </a:pPr>
            <a:r>
              <a:t>When in doubt, use a title that tells the main message</a:t>
            </a:r>
          </a:p>
          <a:p>
            <a:pPr marL="457200" indent="-457200">
              <a:buSzPct val="100000"/>
              <a:buAutoNum type="arabicPeriod" startAt="1"/>
              <a:defRPr sz="2600"/>
            </a:pPr>
          </a:p>
          <a:p>
            <a:pPr marL="457200" indent="-457200">
              <a:buSzPct val="100000"/>
              <a:buAutoNum type="arabicPeriod" startAt="7"/>
              <a:defRPr sz="2600"/>
            </a:pPr>
          </a:p>
          <a:p>
            <a:pPr>
              <a:defRPr sz="2600"/>
            </a:pPr>
            <a:r>
              <a:t>Many people will </a:t>
            </a:r>
            <a:r>
              <a:rPr i="1"/>
              <a:t>only </a:t>
            </a:r>
            <a:r>
              <a:t>read the title. </a:t>
            </a:r>
          </a:p>
          <a:p>
            <a:pPr>
              <a:defRPr sz="2600"/>
            </a:pPr>
            <a:r>
              <a:t>What would you want those people to know?</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Rectangle 3"/>
          <p:cNvSpPr txBox="1"/>
          <p:nvPr/>
        </p:nvSpPr>
        <p:spPr>
          <a:xfrm>
            <a:off x="655319" y="1382017"/>
            <a:ext cx="8442962" cy="337136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600"/>
            </a:pPr>
            <a:r>
              <a:t>1.  Choose a single journal article that speaks to you in some way. It does not have to be on the same topic as your project. This choice is very important.  You will read that article closely, write about it, tease it apart, present it to the class, and in other ways make it a focal part of your experience in this course. </a:t>
            </a:r>
            <a:r>
              <a:rPr b="1"/>
              <a:t>It will be the basis of your poster later in the course. </a:t>
            </a:r>
            <a:r>
              <a:t>We will continue looking in class on Wednesday. </a:t>
            </a:r>
          </a:p>
        </p:txBody>
      </p:sp>
      <p:sp>
        <p:nvSpPr>
          <p:cNvPr id="148" name="TextBox 4"/>
          <p:cNvSpPr txBox="1"/>
          <p:nvPr/>
        </p:nvSpPr>
        <p:spPr>
          <a:xfrm>
            <a:off x="655319" y="304800"/>
            <a:ext cx="5623562" cy="9923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C00000"/>
                </a:solidFill>
              </a:defRPr>
            </a:lvl1pPr>
          </a:lstStyle>
          <a:p>
            <a:pPr/>
            <a:r>
              <a:t>Assignments for today and Wednesday:</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
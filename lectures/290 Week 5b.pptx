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rgbClr val="000000"/>
              </a:solidFill>
              <a:prstDash val="solid"/>
              <a:miter lim="800000"/>
            </a:ln>
          </a:left>
          <a:right>
            <a:ln w="6350" cap="flat">
              <a:solidFill>
                <a:srgbClr val="000000"/>
              </a:solidFill>
              <a:prstDash val="solid"/>
              <a:miter lim="8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6350" cap="flat">
              <a:solidFill>
                <a:srgbClr val="000000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" cap="flat">
              <a:solidFill>
                <a:srgbClr val="000000"/>
              </a:solidFill>
              <a:prstDash val="solid"/>
              <a:miter lim="800000"/>
            </a:ln>
          </a:top>
          <a:bottom>
            <a:ln w="6350" cap="flat">
              <a:solidFill>
                <a:srgbClr val="000000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767424"/>
            <a:ext cx="7772400" cy="1128563"/>
          </a:xfrm>
          <a:prstGeom prst="rect">
            <a:avLst/>
          </a:prstGeom>
        </p:spPr>
        <p:txBody>
          <a:bodyPr/>
          <a:lstStyle/>
          <a:p>
            <a:pPr defTabSz="484631">
              <a:defRPr sz="2862">
                <a:solidFill>
                  <a:srgbClr val="C00000"/>
                </a:solidFill>
              </a:defRPr>
            </a:pPr>
            <a:br/>
            <a:br/>
            <a:r>
              <a:rPr sz="1907"/>
              <a:t>The Results section: part 2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143000" y="4268385"/>
            <a:ext cx="6858000" cy="1128563"/>
          </a:xfrm>
          <a:prstGeom prst="rect">
            <a:avLst/>
          </a:prstGeom>
        </p:spPr>
        <p:txBody>
          <a:bodyPr/>
          <a:lstStyle/>
          <a:p>
            <a:pPr/>
            <a:r>
              <a:t>Fish 290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pPr/>
            <a:r>
              <a:t>Posters are coming up!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628650" y="1825624"/>
            <a:ext cx="7833067" cy="4504838"/>
          </a:xfrm>
          <a:prstGeom prst="rect">
            <a:avLst/>
          </a:prstGeom>
        </p:spPr>
        <p:txBody>
          <a:bodyPr/>
          <a:lstStyle/>
          <a:p>
            <a:pPr/>
            <a:r>
              <a:t>Poster session is Wednesday May 13</a:t>
            </a:r>
            <a:r>
              <a:rPr baseline="30000"/>
              <a:t> </a:t>
            </a:r>
            <a:r>
              <a:t>(two weeks from today). </a:t>
            </a:r>
          </a:p>
          <a:p>
            <a:pPr/>
            <a:r>
              <a:t>Attendance in class will be mandatory.</a:t>
            </a:r>
          </a:p>
          <a:p>
            <a:pPr/>
            <a:r>
              <a:t>Your poster is worth 20% of your final grade</a:t>
            </a:r>
          </a:p>
          <a:p>
            <a:pPr/>
          </a:p>
          <a:p>
            <a:pPr marL="0" indent="0">
              <a:buSzTx/>
              <a:buNone/>
            </a:pPr>
            <a:r>
              <a:t>How can you prepare now?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Continue re-reading your chosen paper and get to know it well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Observe the posters from actual studies (hallways) and past student posters.  What works, what doesn’t?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655319" y="228600"/>
            <a:ext cx="7909562" cy="4954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Three complementary approaches</a:t>
            </a: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sz="3200"/>
            </a:pPr>
            <a:r>
              <a:t>Today’s agenda:</a:t>
            </a:r>
          </a:p>
          <a:p>
            <a:pPr>
              <a:defRPr sz="3200"/>
            </a:pPr>
            <a:r>
              <a:t>1.  Review of statistics in excel</a:t>
            </a:r>
          </a:p>
          <a:p>
            <a:pPr marL="514350" indent="-514350">
              <a:buSzPct val="100000"/>
              <a:buAutoNum type="arabicPeriod" startAt="2"/>
              <a:defRPr sz="3200"/>
            </a:pPr>
            <a:r>
              <a:t>Reporting results in text</a:t>
            </a:r>
          </a:p>
          <a:p>
            <a:pPr marL="514350" indent="-514350">
              <a:buSzPct val="100000"/>
              <a:buAutoNum type="arabicPeriod" startAt="2"/>
              <a:defRPr sz="3200"/>
            </a:pPr>
            <a:r>
              <a:t>Basics of tables</a:t>
            </a:r>
          </a:p>
          <a:p>
            <a:pPr marL="514350" indent="-514350">
              <a:buSzPct val="100000"/>
              <a:buAutoNum type="arabicPeriod" startAt="2"/>
              <a:defRPr sz="32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 txBox="1"/>
          <p:nvPr/>
        </p:nvSpPr>
        <p:spPr>
          <a:xfrm>
            <a:off x="1446256" y="1689902"/>
            <a:ext cx="6251489" cy="2973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C00000"/>
                </a:solidFill>
              </a:defRPr>
            </a:pPr>
            <a:r>
              <a:t>Let’s detour for a moment to talk about statistics.</a:t>
            </a:r>
          </a:p>
          <a:p>
            <a:pPr algn="ctr">
              <a:defRPr sz="3200">
                <a:solidFill>
                  <a:srgbClr val="C00000"/>
                </a:solidFill>
              </a:defRPr>
            </a:pPr>
          </a:p>
          <a:p>
            <a:pPr algn="ctr">
              <a:defRPr sz="3200">
                <a:solidFill>
                  <a:srgbClr val="C00000"/>
                </a:solidFill>
              </a:defRPr>
            </a:pPr>
          </a:p>
          <a:p>
            <a:pPr algn="ctr">
              <a:defRPr sz="3200">
                <a:solidFill>
                  <a:srgbClr val="C00000"/>
                </a:solidFill>
              </a:defRPr>
            </a:pPr>
            <a:r>
              <a:t>What is the purpose of using a statistical test?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 txBox="1"/>
          <p:nvPr/>
        </p:nvSpPr>
        <p:spPr>
          <a:xfrm>
            <a:off x="274319" y="144481"/>
            <a:ext cx="691896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Basics of statistics</a:t>
            </a:r>
          </a:p>
        </p:txBody>
      </p:sp>
      <p:sp>
        <p:nvSpPr>
          <p:cNvPr id="105" name="Rectangle 3"/>
          <p:cNvSpPr txBox="1"/>
          <p:nvPr/>
        </p:nvSpPr>
        <p:spPr>
          <a:xfrm>
            <a:off x="274319" y="1363453"/>
            <a:ext cx="82905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600"/>
              </a:spcBef>
              <a:defRPr sz="2800">
                <a:solidFill>
                  <a:srgbClr val="FF0000"/>
                </a:solidFill>
              </a:defRPr>
            </a:lvl1pPr>
          </a:lstStyle>
          <a:p>
            <a:pPr/>
            <a:r>
              <a:t>We collect data to test or “falsify” a null hypothesis</a:t>
            </a:r>
          </a:p>
        </p:txBody>
      </p:sp>
      <p:sp>
        <p:nvSpPr>
          <p:cNvPr id="106" name="Text Box 4"/>
          <p:cNvSpPr txBox="1"/>
          <p:nvPr/>
        </p:nvSpPr>
        <p:spPr>
          <a:xfrm>
            <a:off x="677986" y="2231552"/>
            <a:ext cx="8200375" cy="351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400"/>
            </a:pPr>
            <a:r>
              <a:t>Null hypothesis: 		Male and female fish are of similar length</a:t>
            </a:r>
          </a:p>
          <a:p>
            <a:pPr>
              <a:spcBef>
                <a:spcPts val="1400"/>
              </a:spcBef>
              <a:defRPr sz="2400"/>
            </a:pPr>
            <a:r>
              <a:t>Approach: 				Measure lengths of males and females  </a:t>
            </a:r>
          </a:p>
          <a:p>
            <a:pPr>
              <a:spcBef>
                <a:spcPts val="1400"/>
              </a:spcBef>
              <a:defRPr sz="2400"/>
            </a:pPr>
            <a:r>
              <a:t>Data: 					Length measurements by sex </a:t>
            </a:r>
          </a:p>
          <a:p>
            <a:pPr>
              <a:spcBef>
                <a:spcPts val="1400"/>
              </a:spcBef>
              <a:defRPr sz="2400"/>
            </a:pPr>
            <a:r>
              <a:t>Attributes: 			Mean, standard deviation, sample size </a:t>
            </a:r>
          </a:p>
          <a:p>
            <a:pPr>
              <a:spcBef>
                <a:spcPts val="1400"/>
              </a:spcBef>
              <a:defRPr sz="2400"/>
            </a:pPr>
            <a:r>
              <a:t>Statistical test:			Two-sample t-test</a:t>
            </a:r>
          </a:p>
          <a:p>
            <a:pPr>
              <a:spcBef>
                <a:spcPts val="1400"/>
              </a:spcBef>
              <a:defRPr sz="2400"/>
            </a:pPr>
            <a:r>
              <a:t>Output:				Probability of obtaining the data 									distribution if the null hypothesis were true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0314" y="1238885"/>
            <a:ext cx="8057886" cy="4857116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Box 1"/>
          <p:cNvSpPr txBox="1"/>
          <p:nvPr/>
        </p:nvSpPr>
        <p:spPr>
          <a:xfrm>
            <a:off x="3017519" y="5943600"/>
            <a:ext cx="31089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Length (cm)</a:t>
            </a:r>
          </a:p>
        </p:txBody>
      </p:sp>
      <p:sp>
        <p:nvSpPr>
          <p:cNvPr id="110" name="TextBox 3"/>
          <p:cNvSpPr txBox="1"/>
          <p:nvPr/>
        </p:nvSpPr>
        <p:spPr>
          <a:xfrm rot="16200000">
            <a:off x="-1134111" y="3156565"/>
            <a:ext cx="310896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Frequency</a:t>
            </a:r>
          </a:p>
        </p:txBody>
      </p:sp>
      <p:sp>
        <p:nvSpPr>
          <p:cNvPr id="111" name="TextBox 2"/>
          <p:cNvSpPr txBox="1"/>
          <p:nvPr/>
        </p:nvSpPr>
        <p:spPr>
          <a:xfrm>
            <a:off x="655319" y="228599"/>
            <a:ext cx="6385562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Male mean = 	6.5, SD = 0.94, n = 60</a:t>
            </a:r>
          </a:p>
          <a:p>
            <a:pPr>
              <a:defRPr sz="2000"/>
            </a:pPr>
            <a:r>
              <a:t>Female mean = 	7.5, SD = 0.94, n = 60</a:t>
            </a:r>
          </a:p>
          <a:p>
            <a:pPr>
              <a:defRPr sz="2000"/>
            </a:pPr>
            <a:r>
              <a:t>		t = 5.57, df = 118, P &lt; 0.001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2"/>
          <p:cNvSpPr txBox="1"/>
          <p:nvPr/>
        </p:nvSpPr>
        <p:spPr>
          <a:xfrm>
            <a:off x="1264919" y="1371599"/>
            <a:ext cx="6385562" cy="94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Male mean     = 	6.5 cm, SD = 0.94, n = 60</a:t>
            </a:r>
          </a:p>
          <a:p>
            <a:pPr>
              <a:defRPr sz="2000"/>
            </a:pPr>
            <a:r>
              <a:t>Female mean = 	7.5 cm, SD = 0.94, n = 60</a:t>
            </a:r>
          </a:p>
          <a:p>
            <a:pPr>
              <a:defRPr sz="2000"/>
            </a:pPr>
            <a:r>
              <a:t>		t = 5.57, df = 118, P &lt; 0.001</a:t>
            </a:r>
          </a:p>
        </p:txBody>
      </p:sp>
      <p:sp>
        <p:nvSpPr>
          <p:cNvPr id="114" name="TextBox 4"/>
          <p:cNvSpPr txBox="1"/>
          <p:nvPr/>
        </p:nvSpPr>
        <p:spPr>
          <a:xfrm>
            <a:off x="655318" y="2888039"/>
            <a:ext cx="7833361" cy="323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b="1" sz="2200"/>
            </a:pPr>
            <a:r>
              <a:t>SD = </a:t>
            </a:r>
            <a:r>
              <a:rPr b="0"/>
              <a:t>standard deviation, a measure of variation around the mean; the bigger the number, the more variation 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 sz="2200"/>
            </a:pPr>
            <a:r>
              <a:t>n =</a:t>
            </a:r>
            <a:r>
              <a:rPr b="0"/>
              <a:t> sample size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 sz="2200"/>
            </a:pPr>
            <a:r>
              <a:t>t =</a:t>
            </a:r>
            <a:r>
              <a:rPr b="0"/>
              <a:t> the test statistic, this is calculated from the data and compared to a null distribution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 sz="2200"/>
            </a:pPr>
            <a:r>
              <a:t>df =</a:t>
            </a:r>
            <a:r>
              <a:rPr b="0"/>
              <a:t> degrees of freedom (a function of sample size: (n(males) – 1) + (n(females) -1)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 sz="2200"/>
            </a:pPr>
            <a:r>
              <a:t>P =</a:t>
            </a:r>
            <a:r>
              <a:rPr b="0"/>
              <a:t> the probability of obtaining these data if the null hypothesis were true</a:t>
            </a:r>
          </a:p>
        </p:txBody>
      </p:sp>
      <p:sp>
        <p:nvSpPr>
          <p:cNvPr id="115" name="Rectangle 5"/>
          <p:cNvSpPr/>
          <p:nvPr/>
        </p:nvSpPr>
        <p:spPr>
          <a:xfrm>
            <a:off x="457199" y="2819400"/>
            <a:ext cx="8229601" cy="3276600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7"/>
          <p:cNvSpPr txBox="1"/>
          <p:nvPr/>
        </p:nvSpPr>
        <p:spPr>
          <a:xfrm>
            <a:off x="960119" y="304799"/>
            <a:ext cx="729996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How do we read this?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 txBox="1"/>
          <p:nvPr/>
        </p:nvSpPr>
        <p:spPr>
          <a:xfrm>
            <a:off x="464009" y="1527345"/>
            <a:ext cx="8215981" cy="42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/>
            </a:pPr>
            <a:r>
              <a:t>Here we can be confident that the lengths of males and females differ. That is, there is a &lt;0.1% chance that their length distributions were drawn from the same pool.</a:t>
            </a:r>
          </a:p>
          <a:p>
            <a:pPr>
              <a:defRPr sz="2600"/>
            </a:pPr>
          </a:p>
          <a:p>
            <a:pPr>
              <a:defRPr sz="2600"/>
            </a:pPr>
            <a:r>
              <a:t>Remember that this assumes that the fish were collected in a random (non-biased manner), and so the sampling methods are important.</a:t>
            </a:r>
          </a:p>
          <a:p>
            <a:pPr>
              <a:defRPr sz="2600"/>
            </a:pPr>
          </a:p>
          <a:p>
            <a:pPr>
              <a:defRPr sz="2600"/>
            </a:pPr>
            <a:r>
              <a:t>How would our confidence change if the mean values were the same, </a:t>
            </a:r>
            <a:r>
              <a:rPr b="1"/>
              <a:t>but the data were more variable?</a:t>
            </a:r>
          </a:p>
        </p:txBody>
      </p:sp>
      <p:sp>
        <p:nvSpPr>
          <p:cNvPr id="119" name="TextBox 2"/>
          <p:cNvSpPr txBox="1"/>
          <p:nvPr/>
        </p:nvSpPr>
        <p:spPr>
          <a:xfrm>
            <a:off x="579119" y="270075"/>
            <a:ext cx="729996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pPr/>
            <a:r>
              <a:t>What does it mean?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 txBox="1"/>
          <p:nvPr/>
        </p:nvSpPr>
        <p:spPr>
          <a:xfrm>
            <a:off x="3017519" y="5943600"/>
            <a:ext cx="31089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Length (cm)</a:t>
            </a:r>
          </a:p>
        </p:txBody>
      </p:sp>
      <p:sp>
        <p:nvSpPr>
          <p:cNvPr id="122" name="TextBox 3"/>
          <p:cNvSpPr txBox="1"/>
          <p:nvPr/>
        </p:nvSpPr>
        <p:spPr>
          <a:xfrm rot="16200000">
            <a:off x="-1134111" y="3156565"/>
            <a:ext cx="310896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Frequency</a:t>
            </a:r>
          </a:p>
        </p:txBody>
      </p:sp>
      <p:pic>
        <p:nvPicPr>
          <p:cNvPr id="12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4567" y="1600200"/>
            <a:ext cx="7226434" cy="43434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Box 6"/>
          <p:cNvSpPr txBox="1"/>
          <p:nvPr/>
        </p:nvSpPr>
        <p:spPr>
          <a:xfrm>
            <a:off x="1645919" y="533400"/>
            <a:ext cx="6385562" cy="1129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Male mean = 		6.5, </a:t>
            </a:r>
            <a:r>
              <a:rPr b="1">
                <a:solidFill>
                  <a:srgbClr val="FF0000"/>
                </a:solidFill>
              </a:rPr>
              <a:t>SD = 2.73</a:t>
            </a:r>
            <a:r>
              <a:t>, n = 60</a:t>
            </a:r>
          </a:p>
          <a:p>
            <a:pPr>
              <a:defRPr sz="2400"/>
            </a:pPr>
            <a:r>
              <a:t>Female mean = 	7.5, </a:t>
            </a:r>
            <a:r>
              <a:rPr b="1">
                <a:solidFill>
                  <a:srgbClr val="FF0000"/>
                </a:solidFill>
              </a:rPr>
              <a:t>SD = 2.73</a:t>
            </a:r>
            <a:r>
              <a:t>, n = 60</a:t>
            </a:r>
          </a:p>
          <a:p>
            <a:pPr>
              <a:defRPr sz="2400"/>
            </a:pPr>
            <a:r>
              <a:t>			</a:t>
            </a:r>
            <a:r>
              <a:rPr b="1"/>
              <a:t>t = 2.00, df = 118, P = 0.02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955255" y="1481845"/>
            <a:ext cx="7528561" cy="3035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In this case we can still be confident that the lengths of males and females differ. The statistical test indicates that there is a &lt;2% chance that their distributions were drawn from the same pool.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Suppose </a:t>
            </a:r>
            <a:r>
              <a:rPr b="1"/>
              <a:t>we increase the variation in the data even more</a:t>
            </a:r>
            <a:r>
              <a:t> but keep the means the same?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 txBox="1"/>
          <p:nvPr/>
        </p:nvSpPr>
        <p:spPr>
          <a:xfrm>
            <a:off x="3017519" y="5943600"/>
            <a:ext cx="31089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Length (cm)</a:t>
            </a:r>
          </a:p>
        </p:txBody>
      </p:sp>
      <p:sp>
        <p:nvSpPr>
          <p:cNvPr id="129" name="TextBox 3"/>
          <p:cNvSpPr txBox="1"/>
          <p:nvPr/>
        </p:nvSpPr>
        <p:spPr>
          <a:xfrm rot="16200000">
            <a:off x="-1134111" y="3156565"/>
            <a:ext cx="310896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/>
            </a:lvl1pPr>
          </a:lstStyle>
          <a:p>
            <a:pPr/>
            <a:r>
              <a:t>Frequency</a:t>
            </a:r>
          </a:p>
        </p:txBody>
      </p:sp>
      <p:sp>
        <p:nvSpPr>
          <p:cNvPr id="130" name="TextBox 6"/>
          <p:cNvSpPr txBox="1"/>
          <p:nvPr/>
        </p:nvSpPr>
        <p:spPr>
          <a:xfrm>
            <a:off x="1645919" y="533400"/>
            <a:ext cx="6385562" cy="1129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Male mean = 		6.5, </a:t>
            </a:r>
            <a:r>
              <a:rPr b="1">
                <a:solidFill>
                  <a:srgbClr val="FF0000"/>
                </a:solidFill>
              </a:rPr>
              <a:t>SD = 4.19</a:t>
            </a:r>
            <a:r>
              <a:t>, n = 60</a:t>
            </a:r>
          </a:p>
          <a:p>
            <a:pPr>
              <a:defRPr sz="2400"/>
            </a:pPr>
            <a:r>
              <a:t>Female mean = 	7.5, </a:t>
            </a:r>
            <a:r>
              <a:rPr b="1">
                <a:solidFill>
                  <a:srgbClr val="FF0000"/>
                </a:solidFill>
              </a:rPr>
              <a:t>SD = 4.19</a:t>
            </a:r>
            <a:r>
              <a:t>, n = 60</a:t>
            </a:r>
          </a:p>
          <a:p>
            <a:pPr>
              <a:defRPr b="1" sz="2400"/>
            </a:pPr>
            <a:r>
              <a:t>			t = 1.31, df = 118, P = 0.10</a:t>
            </a:r>
          </a:p>
        </p:txBody>
      </p:sp>
      <p:pic>
        <p:nvPicPr>
          <p:cNvPr id="1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752600"/>
            <a:ext cx="6985000" cy="419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6"/>
          <p:cNvSpPr txBox="1"/>
          <p:nvPr/>
        </p:nvSpPr>
        <p:spPr>
          <a:xfrm>
            <a:off x="1645919" y="2685871"/>
            <a:ext cx="6385562" cy="1129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Male mean = 		6.5, SD = 4.19, </a:t>
            </a:r>
            <a:r>
              <a:rPr>
                <a:solidFill>
                  <a:srgbClr val="FF0000"/>
                </a:solidFill>
              </a:rPr>
              <a:t>n = 60</a:t>
            </a:r>
            <a:endParaRPr>
              <a:solidFill>
                <a:srgbClr val="FF0000"/>
              </a:solidFill>
            </a:endParaRPr>
          </a:p>
          <a:p>
            <a:pPr>
              <a:defRPr sz="2400"/>
            </a:pPr>
            <a:r>
              <a:t>Female mean = 	7.5, SD = 4.19, </a:t>
            </a:r>
            <a:r>
              <a:rPr>
                <a:solidFill>
                  <a:srgbClr val="FF0000"/>
                </a:solidFill>
              </a:rPr>
              <a:t>n = 60</a:t>
            </a:r>
            <a:endParaRPr>
              <a:solidFill>
                <a:srgbClr val="FF0000"/>
              </a:solidFill>
            </a:endParaRPr>
          </a:p>
          <a:p>
            <a:pPr>
              <a:defRPr sz="2400"/>
            </a:pPr>
            <a:r>
              <a:t>			</a:t>
            </a:r>
            <a:r>
              <a:rPr b="1"/>
              <a:t>t = 1.31, df = 118, P = 0.10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1645919" y="602901"/>
            <a:ext cx="6272073" cy="1308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7030A0"/>
                </a:solidFill>
              </a:defRPr>
            </a:pPr>
          </a:p>
          <a:p>
            <a:pPr>
              <a:defRPr sz="2800"/>
            </a:pPr>
            <a:r>
              <a:t>Suppose we take the last data set and </a:t>
            </a:r>
            <a:r>
              <a:rPr b="1"/>
              <a:t>double the sample size.</a:t>
            </a:r>
          </a:p>
        </p:txBody>
      </p:sp>
      <p:sp>
        <p:nvSpPr>
          <p:cNvPr id="135" name="TextBox 7"/>
          <p:cNvSpPr txBox="1"/>
          <p:nvPr/>
        </p:nvSpPr>
        <p:spPr>
          <a:xfrm>
            <a:off x="1645919" y="4362271"/>
            <a:ext cx="6385562" cy="1129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Male mean = 		6.5, SD = 4.19, </a:t>
            </a:r>
            <a:r>
              <a:rPr>
                <a:solidFill>
                  <a:srgbClr val="FF0000"/>
                </a:solidFill>
              </a:rPr>
              <a:t>n = 120</a:t>
            </a:r>
            <a:endParaRPr>
              <a:solidFill>
                <a:srgbClr val="FF0000"/>
              </a:solidFill>
            </a:endParaRPr>
          </a:p>
          <a:p>
            <a:pPr>
              <a:defRPr sz="2400"/>
            </a:pPr>
            <a:r>
              <a:t>Female mean = 	7.5, SD = 4.19, </a:t>
            </a:r>
            <a:r>
              <a:rPr>
                <a:solidFill>
                  <a:srgbClr val="FF0000"/>
                </a:solidFill>
              </a:rPr>
              <a:t>n = 120</a:t>
            </a:r>
            <a:endParaRPr>
              <a:solidFill>
                <a:srgbClr val="FF0000"/>
              </a:solidFill>
            </a:endParaRPr>
          </a:p>
          <a:p>
            <a:pPr>
              <a:defRPr sz="2400"/>
            </a:pPr>
            <a:r>
              <a:t>			</a:t>
            </a:r>
            <a:r>
              <a:rPr b="1"/>
              <a:t>t = 1.86, df = 238, P = 0.03</a:t>
            </a:r>
          </a:p>
        </p:txBody>
      </p:sp>
      <p:grpSp>
        <p:nvGrpSpPr>
          <p:cNvPr id="139" name="Curved Right Arrow 1"/>
          <p:cNvGrpSpPr/>
          <p:nvPr/>
        </p:nvGrpSpPr>
        <p:grpSpPr>
          <a:xfrm>
            <a:off x="304666" y="2971799"/>
            <a:ext cx="990735" cy="2030634"/>
            <a:chOff x="0" y="0"/>
            <a:chExt cx="990733" cy="2030632"/>
          </a:xfrm>
        </p:grpSpPr>
        <p:sp>
          <p:nvSpPr>
            <p:cNvPr id="136" name="Shape"/>
            <p:cNvSpPr/>
            <p:nvPr/>
          </p:nvSpPr>
          <p:spPr>
            <a:xfrm>
              <a:off x="0" y="0"/>
              <a:ext cx="990734" cy="20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4" h="21600" fill="norm" stroke="1" extrusionOk="0">
                  <a:moveTo>
                    <a:pt x="2" y="8967"/>
                  </a:moveTo>
                  <a:cubicBezTo>
                    <a:pt x="2" y="13055"/>
                    <a:pt x="6228" y="16626"/>
                    <a:pt x="15139" y="17649"/>
                  </a:cubicBezTo>
                  <a:lnTo>
                    <a:pt x="15139" y="16331"/>
                  </a:lnTo>
                  <a:lnTo>
                    <a:pt x="20184" y="19250"/>
                  </a:lnTo>
                  <a:lnTo>
                    <a:pt x="15139" y="21600"/>
                  </a:lnTo>
                  <a:lnTo>
                    <a:pt x="15139" y="20283"/>
                  </a:lnTo>
                  <a:lnTo>
                    <a:pt x="15139" y="20283"/>
                  </a:lnTo>
                  <a:cubicBezTo>
                    <a:pt x="6228" y="19261"/>
                    <a:pt x="2" y="15690"/>
                    <a:pt x="2" y="11601"/>
                  </a:cubicBezTo>
                  <a:close/>
                  <a:moveTo>
                    <a:pt x="20184" y="2634"/>
                  </a:moveTo>
                  <a:cubicBezTo>
                    <a:pt x="10183" y="2634"/>
                    <a:pt x="1690" y="5889"/>
                    <a:pt x="221" y="10284"/>
                  </a:cubicBezTo>
                  <a:lnTo>
                    <a:pt x="221" y="10284"/>
                  </a:lnTo>
                  <a:cubicBezTo>
                    <a:pt x="-1416" y="5385"/>
                    <a:pt x="6194" y="825"/>
                    <a:pt x="17219" y="97"/>
                  </a:cubicBezTo>
                  <a:cubicBezTo>
                    <a:pt x="18201" y="33"/>
                    <a:pt x="19192" y="0"/>
                    <a:pt x="20184" y="0"/>
                  </a:cubicBez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37" name="Shape"/>
            <p:cNvSpPr/>
            <p:nvPr/>
          </p:nvSpPr>
          <p:spPr>
            <a:xfrm>
              <a:off x="0" y="0"/>
              <a:ext cx="990734" cy="966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4" h="21600" fill="norm" stroke="1" extrusionOk="0">
                  <a:moveTo>
                    <a:pt x="20184" y="5533"/>
                  </a:moveTo>
                  <a:cubicBezTo>
                    <a:pt x="10183" y="5533"/>
                    <a:pt x="1690" y="12368"/>
                    <a:pt x="221" y="21600"/>
                  </a:cubicBezTo>
                  <a:lnTo>
                    <a:pt x="221" y="21600"/>
                  </a:lnTo>
                  <a:cubicBezTo>
                    <a:pt x="-1416" y="11311"/>
                    <a:pt x="6194" y="1732"/>
                    <a:pt x="17219" y="204"/>
                  </a:cubicBezTo>
                  <a:cubicBezTo>
                    <a:pt x="18201" y="68"/>
                    <a:pt x="19192" y="0"/>
                    <a:pt x="201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38" name="Line"/>
            <p:cNvSpPr/>
            <p:nvPr/>
          </p:nvSpPr>
          <p:spPr>
            <a:xfrm>
              <a:off x="133" y="0"/>
              <a:ext cx="990601" cy="20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967"/>
                  </a:moveTo>
                  <a:cubicBezTo>
                    <a:pt x="0" y="13055"/>
                    <a:pt x="6663" y="16626"/>
                    <a:pt x="16200" y="17649"/>
                  </a:cubicBezTo>
                  <a:lnTo>
                    <a:pt x="16200" y="16331"/>
                  </a:lnTo>
                  <a:lnTo>
                    <a:pt x="21600" y="19250"/>
                  </a:lnTo>
                  <a:lnTo>
                    <a:pt x="16200" y="21600"/>
                  </a:lnTo>
                  <a:lnTo>
                    <a:pt x="16200" y="20283"/>
                  </a:lnTo>
                  <a:lnTo>
                    <a:pt x="16200" y="20283"/>
                  </a:lnTo>
                  <a:cubicBezTo>
                    <a:pt x="6663" y="19261"/>
                    <a:pt x="0" y="15690"/>
                    <a:pt x="0" y="11601"/>
                  </a:cubicBezTo>
                  <a:lnTo>
                    <a:pt x="0" y="8967"/>
                  </a:lnTo>
                  <a:cubicBezTo>
                    <a:pt x="0" y="4015"/>
                    <a:pt x="9671" y="0"/>
                    <a:pt x="21600" y="0"/>
                  </a:cubicBezTo>
                  <a:lnTo>
                    <a:pt x="21600" y="2634"/>
                  </a:lnTo>
                  <a:cubicBezTo>
                    <a:pt x="10896" y="2634"/>
                    <a:pt x="1807" y="5889"/>
                    <a:pt x="234" y="10284"/>
                  </a:cubicBezTo>
                </a:path>
              </a:pathLst>
            </a:cu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2"/>
          <p:cNvSpPr txBox="1"/>
          <p:nvPr/>
        </p:nvSpPr>
        <p:spPr>
          <a:xfrm>
            <a:off x="579119" y="1142999"/>
            <a:ext cx="8138162" cy="2973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So, our ability to confidently detect a difference when there is one:</a:t>
            </a:r>
          </a:p>
          <a:p>
            <a:pPr>
              <a:defRPr sz="3200">
                <a:solidFill>
                  <a:srgbClr val="FF0000"/>
                </a:solidFill>
              </a:defRPr>
            </a:pPr>
          </a:p>
          <a:p>
            <a:pPr marL="514350" indent="-514350">
              <a:buSzPct val="100000"/>
              <a:buAutoNum type="arabicParenR" startAt="1"/>
              <a:defRPr sz="3200"/>
            </a:pPr>
            <a:r>
              <a:t>Sample size: more is better</a:t>
            </a:r>
          </a:p>
          <a:p>
            <a:pPr marL="514350" indent="-514350">
              <a:buSzPct val="100000"/>
              <a:buAutoNum type="arabicParenR" startAt="1"/>
              <a:defRPr sz="3200"/>
            </a:pPr>
            <a:r>
              <a:t>Difference between means: bigger is better</a:t>
            </a:r>
          </a:p>
          <a:p>
            <a:pPr marL="514350" indent="-514350">
              <a:buSzPct val="100000"/>
              <a:buAutoNum type="arabicParenR" startAt="1"/>
              <a:defRPr sz="3200"/>
            </a:pPr>
            <a:r>
              <a:t>Variation: less is better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Thinking about your results...</a:t>
            </a:r>
          </a:p>
        </p:txBody>
      </p:sp>
      <p:sp>
        <p:nvSpPr>
          <p:cNvPr id="144" name="Content Placeholder 2"/>
          <p:cNvSpPr txBox="1"/>
          <p:nvPr>
            <p:ph type="body" idx="1"/>
          </p:nvPr>
        </p:nvSpPr>
        <p:spPr>
          <a:xfrm>
            <a:off x="742343" y="1913174"/>
            <a:ext cx="7886701" cy="479891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81000"/>
              </a:lnSpc>
              <a:buSzTx/>
              <a:buNone/>
            </a:pPr>
            <a:r>
              <a:t>Is statistical significance the same thing as biological importance?</a:t>
            </a:r>
          </a:p>
          <a:p>
            <a:pPr marL="0" indent="0">
              <a:lnSpc>
                <a:spcPct val="81000"/>
              </a:lnSpc>
              <a:buSzTx/>
              <a:buNone/>
              <a:defRPr sz="2000"/>
            </a:pPr>
          </a:p>
          <a:p>
            <a:pPr marL="0" indent="0">
              <a:lnSpc>
                <a:spcPct val="81000"/>
              </a:lnSpc>
              <a:buSzTx/>
              <a:buNone/>
              <a:defRPr sz="3600"/>
            </a:pPr>
            <a:r>
              <a:t>NO!!!*</a:t>
            </a:r>
          </a:p>
          <a:p>
            <a:pPr marL="0" indent="0">
              <a:lnSpc>
                <a:spcPct val="81000"/>
              </a:lnSpc>
              <a:buSzTx/>
              <a:buNone/>
              <a:defRPr sz="2000"/>
            </a:pPr>
          </a:p>
          <a:p>
            <a:pPr>
              <a:lnSpc>
                <a:spcPct val="81000"/>
              </a:lnSpc>
              <a:defRPr sz="2600"/>
            </a:pPr>
            <a:r>
              <a:t>Can have a sig. difference, but difference is small and/or biologically trivial</a:t>
            </a:r>
          </a:p>
          <a:p>
            <a:pPr>
              <a:lnSpc>
                <a:spcPct val="81000"/>
              </a:lnSpc>
              <a:defRPr sz="2600"/>
            </a:pPr>
            <a:r>
              <a:t>Can have a non-sig. difference with important biological implications</a:t>
            </a:r>
          </a:p>
          <a:p>
            <a:pPr>
              <a:lnSpc>
                <a:spcPct val="81000"/>
              </a:lnSpc>
              <a:defRPr sz="2600"/>
            </a:pPr>
          </a:p>
          <a:p>
            <a:pPr marL="0" indent="0" algn="r">
              <a:lnSpc>
                <a:spcPct val="81000"/>
              </a:lnSpc>
              <a:buSzTx/>
              <a:buNone/>
              <a:defRPr sz="2400"/>
            </a:pPr>
            <a:r>
              <a:t>*You have a short reading on this idea this week!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4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Common types of statistical tests</a:t>
            </a:r>
          </a:p>
        </p:txBody>
      </p:sp>
      <p:graphicFrame>
        <p:nvGraphicFramePr>
          <p:cNvPr id="147" name="Table 3"/>
          <p:cNvGraphicFramePr/>
          <p:nvPr/>
        </p:nvGraphicFramePr>
        <p:xfrm>
          <a:off x="800910" y="1889056"/>
          <a:ext cx="7386537" cy="30623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276927"/>
                <a:gridCol w="3109608"/>
              </a:tblGrid>
              <a:tr h="61246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sz="2400">
                          <a:solidFill>
                            <a:srgbClr val="FFFFFF"/>
                          </a:solidFill>
                        </a:rPr>
                        <a:t>If you want to…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sz="2400">
                          <a:solidFill>
                            <a:srgbClr val="FFFFFF"/>
                          </a:solidFill>
                        </a:rPr>
                        <a:t>Use a…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  <a:solidFill>
                      <a:srgbClr val="000000"/>
                    </a:solidFill>
                  </a:tcPr>
                </a:tc>
              </a:tr>
              <a:tr h="61246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Compare proportions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Chi-squared test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1246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Compare means of two groups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T-test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1246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Compare means of more than two groups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ANOVA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1246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Test dependence of two continuous variables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/>
                        <a:t>Linear regression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sp>
        <p:nvSpPr>
          <p:cNvPr id="148" name="TextBox 4"/>
          <p:cNvSpPr txBox="1"/>
          <p:nvPr/>
        </p:nvSpPr>
        <p:spPr>
          <a:xfrm>
            <a:off x="776914" y="5723432"/>
            <a:ext cx="7434528" cy="740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2200"/>
            </a:lvl1pPr>
          </a:lstStyle>
          <a:p>
            <a:pPr/>
            <a:r>
              <a:t>Lots of other statistical tests exist, but are more complex and beyond the scope of this class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 txBox="1"/>
          <p:nvPr/>
        </p:nvSpPr>
        <p:spPr>
          <a:xfrm>
            <a:off x="655319" y="238539"/>
            <a:ext cx="8153402" cy="476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C00000"/>
                </a:solidFill>
              </a:defRPr>
            </a:pPr>
            <a:r>
              <a:t>Three complementary approaches</a:t>
            </a:r>
          </a:p>
          <a:p>
            <a:pPr>
              <a:defRPr b="1" sz="2400">
                <a:solidFill>
                  <a:srgbClr val="FF0000"/>
                </a:solidFill>
              </a:defRPr>
            </a:pPr>
          </a:p>
          <a:p>
            <a:pPr marL="457200" indent="-457200">
              <a:buSzPct val="100000"/>
              <a:buAutoNum type="arabicParenR" startAt="1"/>
              <a:defRPr b="1" sz="2400">
                <a:solidFill>
                  <a:srgbClr val="C00000"/>
                </a:solidFill>
              </a:defRPr>
            </a:pPr>
            <a:r>
              <a:t>Text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We state in words what we found - what happened.</a:t>
            </a:r>
            <a:endParaRPr b="0">
              <a:solidFill>
                <a:srgbClr val="000000"/>
              </a:solidFill>
            </a:endParaRPr>
          </a:p>
          <a:p>
            <a:pPr marL="457200" indent="-457200">
              <a:buSzPct val="100000"/>
              <a:buAutoNum type="arabicParenR" startAt="1"/>
              <a:defRPr sz="2400"/>
            </a:pPr>
          </a:p>
          <a:p>
            <a:pPr marL="457200" indent="-457200">
              <a:buSzPct val="100000"/>
              <a:buAutoNum type="arabicParenR" startAt="2"/>
              <a:defRPr b="1" sz="2400">
                <a:solidFill>
                  <a:srgbClr val="C00000"/>
                </a:solidFill>
              </a:defRPr>
            </a:pPr>
            <a:r>
              <a:t>Figures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Graphs help visualize complex relationships and draw the reader’s attention to the most important findings.</a:t>
            </a:r>
            <a:endParaRPr b="0">
              <a:solidFill>
                <a:srgbClr val="000000"/>
              </a:solidFill>
            </a:endParaRPr>
          </a:p>
          <a:p>
            <a:pPr marL="457200" indent="-457200">
              <a:buSzPct val="100000"/>
              <a:buAutoNum type="arabicParenR" startAt="2"/>
              <a:defRPr sz="2400"/>
            </a:pPr>
          </a:p>
          <a:p>
            <a:pPr marL="457200" indent="-457200">
              <a:buSzPct val="100000"/>
              <a:buAutoNum type="arabicParenR" startAt="3"/>
              <a:defRPr b="1" sz="2400">
                <a:solidFill>
                  <a:srgbClr val="C00000"/>
                </a:solidFill>
              </a:defRPr>
            </a:pPr>
            <a:r>
              <a:t>Tables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Provide details on the results that are important</a:t>
            </a:r>
            <a:endParaRPr b="0">
              <a:solidFill>
                <a:srgbClr val="000000"/>
              </a:solidFill>
            </a:endParaRPr>
          </a:p>
          <a:p>
            <a:pPr marL="457200" indent="-457200">
              <a:buSzPct val="100000"/>
              <a:buAutoNum type="arabicParenR" startAt="3"/>
              <a:defRPr sz="2400"/>
            </a:pPr>
          </a:p>
          <a:p>
            <a:pPr marL="457200" indent="-457200">
              <a:buSzPct val="100000"/>
              <a:buAutoNum type="arabicParenR" startAt="5"/>
              <a:defRPr sz="2400"/>
            </a:pPr>
          </a:p>
          <a:p>
            <a:pPr/>
            <a:r>
              <a:t>(also supplementary material/appendices)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"/>
          <p:cNvSpPr txBox="1"/>
          <p:nvPr/>
        </p:nvSpPr>
        <p:spPr>
          <a:xfrm>
            <a:off x="350519" y="198782"/>
            <a:ext cx="842971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defTabSz="914400">
              <a:lnSpc>
                <a:spcPct val="90000"/>
              </a:lnSpc>
              <a:defRPr sz="3600">
                <a:solidFill>
                  <a:srgbClr val="C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What </a:t>
            </a:r>
            <a:r>
              <a:rPr i="1"/>
              <a:t>is </a:t>
            </a:r>
            <a:r>
              <a:t>a result?</a:t>
            </a:r>
          </a:p>
        </p:txBody>
      </p:sp>
      <p:sp>
        <p:nvSpPr>
          <p:cNvPr id="153" name="TextBox 2"/>
          <p:cNvSpPr txBox="1"/>
          <p:nvPr/>
        </p:nvSpPr>
        <p:spPr>
          <a:xfrm>
            <a:off x="454051" y="1434547"/>
            <a:ext cx="8235897" cy="51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514350" indent="-514350">
              <a:buSzPct val="100000"/>
              <a:buAutoNum type="arabicPeriod" startAt="1"/>
              <a:defRPr b="1" sz="2600"/>
            </a:pPr>
            <a:r>
              <a:t>Raw data: </a:t>
            </a:r>
            <a:r>
              <a:rPr b="0"/>
              <a:t>data collected from observations or experiments as described in the Methods</a:t>
            </a:r>
            <a:endParaRPr i="1"/>
          </a:p>
          <a:p>
            <a:pPr marL="514350" indent="-514350">
              <a:buSzPct val="100000"/>
              <a:buAutoNum type="arabicPeriod" startAt="1"/>
              <a:defRPr b="1" i="1" sz="1500"/>
            </a:pPr>
          </a:p>
          <a:p>
            <a:pPr marL="514350" indent="-514350">
              <a:buSzPct val="100000"/>
              <a:buAutoNum type="arabicPeriod" startAt="2"/>
              <a:defRPr b="1" sz="2600"/>
            </a:pPr>
            <a:r>
              <a:t>Summary statistics: </a:t>
            </a:r>
            <a:r>
              <a:rPr b="0"/>
              <a:t>A number representing a summary of raw data, such as: sample size, mean, median, standard deviation</a:t>
            </a:r>
            <a:endParaRPr b="0"/>
          </a:p>
          <a:p>
            <a:pPr marL="514350" indent="-514350">
              <a:buSzPct val="100000"/>
              <a:buAutoNum type="arabicPeriod" startAt="2"/>
              <a:defRPr sz="1500"/>
            </a:pPr>
          </a:p>
          <a:p>
            <a:pPr marL="514350" indent="-514350">
              <a:buSzPct val="100000"/>
              <a:buAutoNum type="arabicPeriod" startAt="3"/>
              <a:defRPr b="1" sz="2600"/>
            </a:pPr>
            <a:r>
              <a:t>Patterns: </a:t>
            </a:r>
            <a:r>
              <a:rPr b="0"/>
              <a:t>an increase or decrease, larger or smaller, etc.</a:t>
            </a:r>
            <a:endParaRPr b="0"/>
          </a:p>
          <a:p>
            <a:pPr marL="514350" indent="-514350">
              <a:buSzPct val="100000"/>
              <a:buAutoNum type="arabicPeriod" startAt="3"/>
              <a:defRPr sz="1500"/>
            </a:pPr>
          </a:p>
          <a:p>
            <a:pPr marL="514350" indent="-514350">
              <a:buSzPct val="100000"/>
              <a:buAutoNum type="arabicPeriod" startAt="4"/>
              <a:defRPr b="1" sz="2600"/>
            </a:pPr>
            <a:r>
              <a:t>Results of statistical tests: </a:t>
            </a:r>
            <a:r>
              <a:rPr b="0"/>
              <a:t>test statistic, p-value, r</a:t>
            </a:r>
            <a:r>
              <a:rPr b="0" baseline="30000"/>
              <a:t>2</a:t>
            </a:r>
            <a:r>
              <a:rPr b="0"/>
              <a:t> value, etc.</a:t>
            </a:r>
            <a:endParaRPr b="0"/>
          </a:p>
          <a:p>
            <a:pPr>
              <a:defRPr b="1" sz="1500"/>
            </a:pPr>
          </a:p>
          <a:p>
            <a:pPr>
              <a:defRPr b="1" sz="2600"/>
            </a:pPr>
            <a:r>
              <a:t>What is reported in the Results section? </a:t>
            </a:r>
            <a:r>
              <a:rPr b="0"/>
              <a:t>Usually the latter three items (why not raw data?)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50288"/>
            <a:ext cx="9144000" cy="4330779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Box 5"/>
          <p:cNvSpPr txBox="1"/>
          <p:nvPr/>
        </p:nvSpPr>
        <p:spPr>
          <a:xfrm>
            <a:off x="2881684" y="176932"/>
            <a:ext cx="5368458" cy="217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C00000"/>
                </a:solidFill>
              </a:defRPr>
            </a:pPr>
            <a:r>
              <a:t>Try to identify: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C00000"/>
                </a:solidFill>
              </a:defRPr>
            </a:pPr>
            <a:r>
              <a:t>Raw data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B4C7E7"/>
                </a:solidFill>
              </a:defRPr>
            </a:pPr>
            <a:r>
              <a:t>Summary statistics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00B050"/>
                </a:solidFill>
              </a:defRPr>
            </a:pPr>
            <a:r>
              <a:t>Patterns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BF9000"/>
                </a:solidFill>
              </a:defRPr>
            </a:pPr>
            <a:r>
              <a:t>Results of statistical tests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58706"/>
            <a:ext cx="9144000" cy="4330778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Box 5"/>
          <p:cNvSpPr txBox="1"/>
          <p:nvPr/>
        </p:nvSpPr>
        <p:spPr>
          <a:xfrm>
            <a:off x="2881684" y="176932"/>
            <a:ext cx="5368458" cy="217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C00000"/>
                </a:solidFill>
              </a:defRPr>
            </a:pPr>
            <a:r>
              <a:t>Try to identify: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C00000"/>
                </a:solidFill>
              </a:defRPr>
            </a:pPr>
            <a:r>
              <a:t>Raw data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B4C7E7"/>
                </a:solidFill>
              </a:defRPr>
            </a:pPr>
            <a:r>
              <a:t>Summary statistics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00B050"/>
                </a:solidFill>
              </a:defRPr>
            </a:pPr>
            <a:r>
              <a:t>Patterns</a:t>
            </a:r>
          </a:p>
          <a:p>
            <a:pPr marL="514350" indent="-514350">
              <a:buSzPct val="100000"/>
              <a:buAutoNum type="arabicPeriod" startAt="1"/>
              <a:defRPr sz="2800">
                <a:solidFill>
                  <a:srgbClr val="BF9000"/>
                </a:solidFill>
              </a:defRPr>
            </a:pPr>
            <a:r>
              <a:t>Results of statistical tests</a:t>
            </a:r>
          </a:p>
        </p:txBody>
      </p:sp>
      <p:sp>
        <p:nvSpPr>
          <p:cNvPr id="160" name="Rectangle 1"/>
          <p:cNvSpPr/>
          <p:nvPr/>
        </p:nvSpPr>
        <p:spPr>
          <a:xfrm>
            <a:off x="609600" y="2926079"/>
            <a:ext cx="1828800" cy="335281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4"/>
          <p:cNvSpPr/>
          <p:nvPr/>
        </p:nvSpPr>
        <p:spPr>
          <a:xfrm>
            <a:off x="4561840" y="3334230"/>
            <a:ext cx="1828801" cy="335281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ectangle 6"/>
          <p:cNvSpPr/>
          <p:nvPr/>
        </p:nvSpPr>
        <p:spPr>
          <a:xfrm>
            <a:off x="3495040" y="2926079"/>
            <a:ext cx="1828801" cy="335281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7"/>
          <p:cNvSpPr/>
          <p:nvPr/>
        </p:nvSpPr>
        <p:spPr>
          <a:xfrm>
            <a:off x="6207759" y="2889643"/>
            <a:ext cx="2773681" cy="408152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Rectangle 8"/>
          <p:cNvSpPr/>
          <p:nvPr/>
        </p:nvSpPr>
        <p:spPr>
          <a:xfrm>
            <a:off x="0" y="3633075"/>
            <a:ext cx="2540000" cy="400446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Rectangle 9"/>
          <p:cNvSpPr/>
          <p:nvPr/>
        </p:nvSpPr>
        <p:spPr>
          <a:xfrm>
            <a:off x="6898640" y="4033520"/>
            <a:ext cx="2245361" cy="375921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10"/>
          <p:cNvSpPr/>
          <p:nvPr/>
        </p:nvSpPr>
        <p:spPr>
          <a:xfrm>
            <a:off x="10159" y="3334230"/>
            <a:ext cx="1402082" cy="406752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Rectangle 11"/>
          <p:cNvSpPr/>
          <p:nvPr/>
        </p:nvSpPr>
        <p:spPr>
          <a:xfrm>
            <a:off x="5079999" y="4399281"/>
            <a:ext cx="3413761" cy="386080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ectangle 12"/>
          <p:cNvSpPr/>
          <p:nvPr/>
        </p:nvSpPr>
        <p:spPr>
          <a:xfrm>
            <a:off x="6812280" y="5897005"/>
            <a:ext cx="2418081" cy="396240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Rectangle 13"/>
          <p:cNvSpPr/>
          <p:nvPr/>
        </p:nvSpPr>
        <p:spPr>
          <a:xfrm>
            <a:off x="20320" y="6293244"/>
            <a:ext cx="1473201" cy="396240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ectangle 14"/>
          <p:cNvSpPr/>
          <p:nvPr/>
        </p:nvSpPr>
        <p:spPr>
          <a:xfrm>
            <a:off x="1229360" y="4773095"/>
            <a:ext cx="2692401" cy="367867"/>
          </a:xfrm>
          <a:prstGeom prst="rect">
            <a:avLst/>
          </a:prstGeom>
          <a:solidFill>
            <a:srgbClr val="BF900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ectangle 15"/>
          <p:cNvSpPr/>
          <p:nvPr/>
        </p:nvSpPr>
        <p:spPr>
          <a:xfrm>
            <a:off x="1493519" y="6307430"/>
            <a:ext cx="2692401" cy="367867"/>
          </a:xfrm>
          <a:prstGeom prst="rect">
            <a:avLst/>
          </a:prstGeom>
          <a:solidFill>
            <a:srgbClr val="BF900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16"/>
          <p:cNvSpPr/>
          <p:nvPr/>
        </p:nvSpPr>
        <p:spPr>
          <a:xfrm>
            <a:off x="5770879" y="3673711"/>
            <a:ext cx="3210561" cy="329332"/>
          </a:xfrm>
          <a:prstGeom prst="rect">
            <a:avLst/>
          </a:prstGeom>
          <a:solidFill>
            <a:srgbClr val="00B05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17"/>
          <p:cNvSpPr/>
          <p:nvPr/>
        </p:nvSpPr>
        <p:spPr>
          <a:xfrm>
            <a:off x="20320" y="4095344"/>
            <a:ext cx="6791960" cy="289750"/>
          </a:xfrm>
          <a:prstGeom prst="rect">
            <a:avLst/>
          </a:prstGeom>
          <a:solidFill>
            <a:srgbClr val="00B05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ectangle 18"/>
          <p:cNvSpPr/>
          <p:nvPr/>
        </p:nvSpPr>
        <p:spPr>
          <a:xfrm>
            <a:off x="4785359" y="4833332"/>
            <a:ext cx="4196081" cy="348267"/>
          </a:xfrm>
          <a:prstGeom prst="rect">
            <a:avLst/>
          </a:prstGeom>
          <a:solidFill>
            <a:srgbClr val="00B05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ectangle 19"/>
          <p:cNvSpPr/>
          <p:nvPr/>
        </p:nvSpPr>
        <p:spPr>
          <a:xfrm>
            <a:off x="213359" y="5199989"/>
            <a:ext cx="8686801" cy="361736"/>
          </a:xfrm>
          <a:prstGeom prst="rect">
            <a:avLst/>
          </a:prstGeom>
          <a:solidFill>
            <a:srgbClr val="00B05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20"/>
          <p:cNvSpPr/>
          <p:nvPr/>
        </p:nvSpPr>
        <p:spPr>
          <a:xfrm>
            <a:off x="66040" y="5565749"/>
            <a:ext cx="8986520" cy="331258"/>
          </a:xfrm>
          <a:prstGeom prst="rect">
            <a:avLst/>
          </a:prstGeom>
          <a:solidFill>
            <a:srgbClr val="00B050">
              <a:alpha val="21961"/>
            </a:srgb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21"/>
          <p:cNvSpPr/>
          <p:nvPr/>
        </p:nvSpPr>
        <p:spPr>
          <a:xfrm>
            <a:off x="675640" y="5897005"/>
            <a:ext cx="3357880" cy="424612"/>
          </a:xfrm>
          <a:prstGeom prst="rect">
            <a:avLst/>
          </a:prstGeom>
          <a:solidFill>
            <a:schemeClr val="accent1">
              <a:alpha val="21961"/>
            </a:schemeClr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Better, but comes at an opportunity cost-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(mean 1.8 vs. 0.9 g, p=0.019; Fig. 1).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Better, but comes at an opportunity cost-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(mean 1.8 vs. 0.9 g, p=0.019; Fig. 1).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Better, but comes at an opportunity cost-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(mean 1.8 vs. 0.9 g, p=0.019; Fig. 1).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Better, but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(mean 1.8 vs. 0.9 g, p=0.019; Fig. 1).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Better, but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(mean 1.8 vs. 0.9 g, p=0.019; Table 3; Fig. 1).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2"/>
          <p:cNvSpPr txBox="1"/>
          <p:nvPr/>
        </p:nvSpPr>
        <p:spPr>
          <a:xfrm>
            <a:off x="655318" y="228599"/>
            <a:ext cx="8299272" cy="664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Compare these sentences describing the same result:</a:t>
            </a:r>
          </a:p>
          <a:p>
            <a:pPr>
              <a:defRPr b="1" sz="2200"/>
            </a:pP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size of seeds is shown in Fig. 1.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We don’t know what the pattern is- text doesn’t stand alone!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Vague, not credible- needs details to back it up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Fertilized seeds were larger than unfertilized seeds (Fig. 1).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Better, but comes at an opportunity cost- reader needs to find Fig. 1 and break from reading text (e.g. how much larger?)</a:t>
            </a:r>
          </a:p>
          <a:p>
            <a:pPr marL="514350" indent="-514350">
              <a:buSzPct val="100000"/>
              <a:buAutoNum type="arabicPeriod" startAt="1"/>
              <a:defRPr sz="2400"/>
            </a:pPr>
            <a:r>
              <a:t>The mean weight of fertilized seeds was 1.8 g. The mean weight of unfertilized seeds was 0.9 g.</a:t>
            </a: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Asking reader to interpret for you- that is your job!!</a:t>
            </a:r>
          </a:p>
          <a:p>
            <a:pPr marL="514350" indent="-514350">
              <a:buSzPct val="100000"/>
              <a:buAutoNum type="arabicPeriod" startAt="1"/>
              <a:defRPr sz="2400">
                <a:solidFill>
                  <a:srgbClr val="A9D18E"/>
                </a:solidFill>
              </a:defRPr>
            </a:pPr>
            <a:r>
              <a:t>Fertilized seeds were larger than unfertilized seeds 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B4C7E7"/>
                </a:solidFill>
              </a:rPr>
              <a:t>mean 1.8 vs. 0.9 g, </a:t>
            </a:r>
            <a:r>
              <a:rPr>
                <a:solidFill>
                  <a:srgbClr val="BF9000"/>
                </a:solidFill>
              </a:rPr>
              <a:t>p=0.019</a:t>
            </a:r>
            <a:r>
              <a:rPr>
                <a:solidFill>
                  <a:srgbClr val="000000"/>
                </a:solidFill>
              </a:rPr>
              <a:t>; Table 3; </a:t>
            </a:r>
            <a:r>
              <a:t>Fig. 1</a:t>
            </a:r>
            <a:r>
              <a:rPr>
                <a:solidFill>
                  <a:srgbClr val="000000"/>
                </a:solidFill>
              </a:rPr>
              <a:t>).</a:t>
            </a:r>
            <a:endParaRPr>
              <a:solidFill>
                <a:srgbClr val="C00000"/>
              </a:solidFill>
            </a:endParaRPr>
          </a:p>
          <a:p>
            <a:pPr lvl="1" marL="971550" indent="-514350">
              <a:buSzPct val="100000"/>
              <a:buFont typeface="Arial"/>
              <a:buChar char="•"/>
              <a:defRPr sz="2200">
                <a:solidFill>
                  <a:srgbClr val="FF0000"/>
                </a:solidFill>
              </a:defRPr>
            </a:pPr>
            <a:r>
              <a:t>Best: gives both the interpretation and the detail needed.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 txBox="1"/>
          <p:nvPr/>
        </p:nvSpPr>
        <p:spPr>
          <a:xfrm>
            <a:off x="655319" y="228599"/>
            <a:ext cx="7909562" cy="5091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Making effective tables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400"/>
            </a:pPr>
            <a:r>
              <a:t>Tables are appropriate when the precision of a value matters (like a p-value) </a:t>
            </a:r>
            <a:r>
              <a:rPr i="1" u="sng"/>
              <a:t>and</a:t>
            </a:r>
            <a:r>
              <a:t> you have many variables to display. 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Tables are also good for background information (comparing field sites, results from prior literature, or species)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For example: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  <a:r>
              <a:t>A list of species used in study and their locations and diets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  <a:r>
              <a:t>A list of relevant past studies and their key findings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  <a:r>
              <a:t>The results of multiple statistical tests</a:t>
            </a:r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 txBox="1"/>
          <p:nvPr/>
        </p:nvSpPr>
        <p:spPr>
          <a:xfrm>
            <a:off x="655319" y="228600"/>
            <a:ext cx="7909562" cy="1814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Making effective tables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400"/>
            </a:pPr>
            <a:r>
              <a:t>We read from left-to-right, so put context-setting information on the left and dependent information on the right.</a:t>
            </a:r>
          </a:p>
        </p:txBody>
      </p:sp>
      <p:graphicFrame>
        <p:nvGraphicFramePr>
          <p:cNvPr id="194" name="Table 11"/>
          <p:cNvGraphicFramePr/>
          <p:nvPr/>
        </p:nvGraphicFramePr>
        <p:xfrm>
          <a:off x="375743" y="3391396"/>
          <a:ext cx="3691761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70842"/>
                <a:gridCol w="1820917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Time (minutes)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Temperature (°C)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27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29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195" name="Table 12"/>
          <p:cNvGraphicFramePr/>
          <p:nvPr/>
        </p:nvGraphicFramePr>
        <p:xfrm>
          <a:off x="5076499" y="3391396"/>
          <a:ext cx="3691760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70842"/>
                <a:gridCol w="1820917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Temperature (°C)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Time (minutes)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29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6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9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96" name="TextBox 14"/>
          <p:cNvSpPr txBox="1"/>
          <p:nvPr/>
        </p:nvSpPr>
        <p:spPr>
          <a:xfrm>
            <a:off x="316360" y="2813922"/>
            <a:ext cx="686640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C00000"/>
                </a:solidFill>
              </a:defRPr>
            </a:lvl1pPr>
          </a:lstStyle>
          <a:p>
            <a:pPr/>
            <a:r>
              <a:t>These tables show the same data. Which is easier to read?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 txBox="1"/>
          <p:nvPr/>
        </p:nvSpPr>
        <p:spPr>
          <a:xfrm>
            <a:off x="655319" y="323601"/>
            <a:ext cx="7909562" cy="286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Making effective tables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200"/>
            </a:pPr>
            <a:r>
              <a:t>Be judicious about significant figures: just because Excel says the mean is 0.4684504, doesn’t mean we need that many numbers.</a:t>
            </a:r>
          </a:p>
          <a:p>
            <a:pPr>
              <a:defRPr sz="2200"/>
            </a:pPr>
            <a:r>
              <a:t> </a:t>
            </a:r>
          </a:p>
          <a:p>
            <a:pPr>
              <a:defRPr sz="2200"/>
            </a:pPr>
            <a:r>
              <a:t>Pay attention to how others report similar types of values.</a:t>
            </a:r>
          </a:p>
        </p:txBody>
      </p:sp>
      <p:graphicFrame>
        <p:nvGraphicFramePr>
          <p:cNvPr id="199" name="Table 7"/>
          <p:cNvGraphicFramePr/>
          <p:nvPr/>
        </p:nvGraphicFramePr>
        <p:xfrm>
          <a:off x="5218386" y="3610304"/>
          <a:ext cx="3392214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10710"/>
                <a:gridCol w="1781504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Mean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P-value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45.7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0.131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31.1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/>
                        <a:t>0.032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131.8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0.146 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14.0 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/>
                        <a:t>0.002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113.2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0.120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9.01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0.791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200" name="Table 10"/>
          <p:cNvGraphicFramePr/>
          <p:nvPr/>
        </p:nvGraphicFramePr>
        <p:xfrm>
          <a:off x="533400" y="3610304"/>
          <a:ext cx="3428999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47494"/>
                <a:gridCol w="1781504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Mean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P-value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45.754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0.131543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31.157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0.032698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131.845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0.146644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14.064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0.0022465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113.254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0.1202454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9.015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0.791545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201" name="TextBox 11"/>
          <p:cNvSpPr txBox="1"/>
          <p:nvPr/>
        </p:nvSpPr>
        <p:spPr>
          <a:xfrm>
            <a:off x="316359" y="2995228"/>
            <a:ext cx="789117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C00000"/>
                </a:solidFill>
              </a:defRPr>
            </a:lvl1pPr>
          </a:lstStyle>
          <a:p>
            <a:pPr/>
            <a:r>
              <a:t>These tables show the same results. Which is easier to read?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 txBox="1"/>
          <p:nvPr/>
        </p:nvSpPr>
        <p:spPr>
          <a:xfrm>
            <a:off x="451681" y="101652"/>
            <a:ext cx="8240637" cy="357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Making effective tables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200"/>
            </a:pPr>
            <a:r>
              <a:t>Some more advice: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  <a:r>
              <a:t>Bold significant p-values so they stand out from non-significant values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  <a:r>
              <a:t>Similar values should match in the # of significant figures (notice the 14.0 and 9.0 values- I added a zero so it matches the others)</a:t>
            </a:r>
          </a:p>
          <a:p>
            <a:pPr lvl="1" marL="800100" indent="-342900">
              <a:buSzPct val="100000"/>
              <a:buFont typeface="Arial"/>
              <a:buChar char="•"/>
              <a:defRPr sz="2200"/>
            </a:pPr>
          </a:p>
        </p:txBody>
      </p:sp>
      <p:graphicFrame>
        <p:nvGraphicFramePr>
          <p:cNvPr id="204" name="Table 7"/>
          <p:cNvGraphicFramePr/>
          <p:nvPr/>
        </p:nvGraphicFramePr>
        <p:xfrm>
          <a:off x="5218386" y="3610304"/>
          <a:ext cx="3392214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10710"/>
                <a:gridCol w="1781504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Mean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P-value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45.7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0.131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31.1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/>
                        <a:t>0.032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131.8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0.146 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14.0 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/>
                        <a:t>0.002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113.2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0.120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t>9.0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0.791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205" name="Table 8"/>
          <p:cNvGraphicFramePr/>
          <p:nvPr/>
        </p:nvGraphicFramePr>
        <p:xfrm>
          <a:off x="533400" y="3610304"/>
          <a:ext cx="3428999" cy="25958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47494"/>
                <a:gridCol w="1781504"/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Mean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P-value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45.754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0.131543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31.157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0.032698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131.845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0.146644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14.064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0.0022465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113.254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0.1202454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9.015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t>0.791545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206" name="TextBox 10"/>
          <p:cNvSpPr txBox="1"/>
          <p:nvPr/>
        </p:nvSpPr>
        <p:spPr>
          <a:xfrm>
            <a:off x="579119" y="2998112"/>
            <a:ext cx="789117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C00000"/>
                </a:solidFill>
              </a:defRPr>
            </a:lvl1pPr>
          </a:lstStyle>
          <a:p>
            <a:pPr/>
            <a:r>
              <a:t>These tables show the same results. Which is easier to read?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495036" y="228599"/>
            <a:ext cx="8240637" cy="123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Making effective tables</a:t>
            </a:r>
            <a:endParaRPr b="1" sz="3600">
              <a:solidFill>
                <a:srgbClr val="FF0000"/>
              </a:solidFill>
            </a:endParaRPr>
          </a:p>
          <a:p>
            <a:pPr>
              <a:defRPr sz="2200"/>
            </a:pPr>
            <a:r>
              <a:t>It is convention to use horizontal borders on the header row and last row, but not all borders.</a:t>
            </a:r>
          </a:p>
        </p:txBody>
      </p:sp>
      <p:sp>
        <p:nvSpPr>
          <p:cNvPr id="209" name="TextBox 10"/>
          <p:cNvSpPr txBox="1"/>
          <p:nvPr/>
        </p:nvSpPr>
        <p:spPr>
          <a:xfrm>
            <a:off x="394695" y="1497265"/>
            <a:ext cx="850438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C00000"/>
                </a:solidFill>
              </a:defRPr>
            </a:lvl1pPr>
          </a:lstStyle>
          <a:p>
            <a:pPr/>
            <a:r>
              <a:t>These tables show the same data. Which is more pleasing to the eye?</a:t>
            </a:r>
          </a:p>
        </p:txBody>
      </p:sp>
      <p:graphicFrame>
        <p:nvGraphicFramePr>
          <p:cNvPr id="210" name="Table 9"/>
          <p:cNvGraphicFramePr/>
          <p:nvPr/>
        </p:nvGraphicFramePr>
        <p:xfrm>
          <a:off x="2354893" y="4617718"/>
          <a:ext cx="3970776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7706"/>
                <a:gridCol w="851337"/>
                <a:gridCol w="819807"/>
                <a:gridCol w="811924"/>
              </a:tblGrid>
              <a:tr h="5080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rPr sz="1200"/>
                        <a:t>Order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A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B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C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Acipenseriformes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Amiiformes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Lepisosteiformes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5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Albuliformes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Anguilliformes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933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Elopiformes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Notacanthiformes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Lepidogalaxiiformes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Ateleopodiformes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13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Table 12"/>
          <p:cNvGraphicFramePr/>
          <p:nvPr/>
        </p:nvGraphicFramePr>
        <p:xfrm>
          <a:off x="199203" y="2053536"/>
          <a:ext cx="3970777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7706"/>
                <a:gridCol w="851337"/>
                <a:gridCol w="819807"/>
                <a:gridCol w="811924"/>
              </a:tblGrid>
              <a:tr h="5080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rPr sz="1200"/>
                        <a:t>Order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A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B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C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Acipenseriformes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Amiiformes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Lepisosteiformes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5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Albuliformes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Anguilliformes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933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191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Elopiformes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Notacanthiformes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Lepidogalaxiiformes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/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Ateleopodiformes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13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graphicFrame>
        <p:nvGraphicFramePr>
          <p:cNvPr id="212" name="Table 13"/>
          <p:cNvGraphicFramePr/>
          <p:nvPr/>
        </p:nvGraphicFramePr>
        <p:xfrm>
          <a:off x="4810616" y="2034724"/>
          <a:ext cx="3970776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7706"/>
                <a:gridCol w="851337"/>
                <a:gridCol w="819807"/>
                <a:gridCol w="811924"/>
              </a:tblGrid>
              <a:tr h="50800">
                <a:tc>
                  <a:txBody>
                    <a:bodyPr/>
                    <a:lstStyle/>
                    <a:p>
                      <a:pPr algn="just" defTabSz="914400">
                        <a:defRPr sz="1800"/>
                      </a:pPr>
                      <a:r>
                        <a:rPr sz="1200"/>
                        <a:t>Order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A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B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Variable C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Acipenseriformes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Amiiformes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Lepisosteiformes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5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Albuliformes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Anguilliformes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933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191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Elopiformes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9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Notacanthiformes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27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8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2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Lepidogalaxiiformes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0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Ateleopodiformes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13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/>
                        <a:t>6</a:t>
                      </a: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</a:tr>
            </a:tbl>
          </a:graphicData>
        </a:graphic>
      </p:graphicFrame>
      <p:sp>
        <p:nvSpPr>
          <p:cNvPr id="213" name="TextBox 14"/>
          <p:cNvSpPr txBox="1"/>
          <p:nvPr/>
        </p:nvSpPr>
        <p:spPr>
          <a:xfrm>
            <a:off x="5659164" y="4130811"/>
            <a:ext cx="3076509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pPr/>
            <a:r>
              <a:t>Your tables should look like this</a:t>
            </a:r>
          </a:p>
        </p:txBody>
      </p:sp>
      <p:sp>
        <p:nvSpPr>
          <p:cNvPr id="214" name="Up Arrow 3"/>
          <p:cNvSpPr/>
          <p:nvPr/>
        </p:nvSpPr>
        <p:spPr>
          <a:xfrm>
            <a:off x="5405511" y="4129332"/>
            <a:ext cx="207934" cy="293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641"/>
                </a:moveTo>
                <a:lnTo>
                  <a:pt x="10800" y="0"/>
                </a:lnTo>
                <a:lnTo>
                  <a:pt x="21600" y="7641"/>
                </a:lnTo>
                <a:lnTo>
                  <a:pt x="16200" y="7641"/>
                </a:lnTo>
                <a:lnTo>
                  <a:pt x="16200" y="21600"/>
                </a:lnTo>
                <a:lnTo>
                  <a:pt x="5400" y="21600"/>
                </a:lnTo>
                <a:lnTo>
                  <a:pt x="5400" y="7641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FF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3" grpId="1"/>
      <p:bldP build="whole" bldLvl="1" animBg="1" rev="0" advAuto="0" spid="214" grpId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 1"/>
          <p:cNvSpPr txBox="1"/>
          <p:nvPr>
            <p:ph type="title"/>
          </p:nvPr>
        </p:nvSpPr>
        <p:spPr>
          <a:xfrm>
            <a:off x="619223" y="91748"/>
            <a:ext cx="7886701" cy="1325563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Assignments for today and for home</a:t>
            </a:r>
          </a:p>
        </p:txBody>
      </p:sp>
      <p:sp>
        <p:nvSpPr>
          <p:cNvPr id="217" name="Content Placeholder 2"/>
          <p:cNvSpPr txBox="1"/>
          <p:nvPr>
            <p:ph type="body" idx="1"/>
          </p:nvPr>
        </p:nvSpPr>
        <p:spPr>
          <a:xfrm>
            <a:off x="274770" y="1247627"/>
            <a:ext cx="8716617" cy="481880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2600"/>
            </a:pPr>
            <a:r>
              <a:t>In class: </a:t>
            </a:r>
          </a:p>
          <a:p>
            <a:pPr lvl="1" marL="971550" indent="-514350">
              <a:spcBef>
                <a:spcPts val="500"/>
              </a:spcBef>
              <a:buFontTx/>
              <a:buAutoNum type="arabicPeriod" startAt="1"/>
              <a:defRPr sz="2400"/>
            </a:pPr>
            <a:r>
              <a:t>Continue to make figures and tables for your own data</a:t>
            </a:r>
          </a:p>
          <a:p>
            <a:pPr lvl="1" marL="0" indent="457200">
              <a:spcBef>
                <a:spcPts val="500"/>
              </a:spcBef>
              <a:buSzTx/>
              <a:buNone/>
              <a:defRPr sz="2600"/>
            </a:pPr>
          </a:p>
          <a:p>
            <a:pPr marL="0" indent="0">
              <a:buSzTx/>
              <a:buNone/>
              <a:defRPr b="1" sz="2600"/>
            </a:pPr>
            <a:r>
              <a:t>At home:</a:t>
            </a:r>
          </a:p>
          <a:p>
            <a:pPr lvl="1" marL="971550" indent="-514350">
              <a:spcBef>
                <a:spcPts val="500"/>
              </a:spcBef>
              <a:buFontTx/>
              <a:buAutoNum type="arabicPeriod" startAt="1"/>
              <a:defRPr b="1" sz="2400"/>
            </a:pPr>
            <a:r>
              <a:t>By tonight at 11:59 pm upload your peer reviews of Introductions</a:t>
            </a:r>
          </a:p>
          <a:p>
            <a:pPr lvl="1" marL="971550" indent="-514350">
              <a:spcBef>
                <a:spcPts val="500"/>
              </a:spcBef>
              <a:buFontTx/>
              <a:buAutoNum type="arabicPeriod" startAt="1"/>
              <a:defRPr b="1" sz="2400"/>
            </a:pPr>
            <a:r>
              <a:t>By tomorrow at 11:59, upload your Methods (with intro for context), and your most up to date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
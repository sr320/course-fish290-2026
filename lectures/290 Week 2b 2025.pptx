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0" r:id="rId3"/>
    <p:sldId id="257" r:id="rId4"/>
    <p:sldId id="262" r:id="rId5"/>
    <p:sldId id="278" r:id="rId6"/>
    <p:sldId id="279" r:id="rId7"/>
    <p:sldId id="263" r:id="rId8"/>
    <p:sldId id="264" r:id="rId9"/>
    <p:sldId id="271" r:id="rId10"/>
    <p:sldId id="272" r:id="rId11"/>
    <p:sldId id="268" r:id="rId12"/>
    <p:sldId id="269" r:id="rId13"/>
    <p:sldId id="270" r:id="rId14"/>
    <p:sldId id="280" r:id="rId15"/>
    <p:sldId id="282" r:id="rId16"/>
    <p:sldId id="28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68"/>
    <p:restoredTop sz="94694"/>
  </p:normalViewPr>
  <p:slideViewPr>
    <p:cSldViewPr snapToGrid="0" snapToObjects="1">
      <p:cViewPr varScale="1">
        <p:scale>
          <a:sx n="128" d="100"/>
          <a:sy n="128" d="100"/>
        </p:scale>
        <p:origin x="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5929055-C55C-1743-9F5D-731C29EF14A6}"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172725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9055-C55C-1743-9F5D-731C29EF14A6}"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347855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929055-C55C-1743-9F5D-731C29EF14A6}"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1360221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5929055-C55C-1743-9F5D-731C29EF14A6}" type="datetimeFigureOut">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3097465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5929055-C55C-1743-9F5D-731C29EF14A6}" type="datetimeFigureOut">
              <a:rPr lang="en-US" smtClean="0"/>
              <a:t>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191686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5929055-C55C-1743-9F5D-731C29EF14A6}" type="datetimeFigureOut">
              <a:rPr lang="en-US" smtClean="0"/>
              <a:t>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576803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929055-C55C-1743-9F5D-731C29EF14A6}" type="datetimeFigureOut">
              <a:rPr lang="en-US" smtClean="0"/>
              <a:t>1/16/25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947289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29055-C55C-1743-9F5D-731C29EF14A6}" type="datetimeFigureOut">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3835023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29055-C55C-1743-9F5D-731C29EF14A6}" type="datetimeFigureOut">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3838439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9055-C55C-1743-9F5D-731C29EF14A6}"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3006168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929055-C55C-1743-9F5D-731C29EF14A6}" type="datetimeFigureOut">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FEC805-D95F-FB4A-9D12-0688196FA9A4}" type="slidenum">
              <a:rPr lang="en-US" smtClean="0"/>
              <a:t>‹#›</a:t>
            </a:fld>
            <a:endParaRPr lang="en-US"/>
          </a:p>
        </p:txBody>
      </p:sp>
    </p:spTree>
    <p:extLst>
      <p:ext uri="{BB962C8B-B14F-4D97-AF65-F5344CB8AC3E}">
        <p14:creationId xmlns:p14="http://schemas.microsoft.com/office/powerpoint/2010/main" val="2348815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29055-C55C-1743-9F5D-731C29EF14A6}" type="datetimeFigureOut">
              <a:rPr lang="en-US" smtClean="0"/>
              <a:t>1/16/25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FEC805-D95F-FB4A-9D12-0688196FA9A4}" type="slidenum">
              <a:rPr lang="en-US" smtClean="0"/>
              <a:t>‹#›</a:t>
            </a:fld>
            <a:endParaRPr lang="en-US"/>
          </a:p>
        </p:txBody>
      </p:sp>
    </p:spTree>
    <p:extLst>
      <p:ext uri="{BB962C8B-B14F-4D97-AF65-F5344CB8AC3E}">
        <p14:creationId xmlns:p14="http://schemas.microsoft.com/office/powerpoint/2010/main" val="20196984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dynamicecology.wordpress.com/2016/02/24/the-5-pivotal-paragraphs-in-a-pape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CB44-D2EE-194B-A9B0-8BF960C2F9E6}"/>
              </a:ext>
            </a:extLst>
          </p:cNvPr>
          <p:cNvSpPr>
            <a:spLocks noGrp="1"/>
          </p:cNvSpPr>
          <p:nvPr>
            <p:ph type="ctrTitle"/>
          </p:nvPr>
        </p:nvSpPr>
        <p:spPr/>
        <p:txBody>
          <a:bodyPr/>
          <a:lstStyle/>
          <a:p>
            <a:r>
              <a:rPr lang="en-US" dirty="0">
                <a:solidFill>
                  <a:srgbClr val="C00000"/>
                </a:solidFill>
              </a:rPr>
              <a:t>The structure of a scientific paper</a:t>
            </a:r>
          </a:p>
        </p:txBody>
      </p:sp>
      <p:sp>
        <p:nvSpPr>
          <p:cNvPr id="3" name="Subtitle 2">
            <a:extLst>
              <a:ext uri="{FF2B5EF4-FFF2-40B4-BE49-F238E27FC236}">
                <a16:creationId xmlns:a16="http://schemas.microsoft.com/office/drawing/2014/main" id="{5486E936-CFBD-D249-8D0F-4DAFDBA1B3B9}"/>
              </a:ext>
            </a:extLst>
          </p:cNvPr>
          <p:cNvSpPr>
            <a:spLocks noGrp="1"/>
          </p:cNvSpPr>
          <p:nvPr>
            <p:ph type="subTitle" idx="1"/>
          </p:nvPr>
        </p:nvSpPr>
        <p:spPr>
          <a:xfrm>
            <a:off x="1143000" y="4301544"/>
            <a:ext cx="6858000" cy="956256"/>
          </a:xfrm>
        </p:spPr>
        <p:txBody>
          <a:bodyPr/>
          <a:lstStyle/>
          <a:p>
            <a:r>
              <a:rPr lang="en-US" dirty="0"/>
              <a:t>Fish 290</a:t>
            </a:r>
          </a:p>
          <a:p>
            <a:r>
              <a:rPr lang="en-US" dirty="0"/>
              <a:t>Thursday January 16</a:t>
            </a:r>
            <a:r>
              <a:rPr lang="en-US" baseline="30000" dirty="0"/>
              <a:t>th</a:t>
            </a:r>
            <a:endParaRPr lang="en-US" dirty="0"/>
          </a:p>
        </p:txBody>
      </p:sp>
    </p:spTree>
    <p:extLst>
      <p:ext uri="{BB962C8B-B14F-4D97-AF65-F5344CB8AC3E}">
        <p14:creationId xmlns:p14="http://schemas.microsoft.com/office/powerpoint/2010/main" val="2317641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705100" y="1905000"/>
            <a:ext cx="3810000" cy="990600"/>
          </a:xfrm>
          <a:prstGeom prst="rect">
            <a:avLst/>
          </a:prstGeom>
          <a:solidFill>
            <a:srgbClr val="0033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743200" y="5029200"/>
            <a:ext cx="3810000" cy="990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705100" y="3429000"/>
            <a:ext cx="3810000" cy="1066800"/>
          </a:xfrm>
          <a:prstGeom prst="rect">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971800" y="5112603"/>
            <a:ext cx="3352800" cy="830997"/>
          </a:xfrm>
          <a:prstGeom prst="rect">
            <a:avLst/>
          </a:prstGeom>
          <a:noFill/>
        </p:spPr>
        <p:txBody>
          <a:bodyPr wrap="square" rtlCol="0">
            <a:spAutoFit/>
          </a:bodyPr>
          <a:lstStyle/>
          <a:p>
            <a:pPr algn="ctr"/>
            <a:r>
              <a:rPr lang="en-US" sz="2400" b="1" dirty="0"/>
              <a:t>The body of the paper: the whole story</a:t>
            </a:r>
          </a:p>
        </p:txBody>
      </p:sp>
      <p:sp>
        <p:nvSpPr>
          <p:cNvPr id="9" name="TextBox 8"/>
          <p:cNvSpPr txBox="1"/>
          <p:nvPr/>
        </p:nvSpPr>
        <p:spPr>
          <a:xfrm>
            <a:off x="2133600" y="2129135"/>
            <a:ext cx="4800600" cy="461665"/>
          </a:xfrm>
          <a:prstGeom prst="rect">
            <a:avLst/>
          </a:prstGeom>
          <a:noFill/>
        </p:spPr>
        <p:txBody>
          <a:bodyPr wrap="square" rtlCol="0">
            <a:spAutoFit/>
          </a:bodyPr>
          <a:lstStyle/>
          <a:p>
            <a:pPr algn="ctr"/>
            <a:r>
              <a:rPr lang="en-US" sz="2400" b="1" dirty="0">
                <a:solidFill>
                  <a:srgbClr val="FFFF00"/>
                </a:solidFill>
              </a:rPr>
              <a:t>Title: Fishing for readers</a:t>
            </a:r>
          </a:p>
        </p:txBody>
      </p:sp>
      <p:sp>
        <p:nvSpPr>
          <p:cNvPr id="2" name="TextBox 1"/>
          <p:cNvSpPr txBox="1"/>
          <p:nvPr/>
        </p:nvSpPr>
        <p:spPr>
          <a:xfrm>
            <a:off x="2971800" y="3512403"/>
            <a:ext cx="3276600" cy="830997"/>
          </a:xfrm>
          <a:prstGeom prst="rect">
            <a:avLst/>
          </a:prstGeom>
          <a:noFill/>
        </p:spPr>
        <p:txBody>
          <a:bodyPr wrap="square" rtlCol="0">
            <a:spAutoFit/>
          </a:bodyPr>
          <a:lstStyle/>
          <a:p>
            <a:pPr algn="ctr"/>
            <a:r>
              <a:rPr lang="en-US" sz="2400" b="1" dirty="0"/>
              <a:t>Abstract: The “Reader’s Digest” version</a:t>
            </a:r>
          </a:p>
        </p:txBody>
      </p:sp>
      <p:sp>
        <p:nvSpPr>
          <p:cNvPr id="10" name="TextBox 9"/>
          <p:cNvSpPr txBox="1"/>
          <p:nvPr/>
        </p:nvSpPr>
        <p:spPr>
          <a:xfrm>
            <a:off x="609600" y="215205"/>
            <a:ext cx="7924800" cy="1384995"/>
          </a:xfrm>
          <a:prstGeom prst="rect">
            <a:avLst/>
          </a:prstGeom>
          <a:noFill/>
        </p:spPr>
        <p:txBody>
          <a:bodyPr wrap="square" rtlCol="0">
            <a:spAutoFit/>
          </a:bodyPr>
          <a:lstStyle/>
          <a:p>
            <a:r>
              <a:rPr lang="en-US" sz="2800" dirty="0"/>
              <a:t>A scientific paper has three rather independent parts.  This fact is critically important when you set out to write a paper, or to read one.</a:t>
            </a:r>
          </a:p>
        </p:txBody>
      </p:sp>
    </p:spTree>
    <p:extLst>
      <p:ext uri="{BB962C8B-B14F-4D97-AF65-F5344CB8AC3E}">
        <p14:creationId xmlns:p14="http://schemas.microsoft.com/office/powerpoint/2010/main" val="3919684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D96F143-6D38-0F4C-997F-4986F3682D0C}"/>
              </a:ext>
            </a:extLst>
          </p:cNvPr>
          <p:cNvSpPr txBox="1"/>
          <p:nvPr/>
        </p:nvSpPr>
        <p:spPr>
          <a:xfrm>
            <a:off x="762000" y="1524000"/>
            <a:ext cx="7848600" cy="3170099"/>
          </a:xfrm>
          <a:prstGeom prst="rect">
            <a:avLst/>
          </a:prstGeom>
          <a:noFill/>
        </p:spPr>
        <p:txBody>
          <a:bodyPr wrap="square" rtlCol="0">
            <a:spAutoFit/>
          </a:bodyPr>
          <a:lstStyle/>
          <a:p>
            <a:r>
              <a:rPr lang="en-US" sz="3200" dirty="0">
                <a:solidFill>
                  <a:srgbClr val="C00000"/>
                </a:solidFill>
              </a:rPr>
              <a:t>What to write first?</a:t>
            </a:r>
          </a:p>
          <a:p>
            <a:endParaRPr lang="en-US" sz="2800" dirty="0"/>
          </a:p>
          <a:p>
            <a:r>
              <a:rPr lang="en-US" sz="2800" dirty="0"/>
              <a:t>Although, in published form, the Title comes first and the Abstract second, they are often written (or finalized) last.</a:t>
            </a:r>
          </a:p>
          <a:p>
            <a:endParaRPr lang="en-US" sz="2800" dirty="0"/>
          </a:p>
          <a:p>
            <a:r>
              <a:rPr lang="en-US" sz="2800" dirty="0"/>
              <a:t>The body of the paper is almost always tackled first.</a:t>
            </a:r>
          </a:p>
        </p:txBody>
      </p:sp>
    </p:spTree>
    <p:extLst>
      <p:ext uri="{BB962C8B-B14F-4D97-AF65-F5344CB8AC3E}">
        <p14:creationId xmlns:p14="http://schemas.microsoft.com/office/powerpoint/2010/main" val="1619788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81000" y="152400"/>
            <a:ext cx="8382000" cy="1143000"/>
          </a:xfrm>
        </p:spPr>
        <p:txBody>
          <a:bodyPr>
            <a:normAutofit/>
          </a:bodyPr>
          <a:lstStyle/>
          <a:p>
            <a:r>
              <a:rPr lang="en-US" sz="3600" b="1" dirty="0">
                <a:solidFill>
                  <a:srgbClr val="C00000"/>
                </a:solidFill>
              </a:rPr>
              <a:t>The body of the paper in a typical journal*</a:t>
            </a:r>
          </a:p>
        </p:txBody>
      </p:sp>
      <p:sp>
        <p:nvSpPr>
          <p:cNvPr id="6147" name="Rectangle 3"/>
          <p:cNvSpPr>
            <a:spLocks noGrp="1" noChangeArrowheads="1"/>
          </p:cNvSpPr>
          <p:nvPr>
            <p:ph type="body" idx="1"/>
          </p:nvPr>
        </p:nvSpPr>
        <p:spPr>
          <a:xfrm>
            <a:off x="533400" y="1312460"/>
            <a:ext cx="8382000" cy="4525963"/>
          </a:xfrm>
        </p:spPr>
        <p:txBody>
          <a:bodyPr>
            <a:normAutofit/>
          </a:bodyPr>
          <a:lstStyle/>
          <a:p>
            <a:r>
              <a:rPr lang="en-US" sz="2800" dirty="0"/>
              <a:t>Introduction</a:t>
            </a:r>
          </a:p>
          <a:p>
            <a:r>
              <a:rPr lang="en-US" sz="2800" dirty="0"/>
              <a:t>Materials and Methods</a:t>
            </a:r>
          </a:p>
          <a:p>
            <a:r>
              <a:rPr lang="en-US" sz="2800" dirty="0"/>
              <a:t>Results</a:t>
            </a:r>
          </a:p>
          <a:p>
            <a:pPr lvl="1"/>
            <a:r>
              <a:rPr lang="en-US" sz="2400" dirty="0"/>
              <a:t>Text</a:t>
            </a:r>
          </a:p>
          <a:p>
            <a:pPr lvl="1"/>
            <a:r>
              <a:rPr lang="en-US" sz="2400" dirty="0"/>
              <a:t>Tables</a:t>
            </a:r>
          </a:p>
          <a:p>
            <a:pPr lvl="1"/>
            <a:r>
              <a:rPr lang="en-US" sz="2400" dirty="0"/>
              <a:t>Figures</a:t>
            </a:r>
          </a:p>
          <a:p>
            <a:r>
              <a:rPr lang="en-US" sz="2800" dirty="0"/>
              <a:t>Discussion</a:t>
            </a:r>
          </a:p>
          <a:p>
            <a:r>
              <a:rPr lang="en-US" sz="2800" dirty="0"/>
              <a:t>Acknowledgements</a:t>
            </a:r>
          </a:p>
          <a:p>
            <a:r>
              <a:rPr lang="en-US" sz="2800" dirty="0"/>
              <a:t>References Cited</a:t>
            </a:r>
          </a:p>
        </p:txBody>
      </p:sp>
      <p:sp>
        <p:nvSpPr>
          <p:cNvPr id="2" name="Rectangle 1"/>
          <p:cNvSpPr/>
          <p:nvPr/>
        </p:nvSpPr>
        <p:spPr>
          <a:xfrm>
            <a:off x="4234070" y="4868927"/>
            <a:ext cx="4909930" cy="1938992"/>
          </a:xfrm>
          <a:prstGeom prst="rect">
            <a:avLst/>
          </a:prstGeom>
        </p:spPr>
        <p:txBody>
          <a:bodyPr wrap="square">
            <a:spAutoFit/>
          </a:bodyPr>
          <a:lstStyle/>
          <a:p>
            <a:pPr algn="ctr"/>
            <a:r>
              <a:rPr lang="en-US" sz="3000" dirty="0">
                <a:solidFill>
                  <a:srgbClr val="FF0000"/>
                </a:solidFill>
              </a:rPr>
              <a:t>These sections should be familiar to you. </a:t>
            </a:r>
          </a:p>
          <a:p>
            <a:pPr algn="ctr"/>
            <a:r>
              <a:rPr lang="en-US" sz="3000" dirty="0">
                <a:solidFill>
                  <a:srgbClr val="FF0000"/>
                </a:solidFill>
              </a:rPr>
              <a:t>But each section is also sub-structured in a deliberate way</a:t>
            </a:r>
          </a:p>
        </p:txBody>
      </p:sp>
    </p:spTree>
    <p:extLst>
      <p:ext uri="{BB962C8B-B14F-4D97-AF65-F5344CB8AC3E}">
        <p14:creationId xmlns:p14="http://schemas.microsoft.com/office/powerpoint/2010/main" val="91636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685800"/>
            <a:ext cx="8153400" cy="3539430"/>
          </a:xfrm>
          <a:prstGeom prst="rect">
            <a:avLst/>
          </a:prstGeom>
          <a:noFill/>
        </p:spPr>
        <p:txBody>
          <a:bodyPr wrap="square" rtlCol="0">
            <a:spAutoFit/>
          </a:bodyPr>
          <a:lstStyle/>
          <a:p>
            <a:r>
              <a:rPr lang="en-US" sz="3200" dirty="0"/>
              <a:t>We will now consider all the elements, in order. </a:t>
            </a:r>
          </a:p>
          <a:p>
            <a:endParaRPr lang="en-US" sz="3200" dirty="0"/>
          </a:p>
          <a:p>
            <a:r>
              <a:rPr lang="en-US" sz="3200" dirty="0"/>
              <a:t>In subsequent class sessions, we will examine each one again in detail, using the published papers that you have chosen as examples to see how they are organized and written, what works and what does not, etc. </a:t>
            </a:r>
          </a:p>
        </p:txBody>
      </p:sp>
    </p:spTree>
    <p:extLst>
      <p:ext uri="{BB962C8B-B14F-4D97-AF65-F5344CB8AC3E}">
        <p14:creationId xmlns:p14="http://schemas.microsoft.com/office/powerpoint/2010/main" val="1522371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0"/>
            <a:ext cx="8229600" cy="1143000"/>
          </a:xfrm>
        </p:spPr>
        <p:txBody>
          <a:bodyPr/>
          <a:lstStyle/>
          <a:p>
            <a:r>
              <a:rPr lang="en-US" sz="3600" b="1" dirty="0">
                <a:solidFill>
                  <a:srgbClr val="C00000"/>
                </a:solidFill>
              </a:rPr>
              <a:t>The Introduction</a:t>
            </a:r>
          </a:p>
        </p:txBody>
      </p:sp>
      <p:sp>
        <p:nvSpPr>
          <p:cNvPr id="7171" name="Rectangle 3"/>
          <p:cNvSpPr>
            <a:spLocks noGrp="1" noChangeArrowheads="1"/>
          </p:cNvSpPr>
          <p:nvPr>
            <p:ph type="body" idx="1"/>
          </p:nvPr>
        </p:nvSpPr>
        <p:spPr>
          <a:xfrm>
            <a:off x="457200" y="1219200"/>
            <a:ext cx="8229600" cy="4525963"/>
          </a:xfrm>
        </p:spPr>
        <p:txBody>
          <a:bodyPr/>
          <a:lstStyle/>
          <a:p>
            <a:r>
              <a:rPr lang="en-US" b="1" dirty="0">
                <a:solidFill>
                  <a:srgbClr val="C00000"/>
                </a:solidFill>
              </a:rPr>
              <a:t>Begin with the broadest scope </a:t>
            </a:r>
            <a:r>
              <a:rPr lang="en-US" dirty="0"/>
              <a:t>and get progressively narrower, leading steadily to the </a:t>
            </a:r>
            <a:r>
              <a:rPr lang="en-US" b="1" dirty="0">
                <a:solidFill>
                  <a:srgbClr val="C00000"/>
                </a:solidFill>
              </a:rPr>
              <a:t>statement of objectives</a:t>
            </a:r>
            <a:r>
              <a:rPr lang="en-US" dirty="0"/>
              <a:t> in the last paragraph of the Introduction.</a:t>
            </a:r>
          </a:p>
        </p:txBody>
      </p:sp>
      <p:sp>
        <p:nvSpPr>
          <p:cNvPr id="7172" name="Rectangle 4"/>
          <p:cNvSpPr>
            <a:spLocks noChangeArrowheads="1"/>
          </p:cNvSpPr>
          <p:nvPr/>
        </p:nvSpPr>
        <p:spPr bwMode="auto">
          <a:xfrm>
            <a:off x="2133600" y="3256724"/>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2590800" y="4018724"/>
            <a:ext cx="35814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ChangeArrowheads="1"/>
          </p:cNvSpPr>
          <p:nvPr/>
        </p:nvSpPr>
        <p:spPr bwMode="auto">
          <a:xfrm>
            <a:off x="3124200" y="4780724"/>
            <a:ext cx="2590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Rectangle 7"/>
          <p:cNvSpPr>
            <a:spLocks noChangeArrowheads="1"/>
          </p:cNvSpPr>
          <p:nvPr/>
        </p:nvSpPr>
        <p:spPr bwMode="auto">
          <a:xfrm>
            <a:off x="3505200" y="5542724"/>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6" name="Line 8"/>
          <p:cNvSpPr>
            <a:spLocks noChangeShapeType="1"/>
          </p:cNvSpPr>
          <p:nvPr/>
        </p:nvSpPr>
        <p:spPr bwMode="auto">
          <a:xfrm>
            <a:off x="3505200" y="3485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7" name="Line 9"/>
          <p:cNvSpPr>
            <a:spLocks noChangeShapeType="1"/>
          </p:cNvSpPr>
          <p:nvPr/>
        </p:nvSpPr>
        <p:spPr bwMode="auto">
          <a:xfrm>
            <a:off x="4038600" y="4247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8" name="Line 10"/>
          <p:cNvSpPr>
            <a:spLocks noChangeShapeType="1"/>
          </p:cNvSpPr>
          <p:nvPr/>
        </p:nvSpPr>
        <p:spPr bwMode="auto">
          <a:xfrm>
            <a:off x="4419600" y="50855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388853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r>
              <a:rPr lang="en-US" sz="3600" b="1" dirty="0">
                <a:solidFill>
                  <a:srgbClr val="C00000"/>
                </a:solidFill>
              </a:rPr>
              <a:t>Statement of objectives in the Introduction: </a:t>
            </a:r>
            <a:br>
              <a:rPr lang="en-US" sz="3600" b="1" dirty="0">
                <a:solidFill>
                  <a:srgbClr val="C00000"/>
                </a:solidFill>
              </a:rPr>
            </a:br>
            <a:r>
              <a:rPr lang="en-US" sz="3600" b="1" dirty="0">
                <a:solidFill>
                  <a:srgbClr val="C00000"/>
                </a:solidFill>
              </a:rPr>
              <a:t>The key to the whole paper</a:t>
            </a:r>
          </a:p>
        </p:txBody>
      </p:sp>
      <p:sp>
        <p:nvSpPr>
          <p:cNvPr id="8195" name="Rectangle 3"/>
          <p:cNvSpPr>
            <a:spLocks noGrp="1" noChangeArrowheads="1"/>
          </p:cNvSpPr>
          <p:nvPr>
            <p:ph type="body" idx="1"/>
          </p:nvPr>
        </p:nvSpPr>
        <p:spPr>
          <a:xfrm>
            <a:off x="533400" y="1981200"/>
            <a:ext cx="8153400" cy="3916363"/>
          </a:xfrm>
        </p:spPr>
        <p:txBody>
          <a:bodyPr/>
          <a:lstStyle/>
          <a:p>
            <a:r>
              <a:rPr lang="en-US" dirty="0"/>
              <a:t>The last Introduction’s paragraph must flow from the rest of the section and transition to the description of the study’s methods.  It is critical that the goals and objectives be stated clearly and, if applicable, quantitatively.</a:t>
            </a:r>
          </a:p>
          <a:p>
            <a:r>
              <a:rPr lang="en-US" b="1" dirty="0"/>
              <a:t>To repeat, this paragraph is a keystone of the paper.</a:t>
            </a:r>
          </a:p>
        </p:txBody>
      </p:sp>
    </p:spTree>
    <p:extLst>
      <p:ext uri="{BB962C8B-B14F-4D97-AF65-F5344CB8AC3E}">
        <p14:creationId xmlns:p14="http://schemas.microsoft.com/office/powerpoint/2010/main" val="1882989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Text Box 5"/>
          <p:cNvSpPr txBox="1">
            <a:spLocks noChangeArrowheads="1"/>
          </p:cNvSpPr>
          <p:nvPr/>
        </p:nvSpPr>
        <p:spPr bwMode="auto">
          <a:xfrm>
            <a:off x="990600" y="304800"/>
            <a:ext cx="7239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3600" dirty="0">
                <a:solidFill>
                  <a:srgbClr val="C00000"/>
                </a:solidFill>
              </a:rPr>
              <a:t>Examples of objectives:</a:t>
            </a:r>
          </a:p>
        </p:txBody>
      </p:sp>
      <p:sp>
        <p:nvSpPr>
          <p:cNvPr id="9222" name="Text Box 6"/>
          <p:cNvSpPr txBox="1">
            <a:spLocks noChangeArrowheads="1"/>
          </p:cNvSpPr>
          <p:nvPr/>
        </p:nvSpPr>
        <p:spPr bwMode="auto">
          <a:xfrm>
            <a:off x="762000" y="1219200"/>
            <a:ext cx="7973291"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3200" b="1" dirty="0">
                <a:solidFill>
                  <a:schemeClr val="accent1"/>
                </a:solidFill>
              </a:rPr>
              <a:t>Not so good:</a:t>
            </a:r>
          </a:p>
          <a:p>
            <a:pPr>
              <a:spcBef>
                <a:spcPct val="50000"/>
              </a:spcBef>
            </a:pPr>
            <a:r>
              <a:rPr lang="en-US" sz="2400" dirty="0"/>
              <a:t>The purpose of this study is to see if the fishes were different in three Puget Sound beaches.</a:t>
            </a:r>
          </a:p>
          <a:p>
            <a:pPr>
              <a:spcBef>
                <a:spcPct val="50000"/>
              </a:spcBef>
            </a:pPr>
            <a:r>
              <a:rPr lang="en-US" sz="3200" b="1" dirty="0">
                <a:solidFill>
                  <a:schemeClr val="accent1"/>
                </a:solidFill>
              </a:rPr>
              <a:t>Better:</a:t>
            </a:r>
          </a:p>
          <a:p>
            <a:pPr>
              <a:spcBef>
                <a:spcPct val="50000"/>
              </a:spcBef>
            </a:pPr>
            <a:r>
              <a:rPr lang="en-US" sz="2400" dirty="0"/>
              <a:t>The overall goal of the study was </a:t>
            </a:r>
            <a:r>
              <a:rPr lang="en-US" sz="2400" b="1" dirty="0">
                <a:solidFill>
                  <a:srgbClr val="0033CC"/>
                </a:solidFill>
              </a:rPr>
              <a:t>[note past tense]</a:t>
            </a:r>
            <a:r>
              <a:rPr lang="en-US" sz="2400" dirty="0"/>
              <a:t> to test the hypothesis that eelgrass density was positively correlated with fish species diversity and density.  Specifically, we sampled the fish community and measured the density of eelgrass as well as physical habitat variables in eight beaches within Puget Sound.  These data were </a:t>
            </a:r>
            <a:r>
              <a:rPr lang="en-US" sz="2400" b="1" dirty="0">
                <a:solidFill>
                  <a:srgbClr val="0033CC"/>
                </a:solidFill>
              </a:rPr>
              <a:t>[note plural]</a:t>
            </a:r>
            <a:r>
              <a:rPr lang="en-US" sz="2400" dirty="0"/>
              <a:t> used to build a statistical model…</a:t>
            </a:r>
          </a:p>
        </p:txBody>
      </p:sp>
    </p:spTree>
    <p:extLst>
      <p:ext uri="{BB962C8B-B14F-4D97-AF65-F5344CB8AC3E}">
        <p14:creationId xmlns:p14="http://schemas.microsoft.com/office/powerpoint/2010/main" val="2133157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0"/>
            <a:ext cx="8229600" cy="1143000"/>
          </a:xfrm>
        </p:spPr>
        <p:txBody>
          <a:bodyPr>
            <a:normAutofit/>
          </a:bodyPr>
          <a:lstStyle/>
          <a:p>
            <a:r>
              <a:rPr lang="en-US" sz="3600" b="1" dirty="0">
                <a:solidFill>
                  <a:srgbClr val="C00000"/>
                </a:solidFill>
              </a:rPr>
              <a:t>The Methods (or Materials and Methods)</a:t>
            </a:r>
          </a:p>
        </p:txBody>
      </p:sp>
      <p:sp>
        <p:nvSpPr>
          <p:cNvPr id="13315" name="Rectangle 3"/>
          <p:cNvSpPr>
            <a:spLocks noGrp="1" noChangeArrowheads="1"/>
          </p:cNvSpPr>
          <p:nvPr>
            <p:ph type="body" idx="1"/>
          </p:nvPr>
        </p:nvSpPr>
        <p:spPr>
          <a:xfrm>
            <a:off x="304800" y="1295400"/>
            <a:ext cx="8229600" cy="4946374"/>
          </a:xfrm>
        </p:spPr>
        <p:txBody>
          <a:bodyPr>
            <a:noAutofit/>
          </a:bodyPr>
          <a:lstStyle/>
          <a:p>
            <a:r>
              <a:rPr lang="en-US" sz="2600" dirty="0"/>
              <a:t>This section describes </a:t>
            </a:r>
            <a:r>
              <a:rPr lang="en-US" sz="2600" b="1" dirty="0">
                <a:solidFill>
                  <a:srgbClr val="FF0000"/>
                </a:solidFill>
              </a:rPr>
              <a:t>what</a:t>
            </a:r>
            <a:r>
              <a:rPr lang="en-US" sz="2600" dirty="0"/>
              <a:t> was done, </a:t>
            </a:r>
            <a:r>
              <a:rPr lang="en-US" sz="2600" b="1" dirty="0">
                <a:solidFill>
                  <a:srgbClr val="FF0000"/>
                </a:solidFill>
              </a:rPr>
              <a:t>how</a:t>
            </a:r>
            <a:r>
              <a:rPr lang="en-US" sz="2600" dirty="0"/>
              <a:t>, </a:t>
            </a:r>
            <a:r>
              <a:rPr lang="en-US" sz="2600" b="1" dirty="0">
                <a:solidFill>
                  <a:srgbClr val="FF0000"/>
                </a:solidFill>
              </a:rPr>
              <a:t>when</a:t>
            </a:r>
            <a:r>
              <a:rPr lang="en-US" sz="2600" dirty="0"/>
              <a:t> and </a:t>
            </a:r>
            <a:r>
              <a:rPr lang="en-US" sz="2600" b="1" dirty="0">
                <a:solidFill>
                  <a:srgbClr val="FF0000"/>
                </a:solidFill>
              </a:rPr>
              <a:t>where.</a:t>
            </a:r>
          </a:p>
          <a:p>
            <a:r>
              <a:rPr lang="en-US" sz="2600" dirty="0"/>
              <a:t>Functions of the M&amp;M:</a:t>
            </a:r>
          </a:p>
          <a:p>
            <a:pPr marL="914400" lvl="1" indent="-457200">
              <a:buFont typeface="+mj-lt"/>
              <a:buAutoNum type="arabicPeriod"/>
            </a:pPr>
            <a:r>
              <a:rPr lang="en-US" dirty="0"/>
              <a:t>Allow </a:t>
            </a:r>
            <a:r>
              <a:rPr lang="en-US" b="1" dirty="0"/>
              <a:t>replication</a:t>
            </a:r>
            <a:r>
              <a:rPr lang="en-US" dirty="0"/>
              <a:t> of the study in the future</a:t>
            </a:r>
          </a:p>
          <a:p>
            <a:pPr marL="914400" lvl="1" indent="-457200">
              <a:buFont typeface="+mj-lt"/>
              <a:buAutoNum type="arabicPeriod"/>
            </a:pPr>
            <a:r>
              <a:rPr lang="en-US" dirty="0"/>
              <a:t>Give readers the information they need to </a:t>
            </a:r>
            <a:r>
              <a:rPr lang="en-US" b="1" dirty="0"/>
              <a:t>contextualize</a:t>
            </a:r>
            <a:r>
              <a:rPr lang="en-US" dirty="0"/>
              <a:t> the Results. Each result should have a set of methods attached to it.</a:t>
            </a:r>
          </a:p>
          <a:p>
            <a:pPr marL="914400" lvl="1" indent="-457200">
              <a:buFont typeface="+mj-lt"/>
              <a:buAutoNum type="arabicPeriod"/>
            </a:pPr>
            <a:r>
              <a:rPr lang="en-US" dirty="0"/>
              <a:t>Allow readers to </a:t>
            </a:r>
            <a:r>
              <a:rPr lang="en-US" b="1" dirty="0"/>
              <a:t>judge the credibility </a:t>
            </a:r>
            <a:r>
              <a:rPr lang="en-US" dirty="0"/>
              <a:t>of the science. Is your approach defensible and appropriate to answer the question? Think about the jury in a courtroom.</a:t>
            </a:r>
          </a:p>
          <a:p>
            <a:r>
              <a:rPr lang="en-US" sz="2600" dirty="0"/>
              <a:t>Many ways to structure M&amp;M, depends on your study</a:t>
            </a:r>
          </a:p>
        </p:txBody>
      </p:sp>
    </p:spTree>
    <p:extLst>
      <p:ext uri="{BB962C8B-B14F-4D97-AF65-F5344CB8AC3E}">
        <p14:creationId xmlns:p14="http://schemas.microsoft.com/office/powerpoint/2010/main" val="3890891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0"/>
            <a:ext cx="8229600" cy="1143000"/>
          </a:xfrm>
        </p:spPr>
        <p:txBody>
          <a:bodyPr>
            <a:normAutofit/>
          </a:bodyPr>
          <a:lstStyle/>
          <a:p>
            <a:r>
              <a:rPr lang="en-US" sz="3600" b="1" dirty="0">
                <a:solidFill>
                  <a:srgbClr val="C00000"/>
                </a:solidFill>
              </a:rPr>
              <a:t>The Results</a:t>
            </a:r>
          </a:p>
        </p:txBody>
      </p:sp>
      <p:sp>
        <p:nvSpPr>
          <p:cNvPr id="13315" name="Rectangle 3"/>
          <p:cNvSpPr>
            <a:spLocks noGrp="1" noChangeArrowheads="1"/>
          </p:cNvSpPr>
          <p:nvPr>
            <p:ph type="body" idx="1"/>
          </p:nvPr>
        </p:nvSpPr>
        <p:spPr>
          <a:xfrm>
            <a:off x="457200" y="1457739"/>
            <a:ext cx="8305800" cy="4525963"/>
          </a:xfrm>
        </p:spPr>
        <p:txBody>
          <a:bodyPr>
            <a:normAutofit/>
          </a:bodyPr>
          <a:lstStyle/>
          <a:p>
            <a:r>
              <a:rPr lang="en-US" dirty="0"/>
              <a:t>Verbal description of the findings of the study as they pertain to the hypotheses and goals</a:t>
            </a:r>
          </a:p>
          <a:p>
            <a:r>
              <a:rPr lang="en-US" dirty="0"/>
              <a:t>Usually given in the order in which the hypotheses were posed. May also follow order of M&amp;M</a:t>
            </a:r>
          </a:p>
          <a:p>
            <a:r>
              <a:rPr lang="en-US" dirty="0"/>
              <a:t>Also includes Tables and Figures (as needed)</a:t>
            </a:r>
          </a:p>
          <a:p>
            <a:r>
              <a:rPr lang="en-US" dirty="0"/>
              <a:t>Give results of statistical analyses to back up claims</a:t>
            </a:r>
          </a:p>
          <a:p>
            <a:r>
              <a:rPr lang="en-US" b="1" dirty="0">
                <a:solidFill>
                  <a:srgbClr val="C00000"/>
                </a:solidFill>
              </a:rPr>
              <a:t>Very little interpretation! Stick to the facts. </a:t>
            </a:r>
          </a:p>
        </p:txBody>
      </p:sp>
    </p:spTree>
    <p:extLst>
      <p:ext uri="{BB962C8B-B14F-4D97-AF65-F5344CB8AC3E}">
        <p14:creationId xmlns:p14="http://schemas.microsoft.com/office/powerpoint/2010/main" val="927021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0"/>
            <a:ext cx="8229600" cy="1143000"/>
          </a:xfrm>
        </p:spPr>
        <p:txBody>
          <a:bodyPr/>
          <a:lstStyle/>
          <a:p>
            <a:r>
              <a:rPr lang="en-US" sz="3600" b="1" dirty="0">
                <a:solidFill>
                  <a:srgbClr val="C00000"/>
                </a:solidFill>
              </a:rPr>
              <a:t>The Discussion</a:t>
            </a:r>
          </a:p>
        </p:txBody>
      </p:sp>
      <p:sp>
        <p:nvSpPr>
          <p:cNvPr id="13315" name="Rectangle 3"/>
          <p:cNvSpPr>
            <a:spLocks noGrp="1" noChangeArrowheads="1"/>
          </p:cNvSpPr>
          <p:nvPr>
            <p:ph type="body" idx="1"/>
          </p:nvPr>
        </p:nvSpPr>
        <p:spPr>
          <a:xfrm>
            <a:off x="457200" y="914400"/>
            <a:ext cx="8229600" cy="4525963"/>
          </a:xfrm>
        </p:spPr>
        <p:txBody>
          <a:bodyPr/>
          <a:lstStyle/>
          <a:p>
            <a:r>
              <a:rPr lang="en-US" dirty="0">
                <a:solidFill>
                  <a:srgbClr val="C00000"/>
                </a:solidFill>
              </a:rPr>
              <a:t>Begin by interpreting the data with respect to the specific objectives of the study. </a:t>
            </a:r>
            <a:r>
              <a:rPr lang="en-US" dirty="0"/>
              <a:t>Then get progressively broader, interpreting papers by others, ending with the concepts used to start the Introduction.</a:t>
            </a:r>
          </a:p>
        </p:txBody>
      </p:sp>
      <p:sp>
        <p:nvSpPr>
          <p:cNvPr id="13316" name="Rectangle 4"/>
          <p:cNvSpPr>
            <a:spLocks noChangeArrowheads="1"/>
          </p:cNvSpPr>
          <p:nvPr/>
        </p:nvSpPr>
        <p:spPr bwMode="auto">
          <a:xfrm>
            <a:off x="3429000" y="3107637"/>
            <a:ext cx="19050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7" name="Rectangle 5"/>
          <p:cNvSpPr>
            <a:spLocks noChangeArrowheads="1"/>
          </p:cNvSpPr>
          <p:nvPr/>
        </p:nvSpPr>
        <p:spPr bwMode="auto">
          <a:xfrm>
            <a:off x="2971800" y="3869637"/>
            <a:ext cx="28956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8" name="Rectangle 6"/>
          <p:cNvSpPr>
            <a:spLocks noChangeArrowheads="1"/>
          </p:cNvSpPr>
          <p:nvPr/>
        </p:nvSpPr>
        <p:spPr bwMode="auto">
          <a:xfrm>
            <a:off x="2590800" y="4631637"/>
            <a:ext cx="3733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9" name="Rectangle 7"/>
          <p:cNvSpPr>
            <a:spLocks noChangeArrowheads="1"/>
          </p:cNvSpPr>
          <p:nvPr/>
        </p:nvSpPr>
        <p:spPr bwMode="auto">
          <a:xfrm>
            <a:off x="2133600" y="5393637"/>
            <a:ext cx="46482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20" name="Line 8"/>
          <p:cNvSpPr>
            <a:spLocks noChangeShapeType="1"/>
          </p:cNvSpPr>
          <p:nvPr/>
        </p:nvSpPr>
        <p:spPr bwMode="auto">
          <a:xfrm>
            <a:off x="4419600" y="3336237"/>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21" name="Line 9"/>
          <p:cNvSpPr>
            <a:spLocks noChangeShapeType="1"/>
          </p:cNvSpPr>
          <p:nvPr/>
        </p:nvSpPr>
        <p:spPr bwMode="auto">
          <a:xfrm>
            <a:off x="4038600" y="4098237"/>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22" name="Line 10"/>
          <p:cNvSpPr>
            <a:spLocks noChangeShapeType="1"/>
          </p:cNvSpPr>
          <p:nvPr/>
        </p:nvSpPr>
        <p:spPr bwMode="auto">
          <a:xfrm>
            <a:off x="3657600" y="4936437"/>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636564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z="3600" b="1" dirty="0">
                <a:solidFill>
                  <a:srgbClr val="C00000"/>
                </a:solidFill>
              </a:rPr>
              <a:t>Acknowledgments *</a:t>
            </a:r>
          </a:p>
        </p:txBody>
      </p:sp>
      <p:sp>
        <p:nvSpPr>
          <p:cNvPr id="14339" name="Rectangle 3"/>
          <p:cNvSpPr>
            <a:spLocks noGrp="1" noChangeArrowheads="1"/>
          </p:cNvSpPr>
          <p:nvPr>
            <p:ph type="body" idx="1"/>
          </p:nvPr>
        </p:nvSpPr>
        <p:spPr>
          <a:xfrm>
            <a:off x="419100" y="1447800"/>
            <a:ext cx="8343900" cy="4525963"/>
          </a:xfrm>
        </p:spPr>
        <p:txBody>
          <a:bodyPr>
            <a:normAutofit/>
          </a:bodyPr>
          <a:lstStyle/>
          <a:p>
            <a:r>
              <a:rPr lang="en-US" dirty="0"/>
              <a:t>Common professional courtesy (distinct from authorship, though this can be contentious)</a:t>
            </a:r>
          </a:p>
          <a:p>
            <a:r>
              <a:rPr lang="en-US" dirty="0"/>
              <a:t>People who contributed field help, lab help, ideas, statistical help, etc. but whose contributions were less than those expected for co-authorship**</a:t>
            </a:r>
          </a:p>
          <a:p>
            <a:r>
              <a:rPr lang="en-US" dirty="0"/>
              <a:t>Only professional, not emotional help (unlike a book)</a:t>
            </a:r>
          </a:p>
          <a:p>
            <a:r>
              <a:rPr lang="en-US" dirty="0"/>
              <a:t>Also indicates source of financial support (grant numbers if relevant)</a:t>
            </a:r>
          </a:p>
          <a:p>
            <a:endParaRPr lang="en-US" dirty="0"/>
          </a:p>
          <a:p>
            <a:endParaRPr lang="en-US" dirty="0">
              <a:solidFill>
                <a:srgbClr val="FF0000"/>
              </a:solidFill>
            </a:endParaRPr>
          </a:p>
        </p:txBody>
      </p:sp>
      <p:sp>
        <p:nvSpPr>
          <p:cNvPr id="4" name="TextBox 3"/>
          <p:cNvSpPr txBox="1"/>
          <p:nvPr/>
        </p:nvSpPr>
        <p:spPr>
          <a:xfrm>
            <a:off x="609600" y="5915026"/>
            <a:ext cx="8153400" cy="707886"/>
          </a:xfrm>
          <a:prstGeom prst="rect">
            <a:avLst/>
          </a:prstGeom>
          <a:noFill/>
        </p:spPr>
        <p:txBody>
          <a:bodyPr wrap="square" rtlCol="0">
            <a:spAutoFit/>
          </a:bodyPr>
          <a:lstStyle/>
          <a:p>
            <a:r>
              <a:rPr lang="en-US" sz="2000" dirty="0"/>
              <a:t>* Typically spelled “acknowledgements” in British Commonwealth countries</a:t>
            </a:r>
          </a:p>
          <a:p>
            <a:r>
              <a:rPr lang="en-US" sz="2000" dirty="0"/>
              <a:t>** We’ll cover authorship ethics later on</a:t>
            </a:r>
          </a:p>
        </p:txBody>
      </p:sp>
    </p:spTree>
    <p:extLst>
      <p:ext uri="{BB962C8B-B14F-4D97-AF65-F5344CB8AC3E}">
        <p14:creationId xmlns:p14="http://schemas.microsoft.com/office/powerpoint/2010/main" val="3723512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z="3600" b="1" dirty="0">
                <a:solidFill>
                  <a:srgbClr val="C00000"/>
                </a:solidFill>
              </a:rPr>
              <a:t>References Cited (or Literature Cited)</a:t>
            </a:r>
          </a:p>
        </p:txBody>
      </p:sp>
      <p:sp>
        <p:nvSpPr>
          <p:cNvPr id="15363" name="Rectangle 3"/>
          <p:cNvSpPr>
            <a:spLocks noGrp="1" noChangeArrowheads="1"/>
          </p:cNvSpPr>
          <p:nvPr>
            <p:ph type="body" idx="1"/>
          </p:nvPr>
        </p:nvSpPr>
        <p:spPr>
          <a:xfrm>
            <a:off x="457200" y="1600200"/>
            <a:ext cx="8229600" cy="2667000"/>
          </a:xfrm>
        </p:spPr>
        <p:txBody>
          <a:bodyPr>
            <a:normAutofit/>
          </a:bodyPr>
          <a:lstStyle/>
          <a:p>
            <a:r>
              <a:rPr lang="en-US" sz="2600" dirty="0"/>
              <a:t>Acknowledges the work done by others</a:t>
            </a:r>
          </a:p>
          <a:p>
            <a:r>
              <a:rPr lang="en-US" sz="2600" dirty="0"/>
              <a:t>Allows the reader to learn more</a:t>
            </a:r>
          </a:p>
          <a:p>
            <a:r>
              <a:rPr lang="en-US" sz="2600" dirty="0"/>
              <a:t>Bolsters arguments and facilitates interpretation of results in context of what is already known</a:t>
            </a:r>
          </a:p>
          <a:p>
            <a:r>
              <a:rPr lang="en-US" sz="2600" dirty="0"/>
              <a:t>Note that while APA is always used, every journal has their own specific formatting rules</a:t>
            </a:r>
          </a:p>
        </p:txBody>
      </p:sp>
      <p:sp>
        <p:nvSpPr>
          <p:cNvPr id="15364" name="Text Box 4"/>
          <p:cNvSpPr txBox="1">
            <a:spLocks noChangeArrowheads="1"/>
          </p:cNvSpPr>
          <p:nvPr/>
        </p:nvSpPr>
        <p:spPr bwMode="auto">
          <a:xfrm>
            <a:off x="457200" y="4671391"/>
            <a:ext cx="8229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dirty="0"/>
              <a:t>Everything cited in the paper </a:t>
            </a:r>
            <a:r>
              <a:rPr lang="en-US" sz="2400" b="1" i="1" u="sng" dirty="0">
                <a:solidFill>
                  <a:srgbClr val="FF0000"/>
                </a:solidFill>
              </a:rPr>
              <a:t>must</a:t>
            </a:r>
            <a:r>
              <a:rPr lang="en-US" sz="2400" dirty="0"/>
              <a:t> be listed, and </a:t>
            </a:r>
            <a:r>
              <a:rPr lang="en-US" sz="2400" b="1" i="1" u="sng" dirty="0">
                <a:solidFill>
                  <a:srgbClr val="FF0000"/>
                </a:solidFill>
              </a:rPr>
              <a:t>nothing else</a:t>
            </a:r>
            <a:r>
              <a:rPr lang="en-US" sz="2400" dirty="0">
                <a:solidFill>
                  <a:srgbClr val="FF0000"/>
                </a:solidFill>
              </a:rPr>
              <a:t>.  </a:t>
            </a:r>
            <a:r>
              <a:rPr lang="en-US" sz="2400" dirty="0"/>
              <a:t>This is not a list of relevant papers on the subject, only the ones actually referenced in the paper.  They are typically listed in alphabetical order, in the format specified by the selected journal (though some journals number them in the order cited).</a:t>
            </a:r>
          </a:p>
        </p:txBody>
      </p:sp>
    </p:spTree>
    <p:extLst>
      <p:ext uri="{BB962C8B-B14F-4D97-AF65-F5344CB8AC3E}">
        <p14:creationId xmlns:p14="http://schemas.microsoft.com/office/powerpoint/2010/main" val="765579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66B6A-0E90-4A49-8B6F-705EF40C78F9}"/>
              </a:ext>
            </a:extLst>
          </p:cNvPr>
          <p:cNvSpPr>
            <a:spLocks noGrp="1"/>
          </p:cNvSpPr>
          <p:nvPr>
            <p:ph type="title"/>
          </p:nvPr>
        </p:nvSpPr>
        <p:spPr/>
        <p:txBody>
          <a:bodyPr/>
          <a:lstStyle/>
          <a:p>
            <a:r>
              <a:rPr lang="en-US" dirty="0"/>
              <a:t>The </a:t>
            </a:r>
            <a:r>
              <a:rPr lang="en-US" b="1" dirty="0"/>
              <a:t>5 pivotal paragraphs </a:t>
            </a:r>
            <a:r>
              <a:rPr lang="en-US" dirty="0"/>
              <a:t>of a journal article</a:t>
            </a:r>
          </a:p>
        </p:txBody>
      </p:sp>
      <p:sp>
        <p:nvSpPr>
          <p:cNvPr id="3" name="Content Placeholder 2">
            <a:extLst>
              <a:ext uri="{FF2B5EF4-FFF2-40B4-BE49-F238E27FC236}">
                <a16:creationId xmlns:a16="http://schemas.microsoft.com/office/drawing/2014/main" id="{52745B51-9C3E-5748-8F55-57F609988357}"/>
              </a:ext>
            </a:extLst>
          </p:cNvPr>
          <p:cNvSpPr>
            <a:spLocks noGrp="1"/>
          </p:cNvSpPr>
          <p:nvPr>
            <p:ph idx="1"/>
          </p:nvPr>
        </p:nvSpPr>
        <p:spPr>
          <a:xfrm>
            <a:off x="628650" y="2768599"/>
            <a:ext cx="7886700" cy="3408363"/>
          </a:xfrm>
        </p:spPr>
        <p:txBody>
          <a:bodyPr/>
          <a:lstStyle/>
          <a:p>
            <a:pPr marL="0" indent="0">
              <a:buNone/>
            </a:pPr>
            <a:r>
              <a:rPr lang="en-US" dirty="0">
                <a:hlinkClick r:id="rId2"/>
              </a:rPr>
              <a:t>https://dynamicecology.wordpress.com/2016/02/24/the-5-pivotal-paragraphs-in-a-paper/</a:t>
            </a:r>
            <a:endParaRPr lang="en-US" dirty="0"/>
          </a:p>
        </p:txBody>
      </p:sp>
    </p:spTree>
    <p:extLst>
      <p:ext uri="{BB962C8B-B14F-4D97-AF65-F5344CB8AC3E}">
        <p14:creationId xmlns:p14="http://schemas.microsoft.com/office/powerpoint/2010/main" val="964452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6DDF55B-17AF-2512-7664-E2BC14562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0"/>
            <a:ext cx="5143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85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3092D-FB2A-4848-87C6-0358619851C1}"/>
              </a:ext>
            </a:extLst>
          </p:cNvPr>
          <p:cNvSpPr>
            <a:spLocks noGrp="1"/>
          </p:cNvSpPr>
          <p:nvPr>
            <p:ph type="title"/>
          </p:nvPr>
        </p:nvSpPr>
        <p:spPr/>
        <p:txBody>
          <a:bodyPr>
            <a:normAutofit/>
          </a:bodyPr>
          <a:lstStyle/>
          <a:p>
            <a:r>
              <a:rPr lang="en-US" sz="4000" dirty="0"/>
              <a:t>Assignments for today and for home</a:t>
            </a:r>
          </a:p>
        </p:txBody>
      </p:sp>
      <p:sp>
        <p:nvSpPr>
          <p:cNvPr id="3" name="Content Placeholder 2">
            <a:extLst>
              <a:ext uri="{FF2B5EF4-FFF2-40B4-BE49-F238E27FC236}">
                <a16:creationId xmlns:a16="http://schemas.microsoft.com/office/drawing/2014/main" id="{049C5BA3-ECEB-C74D-8CB6-03873D161B69}"/>
              </a:ext>
            </a:extLst>
          </p:cNvPr>
          <p:cNvSpPr>
            <a:spLocks noGrp="1"/>
          </p:cNvSpPr>
          <p:nvPr>
            <p:ph idx="1"/>
          </p:nvPr>
        </p:nvSpPr>
        <p:spPr>
          <a:xfrm>
            <a:off x="628650" y="1597024"/>
            <a:ext cx="7886700" cy="5260976"/>
          </a:xfrm>
        </p:spPr>
        <p:txBody>
          <a:bodyPr>
            <a:normAutofit fontScale="85000" lnSpcReduction="20000"/>
          </a:bodyPr>
          <a:lstStyle/>
          <a:p>
            <a:r>
              <a:rPr lang="en-US" sz="3300" dirty="0"/>
              <a:t>Read the “5 pivotal paragraphs” blog post. Find and highlight these paragraphs in the paper you chose for your poster.  </a:t>
            </a:r>
          </a:p>
          <a:p>
            <a:endParaRPr lang="en-US" sz="3300" dirty="0"/>
          </a:p>
          <a:p>
            <a:r>
              <a:rPr lang="en-US" sz="3300" dirty="0"/>
              <a:t>Prepare a 2 minute verbal summary of your poster paper to describe out loud with no slides, and ideally no reading from a script. </a:t>
            </a:r>
          </a:p>
          <a:p>
            <a:pPr lvl="1"/>
            <a:r>
              <a:rPr lang="en-US" sz="2900" dirty="0"/>
              <a:t>You should cover the main parts of the paper briefly – why the study was done (intro and objectives), how it was done (methods), what was found (results) and implications (discussion).  We will be timing you on Tuesday!</a:t>
            </a:r>
          </a:p>
          <a:p>
            <a:endParaRPr lang="en-US" sz="3300" dirty="0"/>
          </a:p>
          <a:p>
            <a:r>
              <a:rPr lang="en-US" sz="3300" dirty="0"/>
              <a:t>Continue doing research for your project, looking for </a:t>
            </a:r>
            <a:r>
              <a:rPr lang="en-US" sz="3300" b="1" u="sng" dirty="0"/>
              <a:t>data</a:t>
            </a:r>
          </a:p>
          <a:p>
            <a:endParaRPr lang="en-US" sz="3300" dirty="0"/>
          </a:p>
          <a:p>
            <a:endParaRPr lang="en-US" dirty="0"/>
          </a:p>
        </p:txBody>
      </p:sp>
    </p:spTree>
    <p:extLst>
      <p:ext uri="{BB962C8B-B14F-4D97-AF65-F5344CB8AC3E}">
        <p14:creationId xmlns:p14="http://schemas.microsoft.com/office/powerpoint/2010/main" val="21198278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355</TotalTime>
  <Words>914</Words>
  <Application>Microsoft Macintosh PowerPoint</Application>
  <PresentationFormat>On-screen Show (4:3)</PresentationFormat>
  <Paragraphs>74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The structure of a scientific paper</vt:lpstr>
      <vt:lpstr>PowerPoint Presentation</vt:lpstr>
      <vt:lpstr>PowerPoint Presentation</vt:lpstr>
      <vt:lpstr>The body of the paper in a typical journal*</vt:lpstr>
      <vt:lpstr>PowerPoint Presentation</vt:lpstr>
      <vt:lpstr>The Introduction</vt:lpstr>
      <vt:lpstr>Statement of objectives in the Introduction:  The key to the whole paper</vt:lpstr>
      <vt:lpstr>PowerPoint Presentation</vt:lpstr>
      <vt:lpstr>The Methods (or Materials and Methods)</vt:lpstr>
      <vt:lpstr>The Results</vt:lpstr>
      <vt:lpstr>The Discussion</vt:lpstr>
      <vt:lpstr>Acknowledgments *</vt:lpstr>
      <vt:lpstr>References Cited (or Literature Cited)</vt:lpstr>
      <vt:lpstr>The 5 pivotal paragraphs of a journal article</vt:lpstr>
      <vt:lpstr>PowerPoint Presentation</vt:lpstr>
      <vt:lpstr>Assignments for today and for home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structure of a scientific paper</dc:title>
  <dc:creator>Miller, Elizabeth Christina - (ecmiller)</dc:creator>
  <cp:lastModifiedBy>Luke M. Tornabene</cp:lastModifiedBy>
  <cp:revision>26</cp:revision>
  <dcterms:created xsi:type="dcterms:W3CDTF">2020-01-15T22:46:36Z</dcterms:created>
  <dcterms:modified xsi:type="dcterms:W3CDTF">2025-01-16T19:55:37Z</dcterms:modified>
</cp:coreProperties>
</file>
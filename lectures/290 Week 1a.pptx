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j-lt"/>
        <a:ea typeface="+mj-ea"/>
        <a:cs typeface="+mj-cs"/>
        <a:sym typeface="Calibri"/>
      </a:defRPr>
    </a:lvl1pPr>
    <a:lvl2pPr indent="228600" defTabSz="457200" latinLnBrk="0">
      <a:defRPr sz="1200">
        <a:latin typeface="+mj-lt"/>
        <a:ea typeface="+mj-ea"/>
        <a:cs typeface="+mj-cs"/>
        <a:sym typeface="Calibri"/>
      </a:defRPr>
    </a:lvl2pPr>
    <a:lvl3pPr indent="457200" defTabSz="457200" latinLnBrk="0">
      <a:defRPr sz="1200">
        <a:latin typeface="+mj-lt"/>
        <a:ea typeface="+mj-ea"/>
        <a:cs typeface="+mj-cs"/>
        <a:sym typeface="Calibri"/>
      </a:defRPr>
    </a:lvl3pPr>
    <a:lvl4pPr indent="685800" defTabSz="457200" latinLnBrk="0">
      <a:defRPr sz="1200">
        <a:latin typeface="+mj-lt"/>
        <a:ea typeface="+mj-ea"/>
        <a:cs typeface="+mj-cs"/>
        <a:sym typeface="Calibri"/>
      </a:defRPr>
    </a:lvl4pPr>
    <a:lvl5pPr indent="914400" defTabSz="457200" latinLnBrk="0">
      <a:defRPr sz="1200">
        <a:latin typeface="+mj-lt"/>
        <a:ea typeface="+mj-ea"/>
        <a:cs typeface="+mj-cs"/>
        <a:sym typeface="Calibri"/>
      </a:defRPr>
    </a:lvl5pPr>
    <a:lvl6pPr indent="1143000" defTabSz="457200" latinLnBrk="0">
      <a:defRPr sz="1200">
        <a:latin typeface="+mj-lt"/>
        <a:ea typeface="+mj-ea"/>
        <a:cs typeface="+mj-cs"/>
        <a:sym typeface="Calibri"/>
      </a:defRPr>
    </a:lvl6pPr>
    <a:lvl7pPr indent="1371600" defTabSz="457200" latinLnBrk="0">
      <a:defRPr sz="1200">
        <a:latin typeface="+mj-lt"/>
        <a:ea typeface="+mj-ea"/>
        <a:cs typeface="+mj-cs"/>
        <a:sym typeface="Calibri"/>
      </a:defRPr>
    </a:lvl7pPr>
    <a:lvl8pPr indent="1600200" defTabSz="457200" latinLnBrk="0">
      <a:defRPr sz="1200">
        <a:latin typeface="+mj-lt"/>
        <a:ea typeface="+mj-ea"/>
        <a:cs typeface="+mj-cs"/>
        <a:sym typeface="Calibri"/>
      </a:defRPr>
    </a:lvl8pPr>
    <a:lvl9pPr indent="1828800" defTabSz="4572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1122362"/>
            <a:ext cx="7772400" cy="2387601"/>
          </a:xfrm>
          <a:prstGeom prst="rect">
            <a:avLst/>
          </a:prstGeom>
        </p:spPr>
        <p:txBody>
          <a:bodyPr anchor="b"/>
          <a:lstStyle>
            <a:lvl1pPr algn="ctr">
              <a:defRPr sz="6000"/>
            </a:lvl1pPr>
          </a:lstStyle>
          <a:p>
            <a:pPr/>
            <a:r>
              <a:t>Title Text</a:t>
            </a:r>
          </a:p>
        </p:txBody>
      </p:sp>
      <p:sp>
        <p:nvSpPr>
          <p:cNvPr id="12" name="Body Level One…"/>
          <p:cNvSpPr txBox="1"/>
          <p:nvPr>
            <p:ph type="body" sz="quarter" idx="1"/>
          </p:nvPr>
        </p:nvSpPr>
        <p:spPr>
          <a:xfrm>
            <a:off x="1143000" y="3602037"/>
            <a:ext cx="6858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623887" y="1709739"/>
            <a:ext cx="7886701" cy="2852737"/>
          </a:xfrm>
          <a:prstGeom prst="rect">
            <a:avLst/>
          </a:prstGeom>
        </p:spPr>
        <p:txBody>
          <a:bodyPr anchor="b"/>
          <a:lstStyle>
            <a:lvl1pPr>
              <a:defRPr sz="6000"/>
            </a:lvl1pPr>
          </a:lstStyle>
          <a:p>
            <a:pPr/>
            <a:r>
              <a:t>Title Text</a:t>
            </a:r>
          </a:p>
        </p:txBody>
      </p:sp>
      <p:sp>
        <p:nvSpPr>
          <p:cNvPr id="30" name="Body Level One…"/>
          <p:cNvSpPr txBox="1"/>
          <p:nvPr>
            <p:ph type="body" sz="quarter" idx="1"/>
          </p:nvPr>
        </p:nvSpPr>
        <p:spPr>
          <a:xfrm>
            <a:off x="623887" y="4589464"/>
            <a:ext cx="7886701" cy="1500188"/>
          </a:xfrm>
          <a:prstGeom prst="rect">
            <a:avLst/>
          </a:prstGeom>
        </p:spPr>
        <p:txBody>
          <a:bodyPr/>
          <a:lstStyle>
            <a:lvl1pPr marL="0" indent="0">
              <a:buSzTx/>
              <a:buFontTx/>
              <a:buNone/>
              <a:defRPr sz="2400"/>
            </a:lvl1pPr>
            <a:lvl2pPr marL="0" indent="457200">
              <a:buSzTx/>
              <a:buFontTx/>
              <a:buNone/>
              <a:defRPr sz="2400"/>
            </a:lvl2pPr>
            <a:lvl3pPr marL="0" indent="914400">
              <a:buSzTx/>
              <a:buFontTx/>
              <a:buNone/>
              <a:defRPr sz="2400"/>
            </a:lvl3pPr>
            <a:lvl4pPr marL="0" indent="1371600">
              <a:buSzTx/>
              <a:buFontTx/>
              <a:buNone/>
              <a:defRPr sz="2400"/>
            </a:lvl4pPr>
            <a:lvl5pPr marL="0" indent="1828800">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628650" y="1825625"/>
            <a:ext cx="38862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629841" y="365125"/>
            <a:ext cx="7886701" cy="1325564"/>
          </a:xfrm>
          <a:prstGeom prst="rect">
            <a:avLst/>
          </a:prstGeom>
        </p:spPr>
        <p:txBody>
          <a:bodyPr/>
          <a:lstStyle/>
          <a:p>
            <a:pPr/>
            <a:r>
              <a:t>Title Text</a:t>
            </a:r>
          </a:p>
        </p:txBody>
      </p:sp>
      <p:sp>
        <p:nvSpPr>
          <p:cNvPr id="48" name="Body Level One…"/>
          <p:cNvSpPr txBox="1"/>
          <p:nvPr>
            <p:ph type="body" sz="quarter" idx="1"/>
          </p:nvPr>
        </p:nvSpPr>
        <p:spPr>
          <a:xfrm>
            <a:off x="629841" y="1681163"/>
            <a:ext cx="3868341" cy="823913"/>
          </a:xfrm>
          <a:prstGeom prst="rect">
            <a:avLst/>
          </a:prstGeom>
        </p:spPr>
        <p:txBody>
          <a:bodyPr anchor="b"/>
          <a:lstStyle>
            <a:lvl1pPr marL="0" indent="0">
              <a:buSzTx/>
              <a:buFontTx/>
              <a:buNone/>
              <a:defRPr b="1" sz="2400"/>
            </a:lvl1pPr>
            <a:lvl2pPr marL="0" indent="457200">
              <a:buSzTx/>
              <a:buFontTx/>
              <a:buNone/>
              <a:defRPr b="1" sz="2400"/>
            </a:lvl2pPr>
            <a:lvl3pPr marL="0" indent="914400">
              <a:buSzTx/>
              <a:buFontTx/>
              <a:buNone/>
              <a:defRPr b="1" sz="2400"/>
            </a:lvl3pPr>
            <a:lvl4pPr marL="0" indent="1371600">
              <a:buSzTx/>
              <a:buFontTx/>
              <a:buNone/>
              <a:defRPr b="1" sz="2400"/>
            </a:lvl4pPr>
            <a:lvl5pPr marL="0" indent="1828800">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29149" y="1681163"/>
            <a:ext cx="3887393" cy="823913"/>
          </a:xfrm>
          <a:prstGeom prst="rect">
            <a:avLst/>
          </a:prstGeom>
        </p:spPr>
        <p:txBody>
          <a:bodyPr anchor="b"/>
          <a:lstStyle/>
          <a:p>
            <a:pPr marL="0" indent="0">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629841" y="457200"/>
            <a:ext cx="2949178" cy="1600200"/>
          </a:xfrm>
          <a:prstGeom prst="rect">
            <a:avLst/>
          </a:prstGeom>
        </p:spPr>
        <p:txBody>
          <a:bodyPr anchor="b"/>
          <a:lstStyle>
            <a:lvl1pPr>
              <a:defRPr sz="3200"/>
            </a:lvl1pPr>
          </a:lstStyle>
          <a:p>
            <a:pPr/>
            <a:r>
              <a:t>Title Text</a:t>
            </a:r>
          </a:p>
        </p:txBody>
      </p:sp>
      <p:sp>
        <p:nvSpPr>
          <p:cNvPr id="73" name="Body Level One…"/>
          <p:cNvSpPr txBox="1"/>
          <p:nvPr>
            <p:ph type="body" sz="half" idx="1"/>
          </p:nvPr>
        </p:nvSpPr>
        <p:spPr>
          <a:xfrm>
            <a:off x="3887391" y="987425"/>
            <a:ext cx="4629151" cy="4873626"/>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629840" y="2057400"/>
            <a:ext cx="2949180" cy="3811588"/>
          </a:xfrm>
          <a:prstGeom prst="rect">
            <a:avLst/>
          </a:prstGeom>
        </p:spPr>
        <p:txBody>
          <a:bodyPr/>
          <a:lstStyle/>
          <a:p>
            <a:pPr marL="0" indent="0">
              <a:buSzTx/>
              <a:buFontTx/>
              <a:buNone/>
              <a:defRPr sz="16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629841" y="457200"/>
            <a:ext cx="2949178" cy="1600200"/>
          </a:xfrm>
          <a:prstGeom prst="rect">
            <a:avLst/>
          </a:prstGeom>
        </p:spPr>
        <p:txBody>
          <a:bodyPr anchor="b"/>
          <a:lstStyle>
            <a:lvl1pPr>
              <a:defRPr sz="3200"/>
            </a:lvl1pPr>
          </a:lstStyle>
          <a:p>
            <a:pPr/>
            <a:r>
              <a:t>Title Text</a:t>
            </a:r>
          </a:p>
        </p:txBody>
      </p:sp>
      <p:sp>
        <p:nvSpPr>
          <p:cNvPr id="83" name="Picture Placeholder 2"/>
          <p:cNvSpPr/>
          <p:nvPr>
            <p:ph type="pic" sz="half" idx="21"/>
          </p:nvPr>
        </p:nvSpPr>
        <p:spPr>
          <a:xfrm>
            <a:off x="3887391" y="987425"/>
            <a:ext cx="4629151" cy="4873626"/>
          </a:xfrm>
          <a:prstGeom prst="rect">
            <a:avLst/>
          </a:prstGeom>
        </p:spPr>
        <p:txBody>
          <a:bodyPr lIns="91439" rIns="91439">
            <a:noAutofit/>
          </a:bodyPr>
          <a:lstStyle/>
          <a:p>
            <a:pPr/>
          </a:p>
        </p:txBody>
      </p:sp>
      <p:sp>
        <p:nvSpPr>
          <p:cNvPr id="84" name="Body Level One…"/>
          <p:cNvSpPr txBox="1"/>
          <p:nvPr>
            <p:ph type="body" sz="quarter" idx="1"/>
          </p:nvPr>
        </p:nvSpPr>
        <p:spPr>
          <a:xfrm>
            <a:off x="629841" y="2057400"/>
            <a:ext cx="2949178"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28650" y="365125"/>
            <a:ext cx="7886700" cy="1325564"/>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628650" y="1825625"/>
            <a:ext cx="78867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256726" y="6414761"/>
            <a:ext cx="258624" cy="248306"/>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Title 1"/>
          <p:cNvSpPr txBox="1"/>
          <p:nvPr>
            <p:ph type="ctrTitle"/>
          </p:nvPr>
        </p:nvSpPr>
        <p:spPr>
          <a:prstGeom prst="rect">
            <a:avLst/>
          </a:prstGeom>
        </p:spPr>
        <p:txBody>
          <a:bodyPr/>
          <a:lstStyle/>
          <a:p>
            <a:pPr defTabSz="704087">
              <a:spcBef>
                <a:spcPts val="400"/>
              </a:spcBef>
              <a:defRPr sz="4158"/>
            </a:pPr>
            <a:r>
              <a:t>Welcome to FISH 290:</a:t>
            </a:r>
            <a:br/>
            <a:r>
              <a:t> </a:t>
            </a:r>
            <a:r>
              <a:rPr>
                <a:solidFill>
                  <a:srgbClr val="C00000"/>
                </a:solidFill>
              </a:rPr>
              <a:t>Scientific Writing and Communication</a:t>
            </a:r>
            <a:br>
              <a:rPr>
                <a:solidFill>
                  <a:srgbClr val="C00000"/>
                </a:solidFill>
              </a:rPr>
            </a:br>
          </a:p>
        </p:txBody>
      </p:sp>
      <p:sp>
        <p:nvSpPr>
          <p:cNvPr id="95" name="Subtitle 2"/>
          <p:cNvSpPr txBox="1"/>
          <p:nvPr>
            <p:ph type="subTitle" sz="quarter" idx="1"/>
          </p:nvPr>
        </p:nvSpPr>
        <p:spPr>
          <a:xfrm>
            <a:off x="1143000" y="3602037"/>
            <a:ext cx="6858000" cy="1655762"/>
          </a:xfrm>
          <a:prstGeom prst="rect">
            <a:avLst/>
          </a:prstGeom>
        </p:spPr>
        <p:txBody>
          <a:bodyPr/>
          <a:lstStyle>
            <a:lvl1pPr>
              <a:defRPr sz="3200"/>
            </a:lvl1pPr>
          </a:lstStyle>
          <a:p>
            <a:pPr/>
            <a:r>
              <a:t>Dr. Steven Roberts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 name="Title 1"/>
          <p:cNvSpPr txBox="1"/>
          <p:nvPr>
            <p:ph type="title"/>
          </p:nvPr>
        </p:nvSpPr>
        <p:spPr>
          <a:xfrm>
            <a:off x="628650" y="365126"/>
            <a:ext cx="7886700" cy="1325563"/>
          </a:xfrm>
          <a:prstGeom prst="rect">
            <a:avLst/>
          </a:prstGeom>
        </p:spPr>
        <p:txBody>
          <a:bodyPr/>
          <a:lstStyle/>
          <a:p>
            <a:pPr/>
            <a:r>
              <a:t>Introductions</a:t>
            </a:r>
          </a:p>
        </p:txBody>
      </p:sp>
      <p:sp>
        <p:nvSpPr>
          <p:cNvPr id="98" name="Content Placeholder 2"/>
          <p:cNvSpPr txBox="1"/>
          <p:nvPr>
            <p:ph type="body" idx="1"/>
          </p:nvPr>
        </p:nvSpPr>
        <p:spPr>
          <a:xfrm>
            <a:off x="628650" y="1825625"/>
            <a:ext cx="7886700" cy="4351338"/>
          </a:xfrm>
          <a:prstGeom prst="rect">
            <a:avLst/>
          </a:prstGeom>
        </p:spPr>
        <p:txBody>
          <a:bodyPr/>
          <a:lstStyle>
            <a:lvl1pPr marL="0" indent="0">
              <a:buSzTx/>
              <a:buNone/>
              <a:defRPr sz="3200"/>
            </a:lvl1pPr>
          </a:lstStyle>
          <a:p>
            <a:pPr/>
            <a:r>
              <a:t>Who are you: your preferred name, pronouns, favorite organism, anything else you want to share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 name="Title 1"/>
          <p:cNvSpPr txBox="1"/>
          <p:nvPr>
            <p:ph type="title"/>
          </p:nvPr>
        </p:nvSpPr>
        <p:spPr>
          <a:xfrm>
            <a:off x="628650" y="365126"/>
            <a:ext cx="7886700" cy="1325563"/>
          </a:xfrm>
          <a:prstGeom prst="rect">
            <a:avLst/>
          </a:prstGeom>
        </p:spPr>
        <p:txBody>
          <a:bodyPr/>
          <a:lstStyle/>
          <a:p>
            <a:pPr/>
            <a:r>
              <a:t>How did this course come about?</a:t>
            </a:r>
          </a:p>
        </p:txBody>
      </p:sp>
      <p:sp>
        <p:nvSpPr>
          <p:cNvPr id="101" name="Content Placeholder 2"/>
          <p:cNvSpPr txBox="1"/>
          <p:nvPr>
            <p:ph type="body" sz="quarter" idx="1"/>
          </p:nvPr>
        </p:nvSpPr>
        <p:spPr>
          <a:xfrm>
            <a:off x="628650" y="1465801"/>
            <a:ext cx="7886700" cy="877819"/>
          </a:xfrm>
          <a:prstGeom prst="rect">
            <a:avLst/>
          </a:prstGeom>
        </p:spPr>
        <p:txBody>
          <a:bodyPr/>
          <a:lstStyle/>
          <a:p>
            <a:pPr marL="0" indent="0">
              <a:buSzTx/>
              <a:buNone/>
              <a:defRPr sz="2000"/>
            </a:pPr>
            <a:r>
              <a:t>Let’s be specific </a:t>
            </a:r>
            <a:r>
              <a:t>–</a:t>
            </a:r>
            <a:r>
              <a:t> </a:t>
            </a:r>
            <a:r>
              <a:rPr b="1"/>
              <a:t>how will improving your scientific communication make you more successful</a:t>
            </a:r>
            <a:r>
              <a:t>?</a:t>
            </a:r>
          </a:p>
        </p:txBody>
      </p:sp>
      <p:sp>
        <p:nvSpPr>
          <p:cNvPr id="102" name="TextBox 4"/>
          <p:cNvSpPr txBox="1"/>
          <p:nvPr/>
        </p:nvSpPr>
        <p:spPr>
          <a:xfrm>
            <a:off x="380435" y="2237603"/>
            <a:ext cx="4671061" cy="52987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Getting your degree at SAFS/UW:</a:t>
            </a:r>
          </a:p>
          <a:p>
            <a:pPr lvl="1" marL="742950" indent="-285750">
              <a:buSzPct val="100000"/>
              <a:buFont typeface="Arial"/>
              <a:buChar char="•"/>
            </a:pPr>
            <a:r>
              <a:t>Reports for upper-level classes</a:t>
            </a:r>
          </a:p>
          <a:p>
            <a:pPr lvl="1" marL="742950" indent="-285750">
              <a:buSzPct val="100000"/>
              <a:buFont typeface="Arial"/>
              <a:buChar char="•"/>
            </a:pPr>
            <a:r>
              <a:t>Writing capstone projects</a:t>
            </a:r>
          </a:p>
          <a:p>
            <a:pPr lvl="1" marL="742950" indent="-285750">
              <a:buSzPct val="100000"/>
              <a:buFont typeface="Arial"/>
              <a:buChar char="•"/>
            </a:pPr>
          </a:p>
          <a:p>
            <a:pPr/>
            <a:r>
              <a:t>Getting into graduate school</a:t>
            </a:r>
          </a:p>
          <a:p>
            <a:pPr lvl="1" marL="742950" indent="-285750">
              <a:buSzPct val="100000"/>
              <a:buFont typeface="Arial"/>
              <a:buChar char="•"/>
            </a:pPr>
            <a:r>
              <a:t>Writing letters of intent</a:t>
            </a:r>
          </a:p>
          <a:p>
            <a:pPr lvl="1" marL="742950" indent="-285750">
              <a:buSzPct val="100000"/>
              <a:buFont typeface="Arial"/>
              <a:buChar char="•"/>
            </a:pPr>
            <a:r>
              <a:t>Emailing potential advisors</a:t>
            </a:r>
          </a:p>
          <a:p>
            <a:pPr lvl="1" marL="742950" indent="-285750">
              <a:buSzPct val="100000"/>
              <a:buFont typeface="Arial"/>
              <a:buChar char="•"/>
            </a:pPr>
            <a:r>
              <a:t>Writing grant proposals for funding</a:t>
            </a:r>
          </a:p>
          <a:p>
            <a:pPr lvl="1" marL="742950" indent="-285750">
              <a:buSzPct val="100000"/>
              <a:buFont typeface="Arial"/>
              <a:buChar char="•"/>
            </a:pPr>
            <a:r>
              <a:t>Publishing your undergrad research</a:t>
            </a:r>
          </a:p>
          <a:p>
            <a:pPr lvl="1" marL="742950" indent="-285750">
              <a:buSzPct val="100000"/>
              <a:buFont typeface="Arial"/>
              <a:buChar char="•"/>
            </a:pPr>
          </a:p>
          <a:p>
            <a:pPr/>
            <a:r>
              <a:t>Getting out of graduate school</a:t>
            </a:r>
          </a:p>
          <a:p>
            <a:pPr lvl="1" marL="742950" indent="-285750">
              <a:buSzPct val="100000"/>
              <a:buFont typeface="Arial"/>
              <a:buChar char="•"/>
            </a:pPr>
            <a:r>
              <a:t>Writing your thesis</a:t>
            </a:r>
          </a:p>
          <a:p>
            <a:pPr lvl="1" marL="742950" indent="-285750">
              <a:buSzPct val="100000"/>
              <a:buFont typeface="Arial"/>
              <a:buChar char="•"/>
            </a:pPr>
            <a:r>
              <a:t>Presenting your research</a:t>
            </a:r>
          </a:p>
          <a:p>
            <a:pPr lvl="1" marL="742950" indent="-285750">
              <a:buSzPct val="100000"/>
              <a:buFont typeface="Arial"/>
              <a:buChar char="•"/>
            </a:pPr>
            <a:r>
              <a:t>Publishing your research</a:t>
            </a:r>
          </a:p>
          <a:p>
            <a:pPr lvl="1" marL="742950" indent="-285750">
              <a:buSzPct val="100000"/>
              <a:buFont typeface="Arial"/>
              <a:buChar char="•"/>
            </a:pPr>
            <a:r>
              <a:t>Networking with colleagues</a:t>
            </a:r>
          </a:p>
          <a:p>
            <a:pPr lvl="1" marL="742950" indent="-285750">
              <a:buSzPct val="100000"/>
              <a:buFont typeface="Arial"/>
              <a:buChar char="•"/>
            </a:pPr>
          </a:p>
          <a:p>
            <a:pPr marL="285750" indent="-285750">
              <a:buSzPct val="100000"/>
              <a:buFont typeface="Arial"/>
              <a:buChar char="•"/>
            </a:pPr>
          </a:p>
        </p:txBody>
      </p:sp>
      <p:sp>
        <p:nvSpPr>
          <p:cNvPr id="103" name="TextBox 5"/>
          <p:cNvSpPr txBox="1"/>
          <p:nvPr/>
        </p:nvSpPr>
        <p:spPr>
          <a:xfrm>
            <a:off x="4922518" y="2224350"/>
            <a:ext cx="4251961" cy="38382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Getting a job</a:t>
            </a:r>
          </a:p>
          <a:p>
            <a:pPr lvl="1" marL="742950" indent="-285750">
              <a:buSzPct val="100000"/>
              <a:buFont typeface="Arial"/>
              <a:buChar char="•"/>
            </a:pPr>
            <a:r>
              <a:t>Writing applications</a:t>
            </a:r>
          </a:p>
          <a:p>
            <a:pPr lvl="1" marL="742950" indent="-285750">
              <a:buSzPct val="100000"/>
              <a:buFont typeface="Arial"/>
              <a:buChar char="•"/>
            </a:pPr>
            <a:r>
              <a:t>Publishing papers</a:t>
            </a:r>
          </a:p>
          <a:p>
            <a:pPr lvl="1" marL="742950" indent="-285750">
              <a:buSzPct val="100000"/>
              <a:buFont typeface="Arial"/>
              <a:buChar char="•"/>
            </a:pPr>
            <a:r>
              <a:t>Public speaking / interviews</a:t>
            </a:r>
          </a:p>
          <a:p>
            <a:pPr lvl="1" marL="742950" indent="-285750">
              <a:buSzPct val="100000"/>
              <a:buFont typeface="Arial"/>
              <a:buChar char="•"/>
            </a:pPr>
          </a:p>
          <a:p>
            <a:pPr/>
            <a:r>
              <a:t>Being successful at your job</a:t>
            </a:r>
          </a:p>
          <a:p>
            <a:pPr lvl="1" marL="742950" indent="-285750">
              <a:buSzPct val="100000"/>
              <a:buFont typeface="Arial"/>
              <a:buChar char="•"/>
            </a:pPr>
            <a:r>
              <a:t>Securing funding</a:t>
            </a:r>
          </a:p>
          <a:p>
            <a:pPr lvl="1" marL="742950" indent="-285750">
              <a:buSzPct val="100000"/>
              <a:buFont typeface="Arial"/>
              <a:buChar char="•"/>
            </a:pPr>
            <a:r>
              <a:t>Publishing your research</a:t>
            </a:r>
          </a:p>
          <a:p>
            <a:pPr lvl="1" marL="742950" indent="-285750">
              <a:buSzPct val="100000"/>
              <a:buFont typeface="Arial"/>
              <a:buChar char="•"/>
            </a:pPr>
            <a:r>
              <a:t>Presenting your research</a:t>
            </a:r>
          </a:p>
          <a:p>
            <a:pPr lvl="1" marL="742950" indent="-285750">
              <a:buSzPct val="100000"/>
              <a:buFont typeface="Arial"/>
              <a:buChar char="•"/>
            </a:pPr>
            <a:r>
              <a:t>Teaching/Engaging the public</a:t>
            </a:r>
          </a:p>
          <a:p>
            <a:pPr lvl="1" marL="742950" indent="-285750">
              <a:buSzPct val="100000"/>
              <a:buFont typeface="Arial"/>
              <a:buChar char="•"/>
            </a:pPr>
          </a:p>
          <a:p>
            <a:pPr marL="285750" indent="-285750">
              <a:buSzPct val="100000"/>
              <a:buFont typeface="Arial"/>
              <a:buChar char="•"/>
            </a:p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03"/>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el" backwards="0">
                                    <p:tmAbs val="0"/>
                                  </p:iterate>
                                  <p:childTnLst>
                                    <p:set>
                                      <p:cBhvr>
                                        <p:cTn id="9" fill="hold"/>
                                        <p:tgtEl>
                                          <p:spTgt spid="1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2" grpId="2"/>
      <p:bldP build="whole" bldLvl="1" animBg="1" rev="0" advAuto="0" spid="103" grpId="1"/>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5" name="Title 1"/>
          <p:cNvSpPr txBox="1"/>
          <p:nvPr>
            <p:ph type="title"/>
          </p:nvPr>
        </p:nvSpPr>
        <p:spPr>
          <a:xfrm>
            <a:off x="628650" y="365126"/>
            <a:ext cx="7886700" cy="1325563"/>
          </a:xfrm>
          <a:prstGeom prst="rect">
            <a:avLst/>
          </a:prstGeom>
        </p:spPr>
        <p:txBody>
          <a:bodyPr/>
          <a:lstStyle/>
          <a:p>
            <a:pPr/>
            <a:r>
              <a:t>Capstone project</a:t>
            </a:r>
          </a:p>
        </p:txBody>
      </p:sp>
      <p:sp>
        <p:nvSpPr>
          <p:cNvPr id="106" name="Content Placeholder 2"/>
          <p:cNvSpPr txBox="1"/>
          <p:nvPr>
            <p:ph type="body" idx="1"/>
          </p:nvPr>
        </p:nvSpPr>
        <p:spPr>
          <a:xfrm>
            <a:off x="628650" y="1825625"/>
            <a:ext cx="7886700" cy="4351338"/>
          </a:xfrm>
          <a:prstGeom prst="rect">
            <a:avLst/>
          </a:prstGeom>
        </p:spPr>
        <p:txBody>
          <a:bodyPr/>
          <a:lstStyle/>
          <a:p>
            <a:pPr/>
            <a:r>
              <a:t>This course is a prerequisite for your senior capstone project</a:t>
            </a:r>
          </a:p>
          <a:p>
            <a:pPr/>
            <a:r>
              <a:t>What do you know about the capstone?</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8" name="Title 1"/>
          <p:cNvSpPr txBox="1"/>
          <p:nvPr>
            <p:ph type="title"/>
          </p:nvPr>
        </p:nvSpPr>
        <p:spPr>
          <a:xfrm>
            <a:off x="628650" y="365126"/>
            <a:ext cx="7886700" cy="1325563"/>
          </a:xfrm>
          <a:prstGeom prst="rect">
            <a:avLst/>
          </a:prstGeom>
        </p:spPr>
        <p:txBody>
          <a:bodyPr/>
          <a:lstStyle/>
          <a:p>
            <a:pPr/>
            <a:r>
              <a:t>Expectations</a:t>
            </a:r>
          </a:p>
        </p:txBody>
      </p:sp>
      <p:sp>
        <p:nvSpPr>
          <p:cNvPr id="109" name="Content Placeholder 2"/>
          <p:cNvSpPr txBox="1"/>
          <p:nvPr>
            <p:ph type="body" idx="1"/>
          </p:nvPr>
        </p:nvSpPr>
        <p:spPr>
          <a:xfrm>
            <a:off x="628650" y="1825625"/>
            <a:ext cx="7886700" cy="4478922"/>
          </a:xfrm>
          <a:prstGeom prst="rect">
            <a:avLst/>
          </a:prstGeom>
        </p:spPr>
        <p:txBody>
          <a:bodyPr/>
          <a:lstStyle/>
          <a:p>
            <a:pPr marL="0" indent="0">
              <a:lnSpc>
                <a:spcPct val="81000"/>
              </a:lnSpc>
              <a:buSzTx/>
              <a:buNone/>
              <a:defRPr sz="2500">
                <a:solidFill>
                  <a:srgbClr val="C00000"/>
                </a:solidFill>
              </a:defRPr>
            </a:pPr>
            <a:r>
              <a:t>I expect you to:</a:t>
            </a:r>
          </a:p>
          <a:p>
            <a:pPr>
              <a:lnSpc>
                <a:spcPct val="81000"/>
              </a:lnSpc>
              <a:defRPr sz="2500"/>
            </a:pPr>
            <a:r>
              <a:t>Attend each class regularly and on time</a:t>
            </a:r>
          </a:p>
          <a:p>
            <a:pPr>
              <a:lnSpc>
                <a:spcPct val="81000"/>
              </a:lnSpc>
              <a:defRPr sz="2500"/>
            </a:pPr>
            <a:r>
              <a:t>Participate fully to the best of your ability</a:t>
            </a:r>
          </a:p>
          <a:p>
            <a:pPr>
              <a:lnSpc>
                <a:spcPct val="81000"/>
              </a:lnSpc>
              <a:defRPr sz="2500"/>
            </a:pPr>
            <a:r>
              <a:t>Be curious and take initiative to discover new things</a:t>
            </a:r>
          </a:p>
          <a:p>
            <a:pPr>
              <a:lnSpc>
                <a:spcPct val="81000"/>
              </a:lnSpc>
              <a:defRPr sz="2500"/>
            </a:pPr>
            <a:r>
              <a:t>Commit to learning and helping others learn</a:t>
            </a:r>
          </a:p>
          <a:p>
            <a:pPr>
              <a:lnSpc>
                <a:spcPct val="81000"/>
              </a:lnSpc>
              <a:defRPr sz="2500"/>
            </a:pPr>
            <a:r>
              <a:t>Provide constructive feedback to your peers</a:t>
            </a:r>
          </a:p>
          <a:p>
            <a:pPr>
              <a:lnSpc>
                <a:spcPct val="81000"/>
              </a:lnSpc>
              <a:defRPr sz="2500"/>
            </a:pPr>
            <a:r>
              <a:t>Adhere to ethical standards of behavior</a:t>
            </a:r>
          </a:p>
          <a:p>
            <a:pPr>
              <a:lnSpc>
                <a:spcPct val="81000"/>
              </a:lnSpc>
              <a:defRPr sz="2500"/>
            </a:pPr>
          </a:p>
          <a:p>
            <a:pPr marL="0" indent="0">
              <a:lnSpc>
                <a:spcPct val="81000"/>
              </a:lnSpc>
              <a:buSzTx/>
              <a:buNone/>
              <a:defRPr sz="2500"/>
            </a:pPr>
            <a:r>
              <a:t>You will have the best experience in this class if you </a:t>
            </a:r>
            <a:r>
              <a:rPr b="1"/>
              <a:t>adopt a collegial and collaborative attitude!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 name="Title 1"/>
          <p:cNvSpPr txBox="1"/>
          <p:nvPr>
            <p:ph type="title"/>
          </p:nvPr>
        </p:nvSpPr>
        <p:spPr>
          <a:xfrm>
            <a:off x="628650" y="365126"/>
            <a:ext cx="7886700" cy="1325563"/>
          </a:xfrm>
          <a:prstGeom prst="rect">
            <a:avLst/>
          </a:prstGeom>
        </p:spPr>
        <p:txBody>
          <a:bodyPr/>
          <a:lstStyle/>
          <a:p>
            <a:pPr/>
            <a:r>
              <a:t>Expectations</a:t>
            </a:r>
          </a:p>
        </p:txBody>
      </p:sp>
      <p:sp>
        <p:nvSpPr>
          <p:cNvPr id="112" name="Content Placeholder 2"/>
          <p:cNvSpPr txBox="1"/>
          <p:nvPr>
            <p:ph type="body" idx="1"/>
          </p:nvPr>
        </p:nvSpPr>
        <p:spPr>
          <a:xfrm>
            <a:off x="628650" y="1825625"/>
            <a:ext cx="7886700" cy="4478922"/>
          </a:xfrm>
          <a:prstGeom prst="rect">
            <a:avLst/>
          </a:prstGeom>
        </p:spPr>
        <p:txBody>
          <a:bodyPr/>
          <a:lstStyle/>
          <a:p>
            <a:pPr marL="0" indent="0">
              <a:buSzTx/>
              <a:buNone/>
              <a:defRPr>
                <a:solidFill>
                  <a:srgbClr val="C00000"/>
                </a:solidFill>
              </a:defRPr>
            </a:pPr>
            <a:r>
              <a:t>You can expect me to:</a:t>
            </a:r>
          </a:p>
          <a:p>
            <a:pPr>
              <a:defRPr b="1"/>
            </a:pPr>
            <a:r>
              <a:t>Guide you in building your communication skills</a:t>
            </a:r>
          </a:p>
          <a:p>
            <a:pPr/>
            <a:r>
              <a:t>Provide constructive feedback in a timely manner</a:t>
            </a:r>
          </a:p>
          <a:p>
            <a:pPr/>
            <a:r>
              <a:t>Listen to your concerns and respond appropriately</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Title 1"/>
          <p:cNvSpPr txBox="1"/>
          <p:nvPr>
            <p:ph type="title"/>
          </p:nvPr>
        </p:nvSpPr>
        <p:spPr>
          <a:xfrm>
            <a:off x="628650" y="365126"/>
            <a:ext cx="7886700" cy="1325563"/>
          </a:xfrm>
          <a:prstGeom prst="rect">
            <a:avLst/>
          </a:prstGeom>
        </p:spPr>
        <p:txBody>
          <a:bodyPr/>
          <a:lstStyle/>
          <a:p>
            <a:pPr/>
            <a:r>
              <a:t>Grades</a:t>
            </a:r>
          </a:p>
        </p:txBody>
      </p:sp>
      <p:sp>
        <p:nvSpPr>
          <p:cNvPr id="115" name="Content Placeholder 2"/>
          <p:cNvSpPr txBox="1"/>
          <p:nvPr>
            <p:ph type="body" idx="1"/>
          </p:nvPr>
        </p:nvSpPr>
        <p:spPr>
          <a:xfrm>
            <a:off x="628650" y="1825625"/>
            <a:ext cx="7402167" cy="4351338"/>
          </a:xfrm>
          <a:prstGeom prst="rect">
            <a:avLst/>
          </a:prstGeom>
        </p:spPr>
        <p:txBody>
          <a:bodyPr/>
          <a:lstStyle/>
          <a:p>
            <a:pPr marL="514350" indent="-514350">
              <a:buFontTx/>
              <a:buAutoNum type="arabicPeriod" startAt="1"/>
            </a:pPr>
            <a:r>
              <a:t>Participation (20%)</a:t>
            </a:r>
          </a:p>
          <a:p>
            <a:pPr lvl="1" marL="685800" indent="-228600">
              <a:spcBef>
                <a:spcPts val="600"/>
              </a:spcBef>
              <a:defRPr sz="2400"/>
            </a:pPr>
            <a:r>
              <a:t>Attendance in class</a:t>
            </a:r>
          </a:p>
          <a:p>
            <a:pPr lvl="1" marL="685800" indent="-228600">
              <a:spcBef>
                <a:spcPts val="600"/>
              </a:spcBef>
              <a:defRPr sz="2400"/>
            </a:pPr>
            <a:r>
              <a:t>Participating in group discussion and activities</a:t>
            </a:r>
          </a:p>
          <a:p>
            <a:pPr lvl="1" marL="685800" indent="-228600">
              <a:spcBef>
                <a:spcPts val="600"/>
              </a:spcBef>
              <a:defRPr sz="2400"/>
            </a:pPr>
            <a:r>
              <a:t>“Weekly check-ins” – turning in assignments</a:t>
            </a:r>
          </a:p>
          <a:p>
            <a:pPr marL="514350" indent="-514350">
              <a:buFontTx/>
              <a:buAutoNum type="arabicPeriod" startAt="1"/>
            </a:pPr>
            <a:r>
              <a:t>Poster (20%)</a:t>
            </a:r>
          </a:p>
          <a:p>
            <a:pPr marL="514350" indent="-514350">
              <a:buFontTx/>
              <a:buAutoNum type="arabicPeriod" startAt="1"/>
            </a:pPr>
            <a:r>
              <a:t>Oral presentation (20%)</a:t>
            </a:r>
          </a:p>
          <a:p>
            <a:pPr marL="514350" indent="-514350">
              <a:buFontTx/>
              <a:buAutoNum type="arabicPeriod" startAt="1"/>
            </a:pPr>
            <a:r>
              <a:t>Written paper (40%)</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Title 1"/>
          <p:cNvSpPr txBox="1"/>
          <p:nvPr>
            <p:ph type="title"/>
          </p:nvPr>
        </p:nvSpPr>
        <p:spPr>
          <a:xfrm>
            <a:off x="628650" y="365126"/>
            <a:ext cx="7886700" cy="1325563"/>
          </a:xfrm>
          <a:prstGeom prst="rect">
            <a:avLst/>
          </a:prstGeom>
        </p:spPr>
        <p:txBody>
          <a:bodyPr/>
          <a:lstStyle/>
          <a:p>
            <a:pPr/>
            <a:r>
              <a:t>Grades</a:t>
            </a:r>
          </a:p>
        </p:txBody>
      </p:sp>
      <p:sp>
        <p:nvSpPr>
          <p:cNvPr id="118" name="Content Placeholder 2"/>
          <p:cNvSpPr txBox="1"/>
          <p:nvPr>
            <p:ph type="body" idx="1"/>
          </p:nvPr>
        </p:nvSpPr>
        <p:spPr>
          <a:xfrm>
            <a:off x="628650" y="1825625"/>
            <a:ext cx="7886700" cy="4351338"/>
          </a:xfrm>
          <a:prstGeom prst="rect">
            <a:avLst/>
          </a:prstGeom>
        </p:spPr>
        <p:txBody>
          <a:bodyPr/>
          <a:lstStyle/>
          <a:p>
            <a:pPr marL="0" indent="0">
              <a:buSzTx/>
              <a:buNone/>
            </a:pPr>
            <a:r>
              <a:t>Two parallel projects</a:t>
            </a:r>
          </a:p>
          <a:p>
            <a:pPr/>
            <a:r>
              <a:t>Choose a question to answer for a novel project</a:t>
            </a:r>
          </a:p>
          <a:p>
            <a:pPr lvl="1" marL="685800" indent="-228600">
              <a:spcBef>
                <a:spcPts val="500"/>
              </a:spcBef>
              <a:defRPr sz="2400"/>
            </a:pPr>
            <a:r>
              <a:t>Basis for paper and oral presentation</a:t>
            </a:r>
          </a:p>
          <a:p>
            <a:pPr/>
            <a:r>
              <a:t>Choose an existing published paper</a:t>
            </a:r>
          </a:p>
          <a:p>
            <a:pPr lvl="1" marL="685800" indent="-228600">
              <a:spcBef>
                <a:spcPts val="500"/>
              </a:spcBef>
              <a:defRPr sz="2400"/>
            </a:pPr>
            <a:r>
              <a:t>Basis for a poster presentation</a:t>
            </a:r>
          </a:p>
          <a:p>
            <a:pPr/>
            <a:endParaRPr sz="2400"/>
          </a:p>
          <a:p>
            <a:pPr marL="0" indent="0">
              <a:buSzTx/>
              <a:buNone/>
            </a:pPr>
            <a:r>
              <a:t>We will make these choices in the first 2 weeks and stick with them all quarter</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Title 1"/>
          <p:cNvSpPr txBox="1"/>
          <p:nvPr>
            <p:ph type="title"/>
          </p:nvPr>
        </p:nvSpPr>
        <p:spPr>
          <a:xfrm>
            <a:off x="628650" y="365126"/>
            <a:ext cx="7886700" cy="1325563"/>
          </a:xfrm>
          <a:prstGeom prst="rect">
            <a:avLst/>
          </a:prstGeom>
        </p:spPr>
        <p:txBody>
          <a:bodyPr/>
          <a:lstStyle/>
          <a:p>
            <a:pPr/>
            <a:r>
              <a:t>Syllabus</a:t>
            </a:r>
          </a:p>
        </p:txBody>
      </p:sp>
      <p:sp>
        <p:nvSpPr>
          <p:cNvPr id="121" name="Content Placeholder 2"/>
          <p:cNvSpPr txBox="1"/>
          <p:nvPr>
            <p:ph type="body" idx="1"/>
          </p:nvPr>
        </p:nvSpPr>
        <p:spPr>
          <a:xfrm>
            <a:off x="628650" y="1825625"/>
            <a:ext cx="7886700" cy="4351338"/>
          </a:xfrm>
          <a:prstGeom prst="rect">
            <a:avLst/>
          </a:prstGeom>
        </p:spPr>
        <p:txBody>
          <a:bodyPr/>
          <a:lstStyle>
            <a:lvl1pPr marL="0" indent="0">
              <a:buSzTx/>
              <a:buNone/>
            </a:lvl1pPr>
          </a:lstStyle>
          <a:p>
            <a:pPr/>
            <a:r>
              <a:t>See Canvas</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Title 1"/>
          <p:cNvSpPr txBox="1"/>
          <p:nvPr>
            <p:ph type="title"/>
          </p:nvPr>
        </p:nvSpPr>
        <p:spPr>
          <a:xfrm>
            <a:off x="628650" y="365126"/>
            <a:ext cx="7886700" cy="1325563"/>
          </a:xfrm>
          <a:prstGeom prst="rect">
            <a:avLst/>
          </a:prstGeom>
        </p:spPr>
        <p:txBody>
          <a:bodyPr/>
          <a:lstStyle/>
          <a:p>
            <a:pPr/>
            <a:r>
              <a:t>Class structure	</a:t>
            </a:r>
          </a:p>
        </p:txBody>
      </p:sp>
      <p:sp>
        <p:nvSpPr>
          <p:cNvPr id="124" name="Content Placeholder 2"/>
          <p:cNvSpPr txBox="1"/>
          <p:nvPr>
            <p:ph type="body" idx="1"/>
          </p:nvPr>
        </p:nvSpPr>
        <p:spPr>
          <a:xfrm>
            <a:off x="628650" y="1825625"/>
            <a:ext cx="7886700" cy="4351338"/>
          </a:xfrm>
          <a:prstGeom prst="rect">
            <a:avLst/>
          </a:prstGeom>
        </p:spPr>
        <p:txBody>
          <a:bodyPr/>
          <a:lstStyle/>
          <a:p>
            <a:pPr lvl="1" marL="0" indent="457200">
              <a:spcBef>
                <a:spcPts val="500"/>
              </a:spcBef>
              <a:buSzTx/>
              <a:buNone/>
              <a:defRPr sz="2400"/>
            </a:pPr>
            <a:r>
              <a:t>Lecture for part of class</a:t>
            </a:r>
          </a:p>
          <a:p>
            <a:pPr lvl="1" marL="685800" indent="-228600">
              <a:spcBef>
                <a:spcPts val="500"/>
              </a:spcBef>
              <a:defRPr sz="2400"/>
            </a:pPr>
            <a:r>
              <a:t>In class activities</a:t>
            </a:r>
          </a:p>
          <a:p>
            <a:pPr lvl="2" marL="1143000" indent="-228600">
              <a:spcBef>
                <a:spcPts val="500"/>
              </a:spcBef>
              <a:defRPr sz="2000"/>
            </a:pPr>
            <a:r>
              <a:t>Peer review of published papers</a:t>
            </a:r>
          </a:p>
          <a:p>
            <a:pPr lvl="2" marL="1143000" indent="-228600">
              <a:spcBef>
                <a:spcPts val="500"/>
              </a:spcBef>
              <a:defRPr sz="2000"/>
            </a:pPr>
            <a:r>
              <a:t>Peer review of each other’s work</a:t>
            </a:r>
          </a:p>
          <a:p>
            <a:pPr lvl="2" marL="1143000" indent="-228600">
              <a:spcBef>
                <a:spcPts val="500"/>
              </a:spcBef>
              <a:defRPr sz="2000" u="sng"/>
            </a:pPr>
            <a:r>
              <a:t>Writing Sessions</a:t>
            </a:r>
          </a:p>
          <a:p>
            <a:pPr lvl="2" marL="1143000" indent="-228600">
              <a:spcBef>
                <a:spcPts val="500"/>
              </a:spcBef>
              <a:defRPr sz="2000"/>
            </a:pPr>
            <a:r>
              <a:t>Checking in with Luke about your own work </a:t>
            </a:r>
          </a:p>
          <a:p>
            <a:pPr lvl="2" marL="1143000" indent="-228600">
              <a:spcBef>
                <a:spcPts val="500"/>
              </a:spcBef>
              <a:defRPr sz="2000"/>
            </a:pPr>
            <a:r>
              <a:t>I will be looking at your computer screen. Google Docs is a good idea. </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6" name="Title 1"/>
          <p:cNvSpPr txBox="1"/>
          <p:nvPr>
            <p:ph type="title"/>
          </p:nvPr>
        </p:nvSpPr>
        <p:spPr>
          <a:xfrm>
            <a:off x="628650" y="365126"/>
            <a:ext cx="7886700" cy="1325563"/>
          </a:xfrm>
          <a:prstGeom prst="rect">
            <a:avLst/>
          </a:prstGeom>
        </p:spPr>
        <p:txBody>
          <a:bodyPr/>
          <a:lstStyle/>
          <a:p>
            <a:pPr/>
            <a:r>
              <a:t>Assignment for Thursday’s class</a:t>
            </a:r>
          </a:p>
        </p:txBody>
      </p:sp>
      <p:sp>
        <p:nvSpPr>
          <p:cNvPr id="127" name="Content Placeholder 2"/>
          <p:cNvSpPr txBox="1"/>
          <p:nvPr>
            <p:ph type="body" idx="1"/>
          </p:nvPr>
        </p:nvSpPr>
        <p:spPr>
          <a:xfrm>
            <a:off x="628650" y="1825625"/>
            <a:ext cx="7886700" cy="4351338"/>
          </a:xfrm>
          <a:prstGeom prst="rect">
            <a:avLst/>
          </a:prstGeom>
        </p:spPr>
        <p:txBody>
          <a:bodyPr/>
          <a:lstStyle/>
          <a:p>
            <a:pPr marL="509206" indent="-509206" defTabSz="905255">
              <a:lnSpc>
                <a:spcPct val="72000"/>
              </a:lnSpc>
              <a:spcBef>
                <a:spcPts val="900"/>
              </a:spcBef>
              <a:buFontTx/>
              <a:buAutoNum type="arabicPeriod" startAt="1"/>
              <a:defRPr sz="2475"/>
            </a:pPr>
            <a:r>
              <a:t>Formulate a question (or multiple questions) about the aquatic world</a:t>
            </a:r>
          </a:p>
          <a:p>
            <a:pPr lvl="1" marL="678941" indent="-226313" defTabSz="905255">
              <a:lnSpc>
                <a:spcPct val="72000"/>
              </a:lnSpc>
              <a:spcBef>
                <a:spcPts val="400"/>
              </a:spcBef>
              <a:defRPr sz="2178"/>
            </a:pPr>
            <a:r>
              <a:t>Sit in an inspiring place and think- I like listening to lo-fi music and looking at coffee-table books</a:t>
            </a:r>
          </a:p>
          <a:p>
            <a:pPr lvl="1" marL="678941" indent="-226313" defTabSz="905255">
              <a:lnSpc>
                <a:spcPct val="72000"/>
              </a:lnSpc>
              <a:spcBef>
                <a:spcPts val="400"/>
              </a:spcBef>
              <a:defRPr sz="2178"/>
            </a:pPr>
          </a:p>
          <a:p>
            <a:pPr marL="509206" indent="-509206" defTabSz="905255">
              <a:lnSpc>
                <a:spcPct val="72000"/>
              </a:lnSpc>
              <a:spcBef>
                <a:spcPts val="900"/>
              </a:spcBef>
              <a:buFontTx/>
              <a:buAutoNum type="arabicPeriod" startAt="1"/>
              <a:defRPr sz="2475"/>
            </a:pPr>
            <a:r>
              <a:t>Prepare to share your ideas with class next time. We will work together to refine your ideas into a testable question with hypotheses.</a:t>
            </a:r>
          </a:p>
          <a:p>
            <a:pPr marL="509206" indent="-509206" defTabSz="905255">
              <a:lnSpc>
                <a:spcPct val="72000"/>
              </a:lnSpc>
              <a:spcBef>
                <a:spcPts val="900"/>
              </a:spcBef>
              <a:buFontTx/>
              <a:buAutoNum type="arabicPeriod" startAt="1"/>
              <a:defRPr sz="2475"/>
            </a:pPr>
          </a:p>
          <a:p>
            <a:pPr marL="0" indent="0" defTabSz="905255">
              <a:lnSpc>
                <a:spcPct val="72000"/>
              </a:lnSpc>
              <a:spcBef>
                <a:spcPts val="900"/>
              </a:spcBef>
              <a:buSzTx/>
              <a:buNone/>
              <a:defRPr sz="2475"/>
            </a:pPr>
            <a:r>
              <a:t>The choice of question is </a:t>
            </a:r>
            <a:r>
              <a:rPr b="1">
                <a:solidFill>
                  <a:srgbClr val="C00000"/>
                </a:solidFill>
              </a:rPr>
              <a:t>really important</a:t>
            </a:r>
            <a:r>
              <a:t>, because this idea will be the basis for one of two major assignments in the class. Your project will be solidified by the end of next week (with our help!).</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Title 1"/>
          <p:cNvSpPr txBox="1"/>
          <p:nvPr>
            <p:ph type="title"/>
          </p:nvPr>
        </p:nvSpPr>
        <p:spPr>
          <a:xfrm>
            <a:off x="628650" y="365126"/>
            <a:ext cx="7886700" cy="1325563"/>
          </a:xfrm>
          <a:prstGeom prst="rect">
            <a:avLst/>
          </a:prstGeom>
        </p:spPr>
        <p:txBody>
          <a:bodyPr/>
          <a:lstStyle/>
          <a:p>
            <a:pPr/>
            <a:r>
              <a:t>Assignment in-class today</a:t>
            </a:r>
          </a:p>
        </p:txBody>
      </p:sp>
      <p:sp>
        <p:nvSpPr>
          <p:cNvPr id="130" name="Content Placeholder 2"/>
          <p:cNvSpPr txBox="1"/>
          <p:nvPr>
            <p:ph type="body" idx="1"/>
          </p:nvPr>
        </p:nvSpPr>
        <p:spPr>
          <a:xfrm>
            <a:off x="628650" y="1690687"/>
            <a:ext cx="7886700" cy="4802187"/>
          </a:xfrm>
          <a:prstGeom prst="rect">
            <a:avLst/>
          </a:prstGeom>
        </p:spPr>
        <p:txBody>
          <a:bodyPr/>
          <a:lstStyle/>
          <a:p>
            <a:pPr marL="457200" indent="-457200">
              <a:lnSpc>
                <a:spcPct val="81000"/>
              </a:lnSpc>
              <a:buFontTx/>
              <a:buAutoNum type="arabicPeriod" startAt="1"/>
            </a:pPr>
            <a:r>
              <a:t>Write an essay on the topic below. </a:t>
            </a:r>
            <a:r>
              <a:rPr i="1"/>
              <a:t>It will not be graded</a:t>
            </a:r>
            <a:r>
              <a:t>- just to ease you into writing and help me sense where we are all starting from. </a:t>
            </a:r>
            <a:br/>
            <a:br/>
            <a:r>
              <a:t>Write for 20 minutes (or as long as you want) then turn it in through Assignments on Canvas.</a:t>
            </a:r>
          </a:p>
          <a:p>
            <a:pPr marL="0" indent="0">
              <a:lnSpc>
                <a:spcPct val="81000"/>
              </a:lnSpc>
              <a:buSzTx/>
              <a:buNone/>
              <a:defRPr>
                <a:solidFill>
                  <a:srgbClr val="C00000"/>
                </a:solidFill>
              </a:defRPr>
            </a:pPr>
          </a:p>
          <a:p>
            <a:pPr marL="0" indent="0">
              <a:lnSpc>
                <a:spcPct val="81000"/>
              </a:lnSpc>
              <a:buSzTx/>
              <a:buNone/>
              <a:defRPr sz="2400">
                <a:solidFill>
                  <a:srgbClr val="FF0000"/>
                </a:solidFill>
              </a:defRPr>
            </a:pPr>
            <a:r>
              <a:t>Essay Prompt:  We live in a world where Artificial Intelligence text generators like ChatGPT can instantly and fairly accurately generate quality writing.  They can produce things like research papers, cover letters, essays, and research proposals. Is it still important that I learn how to write well?  Why or why not?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
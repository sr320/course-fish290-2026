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56" r:id="rId2"/>
    <p:sldId id="279" r:id="rId3"/>
    <p:sldId id="282" r:id="rId4"/>
    <p:sldId id="281" r:id="rId5"/>
    <p:sldId id="280" r:id="rId6"/>
    <p:sldId id="283" r:id="rId7"/>
    <p:sldId id="284" r:id="rId8"/>
    <p:sldId id="285" r:id="rId9"/>
    <p:sldId id="261" r:id="rId10"/>
    <p:sldId id="286" r:id="rId11"/>
    <p:sldId id="303" r:id="rId12"/>
    <p:sldId id="29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56"/>
    <p:restoredTop sz="94694"/>
  </p:normalViewPr>
  <p:slideViewPr>
    <p:cSldViewPr snapToGrid="0" snapToObjects="1">
      <p:cViewPr varScale="1">
        <p:scale>
          <a:sx n="106" d="100"/>
          <a:sy n="106" d="100"/>
        </p:scale>
        <p:origin x="14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979B29-C76D-4A4B-A9F9-2F8A849A4819}" type="datetimeFigureOut">
              <a:rPr lang="en-US" smtClean="0"/>
              <a:t>4/11/24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7F9D2B-72E3-F741-BCF6-3146C5CCC8F0}" type="slidenum">
              <a:rPr lang="en-US" smtClean="0"/>
              <a:t>‹#›</a:t>
            </a:fld>
            <a:endParaRPr lang="en-US"/>
          </a:p>
        </p:txBody>
      </p:sp>
    </p:spTree>
    <p:extLst>
      <p:ext uri="{BB962C8B-B14F-4D97-AF65-F5344CB8AC3E}">
        <p14:creationId xmlns:p14="http://schemas.microsoft.com/office/powerpoint/2010/main" val="1634292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7F9D2B-72E3-F741-BCF6-3146C5CCC8F0}" type="slidenum">
              <a:rPr lang="en-US" smtClean="0"/>
              <a:t>6</a:t>
            </a:fld>
            <a:endParaRPr lang="en-US"/>
          </a:p>
        </p:txBody>
      </p:sp>
    </p:spTree>
    <p:extLst>
      <p:ext uri="{BB962C8B-B14F-4D97-AF65-F5344CB8AC3E}">
        <p14:creationId xmlns:p14="http://schemas.microsoft.com/office/powerpoint/2010/main" val="3335544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4/11/24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806449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4/11/24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4058477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4CF10A-D855-8646-8EA4-D529A085C181}" type="datetimeFigureOut">
              <a:rPr lang="en-US" smtClean="0"/>
              <a:t>4/11/24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2544071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4CF10A-D855-8646-8EA4-D529A085C181}" type="datetimeFigureOut">
              <a:rPr lang="en-US" smtClean="0"/>
              <a:t>4/11/24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3995079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4CF10A-D855-8646-8EA4-D529A085C181}" type="datetimeFigureOut">
              <a:rPr lang="en-US" smtClean="0"/>
              <a:t>4/11/24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807953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4CF10A-D855-8646-8EA4-D529A085C181}" type="datetimeFigureOut">
              <a:rPr lang="en-US" smtClean="0"/>
              <a:t>4/11/24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3164228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4CF10A-D855-8646-8EA4-D529A085C181}" type="datetimeFigureOut">
              <a:rPr lang="en-US" smtClean="0"/>
              <a:t>4/11/24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946296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4CF10A-D855-8646-8EA4-D529A085C181}" type="datetimeFigureOut">
              <a:rPr lang="en-US" smtClean="0"/>
              <a:t>4/11/24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470333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4CF10A-D855-8646-8EA4-D529A085C181}" type="datetimeFigureOut">
              <a:rPr lang="en-US" smtClean="0"/>
              <a:t>4/11/24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4278938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4/11/24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838820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4/11/24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3585571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4CF10A-D855-8646-8EA4-D529A085C181}" type="datetimeFigureOut">
              <a:rPr lang="en-US" smtClean="0"/>
              <a:t>4/11/24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9169D4-F6D5-5848-9DF9-89818D83AB5B}" type="slidenum">
              <a:rPr lang="en-US" smtClean="0"/>
              <a:t>‹#›</a:t>
            </a:fld>
            <a:endParaRPr lang="en-US"/>
          </a:p>
        </p:txBody>
      </p:sp>
    </p:spTree>
    <p:extLst>
      <p:ext uri="{BB962C8B-B14F-4D97-AF65-F5344CB8AC3E}">
        <p14:creationId xmlns:p14="http://schemas.microsoft.com/office/powerpoint/2010/main" val="32378950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38F12-F311-C14D-A015-38A5E9739897}"/>
              </a:ext>
            </a:extLst>
          </p:cNvPr>
          <p:cNvSpPr>
            <a:spLocks noGrp="1"/>
          </p:cNvSpPr>
          <p:nvPr>
            <p:ph type="ctrTitle"/>
          </p:nvPr>
        </p:nvSpPr>
        <p:spPr/>
        <p:txBody>
          <a:bodyPr/>
          <a:lstStyle/>
          <a:p>
            <a:r>
              <a:rPr lang="en-US" dirty="0">
                <a:solidFill>
                  <a:srgbClr val="C00000"/>
                </a:solidFill>
              </a:rPr>
              <a:t>The role of the Introduction</a:t>
            </a:r>
          </a:p>
        </p:txBody>
      </p:sp>
      <p:sp>
        <p:nvSpPr>
          <p:cNvPr id="3" name="Subtitle 2">
            <a:extLst>
              <a:ext uri="{FF2B5EF4-FFF2-40B4-BE49-F238E27FC236}">
                <a16:creationId xmlns:a16="http://schemas.microsoft.com/office/drawing/2014/main" id="{20F786A6-0F23-D54A-BF35-6DF3DADBABB5}"/>
              </a:ext>
            </a:extLst>
          </p:cNvPr>
          <p:cNvSpPr>
            <a:spLocks noGrp="1"/>
          </p:cNvSpPr>
          <p:nvPr>
            <p:ph type="subTitle" idx="1"/>
          </p:nvPr>
        </p:nvSpPr>
        <p:spPr>
          <a:xfrm>
            <a:off x="1143000" y="4129238"/>
            <a:ext cx="6858000" cy="1128562"/>
          </a:xfrm>
        </p:spPr>
        <p:txBody>
          <a:bodyPr/>
          <a:lstStyle/>
          <a:p>
            <a:r>
              <a:rPr lang="en-US" dirty="0"/>
              <a:t>Fish 290</a:t>
            </a:r>
          </a:p>
          <a:p>
            <a:r>
              <a:rPr lang="en-US" dirty="0"/>
              <a:t>Thursday April 11</a:t>
            </a:r>
          </a:p>
        </p:txBody>
      </p:sp>
    </p:spTree>
    <p:extLst>
      <p:ext uri="{BB962C8B-B14F-4D97-AF65-F5344CB8AC3E}">
        <p14:creationId xmlns:p14="http://schemas.microsoft.com/office/powerpoint/2010/main" val="2750055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0"/>
            <a:ext cx="8229600" cy="1143000"/>
          </a:xfrm>
        </p:spPr>
        <p:txBody>
          <a:bodyPr/>
          <a:lstStyle/>
          <a:p>
            <a:r>
              <a:rPr lang="en-US" sz="3600" b="1" dirty="0"/>
              <a:t>From Tuesday: </a:t>
            </a:r>
            <a:r>
              <a:rPr lang="en-US" sz="3600" b="1" dirty="0">
                <a:solidFill>
                  <a:srgbClr val="C00000"/>
                </a:solidFill>
              </a:rPr>
              <a:t>The Introduction</a:t>
            </a:r>
          </a:p>
        </p:txBody>
      </p:sp>
      <p:sp>
        <p:nvSpPr>
          <p:cNvPr id="7171" name="Rectangle 3"/>
          <p:cNvSpPr>
            <a:spLocks noGrp="1" noChangeArrowheads="1"/>
          </p:cNvSpPr>
          <p:nvPr>
            <p:ph type="body" idx="1"/>
          </p:nvPr>
        </p:nvSpPr>
        <p:spPr>
          <a:xfrm>
            <a:off x="457200" y="1219200"/>
            <a:ext cx="8229600" cy="4525963"/>
          </a:xfrm>
        </p:spPr>
        <p:txBody>
          <a:bodyPr/>
          <a:lstStyle/>
          <a:p>
            <a:r>
              <a:rPr lang="en-US" b="1" dirty="0">
                <a:solidFill>
                  <a:srgbClr val="C00000"/>
                </a:solidFill>
              </a:rPr>
              <a:t>Begin with the broadest scope </a:t>
            </a:r>
            <a:r>
              <a:rPr lang="en-US" dirty="0"/>
              <a:t>and get progressively narrower, leading steadily to the </a:t>
            </a:r>
            <a:r>
              <a:rPr lang="en-US" b="1" dirty="0">
                <a:solidFill>
                  <a:srgbClr val="C00000"/>
                </a:solidFill>
              </a:rPr>
              <a:t>statement of objectives</a:t>
            </a:r>
            <a:r>
              <a:rPr lang="en-US" dirty="0"/>
              <a:t> in the last paragraph of the Introduction.</a:t>
            </a:r>
          </a:p>
        </p:txBody>
      </p:sp>
      <p:sp>
        <p:nvSpPr>
          <p:cNvPr id="7172" name="Rectangle 4"/>
          <p:cNvSpPr>
            <a:spLocks noChangeArrowheads="1"/>
          </p:cNvSpPr>
          <p:nvPr/>
        </p:nvSpPr>
        <p:spPr bwMode="auto">
          <a:xfrm>
            <a:off x="2133600" y="3256724"/>
            <a:ext cx="4495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 name="Rectangle 5"/>
          <p:cNvSpPr>
            <a:spLocks noChangeArrowheads="1"/>
          </p:cNvSpPr>
          <p:nvPr/>
        </p:nvSpPr>
        <p:spPr bwMode="auto">
          <a:xfrm>
            <a:off x="2590800" y="4018724"/>
            <a:ext cx="35814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4" name="Rectangle 6"/>
          <p:cNvSpPr>
            <a:spLocks noChangeArrowheads="1"/>
          </p:cNvSpPr>
          <p:nvPr/>
        </p:nvSpPr>
        <p:spPr bwMode="auto">
          <a:xfrm>
            <a:off x="3124200" y="4780724"/>
            <a:ext cx="2590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5" name="Rectangle 7"/>
          <p:cNvSpPr>
            <a:spLocks noChangeArrowheads="1"/>
          </p:cNvSpPr>
          <p:nvPr/>
        </p:nvSpPr>
        <p:spPr bwMode="auto">
          <a:xfrm>
            <a:off x="3505200" y="5542724"/>
            <a:ext cx="1828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6" name="Line 8"/>
          <p:cNvSpPr>
            <a:spLocks noChangeShapeType="1"/>
          </p:cNvSpPr>
          <p:nvPr/>
        </p:nvSpPr>
        <p:spPr bwMode="auto">
          <a:xfrm>
            <a:off x="3505200" y="34853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7" name="Line 9"/>
          <p:cNvSpPr>
            <a:spLocks noChangeShapeType="1"/>
          </p:cNvSpPr>
          <p:nvPr/>
        </p:nvSpPr>
        <p:spPr bwMode="auto">
          <a:xfrm>
            <a:off x="4038600" y="42473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8" name="Line 10"/>
          <p:cNvSpPr>
            <a:spLocks noChangeShapeType="1"/>
          </p:cNvSpPr>
          <p:nvPr/>
        </p:nvSpPr>
        <p:spPr bwMode="auto">
          <a:xfrm>
            <a:off x="4419600" y="50855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412477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0"/>
            <a:ext cx="8229600" cy="1143000"/>
          </a:xfrm>
        </p:spPr>
        <p:txBody>
          <a:bodyPr/>
          <a:lstStyle/>
          <a:p>
            <a:r>
              <a:rPr lang="en-US" sz="3600" b="1" dirty="0"/>
              <a:t>From Tuesday: </a:t>
            </a:r>
            <a:r>
              <a:rPr lang="en-US" sz="3600" b="1" dirty="0">
                <a:solidFill>
                  <a:srgbClr val="C00000"/>
                </a:solidFill>
              </a:rPr>
              <a:t>The Introduction</a:t>
            </a:r>
          </a:p>
        </p:txBody>
      </p:sp>
      <p:sp>
        <p:nvSpPr>
          <p:cNvPr id="7171" name="Rectangle 3"/>
          <p:cNvSpPr>
            <a:spLocks noGrp="1" noChangeArrowheads="1"/>
          </p:cNvSpPr>
          <p:nvPr>
            <p:ph type="body" idx="1"/>
          </p:nvPr>
        </p:nvSpPr>
        <p:spPr>
          <a:xfrm>
            <a:off x="457200" y="1219200"/>
            <a:ext cx="8229600" cy="4525963"/>
          </a:xfrm>
        </p:spPr>
        <p:txBody>
          <a:bodyPr/>
          <a:lstStyle/>
          <a:p>
            <a:r>
              <a:rPr lang="en-US" b="1" dirty="0"/>
              <a:t>An Introduction </a:t>
            </a:r>
            <a:r>
              <a:rPr lang="en-US" b="1" dirty="0">
                <a:solidFill>
                  <a:srgbClr val="C00000"/>
                </a:solidFill>
              </a:rPr>
              <a:t>DON’T: </a:t>
            </a:r>
            <a:r>
              <a:rPr lang="en-US" dirty="0"/>
              <a:t>give a literature review on everything you know about the subject, then tack on your project goals at the end.</a:t>
            </a:r>
          </a:p>
        </p:txBody>
      </p:sp>
      <p:sp>
        <p:nvSpPr>
          <p:cNvPr id="7172" name="Rectangle 4"/>
          <p:cNvSpPr>
            <a:spLocks noChangeArrowheads="1"/>
          </p:cNvSpPr>
          <p:nvPr/>
        </p:nvSpPr>
        <p:spPr bwMode="auto">
          <a:xfrm>
            <a:off x="2133600" y="3208598"/>
            <a:ext cx="4495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 name="Rectangle 5"/>
          <p:cNvSpPr>
            <a:spLocks noChangeArrowheads="1"/>
          </p:cNvSpPr>
          <p:nvPr/>
        </p:nvSpPr>
        <p:spPr bwMode="auto">
          <a:xfrm>
            <a:off x="2133600" y="3970598"/>
            <a:ext cx="4495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4" name="Rectangle 6"/>
          <p:cNvSpPr>
            <a:spLocks noChangeArrowheads="1"/>
          </p:cNvSpPr>
          <p:nvPr/>
        </p:nvSpPr>
        <p:spPr bwMode="auto">
          <a:xfrm>
            <a:off x="2133600" y="4732598"/>
            <a:ext cx="4495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5" name="Rectangle 7"/>
          <p:cNvSpPr>
            <a:spLocks noChangeArrowheads="1"/>
          </p:cNvSpPr>
          <p:nvPr/>
        </p:nvSpPr>
        <p:spPr bwMode="auto">
          <a:xfrm>
            <a:off x="3505200" y="5494598"/>
            <a:ext cx="1828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8" name="Line 10"/>
          <p:cNvSpPr>
            <a:spLocks noChangeShapeType="1"/>
          </p:cNvSpPr>
          <p:nvPr/>
        </p:nvSpPr>
        <p:spPr bwMode="auto">
          <a:xfrm>
            <a:off x="4417996" y="5274644"/>
            <a:ext cx="1604" cy="753354"/>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Box 1">
            <a:extLst>
              <a:ext uri="{FF2B5EF4-FFF2-40B4-BE49-F238E27FC236}">
                <a16:creationId xmlns:a16="http://schemas.microsoft.com/office/drawing/2014/main" id="{9376D749-3D93-A146-9E5A-799A9E087776}"/>
              </a:ext>
            </a:extLst>
          </p:cNvPr>
          <p:cNvSpPr txBox="1"/>
          <p:nvPr/>
        </p:nvSpPr>
        <p:spPr>
          <a:xfrm>
            <a:off x="3906253" y="3065182"/>
            <a:ext cx="2030931" cy="2554545"/>
          </a:xfrm>
          <a:prstGeom prst="rect">
            <a:avLst/>
          </a:prstGeom>
          <a:noFill/>
        </p:spPr>
        <p:txBody>
          <a:bodyPr wrap="square" rtlCol="0">
            <a:spAutoFit/>
          </a:bodyPr>
          <a:lstStyle/>
          <a:p>
            <a:r>
              <a:rPr lang="en-US" sz="16000" dirty="0"/>
              <a:t>?</a:t>
            </a:r>
          </a:p>
        </p:txBody>
      </p:sp>
    </p:spTree>
    <p:extLst>
      <p:ext uri="{BB962C8B-B14F-4D97-AF65-F5344CB8AC3E}">
        <p14:creationId xmlns:p14="http://schemas.microsoft.com/office/powerpoint/2010/main" val="3751555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0"/>
            <a:ext cx="8229600" cy="1143000"/>
          </a:xfrm>
        </p:spPr>
        <p:txBody>
          <a:bodyPr/>
          <a:lstStyle/>
          <a:p>
            <a:r>
              <a:rPr lang="en-US" sz="3600" b="1" dirty="0"/>
              <a:t>From Tuesday: </a:t>
            </a:r>
            <a:r>
              <a:rPr lang="en-US" sz="3600" b="1" dirty="0">
                <a:solidFill>
                  <a:srgbClr val="C00000"/>
                </a:solidFill>
              </a:rPr>
              <a:t>The Introduction</a:t>
            </a:r>
          </a:p>
        </p:txBody>
      </p:sp>
      <p:sp>
        <p:nvSpPr>
          <p:cNvPr id="7171" name="Rectangle 3"/>
          <p:cNvSpPr>
            <a:spLocks noGrp="1" noChangeArrowheads="1"/>
          </p:cNvSpPr>
          <p:nvPr>
            <p:ph type="body" idx="1"/>
          </p:nvPr>
        </p:nvSpPr>
        <p:spPr>
          <a:xfrm>
            <a:off x="457200" y="1219200"/>
            <a:ext cx="8229600" cy="4525963"/>
          </a:xfrm>
        </p:spPr>
        <p:txBody>
          <a:bodyPr/>
          <a:lstStyle/>
          <a:p>
            <a:r>
              <a:rPr lang="en-US" b="1" dirty="0">
                <a:solidFill>
                  <a:srgbClr val="C00000"/>
                </a:solidFill>
              </a:rPr>
              <a:t>Begin with the broadest scope </a:t>
            </a:r>
            <a:r>
              <a:rPr lang="en-US" dirty="0"/>
              <a:t>and get progressively narrower, leading steadily to the </a:t>
            </a:r>
            <a:r>
              <a:rPr lang="en-US" b="1" dirty="0">
                <a:solidFill>
                  <a:srgbClr val="C00000"/>
                </a:solidFill>
              </a:rPr>
              <a:t>statement of objectives</a:t>
            </a:r>
            <a:r>
              <a:rPr lang="en-US" dirty="0"/>
              <a:t> in the last paragraph of the Introduction.</a:t>
            </a:r>
          </a:p>
        </p:txBody>
      </p:sp>
      <p:sp>
        <p:nvSpPr>
          <p:cNvPr id="7172" name="Rectangle 4"/>
          <p:cNvSpPr>
            <a:spLocks noChangeArrowheads="1"/>
          </p:cNvSpPr>
          <p:nvPr/>
        </p:nvSpPr>
        <p:spPr bwMode="auto">
          <a:xfrm>
            <a:off x="3827648" y="3256724"/>
            <a:ext cx="4495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 name="Rectangle 5"/>
          <p:cNvSpPr>
            <a:spLocks noChangeArrowheads="1"/>
          </p:cNvSpPr>
          <p:nvPr/>
        </p:nvSpPr>
        <p:spPr bwMode="auto">
          <a:xfrm>
            <a:off x="4284848" y="4018724"/>
            <a:ext cx="35814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4" name="Rectangle 6"/>
          <p:cNvSpPr>
            <a:spLocks noChangeArrowheads="1"/>
          </p:cNvSpPr>
          <p:nvPr/>
        </p:nvSpPr>
        <p:spPr bwMode="auto">
          <a:xfrm>
            <a:off x="4818248" y="4780724"/>
            <a:ext cx="2590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5" name="Rectangle 7"/>
          <p:cNvSpPr>
            <a:spLocks noChangeArrowheads="1"/>
          </p:cNvSpPr>
          <p:nvPr/>
        </p:nvSpPr>
        <p:spPr bwMode="auto">
          <a:xfrm>
            <a:off x="5199248" y="5542724"/>
            <a:ext cx="1828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6" name="Line 8"/>
          <p:cNvSpPr>
            <a:spLocks noChangeShapeType="1"/>
          </p:cNvSpPr>
          <p:nvPr/>
        </p:nvSpPr>
        <p:spPr bwMode="auto">
          <a:xfrm>
            <a:off x="5199248" y="34853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7" name="Line 9"/>
          <p:cNvSpPr>
            <a:spLocks noChangeShapeType="1"/>
          </p:cNvSpPr>
          <p:nvPr/>
        </p:nvSpPr>
        <p:spPr bwMode="auto">
          <a:xfrm>
            <a:off x="5732648" y="42473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8" name="Line 10"/>
          <p:cNvSpPr>
            <a:spLocks noChangeShapeType="1"/>
          </p:cNvSpPr>
          <p:nvPr/>
        </p:nvSpPr>
        <p:spPr bwMode="auto">
          <a:xfrm>
            <a:off x="6113648" y="50855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TextBox 10">
            <a:extLst>
              <a:ext uri="{FF2B5EF4-FFF2-40B4-BE49-F238E27FC236}">
                <a16:creationId xmlns:a16="http://schemas.microsoft.com/office/drawing/2014/main" id="{52D85BDC-D27F-D94F-A28A-F39E14DBE3B6}"/>
              </a:ext>
            </a:extLst>
          </p:cNvPr>
          <p:cNvSpPr txBox="1"/>
          <p:nvPr/>
        </p:nvSpPr>
        <p:spPr>
          <a:xfrm>
            <a:off x="521379" y="4826771"/>
            <a:ext cx="3447435" cy="1508105"/>
          </a:xfrm>
          <a:prstGeom prst="rect">
            <a:avLst/>
          </a:prstGeom>
          <a:noFill/>
        </p:spPr>
        <p:txBody>
          <a:bodyPr wrap="square" rtlCol="0">
            <a:spAutoFit/>
          </a:bodyPr>
          <a:lstStyle/>
          <a:p>
            <a:r>
              <a:rPr lang="en-US" sz="3200" b="1" dirty="0"/>
              <a:t>Today: </a:t>
            </a:r>
            <a:r>
              <a:rPr lang="en-US" sz="3000" dirty="0"/>
              <a:t>how do we go from broad to narrow gracefully?</a:t>
            </a:r>
          </a:p>
        </p:txBody>
      </p:sp>
    </p:spTree>
    <p:extLst>
      <p:ext uri="{BB962C8B-B14F-4D97-AF65-F5344CB8AC3E}">
        <p14:creationId xmlns:p14="http://schemas.microsoft.com/office/powerpoint/2010/main" val="2251337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D4677-2E8B-0143-ADEE-4959854235A3}"/>
              </a:ext>
            </a:extLst>
          </p:cNvPr>
          <p:cNvSpPr>
            <a:spLocks noGrp="1"/>
          </p:cNvSpPr>
          <p:nvPr>
            <p:ph type="title"/>
          </p:nvPr>
        </p:nvSpPr>
        <p:spPr/>
        <p:txBody>
          <a:bodyPr/>
          <a:lstStyle/>
          <a:p>
            <a:r>
              <a:rPr lang="en-US" dirty="0"/>
              <a:t>The Introduction: 3 components</a:t>
            </a:r>
          </a:p>
        </p:txBody>
      </p:sp>
      <p:sp>
        <p:nvSpPr>
          <p:cNvPr id="3" name="Content Placeholder 2">
            <a:extLst>
              <a:ext uri="{FF2B5EF4-FFF2-40B4-BE49-F238E27FC236}">
                <a16:creationId xmlns:a16="http://schemas.microsoft.com/office/drawing/2014/main" id="{5A1A6BFD-76AC-7E4E-94BE-A201C0364B20}"/>
              </a:ext>
            </a:extLst>
          </p:cNvPr>
          <p:cNvSpPr>
            <a:spLocks noGrp="1"/>
          </p:cNvSpPr>
          <p:nvPr>
            <p:ph idx="1"/>
          </p:nvPr>
        </p:nvSpPr>
        <p:spPr>
          <a:xfrm>
            <a:off x="628650" y="1896177"/>
            <a:ext cx="7886700" cy="4280786"/>
          </a:xfrm>
        </p:spPr>
        <p:txBody>
          <a:bodyPr>
            <a:normAutofit/>
          </a:bodyPr>
          <a:lstStyle/>
          <a:p>
            <a:pPr marL="514350" indent="-514350">
              <a:buFont typeface="+mj-lt"/>
              <a:buAutoNum type="arabicPeriod"/>
            </a:pPr>
            <a:r>
              <a:rPr lang="en-US" sz="3200" dirty="0"/>
              <a:t>Define a research territory</a:t>
            </a:r>
          </a:p>
          <a:p>
            <a:pPr marL="514350" indent="-514350">
              <a:buFont typeface="+mj-lt"/>
              <a:buAutoNum type="arabicPeriod"/>
            </a:pPr>
            <a:r>
              <a:rPr lang="en-US" sz="3200" dirty="0"/>
              <a:t>Establish a niche within that territory</a:t>
            </a:r>
          </a:p>
          <a:p>
            <a:pPr marL="514350" indent="-514350">
              <a:buFont typeface="+mj-lt"/>
              <a:buAutoNum type="arabicPeriod"/>
            </a:pPr>
            <a:r>
              <a:rPr lang="en-US" sz="3200" dirty="0"/>
              <a:t>Occupy that niche</a:t>
            </a:r>
          </a:p>
        </p:txBody>
      </p:sp>
    </p:spTree>
    <p:extLst>
      <p:ext uri="{BB962C8B-B14F-4D97-AF65-F5344CB8AC3E}">
        <p14:creationId xmlns:p14="http://schemas.microsoft.com/office/powerpoint/2010/main" val="236761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D4677-2E8B-0143-ADEE-4959854235A3}"/>
              </a:ext>
            </a:extLst>
          </p:cNvPr>
          <p:cNvSpPr>
            <a:spLocks noGrp="1"/>
          </p:cNvSpPr>
          <p:nvPr>
            <p:ph type="title"/>
          </p:nvPr>
        </p:nvSpPr>
        <p:spPr/>
        <p:txBody>
          <a:bodyPr/>
          <a:lstStyle/>
          <a:p>
            <a:r>
              <a:rPr lang="en-US" dirty="0"/>
              <a:t>The Introduction: 3 components</a:t>
            </a:r>
          </a:p>
        </p:txBody>
      </p:sp>
      <p:sp>
        <p:nvSpPr>
          <p:cNvPr id="3" name="Content Placeholder 2">
            <a:extLst>
              <a:ext uri="{FF2B5EF4-FFF2-40B4-BE49-F238E27FC236}">
                <a16:creationId xmlns:a16="http://schemas.microsoft.com/office/drawing/2014/main" id="{5A1A6BFD-76AC-7E4E-94BE-A201C0364B20}"/>
              </a:ext>
            </a:extLst>
          </p:cNvPr>
          <p:cNvSpPr>
            <a:spLocks noGrp="1"/>
          </p:cNvSpPr>
          <p:nvPr>
            <p:ph idx="1"/>
          </p:nvPr>
        </p:nvSpPr>
        <p:spPr>
          <a:xfrm>
            <a:off x="628650" y="1771048"/>
            <a:ext cx="7886700" cy="4831883"/>
          </a:xfrm>
        </p:spPr>
        <p:txBody>
          <a:bodyPr>
            <a:normAutofit fontScale="85000" lnSpcReduction="20000"/>
          </a:bodyPr>
          <a:lstStyle/>
          <a:p>
            <a:pPr marL="514350" indent="-514350">
              <a:buFont typeface="+mj-lt"/>
              <a:buAutoNum type="arabicPeriod"/>
            </a:pPr>
            <a:r>
              <a:rPr lang="en-US" sz="3200" b="1" dirty="0"/>
              <a:t>Define a research territory</a:t>
            </a:r>
          </a:p>
          <a:p>
            <a:pPr lvl="1"/>
            <a:r>
              <a:rPr lang="en-US" sz="2600" dirty="0"/>
              <a:t>Begins with the first sentence of your Introduction!</a:t>
            </a:r>
          </a:p>
          <a:p>
            <a:pPr lvl="1"/>
            <a:endParaRPr lang="en-US" sz="2600" dirty="0"/>
          </a:p>
          <a:p>
            <a:pPr lvl="1"/>
            <a:r>
              <a:rPr lang="en-US" sz="2600" dirty="0"/>
              <a:t>The role of the first paragraph (</a:t>
            </a:r>
            <a:r>
              <a:rPr lang="en-US" sz="2600" i="1" dirty="0"/>
              <a:t>one of the 5 pivotal paragraphs</a:t>
            </a:r>
            <a:r>
              <a:rPr lang="en-US" sz="2600" dirty="0"/>
              <a:t>) is to </a:t>
            </a:r>
            <a:r>
              <a:rPr lang="en-US" sz="2600" b="1" dirty="0">
                <a:solidFill>
                  <a:srgbClr val="C00000"/>
                </a:solidFill>
              </a:rPr>
              <a:t>set boundaries </a:t>
            </a:r>
            <a:r>
              <a:rPr lang="en-US" sz="2600" dirty="0"/>
              <a:t>on the broadest scope of your paper.</a:t>
            </a:r>
          </a:p>
          <a:p>
            <a:pPr lvl="1"/>
            <a:endParaRPr lang="en-US" sz="2600" dirty="0"/>
          </a:p>
          <a:p>
            <a:pPr lvl="1"/>
            <a:r>
              <a:rPr lang="en-US" sz="2600" dirty="0"/>
              <a:t>These boundaries depend on your journal and intended audience.</a:t>
            </a:r>
          </a:p>
          <a:p>
            <a:pPr lvl="2"/>
            <a:r>
              <a:rPr lang="en-US" sz="2200" dirty="0"/>
              <a:t>If we are writing for a fisheries journal, we may start with fish or management concepts or themes</a:t>
            </a:r>
          </a:p>
          <a:p>
            <a:pPr lvl="2"/>
            <a:r>
              <a:rPr lang="en-US" sz="2200" dirty="0"/>
              <a:t>If we are writing for an ecology/behavior/evolution journal we may start with general themes across taxa before narrowing down to fish</a:t>
            </a:r>
          </a:p>
          <a:p>
            <a:pPr marL="914400" lvl="2" indent="0">
              <a:buNone/>
            </a:pPr>
            <a:endParaRPr lang="en-US" sz="2600" dirty="0"/>
          </a:p>
          <a:p>
            <a:pPr lvl="1"/>
            <a:r>
              <a:rPr lang="en-US" sz="2600" dirty="0"/>
              <a:t>By doing this, you can later explain why your study is important in this broad context</a:t>
            </a:r>
          </a:p>
        </p:txBody>
      </p:sp>
    </p:spTree>
    <p:extLst>
      <p:ext uri="{BB962C8B-B14F-4D97-AF65-F5344CB8AC3E}">
        <p14:creationId xmlns:p14="http://schemas.microsoft.com/office/powerpoint/2010/main" val="3661706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D4677-2E8B-0143-ADEE-4959854235A3}"/>
              </a:ext>
            </a:extLst>
          </p:cNvPr>
          <p:cNvSpPr>
            <a:spLocks noGrp="1"/>
          </p:cNvSpPr>
          <p:nvPr>
            <p:ph type="title"/>
          </p:nvPr>
        </p:nvSpPr>
        <p:spPr/>
        <p:txBody>
          <a:bodyPr/>
          <a:lstStyle/>
          <a:p>
            <a:r>
              <a:rPr lang="en-US" dirty="0"/>
              <a:t>The Introduction: 3 components</a:t>
            </a:r>
          </a:p>
        </p:txBody>
      </p:sp>
      <p:sp>
        <p:nvSpPr>
          <p:cNvPr id="3" name="Content Placeholder 2">
            <a:extLst>
              <a:ext uri="{FF2B5EF4-FFF2-40B4-BE49-F238E27FC236}">
                <a16:creationId xmlns:a16="http://schemas.microsoft.com/office/drawing/2014/main" id="{5A1A6BFD-76AC-7E4E-94BE-A201C0364B20}"/>
              </a:ext>
            </a:extLst>
          </p:cNvPr>
          <p:cNvSpPr>
            <a:spLocks noGrp="1"/>
          </p:cNvSpPr>
          <p:nvPr>
            <p:ph idx="1"/>
          </p:nvPr>
        </p:nvSpPr>
        <p:spPr>
          <a:xfrm>
            <a:off x="628650" y="1690689"/>
            <a:ext cx="7886700" cy="4899259"/>
          </a:xfrm>
        </p:spPr>
        <p:txBody>
          <a:bodyPr>
            <a:normAutofit fontScale="92500" lnSpcReduction="20000"/>
          </a:bodyPr>
          <a:lstStyle/>
          <a:p>
            <a:pPr marL="0" indent="0">
              <a:buNone/>
            </a:pPr>
            <a:r>
              <a:rPr lang="en-US" sz="3200" b="1" dirty="0"/>
              <a:t>2.  Establish a niche within the research territory</a:t>
            </a:r>
          </a:p>
          <a:p>
            <a:pPr lvl="1"/>
            <a:r>
              <a:rPr lang="en-US" sz="2600" dirty="0"/>
              <a:t>Next you </a:t>
            </a:r>
            <a:r>
              <a:rPr lang="en-US" sz="2600" b="1" dirty="0">
                <a:solidFill>
                  <a:srgbClr val="C00000"/>
                </a:solidFill>
              </a:rPr>
              <a:t>point out a gap </a:t>
            </a:r>
            <a:r>
              <a:rPr lang="en-US" sz="2600" dirty="0"/>
              <a:t>in the research territory you established in the first paragraph or two</a:t>
            </a:r>
          </a:p>
          <a:p>
            <a:pPr lvl="1"/>
            <a:endParaRPr lang="en-US" sz="2600" dirty="0"/>
          </a:p>
          <a:p>
            <a:pPr lvl="1"/>
            <a:r>
              <a:rPr lang="en-US" sz="2600" dirty="0"/>
              <a:t>Why are we doing this study? To learn something we didn’t know before!</a:t>
            </a:r>
          </a:p>
          <a:p>
            <a:pPr lvl="1"/>
            <a:endParaRPr lang="en-US" sz="2600" dirty="0"/>
          </a:p>
          <a:p>
            <a:pPr lvl="1"/>
            <a:r>
              <a:rPr lang="en-US" sz="2600" dirty="0"/>
              <a:t>Lots of things have never been done but aren’t worth doing because of time or money. Lots of things aren’t known but aren’t important to know either. You need to explain </a:t>
            </a:r>
            <a:r>
              <a:rPr lang="en-US" sz="2600" b="1" dirty="0">
                <a:solidFill>
                  <a:srgbClr val="C00000"/>
                </a:solidFill>
              </a:rPr>
              <a:t>why it is important for our broader understanding </a:t>
            </a:r>
            <a:r>
              <a:rPr lang="en-US" sz="2600" dirty="0"/>
              <a:t>to fill this gap you’ve identified.</a:t>
            </a:r>
          </a:p>
          <a:p>
            <a:pPr lvl="1"/>
            <a:endParaRPr lang="en-US" sz="2600" dirty="0"/>
          </a:p>
          <a:p>
            <a:pPr lvl="1"/>
            <a:r>
              <a:rPr lang="en-US" sz="2600" dirty="0"/>
              <a:t>The best examples of this build tension or captures the reader’s curiosity, makes the reader </a:t>
            </a:r>
            <a:r>
              <a:rPr lang="en-US" sz="2600" i="1" dirty="0"/>
              <a:t>want </a:t>
            </a:r>
            <a:r>
              <a:rPr lang="en-US" sz="2600" dirty="0"/>
              <a:t>to know the solution</a:t>
            </a:r>
          </a:p>
        </p:txBody>
      </p:sp>
    </p:spTree>
    <p:extLst>
      <p:ext uri="{BB962C8B-B14F-4D97-AF65-F5344CB8AC3E}">
        <p14:creationId xmlns:p14="http://schemas.microsoft.com/office/powerpoint/2010/main" val="2888196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D4677-2E8B-0143-ADEE-4959854235A3}"/>
              </a:ext>
            </a:extLst>
          </p:cNvPr>
          <p:cNvSpPr>
            <a:spLocks noGrp="1"/>
          </p:cNvSpPr>
          <p:nvPr>
            <p:ph type="title"/>
          </p:nvPr>
        </p:nvSpPr>
        <p:spPr/>
        <p:txBody>
          <a:bodyPr/>
          <a:lstStyle/>
          <a:p>
            <a:r>
              <a:rPr lang="en-US" dirty="0"/>
              <a:t>The Introduction: 3 components</a:t>
            </a:r>
          </a:p>
        </p:txBody>
      </p:sp>
      <p:sp>
        <p:nvSpPr>
          <p:cNvPr id="3" name="Content Placeholder 2">
            <a:extLst>
              <a:ext uri="{FF2B5EF4-FFF2-40B4-BE49-F238E27FC236}">
                <a16:creationId xmlns:a16="http://schemas.microsoft.com/office/drawing/2014/main" id="{5A1A6BFD-76AC-7E4E-94BE-A201C0364B20}"/>
              </a:ext>
            </a:extLst>
          </p:cNvPr>
          <p:cNvSpPr>
            <a:spLocks noGrp="1"/>
          </p:cNvSpPr>
          <p:nvPr>
            <p:ph idx="1"/>
          </p:nvPr>
        </p:nvSpPr>
        <p:spPr>
          <a:xfrm>
            <a:off x="628650" y="1690689"/>
            <a:ext cx="7886700" cy="4899259"/>
          </a:xfrm>
        </p:spPr>
        <p:txBody>
          <a:bodyPr>
            <a:normAutofit/>
          </a:bodyPr>
          <a:lstStyle/>
          <a:p>
            <a:pPr marL="0" indent="0">
              <a:buNone/>
            </a:pPr>
            <a:r>
              <a:rPr lang="en-US" sz="3200" b="1" dirty="0"/>
              <a:t>3.  Occupy the niche</a:t>
            </a:r>
          </a:p>
          <a:p>
            <a:pPr lvl="1"/>
            <a:r>
              <a:rPr lang="en-US" dirty="0"/>
              <a:t>Here is where you provide the solution the reader is waiting for!</a:t>
            </a:r>
          </a:p>
          <a:p>
            <a:pPr lvl="1"/>
            <a:r>
              <a:rPr lang="en-US" dirty="0"/>
              <a:t>Define your research question, hypotheses, and overall approach. The more specific, the better.</a:t>
            </a:r>
          </a:p>
          <a:p>
            <a:pPr lvl="1"/>
            <a:r>
              <a:rPr lang="en-US" dirty="0"/>
              <a:t>Also need to explain </a:t>
            </a:r>
            <a:r>
              <a:rPr lang="en-US" b="1" dirty="0">
                <a:solidFill>
                  <a:srgbClr val="C00000"/>
                </a:solidFill>
              </a:rPr>
              <a:t>why your study fills the gap you just identified. </a:t>
            </a:r>
            <a:r>
              <a:rPr lang="en-US" dirty="0"/>
              <a:t>It may be obvious to you but help the reader out! (we’re tired)</a:t>
            </a:r>
          </a:p>
          <a:p>
            <a:pPr lvl="1"/>
            <a:r>
              <a:rPr lang="en-US" dirty="0"/>
              <a:t>Sometimes the last sentence of the Introduction gives the key finding.</a:t>
            </a:r>
          </a:p>
          <a:p>
            <a:pPr lvl="1"/>
            <a:r>
              <a:rPr lang="en-US" dirty="0"/>
              <a:t>Includes</a:t>
            </a:r>
            <a:r>
              <a:rPr lang="en-US" i="1" dirty="0"/>
              <a:t> one of the five pivotal paragraphs! </a:t>
            </a:r>
            <a:r>
              <a:rPr lang="en-US" dirty="0"/>
              <a:t>Why so important?</a:t>
            </a:r>
          </a:p>
          <a:p>
            <a:pPr lvl="1"/>
            <a:endParaRPr lang="en-US" sz="2800" i="1" dirty="0"/>
          </a:p>
          <a:p>
            <a:pPr lvl="1"/>
            <a:endParaRPr lang="en-US" sz="2800" i="1" dirty="0"/>
          </a:p>
          <a:p>
            <a:pPr lvl="1"/>
            <a:endParaRPr lang="en-US" sz="2800" dirty="0"/>
          </a:p>
        </p:txBody>
      </p:sp>
    </p:spTree>
    <p:extLst>
      <p:ext uri="{BB962C8B-B14F-4D97-AF65-F5344CB8AC3E}">
        <p14:creationId xmlns:p14="http://schemas.microsoft.com/office/powerpoint/2010/main" val="1655354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762000"/>
            <a:ext cx="7620000" cy="5724644"/>
          </a:xfrm>
          <a:prstGeom prst="rect">
            <a:avLst/>
          </a:prstGeom>
          <a:noFill/>
        </p:spPr>
        <p:txBody>
          <a:bodyPr wrap="square" rtlCol="0">
            <a:spAutoFit/>
          </a:bodyPr>
          <a:lstStyle/>
          <a:p>
            <a:pPr algn="ctr"/>
            <a:r>
              <a:rPr lang="en-US" sz="3600" dirty="0">
                <a:solidFill>
                  <a:srgbClr val="C00000"/>
                </a:solidFill>
              </a:rPr>
              <a:t>A note on structure within paragraphs</a:t>
            </a:r>
          </a:p>
          <a:p>
            <a:endParaRPr lang="en-US" dirty="0"/>
          </a:p>
          <a:p>
            <a:r>
              <a:rPr lang="en-US" sz="2400" dirty="0"/>
              <a:t>Each paragraph should have a </a:t>
            </a:r>
            <a:r>
              <a:rPr lang="en-US" sz="2400" b="1" dirty="0">
                <a:solidFill>
                  <a:srgbClr val="FF0000"/>
                </a:solidFill>
              </a:rPr>
              <a:t>topic sentence</a:t>
            </a:r>
            <a:r>
              <a:rPr lang="en-US" sz="2400" dirty="0"/>
              <a:t>, a series of sentences in logical order, and a </a:t>
            </a:r>
            <a:r>
              <a:rPr lang="en-US" sz="2400" b="1" dirty="0">
                <a:solidFill>
                  <a:srgbClr val="FF0000"/>
                </a:solidFill>
              </a:rPr>
              <a:t>concluding sentence</a:t>
            </a:r>
            <a:r>
              <a:rPr lang="en-US" sz="2400" b="1" dirty="0"/>
              <a:t> </a:t>
            </a:r>
            <a:r>
              <a:rPr lang="en-US" sz="2400" dirty="0"/>
              <a:t>that provides a link to the next paragraph.</a:t>
            </a:r>
          </a:p>
          <a:p>
            <a:endParaRPr lang="en-US" sz="2400" dirty="0"/>
          </a:p>
          <a:p>
            <a:r>
              <a:rPr lang="en-US" sz="2400" dirty="0"/>
              <a:t>Awkward transitions within a paragraph, and between paragraphs are a sure way to lose readers. Remember you want them to follow you from broad to narrow without losing them along the way!</a:t>
            </a:r>
          </a:p>
          <a:p>
            <a:endParaRPr lang="en-US" sz="2400" dirty="0"/>
          </a:p>
          <a:p>
            <a:r>
              <a:rPr lang="en-US" sz="2400" dirty="0"/>
              <a:t>Middle sentences should </a:t>
            </a:r>
            <a:r>
              <a:rPr lang="en-US" sz="2400" b="1" dirty="0">
                <a:solidFill>
                  <a:srgbClr val="FF0000"/>
                </a:solidFill>
              </a:rPr>
              <a:t>provide references </a:t>
            </a:r>
            <a:r>
              <a:rPr lang="en-US" sz="2400" dirty="0"/>
              <a:t>that support and/or elaborate on the topic sentence.  If you find yourself deviating from the topic sentence, either rewrite it or </a:t>
            </a:r>
            <a:r>
              <a:rPr lang="en-US" sz="2400" b="1" dirty="0">
                <a:solidFill>
                  <a:srgbClr val="FF0000"/>
                </a:solidFill>
              </a:rPr>
              <a:t>start a new paragraph</a:t>
            </a:r>
            <a:r>
              <a:rPr lang="en-US" sz="2400" dirty="0"/>
              <a:t>. </a:t>
            </a:r>
          </a:p>
        </p:txBody>
      </p:sp>
    </p:spTree>
    <p:extLst>
      <p:ext uri="{BB962C8B-B14F-4D97-AF65-F5344CB8AC3E}">
        <p14:creationId xmlns:p14="http://schemas.microsoft.com/office/powerpoint/2010/main" val="1199399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5326E-44C5-9044-9832-043747042866}"/>
              </a:ext>
            </a:extLst>
          </p:cNvPr>
          <p:cNvSpPr txBox="1">
            <a:spLocks/>
          </p:cNvSpPr>
          <p:nvPr/>
        </p:nvSpPr>
        <p:spPr>
          <a:xfrm>
            <a:off x="559468" y="30496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Class/Homework Activity #1</a:t>
            </a:r>
          </a:p>
        </p:txBody>
      </p:sp>
      <p:sp>
        <p:nvSpPr>
          <p:cNvPr id="3" name="TextBox 2">
            <a:extLst>
              <a:ext uri="{FF2B5EF4-FFF2-40B4-BE49-F238E27FC236}">
                <a16:creationId xmlns:a16="http://schemas.microsoft.com/office/drawing/2014/main" id="{20082284-B455-2049-BDCD-855837811DF2}"/>
              </a:ext>
            </a:extLst>
          </p:cNvPr>
          <p:cNvSpPr txBox="1"/>
          <p:nvPr/>
        </p:nvSpPr>
        <p:spPr>
          <a:xfrm>
            <a:off x="628650" y="1490007"/>
            <a:ext cx="7620000" cy="4524315"/>
          </a:xfrm>
          <a:prstGeom prst="rect">
            <a:avLst/>
          </a:prstGeom>
          <a:noFill/>
        </p:spPr>
        <p:txBody>
          <a:bodyPr wrap="square" rtlCol="0">
            <a:spAutoFit/>
          </a:bodyPr>
          <a:lstStyle/>
          <a:p>
            <a:r>
              <a:rPr lang="en-US" sz="2400" dirty="0"/>
              <a:t>1. Reverse Outline Activity</a:t>
            </a:r>
          </a:p>
          <a:p>
            <a:r>
              <a:rPr lang="en-US" sz="2400" dirty="0"/>
              <a:t>	- One popular and help way to write a paper is to start with an outline, where you use bullet points, numbers, or ideas to block out the structure of a paper. </a:t>
            </a:r>
          </a:p>
          <a:p>
            <a:endParaRPr lang="en-US" sz="2400" dirty="0"/>
          </a:p>
          <a:p>
            <a:r>
              <a:rPr lang="en-US" sz="2400" dirty="0"/>
              <a:t>	- This method works in reverse if you want to critical analyze the structure of a scientific paper</a:t>
            </a:r>
          </a:p>
          <a:p>
            <a:endParaRPr lang="en-US" sz="2400" dirty="0"/>
          </a:p>
          <a:p>
            <a:r>
              <a:rPr lang="en-US" sz="2400" dirty="0"/>
              <a:t>	- Read the introduction of the paper by </a:t>
            </a:r>
            <a:r>
              <a:rPr lang="en-US" sz="2400" dirty="0" err="1"/>
              <a:t>Orejas</a:t>
            </a:r>
            <a:r>
              <a:rPr lang="en-US" sz="2400" dirty="0"/>
              <a:t> et al. (2016) and </a:t>
            </a:r>
            <a:r>
              <a:rPr lang="en-US" sz="2400" b="1" u="sng" dirty="0">
                <a:solidFill>
                  <a:srgbClr val="FF0000"/>
                </a:solidFill>
              </a:rPr>
              <a:t>create an outline</a:t>
            </a:r>
            <a:r>
              <a:rPr lang="en-US" sz="2400" dirty="0"/>
              <a:t> showing their thought process and how they guide us through the background introduction towards their objectives. </a:t>
            </a:r>
          </a:p>
        </p:txBody>
      </p:sp>
    </p:spTree>
    <p:extLst>
      <p:ext uri="{BB962C8B-B14F-4D97-AF65-F5344CB8AC3E}">
        <p14:creationId xmlns:p14="http://schemas.microsoft.com/office/powerpoint/2010/main" val="114586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5326E-44C5-9044-9832-043747042866}"/>
              </a:ext>
            </a:extLst>
          </p:cNvPr>
          <p:cNvSpPr txBox="1">
            <a:spLocks/>
          </p:cNvSpPr>
          <p:nvPr/>
        </p:nvSpPr>
        <p:spPr>
          <a:xfrm>
            <a:off x="628650" y="365126"/>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Class/Homework activity #2</a:t>
            </a:r>
          </a:p>
        </p:txBody>
      </p:sp>
      <p:sp>
        <p:nvSpPr>
          <p:cNvPr id="3" name="TextBox 2">
            <a:extLst>
              <a:ext uri="{FF2B5EF4-FFF2-40B4-BE49-F238E27FC236}">
                <a16:creationId xmlns:a16="http://schemas.microsoft.com/office/drawing/2014/main" id="{20082284-B455-2049-BDCD-855837811DF2}"/>
              </a:ext>
            </a:extLst>
          </p:cNvPr>
          <p:cNvSpPr txBox="1"/>
          <p:nvPr/>
        </p:nvSpPr>
        <p:spPr>
          <a:xfrm>
            <a:off x="628650" y="1490007"/>
            <a:ext cx="7620000" cy="1938992"/>
          </a:xfrm>
          <a:prstGeom prst="rect">
            <a:avLst/>
          </a:prstGeom>
          <a:noFill/>
        </p:spPr>
        <p:txBody>
          <a:bodyPr wrap="square" rtlCol="0">
            <a:spAutoFit/>
          </a:bodyPr>
          <a:lstStyle/>
          <a:p>
            <a:r>
              <a:rPr lang="en-US" sz="2400" dirty="0"/>
              <a:t>1. Read the “mock introductions to edit” document which contains intros written by students from past papers</a:t>
            </a:r>
          </a:p>
          <a:p>
            <a:endParaRPr lang="en-US" sz="2400" dirty="0"/>
          </a:p>
          <a:p>
            <a:r>
              <a:rPr lang="en-US" sz="2400" dirty="0"/>
              <a:t>2. Read the instructions in that document, edit it, save it, and submit it on canvas. </a:t>
            </a:r>
          </a:p>
        </p:txBody>
      </p:sp>
    </p:spTree>
    <p:extLst>
      <p:ext uri="{BB962C8B-B14F-4D97-AF65-F5344CB8AC3E}">
        <p14:creationId xmlns:p14="http://schemas.microsoft.com/office/powerpoint/2010/main" val="3859515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D7C97-12DF-0F43-8C56-E490DF4B819A}"/>
              </a:ext>
            </a:extLst>
          </p:cNvPr>
          <p:cNvSpPr txBox="1">
            <a:spLocks/>
          </p:cNvSpPr>
          <p:nvPr/>
        </p:nvSpPr>
        <p:spPr>
          <a:xfrm>
            <a:off x="356667" y="19778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Class/Homework activity #3</a:t>
            </a:r>
          </a:p>
        </p:txBody>
      </p:sp>
      <p:sp>
        <p:nvSpPr>
          <p:cNvPr id="3" name="TextBox 2">
            <a:extLst>
              <a:ext uri="{FF2B5EF4-FFF2-40B4-BE49-F238E27FC236}">
                <a16:creationId xmlns:a16="http://schemas.microsoft.com/office/drawing/2014/main" id="{A4353B79-E402-E64D-9A61-3BAB4C343872}"/>
              </a:ext>
            </a:extLst>
          </p:cNvPr>
          <p:cNvSpPr txBox="1"/>
          <p:nvPr/>
        </p:nvSpPr>
        <p:spPr>
          <a:xfrm>
            <a:off x="356667" y="1027907"/>
            <a:ext cx="8787333" cy="5632311"/>
          </a:xfrm>
          <a:prstGeom prst="rect">
            <a:avLst/>
          </a:prstGeom>
          <a:noFill/>
        </p:spPr>
        <p:txBody>
          <a:bodyPr wrap="square" rtlCol="0">
            <a:spAutoFit/>
          </a:bodyPr>
          <a:lstStyle/>
          <a:p>
            <a:r>
              <a:rPr lang="en-US" sz="2400" dirty="0"/>
              <a:t>Find data for your paper hypothesis. </a:t>
            </a:r>
          </a:p>
          <a:p>
            <a:endParaRPr lang="en-US" sz="2400" dirty="0"/>
          </a:p>
          <a:p>
            <a:r>
              <a:rPr lang="en-US" sz="2400" dirty="0"/>
              <a:t>What kind of data do I need?</a:t>
            </a:r>
          </a:p>
          <a:p>
            <a:r>
              <a:rPr lang="en-US" sz="2400" dirty="0"/>
              <a:t>	- Control</a:t>
            </a:r>
          </a:p>
          <a:p>
            <a:r>
              <a:rPr lang="en-US" sz="2400" dirty="0"/>
              <a:t>	- </a:t>
            </a:r>
            <a:r>
              <a:rPr lang="en-US" sz="2400" b="1" dirty="0"/>
              <a:t>Variables</a:t>
            </a:r>
            <a:r>
              <a:rPr lang="en-US" sz="2400" dirty="0"/>
              <a:t> (independent, dependent)</a:t>
            </a:r>
          </a:p>
          <a:p>
            <a:r>
              <a:rPr lang="en-US" sz="2400" dirty="0"/>
              <a:t>	- Independent </a:t>
            </a:r>
            <a:r>
              <a:rPr lang="en-US" sz="2400" b="1" dirty="0"/>
              <a:t>replicates</a:t>
            </a:r>
          </a:p>
          <a:p>
            <a:endParaRPr lang="en-US" sz="2400" dirty="0"/>
          </a:p>
          <a:p>
            <a:r>
              <a:rPr lang="en-US" sz="2400" dirty="0"/>
              <a:t>Where can I find data?</a:t>
            </a:r>
          </a:p>
          <a:p>
            <a:r>
              <a:rPr lang="en-US" sz="2400" dirty="0"/>
              <a:t>	- Google search</a:t>
            </a:r>
          </a:p>
          <a:p>
            <a:r>
              <a:rPr lang="en-US" sz="2400" dirty="0"/>
              <a:t>	- Gather from several published studies that measure the same type of variables</a:t>
            </a:r>
          </a:p>
          <a:p>
            <a:r>
              <a:rPr lang="en-US" sz="2400" dirty="0"/>
              <a:t>	- UW libraries data resource page</a:t>
            </a:r>
          </a:p>
          <a:p>
            <a:r>
              <a:rPr lang="en-US" sz="2400" dirty="0"/>
              <a:t>	- Ask Luke if you are really coming up empty (please do serious searching first, but I’m happy to help!)</a:t>
            </a:r>
          </a:p>
          <a:p>
            <a:endParaRPr lang="en-US" sz="2400" dirty="0"/>
          </a:p>
        </p:txBody>
      </p:sp>
    </p:spTree>
    <p:extLst>
      <p:ext uri="{BB962C8B-B14F-4D97-AF65-F5344CB8AC3E}">
        <p14:creationId xmlns:p14="http://schemas.microsoft.com/office/powerpoint/2010/main" val="426786550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3340</TotalTime>
  <Words>806</Words>
  <Application>Microsoft Macintosh PowerPoint</Application>
  <PresentationFormat>On-screen Show (4:3)</PresentationFormat>
  <Paragraphs>75</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The role of the Introduction</vt:lpstr>
      <vt:lpstr>From Tuesday: The Introduction</vt:lpstr>
      <vt:lpstr>From Tuesday: The Introduction</vt:lpstr>
      <vt:lpstr>From Tuesday: The Introduction</vt:lpstr>
      <vt:lpstr>The Introduction: 3 components</vt:lpstr>
      <vt:lpstr>The Introduction: 3 components</vt:lpstr>
      <vt:lpstr>The Introduction: 3 components</vt:lpstr>
      <vt:lpstr>The Introduction: 3 components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Miller, Elizabeth Christina - (ecmiller)</dc:creator>
  <cp:lastModifiedBy>Luke M. Tornabene</cp:lastModifiedBy>
  <cp:revision>25</cp:revision>
  <dcterms:created xsi:type="dcterms:W3CDTF">2020-01-21T02:32:40Z</dcterms:created>
  <dcterms:modified xsi:type="dcterms:W3CDTF">2024-04-11T15:54:49Z</dcterms:modified>
</cp:coreProperties>
</file>
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1122362"/>
            <a:ext cx="77724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143000" y="3602037"/>
            <a:ext cx="6858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623887" y="1709739"/>
            <a:ext cx="7886701"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623887" y="4589464"/>
            <a:ext cx="7886701" cy="1500188"/>
          </a:xfrm>
          <a:prstGeom prst="rect">
            <a:avLst/>
          </a:prstGeom>
        </p:spPr>
        <p:txBody>
          <a:bodyPr/>
          <a:lstStyle>
            <a:lvl1pPr marL="0" indent="0">
              <a:buSzTx/>
              <a:buFontTx/>
              <a:buNone/>
              <a:defRPr sz="2400"/>
            </a:lvl1pPr>
            <a:lvl2pPr marL="0" indent="457200">
              <a:buSzTx/>
              <a:buFontTx/>
              <a:buNone/>
              <a:defRPr sz="2400"/>
            </a:lvl2pPr>
            <a:lvl3pPr marL="0" indent="914400">
              <a:buSzTx/>
              <a:buFontTx/>
              <a:buNone/>
              <a:defRPr sz="2400"/>
            </a:lvl3pPr>
            <a:lvl4pPr marL="0" indent="1371600">
              <a:buSzTx/>
              <a:buFontTx/>
              <a:buNone/>
              <a:defRPr sz="2400"/>
            </a:lvl4pPr>
            <a:lvl5pPr marL="0" indent="1828800">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628650" y="1825625"/>
            <a:ext cx="38862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629841" y="365125"/>
            <a:ext cx="7886701" cy="1325564"/>
          </a:xfrm>
          <a:prstGeom prst="rect">
            <a:avLst/>
          </a:prstGeom>
        </p:spPr>
        <p:txBody>
          <a:bodyPr/>
          <a:lstStyle/>
          <a:p>
            <a:pPr/>
            <a:r>
              <a:t>Title Text</a:t>
            </a:r>
          </a:p>
        </p:txBody>
      </p:sp>
      <p:sp>
        <p:nvSpPr>
          <p:cNvPr id="48" name="Body Level One…"/>
          <p:cNvSpPr txBox="1"/>
          <p:nvPr>
            <p:ph type="body" sz="quarter" idx="1"/>
          </p:nvPr>
        </p:nvSpPr>
        <p:spPr>
          <a:xfrm>
            <a:off x="629841" y="1681163"/>
            <a:ext cx="3868341"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29150" y="1681163"/>
            <a:ext cx="3887392" cy="823913"/>
          </a:xfrm>
          <a:prstGeom prst="rect">
            <a:avLst/>
          </a:prstGeom>
        </p:spPr>
        <p:txBody>
          <a:bodyPr anchor="b"/>
          <a:lstStyle/>
          <a:p>
            <a:pPr marL="0" indent="0">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629841" y="457200"/>
            <a:ext cx="2949178" cy="16002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3887391" y="987425"/>
            <a:ext cx="4629151" cy="4873626"/>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629840" y="2057400"/>
            <a:ext cx="2949180" cy="3811588"/>
          </a:xfrm>
          <a:prstGeom prst="rect">
            <a:avLst/>
          </a:prstGeom>
        </p:spPr>
        <p:txBody>
          <a:bodyPr/>
          <a:lstStyle/>
          <a:p>
            <a:pPr marL="0" indent="0">
              <a:buSzTx/>
              <a:buFontTx/>
              <a:buNone/>
              <a:defRPr sz="16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629841" y="457200"/>
            <a:ext cx="2949178" cy="16002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3887391" y="987425"/>
            <a:ext cx="4629151" cy="4873626"/>
          </a:xfrm>
          <a:prstGeom prst="rect">
            <a:avLst/>
          </a:prstGeom>
        </p:spPr>
        <p:txBody>
          <a:bodyPr lIns="91439" rIns="91439">
            <a:noAutofit/>
          </a:bodyPr>
          <a:lstStyle/>
          <a:p>
            <a:pPr/>
          </a:p>
        </p:txBody>
      </p:sp>
      <p:sp>
        <p:nvSpPr>
          <p:cNvPr id="84" name="Body Level One…"/>
          <p:cNvSpPr txBox="1"/>
          <p:nvPr>
            <p:ph type="body" sz="quarter" idx="1"/>
          </p:nvPr>
        </p:nvSpPr>
        <p:spPr>
          <a:xfrm>
            <a:off x="629841" y="2057400"/>
            <a:ext cx="2949178"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28650" y="365125"/>
            <a:ext cx="7886700" cy="1325564"/>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628650" y="1825625"/>
            <a:ext cx="78867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256726"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itle 1"/>
          <p:cNvSpPr txBox="1"/>
          <p:nvPr>
            <p:ph type="ctrTitle"/>
          </p:nvPr>
        </p:nvSpPr>
        <p:spPr>
          <a:xfrm>
            <a:off x="685800" y="1817120"/>
            <a:ext cx="7772400" cy="1128563"/>
          </a:xfrm>
          <a:prstGeom prst="rect">
            <a:avLst/>
          </a:prstGeom>
        </p:spPr>
        <p:txBody>
          <a:bodyPr/>
          <a:lstStyle>
            <a:lvl1pPr>
              <a:defRPr>
                <a:solidFill>
                  <a:srgbClr val="C00000"/>
                </a:solidFill>
              </a:defRPr>
            </a:lvl1pPr>
          </a:lstStyle>
          <a:p>
            <a:pPr/>
            <a:r>
              <a:t>The Methods section</a:t>
            </a:r>
          </a:p>
        </p:txBody>
      </p:sp>
      <p:sp>
        <p:nvSpPr>
          <p:cNvPr id="95" name="Subtitle 2"/>
          <p:cNvSpPr txBox="1"/>
          <p:nvPr>
            <p:ph type="subTitle" sz="quarter" idx="1"/>
          </p:nvPr>
        </p:nvSpPr>
        <p:spPr>
          <a:xfrm>
            <a:off x="1143000" y="4129237"/>
            <a:ext cx="6858000" cy="1128563"/>
          </a:xfrm>
          <a:prstGeom prst="rect">
            <a:avLst/>
          </a:prstGeom>
        </p:spPr>
        <p:txBody>
          <a:bodyPr/>
          <a:lstStyle/>
          <a:p>
            <a:pPr/>
            <a:r>
              <a:t>Fish 290</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Content Placeholder 2"/>
          <p:cNvSpPr txBox="1"/>
          <p:nvPr>
            <p:ph type="body" idx="1"/>
          </p:nvPr>
        </p:nvSpPr>
        <p:spPr>
          <a:xfrm>
            <a:off x="457200" y="2239766"/>
            <a:ext cx="8229600" cy="3996312"/>
          </a:xfrm>
          <a:prstGeom prst="rect">
            <a:avLst/>
          </a:prstGeom>
        </p:spPr>
        <p:txBody>
          <a:bodyPr/>
          <a:lstStyle>
            <a:lvl1pPr marL="0" indent="0">
              <a:buSzTx/>
              <a:buNone/>
              <a:defRPr sz="3200"/>
            </a:lvl1pPr>
          </a:lstStyle>
          <a:p>
            <a:pPr/>
            <a:r>
              <a:t>The Methods section is the most straightforward section of the body to write.</a:t>
            </a:r>
          </a:p>
        </p:txBody>
      </p:sp>
      <p:sp>
        <p:nvSpPr>
          <p:cNvPr id="98" name="Rectangle 2"/>
          <p:cNvSpPr txBox="1"/>
          <p:nvPr>
            <p:ph type="title"/>
          </p:nvPr>
        </p:nvSpPr>
        <p:spPr>
          <a:xfrm>
            <a:off x="457200" y="109537"/>
            <a:ext cx="8229600" cy="1143001"/>
          </a:xfrm>
          <a:prstGeom prst="rect">
            <a:avLst/>
          </a:prstGeom>
        </p:spPr>
        <p:txBody>
          <a:bodyPr/>
          <a:lstStyle>
            <a:lvl1pPr>
              <a:defRPr sz="3600">
                <a:solidFill>
                  <a:srgbClr val="C00000"/>
                </a:solidFill>
              </a:defRPr>
            </a:lvl1pPr>
          </a:lstStyle>
          <a:p>
            <a:pPr/>
            <a:r>
              <a:t>The Methods (or Materials and Methods)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Content Placeholder 2"/>
          <p:cNvSpPr txBox="1"/>
          <p:nvPr>
            <p:ph type="body" idx="1"/>
          </p:nvPr>
        </p:nvSpPr>
        <p:spPr>
          <a:xfrm>
            <a:off x="380171" y="1616902"/>
            <a:ext cx="8229601" cy="4793838"/>
          </a:xfrm>
          <a:prstGeom prst="rect">
            <a:avLst/>
          </a:prstGeom>
        </p:spPr>
        <p:txBody>
          <a:bodyPr/>
          <a:lstStyle/>
          <a:p>
            <a:pPr marL="0" indent="0" defTabSz="859536">
              <a:lnSpc>
                <a:spcPct val="72000"/>
              </a:lnSpc>
              <a:spcBef>
                <a:spcPts val="900"/>
              </a:spcBef>
              <a:buSzTx/>
              <a:buNone/>
              <a:defRPr b="1" sz="2820"/>
            </a:pPr>
            <a:r>
              <a:t>Functions of the M&amp;M:</a:t>
            </a:r>
            <a:endParaRPr sz="2162"/>
          </a:p>
          <a:p>
            <a:pPr lvl="1" marL="859536" indent="-429768" defTabSz="859536">
              <a:lnSpc>
                <a:spcPct val="72000"/>
              </a:lnSpc>
              <a:spcBef>
                <a:spcPts val="400"/>
              </a:spcBef>
              <a:buFontTx/>
              <a:buAutoNum type="arabicPeriod" startAt="1"/>
              <a:defRPr sz="2820"/>
            </a:pPr>
            <a:r>
              <a:t>Allow replication of the study in the future</a:t>
            </a:r>
            <a:endParaRPr sz="1879"/>
          </a:p>
          <a:p>
            <a:pPr lvl="2" marL="1074419" indent="-214884" defTabSz="859536">
              <a:lnSpc>
                <a:spcPct val="72000"/>
              </a:lnSpc>
              <a:spcBef>
                <a:spcPts val="400"/>
              </a:spcBef>
              <a:defRPr sz="2632"/>
            </a:pPr>
            <a:r>
              <a:t>However, most readers are not interested in replicating your study. What </a:t>
            </a:r>
            <a:r>
              <a:rPr i="1"/>
              <a:t>are</a:t>
            </a:r>
            <a:r>
              <a:t> they interested in?</a:t>
            </a:r>
            <a:endParaRPr sz="1598"/>
          </a:p>
          <a:p>
            <a:pPr lvl="1" marL="859536" indent="-429768" defTabSz="859536">
              <a:lnSpc>
                <a:spcPct val="72000"/>
              </a:lnSpc>
              <a:spcBef>
                <a:spcPts val="400"/>
              </a:spcBef>
              <a:buFontTx/>
              <a:buAutoNum type="arabicPeriod" startAt="1"/>
              <a:defRPr sz="3384"/>
            </a:pPr>
          </a:p>
          <a:p>
            <a:pPr lvl="1" marL="859536" indent="-429768" defTabSz="859536">
              <a:lnSpc>
                <a:spcPct val="72000"/>
              </a:lnSpc>
              <a:spcBef>
                <a:spcPts val="400"/>
              </a:spcBef>
              <a:buFontTx/>
              <a:buAutoNum type="arabicPeriod" startAt="2"/>
              <a:defRPr sz="2820"/>
            </a:pPr>
            <a:r>
              <a:t>Give readers the information they need to contextualize the Results. Each result should have a set of methods attached to it.</a:t>
            </a:r>
            <a:endParaRPr sz="1879"/>
          </a:p>
          <a:p>
            <a:pPr lvl="1" marL="859536" indent="-429768" defTabSz="859536">
              <a:lnSpc>
                <a:spcPct val="72000"/>
              </a:lnSpc>
              <a:spcBef>
                <a:spcPts val="400"/>
              </a:spcBef>
              <a:buFontTx/>
              <a:buAutoNum type="arabicPeriod" startAt="2"/>
              <a:defRPr sz="3384"/>
            </a:pPr>
          </a:p>
          <a:p>
            <a:pPr lvl="1" marL="859536" indent="-429768" defTabSz="859536">
              <a:lnSpc>
                <a:spcPct val="72000"/>
              </a:lnSpc>
              <a:spcBef>
                <a:spcPts val="400"/>
              </a:spcBef>
              <a:buFontTx/>
              <a:buAutoNum type="arabicPeriod" startAt="3"/>
              <a:defRPr sz="2820"/>
            </a:pPr>
            <a:r>
              <a:t>Allow readers to judge the credibility of the science. Is your approach defensible and appropriate to answer the question?</a:t>
            </a:r>
          </a:p>
        </p:txBody>
      </p:sp>
      <p:sp>
        <p:nvSpPr>
          <p:cNvPr id="101" name="Rectangle 2"/>
          <p:cNvSpPr txBox="1"/>
          <p:nvPr>
            <p:ph type="title"/>
          </p:nvPr>
        </p:nvSpPr>
        <p:spPr>
          <a:xfrm>
            <a:off x="457200" y="109537"/>
            <a:ext cx="8229600" cy="1143001"/>
          </a:xfrm>
          <a:prstGeom prst="rect">
            <a:avLst/>
          </a:prstGeom>
        </p:spPr>
        <p:txBody>
          <a:bodyPr/>
          <a:lstStyle>
            <a:lvl1pPr>
              <a:defRPr sz="3600">
                <a:solidFill>
                  <a:srgbClr val="C00000"/>
                </a:solidFill>
              </a:defRPr>
            </a:lvl1pPr>
          </a:lstStyle>
          <a:p>
            <a:pPr/>
            <a:r>
              <a:t>The Methods (or Materials and Methods)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0">
                                            <p:txEl>
                                              <p:pRg st="4" end="4"/>
                                            </p:txEl>
                                          </p:spTgt>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1" fill="hold">
                                  <p:stCondLst>
                                    <p:cond delay="0"/>
                                  </p:stCondLst>
                                  <p:iterate type="el" backwards="0">
                                    <p:tmAbs val="0"/>
                                  </p:iterate>
                                  <p:childTnLst>
                                    <p:set>
                                      <p:cBhvr>
                                        <p:cTn id="9" fill="hold"/>
                                        <p:tgtEl>
                                          <p:spTgt spid="100">
                                            <p:txEl>
                                              <p:pRg st="5" end="5"/>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1" fill="hold">
                                  <p:stCondLst>
                                    <p:cond delay="0"/>
                                  </p:stCondLst>
                                  <p:iterate type="el" backwards="0">
                                    <p:tmAbs val="0"/>
                                  </p:iterate>
                                  <p:childTnLst>
                                    <p:set>
                                      <p:cBhvr>
                                        <p:cTn id="13" fill="hold"/>
                                        <p:tgtEl>
                                          <p:spTgt spid="100">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100"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Content Placeholder 2"/>
          <p:cNvSpPr txBox="1"/>
          <p:nvPr>
            <p:ph type="body" idx="1"/>
          </p:nvPr>
        </p:nvSpPr>
        <p:spPr>
          <a:xfrm>
            <a:off x="628650" y="1366463"/>
            <a:ext cx="7886700" cy="5280918"/>
          </a:xfrm>
          <a:prstGeom prst="rect">
            <a:avLst/>
          </a:prstGeom>
        </p:spPr>
        <p:txBody>
          <a:bodyPr/>
          <a:lstStyle/>
          <a:p>
            <a:pPr marL="0" indent="0">
              <a:buSzTx/>
              <a:buNone/>
              <a:defRPr i="1"/>
            </a:pPr>
            <a:r>
              <a:t>How to order: </a:t>
            </a:r>
            <a:r>
              <a:rPr i="0"/>
              <a:t>there is no one-size-fits-all structure of the Methods.</a:t>
            </a:r>
            <a:endParaRPr i="0"/>
          </a:p>
          <a:p>
            <a:pPr lvl="1" marL="685800" indent="-228600">
              <a:spcBef>
                <a:spcPts val="500"/>
              </a:spcBef>
              <a:defRPr sz="2400"/>
            </a:pPr>
            <a:r>
              <a:t>What does the writer need to know, (and in what order) to be able to understand and judge your results?</a:t>
            </a:r>
          </a:p>
          <a:p>
            <a:pPr lvl="1" marL="685800" indent="-228600">
              <a:spcBef>
                <a:spcPts val="500"/>
              </a:spcBef>
              <a:defRPr sz="2400"/>
            </a:pPr>
            <a:r>
              <a:t>The way you group things will depend on your study</a:t>
            </a:r>
          </a:p>
          <a:p>
            <a:pPr lvl="1" marL="685800" indent="-228600">
              <a:spcBef>
                <a:spcPts val="500"/>
              </a:spcBef>
              <a:defRPr sz="2400"/>
            </a:pPr>
            <a:r>
              <a:t>Should not be strictly chronological: </a:t>
            </a:r>
            <a:r>
              <a:rPr b="1"/>
              <a:t>group like with like</a:t>
            </a:r>
            <a:r>
              <a:t>, even if you did things at different times IRL</a:t>
            </a:r>
          </a:p>
          <a:p>
            <a:pPr lvl="1" marL="685800" indent="-228600">
              <a:spcBef>
                <a:spcPts val="500"/>
              </a:spcBef>
              <a:defRPr sz="2400"/>
            </a:pPr>
          </a:p>
          <a:p>
            <a:pPr marL="0" indent="0">
              <a:buSzTx/>
              <a:buNone/>
            </a:pPr>
            <a:r>
              <a:t>Still, there are good practices to help readers follow the methods.</a:t>
            </a:r>
          </a:p>
          <a:p>
            <a:pPr lvl="1" marL="685800" indent="-228600">
              <a:spcBef>
                <a:spcPts val="500"/>
              </a:spcBef>
              <a:defRPr sz="2400"/>
            </a:pPr>
            <a:r>
              <a:t>Subheadings are key</a:t>
            </a:r>
          </a:p>
          <a:p>
            <a:pPr lvl="1" marL="685800" indent="-228600">
              <a:spcBef>
                <a:spcPts val="500"/>
              </a:spcBef>
              <a:defRPr sz="2400"/>
            </a:pPr>
            <a:r>
              <a:t>You can even use matching subheadings in the Results section</a:t>
            </a:r>
          </a:p>
        </p:txBody>
      </p:sp>
      <p:sp>
        <p:nvSpPr>
          <p:cNvPr id="104" name="Rectangle 2"/>
          <p:cNvSpPr txBox="1"/>
          <p:nvPr>
            <p:ph type="title"/>
          </p:nvPr>
        </p:nvSpPr>
        <p:spPr>
          <a:xfrm>
            <a:off x="457200" y="109537"/>
            <a:ext cx="8229600" cy="1143001"/>
          </a:xfrm>
          <a:prstGeom prst="rect">
            <a:avLst/>
          </a:prstGeom>
        </p:spPr>
        <p:txBody>
          <a:bodyPr/>
          <a:lstStyle>
            <a:lvl1pPr>
              <a:defRPr sz="3600">
                <a:solidFill>
                  <a:srgbClr val="C00000"/>
                </a:solidFill>
              </a:defRPr>
            </a:lvl1pPr>
          </a:lstStyle>
          <a:p>
            <a:pPr/>
            <a:r>
              <a:t>How to write the Methods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3">
                                            <p:txEl>
                                              <p:pRg st="5" end="5"/>
                                            </p:txEl>
                                          </p:spTgt>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1" fill="hold">
                                  <p:stCondLst>
                                    <p:cond delay="0"/>
                                  </p:stCondLst>
                                  <p:iterate type="el" backwards="0">
                                    <p:tmAbs val="0"/>
                                  </p:iterate>
                                  <p:childTnLst>
                                    <p:set>
                                      <p:cBhvr>
                                        <p:cTn id="9" fill="hold"/>
                                        <p:tgtEl>
                                          <p:spTgt spid="103">
                                            <p:txEl>
                                              <p:pRg st="6" end="6"/>
                                            </p:txEl>
                                          </p:spTgt>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1" fill="hold">
                                  <p:stCondLst>
                                    <p:cond delay="0"/>
                                  </p:stCondLst>
                                  <p:iterate type="el" backwards="0">
                                    <p:tmAbs val="0"/>
                                  </p:iterate>
                                  <p:childTnLst>
                                    <p:set>
                                      <p:cBhvr>
                                        <p:cTn id="12" fill="hold"/>
                                        <p:tgtEl>
                                          <p:spTgt spid="103">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103" grpId="1"/>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Content Placeholder 2"/>
          <p:cNvSpPr txBox="1"/>
          <p:nvPr>
            <p:ph type="body" idx="1"/>
          </p:nvPr>
        </p:nvSpPr>
        <p:spPr>
          <a:xfrm>
            <a:off x="628650" y="1366463"/>
            <a:ext cx="7886700" cy="5280918"/>
          </a:xfrm>
          <a:prstGeom prst="rect">
            <a:avLst/>
          </a:prstGeom>
        </p:spPr>
        <p:txBody>
          <a:bodyPr/>
          <a:lstStyle/>
          <a:p>
            <a:pPr marL="0" indent="0" defTabSz="877823">
              <a:lnSpc>
                <a:spcPct val="72000"/>
              </a:lnSpc>
              <a:spcBef>
                <a:spcPts val="900"/>
              </a:spcBef>
              <a:buSzTx/>
              <a:buNone/>
              <a:defRPr b="1" sz="1919"/>
            </a:pPr>
            <a:r>
              <a:t>Formatting rules to follow</a:t>
            </a:r>
            <a:r>
              <a:rPr b="0"/>
              <a:t>:</a:t>
            </a:r>
            <a:endParaRPr sz="2016"/>
          </a:p>
          <a:p>
            <a:pPr marL="493775" indent="-493775" defTabSz="877823">
              <a:lnSpc>
                <a:spcPct val="72000"/>
              </a:lnSpc>
              <a:spcBef>
                <a:spcPts val="900"/>
              </a:spcBef>
              <a:buFontTx/>
              <a:buAutoNum type="arabicPeriod" startAt="1"/>
              <a:defRPr sz="1919"/>
            </a:pPr>
            <a:r>
              <a:t>Use past tense in the Methods</a:t>
            </a:r>
            <a:endParaRPr sz="2016"/>
          </a:p>
          <a:p>
            <a:pPr marL="493775" indent="-493775" defTabSz="877823">
              <a:lnSpc>
                <a:spcPct val="72000"/>
              </a:lnSpc>
              <a:spcBef>
                <a:spcPts val="900"/>
              </a:spcBef>
              <a:buFontTx/>
              <a:buAutoNum type="arabicPeriod" startAt="1"/>
              <a:defRPr sz="1919"/>
            </a:pPr>
            <a:r>
              <a:t>Use different font formatting for subheadings</a:t>
            </a:r>
            <a:endParaRPr sz="2016"/>
          </a:p>
          <a:p>
            <a:pPr marL="493775" indent="-493775" defTabSz="877823">
              <a:lnSpc>
                <a:spcPct val="72000"/>
              </a:lnSpc>
              <a:spcBef>
                <a:spcPts val="900"/>
              </a:spcBef>
              <a:buFontTx/>
              <a:buAutoNum type="arabicPeriod" startAt="1"/>
              <a:defRPr sz="1919"/>
            </a:pPr>
            <a:r>
              <a:t>Use metric system for all units. Abbreviate units -- 10.5 cm</a:t>
            </a:r>
            <a:endParaRPr sz="2016"/>
          </a:p>
          <a:p>
            <a:pPr marL="493775" indent="-493775" defTabSz="877823">
              <a:lnSpc>
                <a:spcPct val="72000"/>
              </a:lnSpc>
              <a:spcBef>
                <a:spcPts val="900"/>
              </a:spcBef>
              <a:buFontTx/>
              <a:buAutoNum type="arabicPeriod" startAt="1"/>
              <a:defRPr sz="1919"/>
            </a:pPr>
            <a:r>
              <a:t>Use military time instead of AM-PM, e.g. 14:30 rather than 2:20 pm</a:t>
            </a:r>
            <a:endParaRPr sz="2016"/>
          </a:p>
          <a:p>
            <a:pPr marL="493775" indent="-493775" defTabSz="877823">
              <a:lnSpc>
                <a:spcPct val="72000"/>
              </a:lnSpc>
              <a:spcBef>
                <a:spcPts val="900"/>
              </a:spcBef>
              <a:buFontTx/>
              <a:buAutoNum type="arabicPeriod" startAt="1"/>
              <a:defRPr sz="1919"/>
            </a:pPr>
            <a:r>
              <a:t>When beginning a sentence with a number, always write the number out (“Twenty fish were caught.”). In the middle of a sentence, only write out numbers less than ten (”We caught 20 fish.”)</a:t>
            </a:r>
            <a:endParaRPr sz="2016"/>
          </a:p>
          <a:p>
            <a:pPr marL="493775" indent="-493775" defTabSz="877823">
              <a:lnSpc>
                <a:spcPct val="72000"/>
              </a:lnSpc>
              <a:spcBef>
                <a:spcPts val="900"/>
              </a:spcBef>
              <a:buFontTx/>
              <a:buAutoNum type="arabicPeriod" startAt="1"/>
              <a:defRPr sz="1919"/>
            </a:pPr>
            <a:r>
              <a:t>The level of detail needed depends on your study and the customs of your field. Some details are trivial while others are critical.</a:t>
            </a:r>
            <a:endParaRPr sz="2016"/>
          </a:p>
          <a:p>
            <a:pPr marL="493775" indent="-493775" defTabSz="877823">
              <a:lnSpc>
                <a:spcPct val="72000"/>
              </a:lnSpc>
              <a:spcBef>
                <a:spcPts val="900"/>
              </a:spcBef>
              <a:buFontTx/>
              <a:buAutoNum type="arabicPeriod" startAt="1"/>
              <a:defRPr sz="1919"/>
            </a:pPr>
            <a:r>
              <a:t>Spell out abbreviations the first time they are used (except units which are standard)</a:t>
            </a:r>
            <a:endParaRPr sz="2016"/>
          </a:p>
          <a:p>
            <a:pPr marL="493775" indent="-493775" defTabSz="877823">
              <a:lnSpc>
                <a:spcPct val="72000"/>
              </a:lnSpc>
              <a:spcBef>
                <a:spcPts val="900"/>
              </a:spcBef>
              <a:buFontTx/>
              <a:buAutoNum type="arabicPeriod" startAt="1"/>
              <a:defRPr sz="1919"/>
            </a:pPr>
            <a:r>
              <a:t>While we’re at it, always format all scientific names correctly. Higher taxa are capitalized but not italicized. (Cichlidae). Genera and species are always italicized (</a:t>
            </a:r>
            <a:r>
              <a:rPr i="1"/>
              <a:t>Salmo salar</a:t>
            </a:r>
            <a:r>
              <a:t>). After first mention, can abbreviate the genus (</a:t>
            </a:r>
            <a:r>
              <a:rPr i="1"/>
              <a:t>S. salar</a:t>
            </a:r>
            <a:r>
              <a:t>). </a:t>
            </a:r>
            <a:endParaRPr sz="2016"/>
          </a:p>
          <a:p>
            <a:pPr marL="493775" indent="-493775" defTabSz="877823">
              <a:lnSpc>
                <a:spcPct val="72000"/>
              </a:lnSpc>
              <a:spcBef>
                <a:spcPts val="900"/>
              </a:spcBef>
              <a:buFontTx/>
              <a:buAutoNum type="arabicPeriod" startAt="1"/>
              <a:defRPr sz="1919"/>
            </a:pPr>
            <a:r>
              <a:t>“Fish” = multiple individuals of the same species. “Fishes” = multiple species</a:t>
            </a:r>
          </a:p>
        </p:txBody>
      </p:sp>
      <p:sp>
        <p:nvSpPr>
          <p:cNvPr id="107" name="Rectangle 2"/>
          <p:cNvSpPr txBox="1"/>
          <p:nvPr>
            <p:ph type="title"/>
          </p:nvPr>
        </p:nvSpPr>
        <p:spPr>
          <a:xfrm>
            <a:off x="457200" y="109537"/>
            <a:ext cx="8229600" cy="1143001"/>
          </a:xfrm>
          <a:prstGeom prst="rect">
            <a:avLst/>
          </a:prstGeom>
        </p:spPr>
        <p:txBody>
          <a:bodyPr/>
          <a:lstStyle>
            <a:lvl1pPr>
              <a:defRPr sz="3600">
                <a:solidFill>
                  <a:srgbClr val="C00000"/>
                </a:solidFill>
              </a:defRPr>
            </a:lvl1pPr>
          </a:lstStyle>
          <a:p>
            <a:pPr/>
            <a:r>
              <a:t>How to write the Methods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1" fill="hold">
                                  <p:stCondLst>
                                    <p:cond delay="0"/>
                                  </p:stCondLst>
                                  <p:iterate type="el" backwards="0">
                                    <p:tmAbs val="0"/>
                                  </p:iterate>
                                  <p:childTnLst>
                                    <p:set>
                                      <p:cBhvr>
                                        <p:cTn id="10" fill="hold"/>
                                        <p:tgtEl>
                                          <p:spTgt spid="10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1" fill="hold">
                                  <p:stCondLst>
                                    <p:cond delay="0"/>
                                  </p:stCondLst>
                                  <p:iterate type="el" backwards="0">
                                    <p:tmAbs val="0"/>
                                  </p:iterate>
                                  <p:childTnLst>
                                    <p:set>
                                      <p:cBhvr>
                                        <p:cTn id="14" fill="hold"/>
                                        <p:tgtEl>
                                          <p:spTgt spid="10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1" fill="hold">
                                  <p:stCondLst>
                                    <p:cond delay="0"/>
                                  </p:stCondLst>
                                  <p:iterate type="el" backwards="0">
                                    <p:tmAbs val="0"/>
                                  </p:iterate>
                                  <p:childTnLst>
                                    <p:set>
                                      <p:cBhvr>
                                        <p:cTn id="18" fill="hold"/>
                                        <p:tgtEl>
                                          <p:spTgt spid="10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1" fill="hold">
                                  <p:stCondLst>
                                    <p:cond delay="0"/>
                                  </p:stCondLst>
                                  <p:iterate type="el" backwards="0">
                                    <p:tmAbs val="0"/>
                                  </p:iterate>
                                  <p:childTnLst>
                                    <p:set>
                                      <p:cBhvr>
                                        <p:cTn id="22" fill="hold"/>
                                        <p:tgtEl>
                                          <p:spTgt spid="10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0" presetID="1" grpId="1" fill="hold">
                                  <p:stCondLst>
                                    <p:cond delay="0"/>
                                  </p:stCondLst>
                                  <p:iterate type="el" backwards="0">
                                    <p:tmAbs val="0"/>
                                  </p:iterate>
                                  <p:childTnLst>
                                    <p:set>
                                      <p:cBhvr>
                                        <p:cTn id="26" fill="hold"/>
                                        <p:tgtEl>
                                          <p:spTgt spid="10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0" presetID="1" grpId="1" fill="hold">
                                  <p:stCondLst>
                                    <p:cond delay="0"/>
                                  </p:stCondLst>
                                  <p:iterate type="el" backwards="0">
                                    <p:tmAbs val="0"/>
                                  </p:iterate>
                                  <p:childTnLst>
                                    <p:set>
                                      <p:cBhvr>
                                        <p:cTn id="30" fill="hold"/>
                                        <p:tgtEl>
                                          <p:spTgt spid="106">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0" presetID="1" grpId="1" fill="hold">
                                  <p:stCondLst>
                                    <p:cond delay="0"/>
                                  </p:stCondLst>
                                  <p:iterate type="el" backwards="0">
                                    <p:tmAbs val="0"/>
                                  </p:iterate>
                                  <p:childTnLst>
                                    <p:set>
                                      <p:cBhvr>
                                        <p:cTn id="34" fill="hold"/>
                                        <p:tgtEl>
                                          <p:spTgt spid="106">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106" grpId="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Content Placeholder 2"/>
          <p:cNvSpPr txBox="1"/>
          <p:nvPr>
            <p:ph type="body" idx="1"/>
          </p:nvPr>
        </p:nvSpPr>
        <p:spPr>
          <a:xfrm>
            <a:off x="561561" y="1531126"/>
            <a:ext cx="7886701" cy="5126185"/>
          </a:xfrm>
          <a:prstGeom prst="rect">
            <a:avLst/>
          </a:prstGeom>
        </p:spPr>
        <p:txBody>
          <a:bodyPr/>
          <a:lstStyle/>
          <a:p>
            <a:pPr marL="0" indent="0">
              <a:buSzTx/>
              <a:buNone/>
            </a:pPr>
            <a:r>
              <a:t>Hint #1: Active vs. Passive voice</a:t>
            </a:r>
          </a:p>
          <a:p>
            <a:pPr marL="0" indent="0">
              <a:buSzTx/>
              <a:buNone/>
              <a:defRPr sz="1000"/>
            </a:pPr>
          </a:p>
          <a:p>
            <a:pPr marL="0" indent="0">
              <a:buSzTx/>
              <a:buNone/>
              <a:defRPr>
                <a:solidFill>
                  <a:srgbClr val="C00000"/>
                </a:solidFill>
              </a:defRPr>
            </a:pPr>
            <a:r>
              <a:t>Passive: </a:t>
            </a:r>
          </a:p>
          <a:p>
            <a:pPr>
              <a:defRPr sz="2400"/>
            </a:pPr>
            <a:r>
              <a:t>Six sites were selected for surveys.</a:t>
            </a:r>
          </a:p>
          <a:p>
            <a:pPr>
              <a:defRPr sz="2400"/>
            </a:pPr>
            <a:r>
              <a:t>It was determined that phytoplankton were increasing.</a:t>
            </a:r>
          </a:p>
          <a:p>
            <a:pPr marL="0" indent="0">
              <a:buSzTx/>
              <a:buNone/>
              <a:defRPr>
                <a:solidFill>
                  <a:srgbClr val="C00000"/>
                </a:solidFill>
              </a:defRPr>
            </a:pPr>
            <a:r>
              <a:t>Active:</a:t>
            </a:r>
          </a:p>
          <a:p>
            <a:pPr>
              <a:defRPr sz="2400"/>
            </a:pPr>
            <a:r>
              <a:t>We selected six sites for surveys.</a:t>
            </a:r>
          </a:p>
          <a:p>
            <a:pPr>
              <a:defRPr sz="2400"/>
            </a:pPr>
            <a:r>
              <a:t>We determined that phytoplankton were increasing.</a:t>
            </a:r>
          </a:p>
          <a:p>
            <a:pPr>
              <a:defRPr sz="2400"/>
            </a:pPr>
          </a:p>
          <a:p>
            <a:pPr marL="0" indent="0">
              <a:buSzTx/>
              <a:buNone/>
              <a:defRPr sz="2400"/>
            </a:pPr>
            <a:r>
              <a:t>Describe the difference? </a:t>
            </a:r>
          </a:p>
          <a:p>
            <a:pPr marL="0" indent="0">
              <a:buSzTx/>
              <a:buNone/>
              <a:defRPr sz="2400"/>
            </a:pPr>
            <a:r>
              <a:t>Which is better? There are pros and cons. Choose carefully!</a:t>
            </a:r>
          </a:p>
        </p:txBody>
      </p:sp>
      <p:sp>
        <p:nvSpPr>
          <p:cNvPr id="110" name="Rectangle 2"/>
          <p:cNvSpPr txBox="1"/>
          <p:nvPr>
            <p:ph type="title"/>
          </p:nvPr>
        </p:nvSpPr>
        <p:spPr>
          <a:prstGeom prst="rect">
            <a:avLst/>
          </a:prstGeom>
        </p:spPr>
        <p:txBody>
          <a:bodyPr/>
          <a:lstStyle>
            <a:lvl1pPr>
              <a:defRPr sz="3600">
                <a:solidFill>
                  <a:srgbClr val="C00000"/>
                </a:solidFill>
              </a:defRPr>
            </a:lvl1pPr>
          </a:lstStyle>
          <a:p>
            <a:pPr/>
            <a:r>
              <a:t>Some more hints for writing:</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0" presetID="1" grpId="1" fill="hold">
                                  <p:stCondLst>
                                    <p:cond delay="0"/>
                                  </p:stCondLst>
                                  <p:iterate type="el" backwards="0">
                                    <p:tmAbs val="0"/>
                                  </p:iterate>
                                  <p:childTnLst>
                                    <p:set>
                                      <p:cBhvr>
                                        <p:cTn id="6" fill="hold"/>
                                        <p:tgtEl>
                                          <p:spTgt spid="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9"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Content Placeholder 2"/>
          <p:cNvSpPr txBox="1"/>
          <p:nvPr>
            <p:ph type="body" idx="1"/>
          </p:nvPr>
        </p:nvSpPr>
        <p:spPr>
          <a:xfrm>
            <a:off x="628650" y="1560943"/>
            <a:ext cx="7886700" cy="5126185"/>
          </a:xfrm>
          <a:prstGeom prst="rect">
            <a:avLst/>
          </a:prstGeom>
        </p:spPr>
        <p:txBody>
          <a:bodyPr/>
          <a:lstStyle/>
          <a:p>
            <a:pPr marL="0" indent="0">
              <a:lnSpc>
                <a:spcPct val="72000"/>
              </a:lnSpc>
              <a:buSzTx/>
              <a:buNone/>
              <a:defRPr sz="2500"/>
            </a:pPr>
            <a:r>
              <a:t>Hint #1: Active vs. Passive voice</a:t>
            </a:r>
          </a:p>
          <a:p>
            <a:pPr marL="0" indent="0">
              <a:lnSpc>
                <a:spcPct val="72000"/>
              </a:lnSpc>
              <a:buSzTx/>
              <a:buNone/>
              <a:defRPr sz="1000"/>
            </a:pPr>
          </a:p>
          <a:p>
            <a:pPr marL="0" indent="0">
              <a:lnSpc>
                <a:spcPct val="72000"/>
              </a:lnSpc>
              <a:buSzTx/>
              <a:buNone/>
              <a:defRPr sz="2500">
                <a:solidFill>
                  <a:srgbClr val="C00000"/>
                </a:solidFill>
              </a:defRPr>
            </a:pPr>
            <a:r>
              <a:t>Active: </a:t>
            </a:r>
          </a:p>
          <a:p>
            <a:pPr>
              <a:lnSpc>
                <a:spcPct val="72000"/>
              </a:lnSpc>
              <a:defRPr sz="1800"/>
            </a:pPr>
            <a:r>
              <a:t>Usually shorter and easier to understand- </a:t>
            </a:r>
            <a:r>
              <a:rPr b="1"/>
              <a:t>that’s what we want!</a:t>
            </a:r>
            <a:endParaRPr sz="2500"/>
          </a:p>
          <a:p>
            <a:pPr>
              <a:lnSpc>
                <a:spcPct val="72000"/>
              </a:lnSpc>
              <a:defRPr sz="1800"/>
            </a:pPr>
            <a:r>
              <a:t>More engaging: relates the science to the human who did it (you!)</a:t>
            </a:r>
            <a:endParaRPr sz="2500"/>
          </a:p>
          <a:p>
            <a:pPr>
              <a:lnSpc>
                <a:spcPct val="72000"/>
              </a:lnSpc>
              <a:defRPr sz="1800"/>
            </a:pPr>
            <a:r>
              <a:t>More specific- we know who did what, the actor is clear</a:t>
            </a:r>
            <a:endParaRPr sz="2500"/>
          </a:p>
          <a:p>
            <a:pPr>
              <a:lnSpc>
                <a:spcPct val="72000"/>
              </a:lnSpc>
              <a:defRPr sz="1800"/>
            </a:pPr>
            <a:r>
              <a:t>Can be repetitive</a:t>
            </a:r>
            <a:endParaRPr sz="2500"/>
          </a:p>
          <a:p>
            <a:pPr marL="0" indent="0">
              <a:lnSpc>
                <a:spcPct val="72000"/>
              </a:lnSpc>
              <a:buSzTx/>
              <a:buNone/>
              <a:defRPr sz="1000"/>
            </a:pPr>
          </a:p>
          <a:p>
            <a:pPr marL="0" indent="0">
              <a:lnSpc>
                <a:spcPct val="72000"/>
              </a:lnSpc>
              <a:buSzTx/>
              <a:buNone/>
              <a:defRPr sz="2500">
                <a:solidFill>
                  <a:srgbClr val="C00000"/>
                </a:solidFill>
              </a:defRPr>
            </a:pPr>
            <a:r>
              <a:t>Passive:</a:t>
            </a:r>
          </a:p>
          <a:p>
            <a:pPr>
              <a:lnSpc>
                <a:spcPct val="72000"/>
              </a:lnSpc>
              <a:defRPr sz="1800"/>
            </a:pPr>
            <a:r>
              <a:t>Can be used to draw attention to an object (“Fish were identified to species, but other taxa only to genus”).</a:t>
            </a:r>
            <a:endParaRPr sz="2500"/>
          </a:p>
          <a:p>
            <a:pPr>
              <a:lnSpc>
                <a:spcPct val="72000"/>
              </a:lnSpc>
              <a:defRPr sz="1800"/>
            </a:pPr>
            <a:r>
              <a:t>Obscures the actor when the actor is irrelevant (“Nonparametric statistics are preferred when data violate assumptions.”)</a:t>
            </a:r>
            <a:endParaRPr sz="2500"/>
          </a:p>
          <a:p>
            <a:pPr>
              <a:lnSpc>
                <a:spcPct val="72000"/>
              </a:lnSpc>
              <a:defRPr sz="1800"/>
            </a:pPr>
            <a:r>
              <a:t>Sometimes the actor is complex, and sentence is clearer in passive (Compare “Beetles, wasps, and several other insects attacked trees.” vs “Trees were attacked by beetles, wasps, and several other insects.”)</a:t>
            </a:r>
          </a:p>
        </p:txBody>
      </p:sp>
      <p:sp>
        <p:nvSpPr>
          <p:cNvPr id="113" name="Rectangle 2"/>
          <p:cNvSpPr txBox="1"/>
          <p:nvPr>
            <p:ph type="title"/>
          </p:nvPr>
        </p:nvSpPr>
        <p:spPr>
          <a:prstGeom prst="rect">
            <a:avLst/>
          </a:prstGeom>
        </p:spPr>
        <p:txBody>
          <a:bodyPr/>
          <a:lstStyle>
            <a:lvl1pPr>
              <a:defRPr sz="3600">
                <a:solidFill>
                  <a:srgbClr val="C00000"/>
                </a:solidFill>
              </a:defRPr>
            </a:lvl1pPr>
          </a:lstStyle>
          <a:p>
            <a:pPr/>
            <a:r>
              <a:t>Some more hints for writing:</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Content Placeholder 2"/>
          <p:cNvSpPr txBox="1"/>
          <p:nvPr>
            <p:ph type="body" idx="1"/>
          </p:nvPr>
        </p:nvSpPr>
        <p:spPr>
          <a:xfrm>
            <a:off x="628650" y="1560943"/>
            <a:ext cx="7886700" cy="5126185"/>
          </a:xfrm>
          <a:prstGeom prst="rect">
            <a:avLst/>
          </a:prstGeom>
        </p:spPr>
        <p:txBody>
          <a:bodyPr/>
          <a:lstStyle/>
          <a:p>
            <a:pPr marL="0" indent="0">
              <a:lnSpc>
                <a:spcPct val="72000"/>
              </a:lnSpc>
              <a:buSzTx/>
              <a:buNone/>
              <a:defRPr sz="2500"/>
            </a:pPr>
            <a:r>
              <a:t>Hint #2: </a:t>
            </a:r>
          </a:p>
          <a:p>
            <a:pPr marL="0" indent="0">
              <a:lnSpc>
                <a:spcPct val="72000"/>
              </a:lnSpc>
              <a:buSzTx/>
              <a:buNone/>
              <a:defRPr sz="2500"/>
            </a:pPr>
          </a:p>
          <a:p>
            <a:pPr marL="0" indent="0">
              <a:lnSpc>
                <a:spcPct val="72000"/>
              </a:lnSpc>
              <a:buSzTx/>
              <a:buNone/>
              <a:defRPr b="1" sz="2500"/>
            </a:pPr>
            <a:r>
              <a:t>Theatre of mind </a:t>
            </a:r>
            <a:r>
              <a:rPr b="0"/>
              <a:t>– painting a picture in somebody else’s imagination through words.   </a:t>
            </a:r>
          </a:p>
          <a:p>
            <a:pPr marL="0" indent="0">
              <a:lnSpc>
                <a:spcPct val="72000"/>
              </a:lnSpc>
              <a:buSzTx/>
              <a:buNone/>
              <a:defRPr sz="2500"/>
            </a:pPr>
          </a:p>
          <a:p>
            <a:pPr marL="0" indent="0">
              <a:lnSpc>
                <a:spcPct val="72000"/>
              </a:lnSpc>
              <a:buSzTx/>
              <a:buNone/>
              <a:defRPr sz="2500"/>
            </a:pPr>
            <a:r>
              <a:t>Useful when:</a:t>
            </a:r>
          </a:p>
          <a:p>
            <a:pPr>
              <a:lnSpc>
                <a:spcPct val="72000"/>
              </a:lnSpc>
              <a:buFontTx/>
              <a:buChar char="-"/>
              <a:defRPr sz="2500"/>
            </a:pPr>
            <a:r>
              <a:t>Describing study sites</a:t>
            </a:r>
          </a:p>
          <a:p>
            <a:pPr>
              <a:lnSpc>
                <a:spcPct val="72000"/>
              </a:lnSpc>
              <a:buFontTx/>
              <a:buChar char="-"/>
              <a:defRPr sz="2500"/>
            </a:pPr>
            <a:r>
              <a:t>Describing experimental design</a:t>
            </a:r>
          </a:p>
          <a:p>
            <a:pPr>
              <a:lnSpc>
                <a:spcPct val="72000"/>
              </a:lnSpc>
              <a:buFontTx/>
              <a:buChar char="-"/>
              <a:defRPr sz="2500"/>
            </a:pPr>
            <a:r>
              <a:t>Describing an apparatus or complicated experimental tool</a:t>
            </a:r>
          </a:p>
          <a:p>
            <a:pPr marL="0" indent="0">
              <a:lnSpc>
                <a:spcPct val="72000"/>
              </a:lnSpc>
              <a:buSzTx/>
              <a:buNone/>
              <a:defRPr sz="2500"/>
            </a:pPr>
            <a:br/>
            <a:r>
              <a:t>Often will accompany a figure</a:t>
            </a:r>
            <a:br/>
          </a:p>
        </p:txBody>
      </p:sp>
      <p:sp>
        <p:nvSpPr>
          <p:cNvPr id="116" name="Rectangle 2"/>
          <p:cNvSpPr txBox="1"/>
          <p:nvPr>
            <p:ph type="title"/>
          </p:nvPr>
        </p:nvSpPr>
        <p:spPr>
          <a:prstGeom prst="rect">
            <a:avLst/>
          </a:prstGeom>
        </p:spPr>
        <p:txBody>
          <a:bodyPr/>
          <a:lstStyle>
            <a:lvl1pPr>
              <a:defRPr sz="3600">
                <a:solidFill>
                  <a:srgbClr val="C00000"/>
                </a:solidFill>
              </a:defRPr>
            </a:lvl1pPr>
          </a:lstStyle>
          <a:p>
            <a:pPr/>
            <a:r>
              <a:t>Some more hints for writing:</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Content Placeholder 2"/>
          <p:cNvSpPr txBox="1"/>
          <p:nvPr>
            <p:ph type="body" idx="1"/>
          </p:nvPr>
        </p:nvSpPr>
        <p:spPr>
          <a:xfrm>
            <a:off x="555763" y="1613262"/>
            <a:ext cx="8223802" cy="4879612"/>
          </a:xfrm>
          <a:prstGeom prst="rect">
            <a:avLst/>
          </a:prstGeom>
        </p:spPr>
        <p:txBody>
          <a:bodyPr/>
          <a:lstStyle/>
          <a:p>
            <a:pPr marL="0" indent="0" defTabSz="905255">
              <a:lnSpc>
                <a:spcPct val="81000"/>
              </a:lnSpc>
              <a:spcBef>
                <a:spcPts val="900"/>
              </a:spcBef>
              <a:buSzTx/>
              <a:buNone/>
              <a:defRPr sz="2970"/>
            </a:pPr>
            <a:r>
              <a:t>Hint #2: </a:t>
            </a:r>
            <a:r>
              <a:rPr b="1"/>
              <a:t>Theory of mind</a:t>
            </a:r>
            <a:endParaRPr b="1"/>
          </a:p>
          <a:p>
            <a:pPr marL="0" indent="0" defTabSz="905255">
              <a:lnSpc>
                <a:spcPct val="81000"/>
              </a:lnSpc>
              <a:spcBef>
                <a:spcPts val="900"/>
              </a:spcBef>
              <a:buSzTx/>
              <a:buNone/>
              <a:defRPr sz="2772"/>
            </a:pPr>
            <a:endParaRPr b="1"/>
          </a:p>
          <a:p>
            <a:pPr marL="0" indent="0" defTabSz="905255">
              <a:lnSpc>
                <a:spcPct val="81000"/>
              </a:lnSpc>
              <a:spcBef>
                <a:spcPts val="900"/>
              </a:spcBef>
              <a:buSzTx/>
              <a:buNone/>
              <a:defRPr sz="2574"/>
            </a:pPr>
            <a:r>
              <a:t>“Theory of mind” means putting yourself in the reader’s mindset when writing.   What would they be thinking? What do they know right now? </a:t>
            </a:r>
            <a:br/>
          </a:p>
          <a:p>
            <a:pPr marL="0" indent="0" defTabSz="905255">
              <a:lnSpc>
                <a:spcPct val="81000"/>
              </a:lnSpc>
              <a:spcBef>
                <a:spcPts val="900"/>
              </a:spcBef>
              <a:buSzTx/>
              <a:buNone/>
              <a:defRPr sz="2574"/>
            </a:pPr>
            <a:r>
              <a:t>Always keep this in mind when writing (any section!). Some things may be obvious to you but not to the reader.</a:t>
            </a:r>
          </a:p>
          <a:p>
            <a:pPr marL="0" indent="0" defTabSz="905255">
              <a:lnSpc>
                <a:spcPct val="81000"/>
              </a:lnSpc>
              <a:spcBef>
                <a:spcPts val="900"/>
              </a:spcBef>
              <a:buSzTx/>
              <a:buNone/>
              <a:defRPr sz="2574"/>
            </a:pPr>
            <a:r>
              <a:t>Examples in writing: “It was taken to the lab…” “Temperature affected them…”  What is it? Who are them? </a:t>
            </a:r>
            <a:br/>
            <a:br/>
          </a:p>
        </p:txBody>
      </p:sp>
      <p:sp>
        <p:nvSpPr>
          <p:cNvPr id="119" name="Rectangle 2"/>
          <p:cNvSpPr txBox="1"/>
          <p:nvPr>
            <p:ph type="title"/>
          </p:nvPr>
        </p:nvSpPr>
        <p:spPr>
          <a:prstGeom prst="rect">
            <a:avLst/>
          </a:prstGeom>
        </p:spPr>
        <p:txBody>
          <a:bodyPr/>
          <a:lstStyle>
            <a:lvl1pPr>
              <a:defRPr sz="3600">
                <a:solidFill>
                  <a:srgbClr val="C00000"/>
                </a:solidFill>
              </a:defRPr>
            </a:lvl1pPr>
          </a:lstStyle>
          <a:p>
            <a:pPr/>
            <a:r>
              <a:t>Some more hints for writing:</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Content Placeholder 2"/>
          <p:cNvSpPr txBox="1"/>
          <p:nvPr>
            <p:ph type="body" idx="1"/>
          </p:nvPr>
        </p:nvSpPr>
        <p:spPr>
          <a:prstGeom prst="rect">
            <a:avLst/>
          </a:prstGeom>
        </p:spPr>
        <p:txBody>
          <a:bodyPr/>
          <a:lstStyle/>
          <a:p>
            <a:pPr>
              <a:defRPr b="1">
                <a:solidFill>
                  <a:srgbClr val="FF0000"/>
                </a:solidFill>
              </a:defRPr>
            </a:pPr>
            <a:r>
              <a:t>Look at the de Wit and Johnson 2024 paper on canvas</a:t>
            </a:r>
          </a:p>
          <a:p>
            <a:pPr/>
            <a:r>
              <a:t>Examine the Materials and Methods</a:t>
            </a:r>
          </a:p>
          <a:p>
            <a:pPr/>
            <a:r>
              <a:t>Note the structure and subheadings</a:t>
            </a:r>
          </a:p>
          <a:p>
            <a:pPr/>
            <a:r>
              <a:t>Note any active or passive voice</a:t>
            </a:r>
          </a:p>
          <a:p>
            <a:pPr/>
            <a:r>
              <a:t>What do you find helpful? </a:t>
            </a:r>
          </a:p>
          <a:p>
            <a:pPr/>
            <a:r>
              <a:t>What would you like to see, but is not there? </a:t>
            </a:r>
          </a:p>
          <a:p>
            <a:pPr/>
            <a:r>
              <a:t>What level of detail is not given, and is that OK?</a:t>
            </a:r>
          </a:p>
        </p:txBody>
      </p:sp>
      <p:sp>
        <p:nvSpPr>
          <p:cNvPr id="122" name="Title 1"/>
          <p:cNvSpPr txBox="1"/>
          <p:nvPr/>
        </p:nvSpPr>
        <p:spPr>
          <a:xfrm>
            <a:off x="826769" y="517526"/>
            <a:ext cx="7795261" cy="1325564"/>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defTabSz="914400">
              <a:lnSpc>
                <a:spcPct val="90000"/>
              </a:lnSpc>
              <a:defRPr sz="4400">
                <a:solidFill>
                  <a:srgbClr val="C00000"/>
                </a:solidFill>
                <a:latin typeface="Calibri Light"/>
                <a:ea typeface="Calibri Light"/>
                <a:cs typeface="Calibri Light"/>
                <a:sym typeface="Calibri Light"/>
              </a:defRPr>
            </a:lvl1pPr>
          </a:lstStyle>
          <a:p>
            <a:pPr/>
            <a:r>
              <a:t>Examine Published Methods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Title 1"/>
          <p:cNvSpPr txBox="1"/>
          <p:nvPr>
            <p:ph type="title"/>
          </p:nvPr>
        </p:nvSpPr>
        <p:spPr>
          <a:prstGeom prst="rect">
            <a:avLst/>
          </a:prstGeom>
        </p:spPr>
        <p:txBody>
          <a:bodyPr/>
          <a:lstStyle>
            <a:lvl1pPr>
              <a:defRPr sz="4000">
                <a:solidFill>
                  <a:srgbClr val="FF0000"/>
                </a:solidFill>
              </a:defRPr>
            </a:lvl1pPr>
          </a:lstStyle>
          <a:p>
            <a:pPr/>
            <a:r>
              <a:t>Assignments for today and for home</a:t>
            </a:r>
          </a:p>
        </p:txBody>
      </p:sp>
      <p:sp>
        <p:nvSpPr>
          <p:cNvPr id="125" name="Content Placeholder 2"/>
          <p:cNvSpPr txBox="1"/>
          <p:nvPr>
            <p:ph type="body" idx="1"/>
          </p:nvPr>
        </p:nvSpPr>
        <p:spPr>
          <a:xfrm>
            <a:off x="628650" y="1617393"/>
            <a:ext cx="7886700" cy="5032378"/>
          </a:xfrm>
          <a:prstGeom prst="rect">
            <a:avLst/>
          </a:prstGeom>
        </p:spPr>
        <p:txBody>
          <a:bodyPr/>
          <a:lstStyle/>
          <a:p>
            <a:pPr/>
            <a:r>
              <a:t>Download the </a:t>
            </a:r>
            <a:r>
              <a:rPr b="1">
                <a:solidFill>
                  <a:srgbClr val="FF0000"/>
                </a:solidFill>
              </a:rPr>
              <a:t>Methods to Edit 2025 </a:t>
            </a:r>
            <a:r>
              <a:t>document, and make comments and edits to improve the document</a:t>
            </a:r>
          </a:p>
          <a:p>
            <a:pPr/>
            <a:r>
              <a:t>Attempt to download data for your research project. </a:t>
            </a:r>
            <a:r>
              <a:rPr b="1" u="sng"/>
              <a:t>If you have issues let me know.</a:t>
            </a:r>
            <a:endParaRPr b="1" u="sng"/>
          </a:p>
          <a:p>
            <a:pPr/>
            <a:r>
              <a:t>Start writing your </a:t>
            </a:r>
            <a:r>
              <a:rPr>
                <a:solidFill>
                  <a:srgbClr val="FF0000"/>
                </a:solidFill>
              </a:rPr>
              <a:t>Introduction</a:t>
            </a:r>
            <a:r>
              <a:rPr b="1"/>
              <a:t>.  </a:t>
            </a:r>
            <a:r>
              <a:t>An outline is a good place to start. </a:t>
            </a:r>
          </a:p>
          <a:p>
            <a:pPr/>
            <a:r>
              <a:t>Read “The Methods Section” on Canvas</a:t>
            </a:r>
          </a:p>
          <a:p>
            <a:pPr/>
            <a:r>
              <a:t>Think about writing your Methods section. You will most likely begin with describing the data you just downloaded, including how it was collected.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
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1122362"/>
            <a:ext cx="77724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143000" y="3602037"/>
            <a:ext cx="6858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623887" y="1709739"/>
            <a:ext cx="78867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623887" y="4589464"/>
            <a:ext cx="78867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0" indent="457200">
              <a:buSzTx/>
              <a:buFontTx/>
              <a:buNone/>
              <a:defRPr sz="2400"/>
            </a:lvl2pPr>
            <a:lvl3pPr marL="0" indent="914400">
              <a:buSzTx/>
              <a:buFontTx/>
              <a:buNone/>
              <a:defRPr sz="2400"/>
            </a:lvl3pPr>
            <a:lvl4pPr marL="0" indent="1371600">
              <a:buSzTx/>
              <a:buFontTx/>
              <a:buNone/>
              <a:defRPr sz="2400"/>
            </a:lvl4pPr>
            <a:lvl5pPr marL="0" indent="1828800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629841" y="365125"/>
            <a:ext cx="7886701" cy="132556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629841" y="1681163"/>
            <a:ext cx="3868341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29149" y="1681163"/>
            <a:ext cx="3887393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629840" y="2057400"/>
            <a:ext cx="2949180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256726" y="6414761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03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rcRect l="13386" t="0" r="29087" b="9091"/>
          <a:stretch>
            <a:fillRect/>
          </a:stretch>
        </p:blipFill>
        <p:spPr>
          <a:xfrm>
            <a:off x="2642616" y="9"/>
            <a:ext cx="6501385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Rectangle 1032"/>
          <p:cNvSpPr/>
          <p:nvPr/>
        </p:nvSpPr>
        <p:spPr>
          <a:xfrm>
            <a:off x="1" y="0"/>
            <a:ext cx="7004406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4000"/>
                </a:srgbClr>
              </a:gs>
              <a:gs pos="58000">
                <a:srgbClr val="000000"/>
              </a:gs>
              <a:gs pos="100000">
                <a:srgbClr val="000000"/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Title 1"/>
          <p:cNvSpPr txBox="1"/>
          <p:nvPr>
            <p:ph type="ctrTitle"/>
          </p:nvPr>
        </p:nvSpPr>
        <p:spPr>
          <a:xfrm>
            <a:off x="358484" y="1122362"/>
            <a:ext cx="3017522" cy="3204136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pPr/>
            <a:r>
              <a:t>“Mommy, where do scientific journal articles come from?”</a:t>
            </a:r>
          </a:p>
        </p:txBody>
      </p:sp>
      <p:sp>
        <p:nvSpPr>
          <p:cNvPr id="98" name="Subtitle 2"/>
          <p:cNvSpPr txBox="1"/>
          <p:nvPr>
            <p:ph type="subTitle" sz="quarter" idx="1"/>
          </p:nvPr>
        </p:nvSpPr>
        <p:spPr>
          <a:xfrm>
            <a:off x="358484" y="4872921"/>
            <a:ext cx="3017521" cy="1208142"/>
          </a:xfrm>
          <a:prstGeom prst="rect">
            <a:avLst/>
          </a:prstGeom>
        </p:spPr>
        <p:txBody>
          <a:bodyPr/>
          <a:lstStyle>
            <a:lvl1pPr algn="l">
              <a:defRPr sz="1700">
                <a:solidFill>
                  <a:srgbClr val="FFFFFF"/>
                </a:solidFill>
              </a:defRPr>
            </a:lvl1pPr>
          </a:lstStyle>
          <a:p>
            <a:pPr/>
            <a:r>
              <a:t>FISH 290</a:t>
            </a:r>
          </a:p>
        </p:txBody>
      </p:sp>
      <p:sp>
        <p:nvSpPr>
          <p:cNvPr id="99" name="Rectangle 1034"/>
          <p:cNvSpPr/>
          <p:nvPr/>
        </p:nvSpPr>
        <p:spPr>
          <a:xfrm rot="5400000">
            <a:off x="551653" y="434801"/>
            <a:ext cx="146305" cy="52806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Rectangle 1036"/>
          <p:cNvSpPr/>
          <p:nvPr/>
        </p:nvSpPr>
        <p:spPr>
          <a:xfrm>
            <a:off x="360770" y="4546920"/>
            <a:ext cx="2983232" cy="1828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rcRect l="2668" t="0" r="6332" b="1"/>
          <a:stretch>
            <a:fillRect/>
          </a:stretch>
        </p:blipFill>
        <p:spPr>
          <a:xfrm>
            <a:off x="19" y="9"/>
            <a:ext cx="9143982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rgbClr val="E7E6E6">
                  <a:alpha val="68000"/>
                </a:srgbClr>
              </a:gs>
              <a:gs pos="85000">
                <a:srgbClr val="E7E6E6">
                  <a:alpha val="9700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1"/>
          <p:cNvSpPr txBox="1"/>
          <p:nvPr/>
        </p:nvSpPr>
        <p:spPr>
          <a:xfrm>
            <a:off x="674369" y="1825625"/>
            <a:ext cx="7795262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</a:pPr>
            <a:r>
              <a:t>The “classic” scientific method: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  <a:defRPr b="1"/>
            </a:pPr>
          </a:p>
          <a:p>
            <a:pPr marL="3429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</a:pPr>
            <a:r>
              <a:t>Pose a null and one or more alternative hypotheses</a:t>
            </a:r>
          </a:p>
          <a:p>
            <a:pPr marL="3429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</a:pPr>
          </a:p>
          <a:p>
            <a:pPr marL="3429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</a:pPr>
            <a:r>
              <a:t>Conduct an experiment and record the data</a:t>
            </a:r>
          </a:p>
          <a:p>
            <a:pPr marL="3429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</a:pPr>
          </a:p>
          <a:p>
            <a:pPr marL="3429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</a:pPr>
            <a:r>
              <a:t>Examine the data with statistical techniques</a:t>
            </a:r>
          </a:p>
          <a:p>
            <a:pPr marL="3429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</a:pPr>
          </a:p>
          <a:p>
            <a:pPr marL="3429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</a:pPr>
            <a:r>
              <a:t>Reject the null hypothesis (with some risk of error),</a:t>
            </a:r>
          </a:p>
          <a:p>
            <a:pPr marL="3429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</a:pPr>
          </a:p>
          <a:p>
            <a:pPr marL="3429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</a:pPr>
            <a:r>
              <a:t>Or, be unable to reject the null hypothesis and so have to accept it as correct (with some risk of error).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2062"/>
          <p:cNvSpPr/>
          <p:nvPr/>
        </p:nvSpPr>
        <p:spPr>
          <a:xfrm>
            <a:off x="-1" y="-1"/>
            <a:ext cx="9144001" cy="685736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1"/>
          <p:cNvSpPr txBox="1"/>
          <p:nvPr/>
        </p:nvSpPr>
        <p:spPr>
          <a:xfrm>
            <a:off x="881076" y="2960715"/>
            <a:ext cx="2935812" cy="238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defRPr sz="43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Steps of the scientific method</a:t>
            </a:r>
          </a:p>
        </p:txBody>
      </p:sp>
      <p:sp>
        <p:nvSpPr>
          <p:cNvPr id="108" name="TextBox 2"/>
          <p:cNvSpPr txBox="1"/>
          <p:nvPr/>
        </p:nvSpPr>
        <p:spPr>
          <a:xfrm>
            <a:off x="881075" y="953037"/>
            <a:ext cx="2935812" cy="1709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>
            <a:lvl1pPr defTabSz="914400">
              <a:lnSpc>
                <a:spcPct val="90000"/>
              </a:lnSpc>
              <a:spcBef>
                <a:spcPts val="1000"/>
              </a:spcBef>
              <a:defRPr b="1" sz="1500"/>
            </a:lvl1pPr>
          </a:lstStyle>
          <a:p>
            <a:pPr/>
            <a:r>
              <a:t>http://www.sciencebuddies.org/science-fair-projects/project_scientific_method.shtml</a:t>
            </a:r>
          </a:p>
        </p:txBody>
      </p:sp>
      <p:grpSp>
        <p:nvGrpSpPr>
          <p:cNvPr id="112" name="Group 2064"/>
          <p:cNvGrpSpPr/>
          <p:nvPr/>
        </p:nvGrpSpPr>
        <p:grpSpPr>
          <a:xfrm>
            <a:off x="-3" y="2984991"/>
            <a:ext cx="548640" cy="673462"/>
            <a:chOff x="0" y="0"/>
            <a:chExt cx="548638" cy="673460"/>
          </a:xfrm>
        </p:grpSpPr>
        <p:sp>
          <p:nvSpPr>
            <p:cNvPr id="109" name="Rectangle 2057"/>
            <p:cNvSpPr/>
            <p:nvPr/>
          </p:nvSpPr>
          <p:spPr>
            <a:xfrm>
              <a:off x="-1" y="-1"/>
              <a:ext cx="146891" cy="673461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0" name="Rectangle 2065"/>
            <p:cNvSpPr/>
            <p:nvPr/>
          </p:nvSpPr>
          <p:spPr>
            <a:xfrm>
              <a:off x="200874" y="-1"/>
              <a:ext cx="146891" cy="673461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1" name="Rectangle 2059"/>
            <p:cNvSpPr/>
            <p:nvPr/>
          </p:nvSpPr>
          <p:spPr>
            <a:xfrm>
              <a:off x="401748" y="-1"/>
              <a:ext cx="146891" cy="673461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13" name="Rectangle 2061"/>
          <p:cNvSpPr/>
          <p:nvPr/>
        </p:nvSpPr>
        <p:spPr>
          <a:xfrm flipH="1">
            <a:off x="8023252" y="0"/>
            <a:ext cx="1120749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Rectangle 2063"/>
          <p:cNvSpPr/>
          <p:nvPr/>
        </p:nvSpPr>
        <p:spPr>
          <a:xfrm>
            <a:off x="4264357" y="391885"/>
            <a:ext cx="4507026" cy="60170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39700" dist="127000" dir="5400000">
              <a:srgbClr val="000000">
                <a:alpha val="1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1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41869" y="1403911"/>
            <a:ext cx="4152001" cy="39914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 txBox="1"/>
          <p:nvPr/>
        </p:nvSpPr>
        <p:spPr>
          <a:xfrm>
            <a:off x="426719" y="609599"/>
            <a:ext cx="8214362" cy="1694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600">
                <a:solidFill>
                  <a:srgbClr val="C00000"/>
                </a:solidFill>
              </a:defRPr>
            </a:pPr>
            <a:r>
              <a:t>Ask a question:</a:t>
            </a:r>
            <a:r>
              <a:rPr b="0"/>
              <a:t> </a:t>
            </a:r>
          </a:p>
          <a:p>
            <a:pPr>
              <a:defRPr sz="2600"/>
            </a:pPr>
            <a:r>
              <a:t>For the scientific method to answer the question it </a:t>
            </a:r>
            <a:r>
              <a:rPr b="1"/>
              <a:t>must be about something that you can test</a:t>
            </a:r>
            <a:r>
              <a:t>, preferably something that you can quantify (measure, count, etc.).</a:t>
            </a:r>
          </a:p>
        </p:txBody>
      </p:sp>
      <p:sp>
        <p:nvSpPr>
          <p:cNvPr id="118" name="TextBox 2"/>
          <p:cNvSpPr txBox="1"/>
          <p:nvPr/>
        </p:nvSpPr>
        <p:spPr>
          <a:xfrm>
            <a:off x="428489" y="3864933"/>
            <a:ext cx="8290561" cy="2114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600">
                <a:solidFill>
                  <a:srgbClr val="C00000"/>
                </a:solidFill>
              </a:defRPr>
            </a:pPr>
            <a:r>
              <a:t>Do background research:</a:t>
            </a:r>
            <a:r>
              <a:rPr b="0"/>
              <a:t>  </a:t>
            </a:r>
            <a:r>
              <a:rPr b="0">
                <a:solidFill>
                  <a:srgbClr val="000000"/>
                </a:solidFill>
              </a:rPr>
              <a:t>Rather than starting from scratch in putting together a plan for answering your question, you’ll want to do a library/internet/interview search to help you find the best way to do things and ensure that you aren’t repeating what’s already been done.</a:t>
            </a:r>
          </a:p>
        </p:txBody>
      </p:sp>
      <p:sp>
        <p:nvSpPr>
          <p:cNvPr id="119" name="TextBox 3"/>
          <p:cNvSpPr txBox="1"/>
          <p:nvPr/>
        </p:nvSpPr>
        <p:spPr>
          <a:xfrm>
            <a:off x="426719" y="6242446"/>
            <a:ext cx="7985762" cy="587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/>
            </a:lvl1pPr>
          </a:lstStyle>
          <a:p>
            <a:pPr/>
            <a:r>
              <a:t>http://www.sciencebuddies.org/science-fair-projects/project_scientific_method.shtml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6"/>
          <p:cNvSpPr/>
          <p:nvPr/>
        </p:nvSpPr>
        <p:spPr>
          <a:xfrm>
            <a:off x="2285" y="0"/>
            <a:ext cx="9141716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Freeform: Shape 8"/>
          <p:cNvSpPr/>
          <p:nvPr/>
        </p:nvSpPr>
        <p:spPr>
          <a:xfrm>
            <a:off x="0" y="0"/>
            <a:ext cx="3125455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1712" y="0"/>
                </a:lnTo>
                <a:lnTo>
                  <a:pt x="12377" y="259"/>
                </a:lnTo>
                <a:cubicBezTo>
                  <a:pt x="17941" y="2543"/>
                  <a:pt x="21600" y="6412"/>
                  <a:pt x="21600" y="10800"/>
                </a:cubicBezTo>
                <a:cubicBezTo>
                  <a:pt x="21600" y="15188"/>
                  <a:pt x="17941" y="19057"/>
                  <a:pt x="12377" y="21341"/>
                </a:cubicBezTo>
                <a:lnTo>
                  <a:pt x="11712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Arc 10"/>
          <p:cNvSpPr/>
          <p:nvPr/>
        </p:nvSpPr>
        <p:spPr>
          <a:xfrm flipV="1">
            <a:off x="7194087" y="4497194"/>
            <a:ext cx="1531289" cy="2041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124" name="TextBox 1"/>
          <p:cNvSpPr txBox="1"/>
          <p:nvPr/>
        </p:nvSpPr>
        <p:spPr>
          <a:xfrm>
            <a:off x="3171173" y="-1"/>
            <a:ext cx="5298457" cy="6176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 indent="-228600" defTabSz="9144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 b="1"/>
            </a:pPr>
            <a:r>
              <a:t>Construct a hypothesis:</a:t>
            </a:r>
            <a:r>
              <a:rPr b="0"/>
              <a:t>  A hypothesis is an educated guess about how things work:</a:t>
            </a:r>
            <a:endParaRPr b="0"/>
          </a:p>
          <a:p>
            <a:pPr defTabSz="914400">
              <a:lnSpc>
                <a:spcPct val="90000"/>
              </a:lnSpc>
              <a:spcBef>
                <a:spcPts val="1200"/>
              </a:spcBef>
            </a:pPr>
          </a:p>
          <a:p>
            <a:pPr indent="-228600" defTabSz="9144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</a:pPr>
            <a:r>
              <a:t>“If _____</a:t>
            </a:r>
            <a:r>
              <a:rPr i="1"/>
              <a:t>[I do this]</a:t>
            </a:r>
            <a:r>
              <a:t> _____, then _____</a:t>
            </a:r>
            <a:r>
              <a:rPr i="1"/>
              <a:t>[this]</a:t>
            </a:r>
            <a:r>
              <a:t>_____ will happen.” </a:t>
            </a:r>
          </a:p>
          <a:p>
            <a:pPr indent="-228600" defTabSz="9144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</a:pPr>
          </a:p>
          <a:p>
            <a:pPr defTabSz="914400">
              <a:lnSpc>
                <a:spcPct val="90000"/>
              </a:lnSpc>
              <a:spcBef>
                <a:spcPts val="1200"/>
              </a:spcBef>
            </a:pPr>
          </a:p>
          <a:p>
            <a:pPr indent="-228600" defTabSz="9144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</a:pPr>
            <a:r>
              <a:t>“If _</a:t>
            </a:r>
            <a:r>
              <a:rPr i="1"/>
              <a:t>[some theory or idea]</a:t>
            </a:r>
            <a:r>
              <a:t>____ is true, then we should expect to see __[data or action]______.”</a:t>
            </a:r>
          </a:p>
          <a:p>
            <a:pPr indent="-228600" defTabSz="9144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</a:pP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</a:pPr>
            <a:r>
              <a:t>You must state your hypothesis in a way that you can </a:t>
            </a:r>
            <a:r>
              <a:rPr b="1"/>
              <a:t>easily measure </a:t>
            </a:r>
            <a:r>
              <a:t>and, of course, your hypothesis should be constructed in a way to help you </a:t>
            </a:r>
            <a:r>
              <a:rPr b="1"/>
              <a:t>answer your original question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 txBox="1"/>
          <p:nvPr/>
        </p:nvSpPr>
        <p:spPr>
          <a:xfrm>
            <a:off x="312419" y="621316"/>
            <a:ext cx="8519162" cy="3872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/>
            </a:pPr>
          </a:p>
          <a:p>
            <a:pPr>
              <a:defRPr b="1" sz="2400">
                <a:solidFill>
                  <a:srgbClr val="C00000"/>
                </a:solidFill>
              </a:defRPr>
            </a:pPr>
            <a:r>
              <a:t>Test your hypothesis by doing an experiment</a:t>
            </a:r>
            <a:r>
              <a:rPr b="0"/>
              <a:t> </a:t>
            </a:r>
            <a:endParaRPr b="0"/>
          </a:p>
          <a:p>
            <a:pPr>
              <a:defRPr sz="2400">
                <a:solidFill>
                  <a:srgbClr val="C00000"/>
                </a:solidFill>
              </a:defRPr>
            </a:pPr>
          </a:p>
          <a:p>
            <a:pPr>
              <a:defRPr b="1" sz="2400"/>
            </a:pPr>
            <a:r>
              <a:t>Experiments have two essential features:</a:t>
            </a:r>
          </a:p>
          <a:p>
            <a:pPr>
              <a:defRPr b="1" sz="2400">
                <a:solidFill>
                  <a:srgbClr val="C00000"/>
                </a:solidFill>
              </a:defRPr>
            </a:pPr>
          </a:p>
          <a:p>
            <a:pPr marL="342900" indent="-342900">
              <a:buSzPct val="100000"/>
              <a:buAutoNum type="arabicParenR" startAt="1"/>
              <a:defRPr b="1" sz="2400">
                <a:solidFill>
                  <a:srgbClr val="C00000"/>
                </a:solidFill>
              </a:defRPr>
            </a:pPr>
            <a:r>
              <a:t>  Treatment and control</a:t>
            </a:r>
          </a:p>
          <a:p>
            <a:pPr marL="342900" indent="-342900">
              <a:buSzPct val="100000"/>
              <a:buAutoNum type="arabicParenR" startAt="1"/>
              <a:defRPr b="1" sz="2400">
                <a:solidFill>
                  <a:srgbClr val="C00000"/>
                </a:solidFill>
              </a:defRPr>
            </a:pPr>
          </a:p>
          <a:p>
            <a:pPr marL="342900" indent="-342900">
              <a:buSzPct val="100000"/>
              <a:buAutoNum type="arabicParenR" startAt="3"/>
              <a:defRPr b="1" sz="2400">
                <a:solidFill>
                  <a:srgbClr val="C00000"/>
                </a:solidFill>
              </a:defRPr>
            </a:pPr>
          </a:p>
          <a:p>
            <a:pPr marL="342900" indent="-342900">
              <a:buSzPct val="100000"/>
              <a:buAutoNum type="arabicParenR" startAt="4"/>
              <a:defRPr b="1" sz="2400">
                <a:solidFill>
                  <a:srgbClr val="C00000"/>
                </a:solidFill>
              </a:defRPr>
            </a:pPr>
          </a:p>
          <a:p>
            <a:pPr marL="342900" indent="-342900">
              <a:buSzPct val="100000"/>
              <a:buAutoNum type="arabicParenR" startAt="2"/>
              <a:defRPr b="1" sz="2400">
                <a:solidFill>
                  <a:srgbClr val="C00000"/>
                </a:solidFill>
              </a:defRPr>
            </a:pPr>
            <a:r>
              <a:t>  Replication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"/>
          <p:cNvSpPr txBox="1"/>
          <p:nvPr/>
        </p:nvSpPr>
        <p:spPr>
          <a:xfrm>
            <a:off x="693419" y="358588"/>
            <a:ext cx="7757162" cy="561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2800">
                <a:solidFill>
                  <a:srgbClr val="C00000"/>
                </a:solidFill>
              </a:defRPr>
            </a:pPr>
            <a:r>
              <a:t>What about other forms of analysis and inference?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Do we always need to be </a:t>
            </a:r>
            <a:r>
              <a:rPr i="1"/>
              <a:t>explicitly </a:t>
            </a:r>
            <a:r>
              <a:t>erecting and falsifying hypotheses?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We might want to estimate the relative effect of different processes on some complex outcome, rather than narrowly determining whether each, in isolation, has an effect or not.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We might want to estimate the relative likelihood of a series of possible outcomes, rather than just stating which is the most likely to occur.</a:t>
            </a:r>
          </a:p>
          <a:p>
            <a:pPr>
              <a:defRPr sz="2400"/>
            </a:pPr>
          </a:p>
          <a:p>
            <a:pPr>
              <a:defRPr b="1" sz="2400"/>
            </a:pPr>
            <a:r>
              <a:t>The scientific process is as diverse as the people practicing science.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8"/>
          <p:cNvSpPr/>
          <p:nvPr/>
        </p:nvSpPr>
        <p:spPr>
          <a:xfrm>
            <a:off x="-1" y="0"/>
            <a:ext cx="9141716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Freeform: Shape 10"/>
          <p:cNvSpPr/>
          <p:nvPr/>
        </p:nvSpPr>
        <p:spPr>
          <a:xfrm>
            <a:off x="-1" y="1"/>
            <a:ext cx="3384352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2348" y="0"/>
                </a:lnTo>
                <a:lnTo>
                  <a:pt x="12365" y="7"/>
                </a:lnTo>
                <a:cubicBezTo>
                  <a:pt x="17902" y="2220"/>
                  <a:pt x="21600" y="6226"/>
                  <a:pt x="21600" y="10800"/>
                </a:cubicBezTo>
                <a:cubicBezTo>
                  <a:pt x="21600" y="15374"/>
                  <a:pt x="17902" y="19380"/>
                  <a:pt x="12365" y="21593"/>
                </a:cubicBezTo>
                <a:lnTo>
                  <a:pt x="12348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1"/>
          <p:cNvSpPr txBox="1"/>
          <p:nvPr/>
        </p:nvSpPr>
        <p:spPr>
          <a:xfrm>
            <a:off x="229525" y="603134"/>
            <a:ext cx="3292912" cy="5571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 defTabSz="914400">
              <a:lnSpc>
                <a:spcPct val="90000"/>
              </a:lnSpc>
              <a:spcBef>
                <a:spcPts val="600"/>
              </a:spcBef>
              <a:defRPr sz="28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Approaches that </a:t>
            </a:r>
            <a:r>
              <a:rPr i="1" u="sng"/>
              <a:t>do not involve</a:t>
            </a:r>
            <a:r>
              <a:rPr u="sng"/>
              <a:t> </a:t>
            </a:r>
            <a:r>
              <a:t>direct experimentation?</a:t>
            </a:r>
          </a:p>
        </p:txBody>
      </p:sp>
      <p:grpSp>
        <p:nvGrpSpPr>
          <p:cNvPr id="149" name="TextBox 2"/>
          <p:cNvGrpSpPr/>
          <p:nvPr/>
        </p:nvGrpSpPr>
        <p:grpSpPr>
          <a:xfrm>
            <a:off x="3905729" y="643465"/>
            <a:ext cx="4718786" cy="5491234"/>
            <a:chOff x="0" y="0"/>
            <a:chExt cx="4718784" cy="5491232"/>
          </a:xfrm>
        </p:grpSpPr>
        <p:sp>
          <p:nvSpPr>
            <p:cNvPr id="133" name="Line"/>
            <p:cNvSpPr/>
            <p:nvPr/>
          </p:nvSpPr>
          <p:spPr>
            <a:xfrm>
              <a:off x="0" y="0"/>
              <a:ext cx="4718785" cy="0"/>
            </a:xfrm>
            <a:prstGeom prst="line">
              <a:avLst/>
            </a:prstGeom>
            <a:solidFill>
              <a:schemeClr val="accent2"/>
            </a:solidFill>
            <a:ln w="12700" cap="flat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4" name="Observation (animal behavior, environmental change, etc.)"/>
            <p:cNvSpPr txBox="1"/>
            <p:nvPr/>
          </p:nvSpPr>
          <p:spPr>
            <a:xfrm>
              <a:off x="0" y="0"/>
              <a:ext cx="4718785" cy="651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389" tIns="72389" rIns="72389" bIns="72389" numCol="1" anchor="t">
              <a:spAutoFit/>
            </a:bodyPr>
            <a:lstStyle>
              <a:lvl1pPr defTabSz="844550">
                <a:lnSpc>
                  <a:spcPct val="90000"/>
                </a:lnSpc>
                <a:spcBef>
                  <a:spcPts val="700"/>
                </a:spcBef>
                <a:defRPr sz="1900"/>
              </a:lvl1pPr>
            </a:lstStyle>
            <a:p>
              <a:pPr/>
              <a:r>
                <a:t>Observation (animal behavior, environmental change, etc.)</a:t>
              </a:r>
            </a:p>
          </p:txBody>
        </p:sp>
        <p:sp>
          <p:nvSpPr>
            <p:cNvPr id="135" name="Line"/>
            <p:cNvSpPr/>
            <p:nvPr/>
          </p:nvSpPr>
          <p:spPr>
            <a:xfrm>
              <a:off x="0" y="691340"/>
              <a:ext cx="4718785" cy="1"/>
            </a:xfrm>
            <a:prstGeom prst="line">
              <a:avLst/>
            </a:prstGeom>
            <a:solidFill>
              <a:schemeClr val="accent2"/>
            </a:solidFill>
            <a:ln w="12700" cap="flat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6" name="Correlation (density and growth, salinity and survival, etc.)"/>
            <p:cNvSpPr txBox="1"/>
            <p:nvPr/>
          </p:nvSpPr>
          <p:spPr>
            <a:xfrm>
              <a:off x="0" y="691340"/>
              <a:ext cx="4718785" cy="651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389" tIns="72389" rIns="72389" bIns="72389" numCol="1" anchor="t">
              <a:spAutoFit/>
            </a:bodyPr>
            <a:lstStyle>
              <a:lvl1pPr defTabSz="844550">
                <a:lnSpc>
                  <a:spcPct val="90000"/>
                </a:lnSpc>
                <a:spcBef>
                  <a:spcPts val="700"/>
                </a:spcBef>
                <a:defRPr sz="1900"/>
              </a:lvl1pPr>
            </a:lstStyle>
            <a:p>
              <a:pPr/>
              <a:r>
                <a:t>Correlation (density and growth, salinity and survival, etc.)</a:t>
              </a:r>
            </a:p>
          </p:txBody>
        </p:sp>
        <p:sp>
          <p:nvSpPr>
            <p:cNvPr id="137" name="Line"/>
            <p:cNvSpPr/>
            <p:nvPr/>
          </p:nvSpPr>
          <p:spPr>
            <a:xfrm>
              <a:off x="0" y="1382683"/>
              <a:ext cx="4718785" cy="1"/>
            </a:xfrm>
            <a:prstGeom prst="line">
              <a:avLst/>
            </a:prstGeom>
            <a:solidFill>
              <a:schemeClr val="accent2"/>
            </a:solidFill>
            <a:ln w="12700" cap="flat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8" name="Modeling (using the computer to explore scenarios, options)"/>
            <p:cNvSpPr txBox="1"/>
            <p:nvPr/>
          </p:nvSpPr>
          <p:spPr>
            <a:xfrm>
              <a:off x="0" y="1382683"/>
              <a:ext cx="4718785" cy="651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389" tIns="72389" rIns="72389" bIns="72389" numCol="1" anchor="t">
              <a:spAutoFit/>
            </a:bodyPr>
            <a:lstStyle>
              <a:lvl1pPr defTabSz="844550">
                <a:lnSpc>
                  <a:spcPct val="90000"/>
                </a:lnSpc>
                <a:spcBef>
                  <a:spcPts val="700"/>
                </a:spcBef>
                <a:defRPr sz="1900"/>
              </a:lvl1pPr>
            </a:lstStyle>
            <a:p>
              <a:pPr/>
              <a:r>
                <a:t>Modeling (using the computer to explore scenarios, options)</a:t>
              </a:r>
            </a:p>
          </p:txBody>
        </p:sp>
        <p:sp>
          <p:nvSpPr>
            <p:cNvPr id="139" name="Line"/>
            <p:cNvSpPr/>
            <p:nvPr/>
          </p:nvSpPr>
          <p:spPr>
            <a:xfrm>
              <a:off x="0" y="2074024"/>
              <a:ext cx="4718785" cy="1"/>
            </a:xfrm>
            <a:prstGeom prst="line">
              <a:avLst/>
            </a:prstGeom>
            <a:solidFill>
              <a:schemeClr val="accent2"/>
            </a:solidFill>
            <a:ln w="12700" cap="flat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0" name="Morphology (paleontology, etc.)"/>
            <p:cNvSpPr txBox="1"/>
            <p:nvPr/>
          </p:nvSpPr>
          <p:spPr>
            <a:xfrm>
              <a:off x="0" y="2074024"/>
              <a:ext cx="4718785" cy="3836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389" tIns="72389" rIns="72389" bIns="72389" numCol="1" anchor="t">
              <a:spAutoFit/>
            </a:bodyPr>
            <a:lstStyle>
              <a:lvl1pPr defTabSz="844550">
                <a:lnSpc>
                  <a:spcPct val="90000"/>
                </a:lnSpc>
                <a:spcBef>
                  <a:spcPts val="700"/>
                </a:spcBef>
                <a:defRPr sz="1900"/>
              </a:lvl1pPr>
            </a:lstStyle>
            <a:p>
              <a:pPr/>
              <a:r>
                <a:t>Morphology (paleontology, etc.)</a:t>
              </a:r>
            </a:p>
          </p:txBody>
        </p:sp>
        <p:sp>
          <p:nvSpPr>
            <p:cNvPr id="141" name="Line"/>
            <p:cNvSpPr/>
            <p:nvPr/>
          </p:nvSpPr>
          <p:spPr>
            <a:xfrm>
              <a:off x="0" y="2765367"/>
              <a:ext cx="4718785" cy="1"/>
            </a:xfrm>
            <a:prstGeom prst="line">
              <a:avLst/>
            </a:prstGeom>
            <a:solidFill>
              <a:schemeClr val="accent2"/>
            </a:solidFill>
            <a:ln w="12700" cap="flat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2" name="Descriptive (discovery of a new species of organism)"/>
            <p:cNvSpPr txBox="1"/>
            <p:nvPr/>
          </p:nvSpPr>
          <p:spPr>
            <a:xfrm>
              <a:off x="0" y="2765367"/>
              <a:ext cx="4718785" cy="651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389" tIns="72389" rIns="72389" bIns="72389" numCol="1" anchor="t">
              <a:spAutoFit/>
            </a:bodyPr>
            <a:lstStyle>
              <a:lvl1pPr defTabSz="844550">
                <a:lnSpc>
                  <a:spcPct val="90000"/>
                </a:lnSpc>
                <a:spcBef>
                  <a:spcPts val="700"/>
                </a:spcBef>
                <a:defRPr sz="1900"/>
              </a:lvl1pPr>
            </a:lstStyle>
            <a:p>
              <a:pPr/>
              <a:r>
                <a:t>Descriptive (discovery of a new species of organism)</a:t>
              </a:r>
            </a:p>
          </p:txBody>
        </p:sp>
        <p:sp>
          <p:nvSpPr>
            <p:cNvPr id="143" name="Line"/>
            <p:cNvSpPr/>
            <p:nvPr/>
          </p:nvSpPr>
          <p:spPr>
            <a:xfrm>
              <a:off x="0" y="3456709"/>
              <a:ext cx="4718785" cy="1"/>
            </a:xfrm>
            <a:prstGeom prst="line">
              <a:avLst/>
            </a:prstGeom>
            <a:solidFill>
              <a:schemeClr val="accent2"/>
            </a:solidFill>
            <a:ln w="12700" cap="flat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4" name="Microscopical examination (new pathogens, structures, etc.)"/>
            <p:cNvSpPr txBox="1"/>
            <p:nvPr/>
          </p:nvSpPr>
          <p:spPr>
            <a:xfrm>
              <a:off x="0" y="3456709"/>
              <a:ext cx="4718785" cy="651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389" tIns="72389" rIns="72389" bIns="72389" numCol="1" anchor="t">
              <a:spAutoFit/>
            </a:bodyPr>
            <a:lstStyle>
              <a:lvl1pPr defTabSz="844550">
                <a:lnSpc>
                  <a:spcPct val="90000"/>
                </a:lnSpc>
                <a:spcBef>
                  <a:spcPts val="700"/>
                </a:spcBef>
                <a:defRPr sz="1900"/>
              </a:lvl1pPr>
            </a:lstStyle>
            <a:p>
              <a:pPr/>
              <a:r>
                <a:t>Microscopical examination (new pathogens, structures, etc.)</a:t>
              </a:r>
            </a:p>
          </p:txBody>
        </p:sp>
        <p:sp>
          <p:nvSpPr>
            <p:cNvPr id="145" name="Line"/>
            <p:cNvSpPr/>
            <p:nvPr/>
          </p:nvSpPr>
          <p:spPr>
            <a:xfrm>
              <a:off x="0" y="4148051"/>
              <a:ext cx="4718785" cy="1"/>
            </a:xfrm>
            <a:prstGeom prst="line">
              <a:avLst/>
            </a:prstGeom>
            <a:solidFill>
              <a:schemeClr val="accent2"/>
            </a:solidFill>
            <a:ln w="12700" cap="flat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6" name="Others"/>
            <p:cNvSpPr txBox="1"/>
            <p:nvPr/>
          </p:nvSpPr>
          <p:spPr>
            <a:xfrm>
              <a:off x="0" y="4148051"/>
              <a:ext cx="4718785" cy="3836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389" tIns="72389" rIns="72389" bIns="72389" numCol="1" anchor="t">
              <a:spAutoFit/>
            </a:bodyPr>
            <a:lstStyle>
              <a:lvl1pPr defTabSz="844550">
                <a:lnSpc>
                  <a:spcPct val="90000"/>
                </a:lnSpc>
                <a:spcBef>
                  <a:spcPts val="700"/>
                </a:spcBef>
                <a:defRPr sz="1900"/>
              </a:lvl1pPr>
            </a:lstStyle>
            <a:p>
              <a:pPr/>
              <a:r>
                <a:t>Others</a:t>
              </a:r>
            </a:p>
          </p:txBody>
        </p:sp>
        <p:sp>
          <p:nvSpPr>
            <p:cNvPr id="147" name="Line"/>
            <p:cNvSpPr/>
            <p:nvPr/>
          </p:nvSpPr>
          <p:spPr>
            <a:xfrm>
              <a:off x="0" y="4839392"/>
              <a:ext cx="4718785" cy="1"/>
            </a:xfrm>
            <a:prstGeom prst="line">
              <a:avLst/>
            </a:prstGeom>
            <a:solidFill>
              <a:schemeClr val="accent2"/>
            </a:solidFill>
            <a:ln w="12700" cap="flat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8" name="Are null hypotheses imbedded in these non-experimental studies?"/>
            <p:cNvSpPr txBox="1"/>
            <p:nvPr/>
          </p:nvSpPr>
          <p:spPr>
            <a:xfrm>
              <a:off x="0" y="4839392"/>
              <a:ext cx="4718785" cy="651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389" tIns="72389" rIns="72389" bIns="72389" numCol="1" anchor="t">
              <a:spAutoFit/>
            </a:bodyPr>
            <a:lstStyle>
              <a:lvl1pPr defTabSz="844550">
                <a:lnSpc>
                  <a:spcPct val="90000"/>
                </a:lnSpc>
                <a:spcBef>
                  <a:spcPts val="700"/>
                </a:spcBef>
                <a:defRPr sz="1900"/>
              </a:lvl1pPr>
            </a:lstStyle>
            <a:p>
              <a:pPr/>
              <a:r>
                <a:t>Are null hypotheses imbedded in these non-experimental studies?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3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Freeform: Shape 33"/>
          <p:cNvSpPr/>
          <p:nvPr/>
        </p:nvSpPr>
        <p:spPr>
          <a:xfrm flipH="1" rot="18900000">
            <a:off x="-282117" y="-253671"/>
            <a:ext cx="1370728" cy="1376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5488"/>
                </a:moveTo>
                <a:lnTo>
                  <a:pt x="11669" y="0"/>
                </a:lnTo>
                <a:lnTo>
                  <a:pt x="21600" y="13181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Rectangle 35"/>
          <p:cNvSpPr/>
          <p:nvPr/>
        </p:nvSpPr>
        <p:spPr>
          <a:xfrm flipH="1" rot="18900000">
            <a:off x="668730" y="422145"/>
            <a:ext cx="484026" cy="645369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Rectangle 37"/>
          <p:cNvSpPr/>
          <p:nvPr/>
        </p:nvSpPr>
        <p:spPr>
          <a:xfrm flipH="1" rot="18900000">
            <a:off x="7532610" y="655140"/>
            <a:ext cx="515605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Freeform: Shape 39"/>
          <p:cNvSpPr/>
          <p:nvPr/>
        </p:nvSpPr>
        <p:spPr>
          <a:xfrm flipH="1" rot="10800000">
            <a:off x="7017481" y="0"/>
            <a:ext cx="2126519" cy="14808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21600"/>
                </a:lnTo>
                <a:lnTo>
                  <a:pt x="11829" y="0"/>
                </a:lnTo>
                <a:lnTo>
                  <a:pt x="21600" y="17843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Isosceles Triangle 41"/>
          <p:cNvSpPr/>
          <p:nvPr/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Isosceles Triangle 43"/>
          <p:cNvSpPr/>
          <p:nvPr/>
        </p:nvSpPr>
        <p:spPr>
          <a:xfrm flipH="1">
            <a:off x="5703059" y="6453142"/>
            <a:ext cx="611178" cy="404858"/>
          </a:xfrm>
          <a:prstGeom prst="triangle">
            <a:avLst/>
          </a:prstGeom>
          <a:solidFill>
            <a:schemeClr val="accent1">
              <a:alpha val="3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60" name="Group"/>
          <p:cNvGrpSpPr/>
          <p:nvPr/>
        </p:nvGrpSpPr>
        <p:grpSpPr>
          <a:xfrm>
            <a:off x="2845722" y="1730517"/>
            <a:ext cx="5669628" cy="3401778"/>
            <a:chOff x="0" y="0"/>
            <a:chExt cx="5669627" cy="3401776"/>
          </a:xfrm>
        </p:grpSpPr>
        <p:sp>
          <p:nvSpPr>
            <p:cNvPr id="158" name="Rounded Rectangle"/>
            <p:cNvSpPr/>
            <p:nvPr/>
          </p:nvSpPr>
          <p:spPr>
            <a:xfrm>
              <a:off x="0" y="0"/>
              <a:ext cx="5669628" cy="3401777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33450">
                <a:lnSpc>
                  <a:spcPct val="90000"/>
                </a:lnSpc>
                <a:spcBef>
                  <a:spcPts val="3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9" name="Communicate your results:  To complete your project you communicate your results to others.…"/>
            <p:cNvSpPr txBox="1"/>
            <p:nvPr/>
          </p:nvSpPr>
          <p:spPr>
            <a:xfrm>
              <a:off x="99634" y="99635"/>
              <a:ext cx="5470359" cy="31316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2870" tIns="102870" rIns="102870" bIns="102870" numCol="1" anchor="t">
              <a:spAutoFit/>
            </a:bodyPr>
            <a:lstStyle/>
            <a:p>
              <a:pPr defTabSz="1200150">
                <a:lnSpc>
                  <a:spcPct val="90000"/>
                </a:lnSpc>
                <a:spcBef>
                  <a:spcPts val="1100"/>
                </a:spcBef>
                <a:defRPr b="1" sz="2700">
                  <a:solidFill>
                    <a:srgbClr val="FFFFFF"/>
                  </a:solidFill>
                </a:defRPr>
              </a:pPr>
              <a:r>
                <a:t>Communicate your results:</a:t>
              </a:r>
              <a:r>
                <a:rPr b="0"/>
                <a:t>  To complete your project you communicate your results to others. </a:t>
              </a:r>
            </a:p>
            <a:p>
              <a:pPr lvl="1" marL="228600" indent="-228600" defTabSz="933450">
                <a:lnSpc>
                  <a:spcPct val="90000"/>
                </a:lnSpc>
                <a:spcBef>
                  <a:spcPts val="300"/>
                </a:spcBef>
                <a:buSzPct val="100000"/>
                <a:buChar char="•"/>
                <a:defRPr sz="2100">
                  <a:solidFill>
                    <a:srgbClr val="FFFFFF"/>
                  </a:solidFill>
                </a:defRPr>
              </a:pPr>
              <a:r>
                <a:t>presenting your findings orally at a scientific meeting </a:t>
              </a:r>
            </a:p>
            <a:p>
              <a:pPr lvl="1" marL="228600" indent="-228600" defTabSz="933450">
                <a:lnSpc>
                  <a:spcPct val="90000"/>
                </a:lnSpc>
                <a:spcBef>
                  <a:spcPts val="300"/>
                </a:spcBef>
                <a:buSzPct val="100000"/>
                <a:buChar char="•"/>
                <a:defRPr sz="2100">
                  <a:solidFill>
                    <a:srgbClr val="FFFFFF"/>
                  </a:solidFill>
                </a:defRPr>
              </a:pPr>
              <a:r>
                <a:t>a poster at a scientific meeting</a:t>
              </a:r>
            </a:p>
            <a:p>
              <a:pPr lvl="1" marL="228600" indent="-228600" defTabSz="933450">
                <a:lnSpc>
                  <a:spcPct val="90000"/>
                </a:lnSpc>
                <a:spcBef>
                  <a:spcPts val="300"/>
                </a:spcBef>
                <a:buSzPct val="100000"/>
                <a:buChar char="•"/>
                <a:defRPr sz="2100">
                  <a:solidFill>
                    <a:srgbClr val="FFFFFF"/>
                  </a:solidFill>
                </a:defRPr>
              </a:pPr>
              <a:r>
                <a:t>publishing the work in a scientific journal</a:t>
              </a:r>
            </a:p>
            <a:p>
              <a:pPr lvl="1" marL="228600" indent="-228600" defTabSz="933450">
                <a:lnSpc>
                  <a:spcPct val="90000"/>
                </a:lnSpc>
                <a:spcBef>
                  <a:spcPts val="300"/>
                </a:spcBef>
                <a:buSzPct val="100000"/>
                <a:buChar char="•"/>
                <a:defRPr sz="2100">
                  <a:solidFill>
                    <a:srgbClr val="FFFFFF"/>
                  </a:solidFill>
                </a:defRPr>
              </a:pPr>
              <a:r>
                <a:t>Publishing results in popular media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rcRect l="0" t="0" r="11334" b="0"/>
          <a:stretch>
            <a:fillRect/>
          </a:stretch>
        </p:blipFill>
        <p:spPr>
          <a:xfrm>
            <a:off x="19" y="9"/>
            <a:ext cx="9143982" cy="6857991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rgbClr val="E7E6E6">
                  <a:alpha val="68000"/>
                </a:srgbClr>
              </a:gs>
              <a:gs pos="85000">
                <a:srgbClr val="E7E6E6">
                  <a:alpha val="9700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TextBox 1"/>
          <p:cNvSpPr txBox="1"/>
          <p:nvPr/>
        </p:nvSpPr>
        <p:spPr>
          <a:xfrm>
            <a:off x="674369" y="365125"/>
            <a:ext cx="779526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 defTabSz="914400">
              <a:lnSpc>
                <a:spcPct val="90000"/>
              </a:lnSpc>
              <a:spcBef>
                <a:spcPts val="600"/>
              </a:spcBef>
              <a:defRPr sz="44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Where do we find scientific information?</a:t>
            </a:r>
          </a:p>
        </p:txBody>
      </p:sp>
      <p:sp>
        <p:nvSpPr>
          <p:cNvPr id="165" name="TextBox 3"/>
          <p:cNvSpPr txBox="1"/>
          <p:nvPr/>
        </p:nvSpPr>
        <p:spPr>
          <a:xfrm>
            <a:off x="388619" y="6338985"/>
            <a:ext cx="83667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600"/>
              </a:spcBef>
              <a:defRPr b="1" sz="1400">
                <a:solidFill>
                  <a:srgbClr val="C00000"/>
                </a:solidFill>
              </a:defRPr>
            </a:lvl1pPr>
          </a:lstStyle>
          <a:p>
            <a:pPr/>
            <a:r>
              <a:t>Each form of communication has strengths and weaknesses; it is important to understand their differences. </a:t>
            </a:r>
          </a:p>
        </p:txBody>
      </p:sp>
      <p:grpSp>
        <p:nvGrpSpPr>
          <p:cNvPr id="187" name="TextBox 2"/>
          <p:cNvGrpSpPr/>
          <p:nvPr/>
        </p:nvGrpSpPr>
        <p:grpSpPr>
          <a:xfrm>
            <a:off x="1096921" y="1829369"/>
            <a:ext cx="6950156" cy="4343848"/>
            <a:chOff x="0" y="0"/>
            <a:chExt cx="6950154" cy="4343846"/>
          </a:xfrm>
        </p:grpSpPr>
        <p:grpSp>
          <p:nvGrpSpPr>
            <p:cNvPr id="168" name="Group"/>
            <p:cNvGrpSpPr/>
            <p:nvPr/>
          </p:nvGrpSpPr>
          <p:grpSpPr>
            <a:xfrm>
              <a:off x="0" y="0"/>
              <a:ext cx="2171924" cy="1303154"/>
              <a:chOff x="0" y="0"/>
              <a:chExt cx="2171923" cy="1303153"/>
            </a:xfrm>
          </p:grpSpPr>
          <p:sp>
            <p:nvSpPr>
              <p:cNvPr id="166" name="Rectangle"/>
              <p:cNvSpPr/>
              <p:nvPr/>
            </p:nvSpPr>
            <p:spPr>
              <a:xfrm>
                <a:off x="-1" y="-1"/>
                <a:ext cx="2171925" cy="1303155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93345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7" name="Peer-reviewed journals"/>
              <p:cNvSpPr txBox="1"/>
              <p:nvPr/>
            </p:nvSpPr>
            <p:spPr>
              <a:xfrm>
                <a:off x="0" y="284364"/>
                <a:ext cx="2171924" cy="7344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0010" tIns="80010" rIns="80010" bIns="80010" numCol="1" anchor="ctr">
                <a:spAutoFit/>
              </a:bodyPr>
              <a:lstStyle>
                <a:lvl1pPr algn="ctr" defTabSz="933450">
                  <a:lnSpc>
                    <a:spcPct val="90000"/>
                  </a:lnSpc>
                  <a:spcBef>
                    <a:spcPts val="800"/>
                  </a:spcBef>
                  <a:defRPr sz="21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Peer-reviewed journals </a:t>
                </a:r>
              </a:p>
            </p:txBody>
          </p:sp>
        </p:grpSp>
        <p:grpSp>
          <p:nvGrpSpPr>
            <p:cNvPr id="171" name="Group"/>
            <p:cNvGrpSpPr/>
            <p:nvPr/>
          </p:nvGrpSpPr>
          <p:grpSpPr>
            <a:xfrm>
              <a:off x="2389116" y="0"/>
              <a:ext cx="2171924" cy="1303154"/>
              <a:chOff x="0" y="0"/>
              <a:chExt cx="2171923" cy="1303153"/>
            </a:xfrm>
          </p:grpSpPr>
          <p:sp>
            <p:nvSpPr>
              <p:cNvPr id="169" name="Rectangle"/>
              <p:cNvSpPr/>
              <p:nvPr/>
            </p:nvSpPr>
            <p:spPr>
              <a:xfrm>
                <a:off x="-1" y="-1"/>
                <a:ext cx="2171925" cy="1303155"/>
              </a:xfrm>
              <a:prstGeom prst="rect">
                <a:avLst/>
              </a:prstGeom>
              <a:solidFill>
                <a:srgbClr val="DE7A47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93345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0" name="Single-authored books"/>
              <p:cNvSpPr txBox="1"/>
              <p:nvPr/>
            </p:nvSpPr>
            <p:spPr>
              <a:xfrm>
                <a:off x="0" y="284364"/>
                <a:ext cx="2171924" cy="7344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0010" tIns="80010" rIns="80010" bIns="80010" numCol="1" anchor="ctr">
                <a:spAutoFit/>
              </a:bodyPr>
              <a:lstStyle>
                <a:lvl1pPr algn="ctr" defTabSz="933450">
                  <a:lnSpc>
                    <a:spcPct val="90000"/>
                  </a:lnSpc>
                  <a:spcBef>
                    <a:spcPts val="800"/>
                  </a:spcBef>
                  <a:defRPr sz="21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Single-authored books</a:t>
                </a:r>
              </a:p>
            </p:txBody>
          </p:sp>
        </p:grpSp>
        <p:grpSp>
          <p:nvGrpSpPr>
            <p:cNvPr id="174" name="Group"/>
            <p:cNvGrpSpPr/>
            <p:nvPr/>
          </p:nvGrpSpPr>
          <p:grpSpPr>
            <a:xfrm>
              <a:off x="4778231" y="0"/>
              <a:ext cx="2171924" cy="1303154"/>
              <a:chOff x="0" y="0"/>
              <a:chExt cx="2171923" cy="1303153"/>
            </a:xfrm>
          </p:grpSpPr>
          <p:sp>
            <p:nvSpPr>
              <p:cNvPr id="172" name="Rectangle"/>
              <p:cNvSpPr/>
              <p:nvPr/>
            </p:nvSpPr>
            <p:spPr>
              <a:xfrm>
                <a:off x="-1" y="-1"/>
                <a:ext cx="2171925" cy="1303155"/>
              </a:xfrm>
              <a:prstGeom prst="rect">
                <a:avLst/>
              </a:prstGeom>
              <a:solidFill>
                <a:srgbClr val="D17B5C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93345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3" name="Edited, multi-authored books"/>
              <p:cNvSpPr txBox="1"/>
              <p:nvPr/>
            </p:nvSpPr>
            <p:spPr>
              <a:xfrm>
                <a:off x="0" y="284364"/>
                <a:ext cx="2171924" cy="7344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0010" tIns="80010" rIns="80010" bIns="80010" numCol="1" anchor="ctr">
                <a:spAutoFit/>
              </a:bodyPr>
              <a:lstStyle>
                <a:lvl1pPr algn="ctr" defTabSz="933450">
                  <a:lnSpc>
                    <a:spcPct val="90000"/>
                  </a:lnSpc>
                  <a:spcBef>
                    <a:spcPts val="800"/>
                  </a:spcBef>
                  <a:defRPr sz="21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Edited, multi-authored books </a:t>
                </a:r>
              </a:p>
            </p:txBody>
          </p:sp>
        </p:grpSp>
        <p:grpSp>
          <p:nvGrpSpPr>
            <p:cNvPr id="177" name="Group"/>
            <p:cNvGrpSpPr/>
            <p:nvPr/>
          </p:nvGrpSpPr>
          <p:grpSpPr>
            <a:xfrm>
              <a:off x="0" y="1520346"/>
              <a:ext cx="2171924" cy="1303154"/>
              <a:chOff x="0" y="0"/>
              <a:chExt cx="2171923" cy="1303153"/>
            </a:xfrm>
          </p:grpSpPr>
          <p:sp>
            <p:nvSpPr>
              <p:cNvPr id="175" name="Rectangle"/>
              <p:cNvSpPr/>
              <p:nvPr/>
            </p:nvSpPr>
            <p:spPr>
              <a:xfrm>
                <a:off x="-1" y="-1"/>
                <a:ext cx="2171925" cy="1303155"/>
              </a:xfrm>
              <a:prstGeom prst="rect">
                <a:avLst/>
              </a:prstGeom>
              <a:solidFill>
                <a:srgbClr val="C48170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93345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6" name="Master’s theses and doctoral dissertations"/>
              <p:cNvSpPr txBox="1"/>
              <p:nvPr/>
            </p:nvSpPr>
            <p:spPr>
              <a:xfrm>
                <a:off x="0" y="132831"/>
                <a:ext cx="2171924" cy="10374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0010" tIns="80010" rIns="80010" bIns="80010" numCol="1" anchor="ctr">
                <a:spAutoFit/>
              </a:bodyPr>
              <a:lstStyle>
                <a:lvl1pPr algn="ctr" defTabSz="933450">
                  <a:lnSpc>
                    <a:spcPct val="90000"/>
                  </a:lnSpc>
                  <a:spcBef>
                    <a:spcPts val="800"/>
                  </a:spcBef>
                  <a:defRPr sz="21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Master’s theses and doctoral dissertations</a:t>
                </a:r>
              </a:p>
            </p:txBody>
          </p:sp>
        </p:grpSp>
        <p:grpSp>
          <p:nvGrpSpPr>
            <p:cNvPr id="180" name="Group"/>
            <p:cNvGrpSpPr/>
            <p:nvPr/>
          </p:nvGrpSpPr>
          <p:grpSpPr>
            <a:xfrm>
              <a:off x="2389116" y="1520346"/>
              <a:ext cx="2171924" cy="1303154"/>
              <a:chOff x="0" y="0"/>
              <a:chExt cx="2171923" cy="1303153"/>
            </a:xfrm>
          </p:grpSpPr>
          <p:sp>
            <p:nvSpPr>
              <p:cNvPr id="178" name="Rectangle"/>
              <p:cNvSpPr/>
              <p:nvPr/>
            </p:nvSpPr>
            <p:spPr>
              <a:xfrm>
                <a:off x="-1" y="-1"/>
                <a:ext cx="2171925" cy="1303155"/>
              </a:xfrm>
              <a:prstGeom prst="rect">
                <a:avLst/>
              </a:prstGeom>
              <a:solidFill>
                <a:srgbClr val="B98A82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93345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9" name="Agency reports (sometimes called “grey literature”)"/>
              <p:cNvSpPr txBox="1"/>
              <p:nvPr/>
            </p:nvSpPr>
            <p:spPr>
              <a:xfrm>
                <a:off x="0" y="132831"/>
                <a:ext cx="2171924" cy="10374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0010" tIns="80010" rIns="80010" bIns="80010" numCol="1" anchor="ctr">
                <a:spAutoFit/>
              </a:bodyPr>
              <a:lstStyle>
                <a:lvl1pPr algn="ctr" defTabSz="933450">
                  <a:lnSpc>
                    <a:spcPct val="90000"/>
                  </a:lnSpc>
                  <a:spcBef>
                    <a:spcPts val="800"/>
                  </a:spcBef>
                  <a:defRPr sz="21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Agency reports (sometimes called “grey literature”)</a:t>
                </a:r>
              </a:p>
            </p:txBody>
          </p:sp>
        </p:grpSp>
        <p:grpSp>
          <p:nvGrpSpPr>
            <p:cNvPr id="183" name="Group"/>
            <p:cNvGrpSpPr/>
            <p:nvPr/>
          </p:nvGrpSpPr>
          <p:grpSpPr>
            <a:xfrm>
              <a:off x="4778231" y="1520346"/>
              <a:ext cx="2171924" cy="1303154"/>
              <a:chOff x="0" y="0"/>
              <a:chExt cx="2171923" cy="1303153"/>
            </a:xfrm>
          </p:grpSpPr>
          <p:sp>
            <p:nvSpPr>
              <p:cNvPr id="181" name="Rectangle"/>
              <p:cNvSpPr/>
              <p:nvPr/>
            </p:nvSpPr>
            <p:spPr>
              <a:xfrm>
                <a:off x="-1" y="-1"/>
                <a:ext cx="2171925" cy="1303155"/>
              </a:xfrm>
              <a:prstGeom prst="rect">
                <a:avLst/>
              </a:prstGeom>
              <a:solidFill>
                <a:srgbClr val="AE9694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93345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2" name="Websites and other electronic sources"/>
              <p:cNvSpPr txBox="1"/>
              <p:nvPr/>
            </p:nvSpPr>
            <p:spPr>
              <a:xfrm>
                <a:off x="0" y="132831"/>
                <a:ext cx="2171924" cy="10374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0010" tIns="80010" rIns="80010" bIns="80010" numCol="1" anchor="ctr">
                <a:spAutoFit/>
              </a:bodyPr>
              <a:lstStyle>
                <a:lvl1pPr algn="ctr" defTabSz="933450">
                  <a:lnSpc>
                    <a:spcPct val="90000"/>
                  </a:lnSpc>
                  <a:spcBef>
                    <a:spcPts val="800"/>
                  </a:spcBef>
                  <a:defRPr sz="21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Websites and other electronic sources</a:t>
                </a:r>
              </a:p>
            </p:txBody>
          </p:sp>
        </p:grpSp>
        <p:grpSp>
          <p:nvGrpSpPr>
            <p:cNvPr id="186" name="Group"/>
            <p:cNvGrpSpPr/>
            <p:nvPr/>
          </p:nvGrpSpPr>
          <p:grpSpPr>
            <a:xfrm>
              <a:off x="2389116" y="3040693"/>
              <a:ext cx="2171924" cy="1303154"/>
              <a:chOff x="0" y="0"/>
              <a:chExt cx="2171923" cy="1303153"/>
            </a:xfrm>
          </p:grpSpPr>
          <p:sp>
            <p:nvSpPr>
              <p:cNvPr id="184" name="Rectangle"/>
              <p:cNvSpPr/>
              <p:nvPr/>
            </p:nvSpPr>
            <p:spPr>
              <a:xfrm>
                <a:off x="-1" y="-1"/>
                <a:ext cx="2171925" cy="1303155"/>
              </a:xfrm>
              <a:prstGeom prst="rect">
                <a:avLst/>
              </a:prstGeom>
              <a:solidFill>
                <a:schemeClr val="accent3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93345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5" name="Others?"/>
              <p:cNvSpPr txBox="1"/>
              <p:nvPr/>
            </p:nvSpPr>
            <p:spPr>
              <a:xfrm>
                <a:off x="0" y="435897"/>
                <a:ext cx="2171924" cy="431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0010" tIns="80010" rIns="80010" bIns="80010" numCol="1" anchor="ctr">
                <a:spAutoFit/>
              </a:bodyPr>
              <a:lstStyle>
                <a:lvl1pPr algn="ctr" defTabSz="933450">
                  <a:lnSpc>
                    <a:spcPct val="90000"/>
                  </a:lnSpc>
                  <a:spcBef>
                    <a:spcPts val="800"/>
                  </a:spcBef>
                  <a:defRPr sz="21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Others?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TextBox 1"/>
          <p:cNvSpPr txBox="1"/>
          <p:nvPr/>
        </p:nvSpPr>
        <p:spPr>
          <a:xfrm>
            <a:off x="674369" y="365125"/>
            <a:ext cx="395358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defRPr sz="37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Types of scientific literature</a:t>
            </a:r>
          </a:p>
        </p:txBody>
      </p:sp>
      <p:sp>
        <p:nvSpPr>
          <p:cNvPr id="191" name="TextBox 2"/>
          <p:cNvSpPr txBox="1"/>
          <p:nvPr/>
        </p:nvSpPr>
        <p:spPr>
          <a:xfrm>
            <a:off x="674369" y="1825625"/>
            <a:ext cx="3953582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  <a:defRPr b="1"/>
            </a:pPr>
            <a:r>
              <a:t>Primary: </a:t>
            </a:r>
            <a:r>
              <a:rPr b="0"/>
              <a:t>represents the results of an original study</a:t>
            </a:r>
            <a:endParaRPr b="0"/>
          </a:p>
          <a:p>
            <a:pPr marL="4572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</a:pPr>
            <a:r>
              <a:t>Scientific papers in </a:t>
            </a:r>
            <a:r>
              <a:rPr u="sng"/>
              <a:t>IMRaD</a:t>
            </a:r>
            <a:r>
              <a:t> format*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</a:pPr>
            <a:r>
              <a:t>	*note that some journals like </a:t>
            </a:r>
            <a:r>
              <a:rPr i="1"/>
              <a:t>Science </a:t>
            </a:r>
            <a:r>
              <a:t>and </a:t>
            </a:r>
            <a:r>
              <a:rPr i="1"/>
              <a:t>Nature </a:t>
            </a:r>
            <a:r>
              <a:t>use a 	different format more like a magazine article</a:t>
            </a:r>
          </a:p>
          <a:p>
            <a:pPr marL="4572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</a:pPr>
            <a:r>
              <a:t>Also includes conference papers, dissertations, and technical reports</a:t>
            </a:r>
          </a:p>
          <a:p>
            <a:pPr marL="4572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</a:pPr>
            <a:r>
              <a:t>How do you know you’re reading primary literature? Look for (mention of) Methods and Results.</a:t>
            </a:r>
          </a:p>
        </p:txBody>
      </p:sp>
      <p:pic>
        <p:nvPicPr>
          <p:cNvPr id="19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18619" t="0" r="34129" b="1"/>
          <a:stretch>
            <a:fillRect/>
          </a:stretch>
        </p:blipFill>
        <p:spPr>
          <a:xfrm>
            <a:off x="4781189" y="758514"/>
            <a:ext cx="3841751" cy="51220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93" name="!!Arc"/>
          <p:cNvSpPr/>
          <p:nvPr/>
        </p:nvSpPr>
        <p:spPr>
          <a:xfrm flipV="1" rot="21189197">
            <a:off x="6958327" y="4202305"/>
            <a:ext cx="1935556" cy="18283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9718" y="0"/>
                  <a:pt x="18377" y="8659"/>
                  <a:pt x="21600" y="21600"/>
                </a:cubicBezTo>
              </a:path>
            </a:pathLst>
          </a:custGeom>
          <a:ln w="127000" cap="rnd">
            <a:solidFill>
              <a:schemeClr val="accent4">
                <a:alpha val="95000"/>
              </a:schemeClr>
            </a:solidFill>
            <a:prstDash val="dash"/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194" name="!!Oval"/>
          <p:cNvSpPr/>
          <p:nvPr/>
        </p:nvSpPr>
        <p:spPr>
          <a:xfrm>
            <a:off x="7686419" y="921124"/>
            <a:ext cx="593267" cy="769565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"/>
          <p:cNvSpPr txBox="1"/>
          <p:nvPr/>
        </p:nvSpPr>
        <p:spPr>
          <a:xfrm>
            <a:off x="674369" y="365125"/>
            <a:ext cx="395358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defRPr sz="37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Types of scientific literature</a:t>
            </a:r>
          </a:p>
        </p:txBody>
      </p:sp>
      <p:sp>
        <p:nvSpPr>
          <p:cNvPr id="197" name="TextBox 2"/>
          <p:cNvSpPr txBox="1"/>
          <p:nvPr/>
        </p:nvSpPr>
        <p:spPr>
          <a:xfrm>
            <a:off x="674369" y="1825625"/>
            <a:ext cx="3953582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  <a:defRPr b="1"/>
            </a:pPr>
            <a:r>
              <a:t>Primary: </a:t>
            </a:r>
            <a:r>
              <a:rPr b="0"/>
              <a:t>represents the results of an original study</a:t>
            </a:r>
            <a:endParaRPr b="0"/>
          </a:p>
          <a:p>
            <a:pPr marL="4572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</a:pPr>
            <a:r>
              <a:t>Not all primary literature is peer-reviewed.</a:t>
            </a:r>
          </a:p>
          <a:p>
            <a:pPr marL="4572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  <a:defRPr b="1"/>
            </a:pPr>
            <a:r>
              <a:t>Grey literature</a:t>
            </a:r>
            <a:r>
              <a:rPr b="0"/>
              <a:t> refers to reports that are archived but have not been peer-reviewed. Include dissertations, technical reports, and pre-prints</a:t>
            </a:r>
          </a:p>
        </p:txBody>
      </p:sp>
      <p:pic>
        <p:nvPicPr>
          <p:cNvPr id="19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18619" t="0" r="34129" b="1"/>
          <a:stretch>
            <a:fillRect/>
          </a:stretch>
        </p:blipFill>
        <p:spPr>
          <a:xfrm>
            <a:off x="4781189" y="758514"/>
            <a:ext cx="3841751" cy="51220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lide Background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0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33191" t="0" r="29534" b="0"/>
          <a:stretch>
            <a:fillRect/>
          </a:stretch>
        </p:blipFill>
        <p:spPr>
          <a:xfrm>
            <a:off x="20" y="-2"/>
            <a:ext cx="4057628" cy="6857934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Rectangle 10"/>
          <p:cNvSpPr/>
          <p:nvPr/>
        </p:nvSpPr>
        <p:spPr>
          <a:xfrm>
            <a:off x="4057646" y="-2"/>
            <a:ext cx="5086353" cy="228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55600" dist="152400" dir="0">
              <a:srgbClr val="000000">
                <a:alpha val="29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TextBox 1"/>
          <p:cNvSpPr txBox="1"/>
          <p:nvPr/>
        </p:nvSpPr>
        <p:spPr>
          <a:xfrm>
            <a:off x="4632207" y="405684"/>
            <a:ext cx="4007287" cy="1559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defRPr sz="35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Types of scientific literature</a:t>
            </a:r>
          </a:p>
        </p:txBody>
      </p:sp>
      <p:sp>
        <p:nvSpPr>
          <p:cNvPr id="204" name="TextBox 2"/>
          <p:cNvSpPr txBox="1"/>
          <p:nvPr/>
        </p:nvSpPr>
        <p:spPr>
          <a:xfrm>
            <a:off x="4632207" y="2743199"/>
            <a:ext cx="3844066" cy="3496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  <a:defRPr b="1" sz="1700"/>
            </a:pPr>
            <a:r>
              <a:t>Secondary: </a:t>
            </a:r>
            <a:r>
              <a:rPr b="0"/>
              <a:t>sources </a:t>
            </a:r>
            <a:r>
              <a:rPr b="0" i="1"/>
              <a:t>based </a:t>
            </a:r>
            <a:r>
              <a:rPr b="0"/>
              <a:t>on multiple primary literature sources</a:t>
            </a:r>
            <a:endParaRPr b="0"/>
          </a:p>
          <a:p>
            <a:pPr marL="4572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  <a:defRPr sz="1700"/>
            </a:pPr>
            <a:r>
              <a:t>Books</a:t>
            </a:r>
          </a:p>
          <a:p>
            <a:pPr marL="4572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  <a:defRPr sz="1700"/>
            </a:pPr>
            <a:r>
              <a:t>Popular articles</a:t>
            </a:r>
          </a:p>
          <a:p>
            <a:pPr marL="4572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  <a:defRPr sz="1700"/>
            </a:pPr>
            <a:r>
              <a:t>Review papers in scientific journals. </a:t>
            </a:r>
            <a:r>
              <a:rPr b="1"/>
              <a:t>Review papers are peer reviewed!</a:t>
            </a:r>
            <a:endParaRPr b="1"/>
          </a:p>
          <a:p>
            <a:pPr marL="4572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  <a:defRPr sz="1700"/>
            </a:pPr>
            <a:r>
              <a:t>Great for readers to get an overview on a topic</a:t>
            </a:r>
          </a:p>
          <a:p>
            <a:pPr marL="457200" indent="-228600" defTabSz="9144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  <a:defRPr sz="1700"/>
            </a:pPr>
            <a:r>
              <a:t>Sometimes contain new insights based on surveying the literature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1"/>
          <p:cNvSpPr txBox="1"/>
          <p:nvPr/>
        </p:nvSpPr>
        <p:spPr>
          <a:xfrm>
            <a:off x="426719" y="228599"/>
            <a:ext cx="5928362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C00000"/>
                </a:solidFill>
              </a:defRPr>
            </a:lvl1pPr>
          </a:lstStyle>
          <a:p>
            <a:pPr/>
            <a:r>
              <a:t>How is science published?</a:t>
            </a:r>
          </a:p>
        </p:txBody>
      </p:sp>
      <p:sp>
        <p:nvSpPr>
          <p:cNvPr id="207" name="TextBox 2"/>
          <p:cNvSpPr txBox="1"/>
          <p:nvPr/>
        </p:nvSpPr>
        <p:spPr>
          <a:xfrm>
            <a:off x="426719" y="935533"/>
            <a:ext cx="7985762" cy="5795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457200" indent="-457200">
              <a:buSzPct val="100000"/>
              <a:buAutoNum type="arabicPeriod" startAt="1"/>
              <a:defRPr b="1" sz="2400"/>
            </a:pPr>
            <a:r>
              <a:t>Choose a journal to submit your manuscript</a:t>
            </a:r>
          </a:p>
          <a:p>
            <a:pPr lvl="1" marL="914400" indent="-457200">
              <a:buSzPct val="100000"/>
              <a:buFont typeface="Arial"/>
              <a:buChar char="•"/>
              <a:defRPr sz="2200"/>
            </a:pPr>
            <a:r>
              <a:t>Often you write the draft of the manuscript with this journal in mind far in advance</a:t>
            </a:r>
          </a:p>
          <a:p>
            <a:pPr lvl="1" marL="914400" indent="-457200">
              <a:buSzPct val="100000"/>
              <a:buFont typeface="Arial"/>
              <a:buChar char="•"/>
              <a:defRPr sz="2200"/>
            </a:pPr>
            <a:r>
              <a:t>Each journal has specific formatting requirements you must follow</a:t>
            </a:r>
          </a:p>
          <a:p>
            <a:pPr marL="457200" indent="-457200">
              <a:buSzPct val="100000"/>
              <a:buAutoNum type="arabicPeriod" startAt="1"/>
              <a:defRPr b="1" sz="2400"/>
            </a:pPr>
            <a:r>
              <a:t>Submit the manuscript online</a:t>
            </a:r>
          </a:p>
          <a:p>
            <a:pPr marL="457200" indent="-457200">
              <a:buSzPct val="100000"/>
              <a:buAutoNum type="arabicPeriod" startAt="1"/>
              <a:defRPr b="1" sz="2400"/>
            </a:pPr>
            <a:r>
              <a:t>An editor sends the manuscript out to anonymous peer reviewers</a:t>
            </a:r>
          </a:p>
          <a:p>
            <a:pPr lvl="1" marL="914400" indent="-457200">
              <a:buSzPct val="100000"/>
              <a:buFont typeface="Arial"/>
              <a:buChar char="•"/>
              <a:defRPr sz="2200"/>
            </a:pPr>
            <a:r>
              <a:t>Who are peer reviewers and how are they chosen?</a:t>
            </a:r>
          </a:p>
          <a:p>
            <a:pPr marL="457200" indent="-457200">
              <a:buSzPct val="100000"/>
              <a:buAutoNum type="arabicPeriod" startAt="1"/>
              <a:defRPr b="1" sz="2400"/>
            </a:pPr>
            <a:r>
              <a:t>Reviews come back and the editor makes a decision</a:t>
            </a:r>
          </a:p>
          <a:p>
            <a:pPr lvl="1" marL="914400" indent="-457200">
              <a:buSzPct val="100000"/>
              <a:buFont typeface="Arial"/>
              <a:buChar char="•"/>
              <a:defRPr sz="2200"/>
            </a:pPr>
            <a:r>
              <a:t>Usually five options: Accept-as-is, Minor revisions, Major revisions, Reject + resubmit, or Reject without option to resubmit</a:t>
            </a:r>
          </a:p>
          <a:p>
            <a:pPr marL="457200" indent="-457200">
              <a:buSzPct val="100000"/>
              <a:buAutoNum type="arabicPeriod" startAt="1"/>
              <a:defRPr b="1" sz="2400"/>
            </a:pPr>
            <a:r>
              <a:t>Manuscript is accepted to the journal! </a:t>
            </a:r>
          </a:p>
          <a:p>
            <a:pPr lvl="1" marL="914400" indent="-457200">
              <a:buSzPct val="100000"/>
              <a:buFont typeface="Arial"/>
              <a:buChar char="•"/>
              <a:defRPr sz="2200"/>
            </a:pPr>
            <a:r>
              <a:t>Journal staff type-set the article and it is published (usually a month or more after acceptance)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2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0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Box 1"/>
          <p:cNvSpPr txBox="1"/>
          <p:nvPr/>
        </p:nvSpPr>
        <p:spPr>
          <a:xfrm>
            <a:off x="3657600" y="1518500"/>
            <a:ext cx="1295400" cy="352138"/>
          </a:xfrm>
          <a:prstGeom prst="rect">
            <a:avLst/>
          </a:prstGeom>
          <a:solidFill>
            <a:srgbClr val="B4C7E7"/>
          </a:solidFill>
          <a:ln w="19050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The Study</a:t>
            </a:r>
          </a:p>
        </p:txBody>
      </p:sp>
      <p:sp>
        <p:nvSpPr>
          <p:cNvPr id="210" name="TextBox 2"/>
          <p:cNvSpPr txBox="1"/>
          <p:nvPr/>
        </p:nvSpPr>
        <p:spPr>
          <a:xfrm>
            <a:off x="914400" y="1518500"/>
            <a:ext cx="1676400" cy="352138"/>
          </a:xfrm>
          <a:prstGeom prst="rect">
            <a:avLst/>
          </a:prstGeom>
          <a:solidFill>
            <a:srgbClr val="B4C7E7"/>
          </a:solidFill>
          <a:ln w="19050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The Question</a:t>
            </a:r>
          </a:p>
        </p:txBody>
      </p:sp>
      <p:sp>
        <p:nvSpPr>
          <p:cNvPr id="211" name="TextBox 3"/>
          <p:cNvSpPr txBox="1"/>
          <p:nvPr/>
        </p:nvSpPr>
        <p:spPr>
          <a:xfrm>
            <a:off x="6172200" y="1510625"/>
            <a:ext cx="1828800" cy="352138"/>
          </a:xfrm>
          <a:prstGeom prst="rect">
            <a:avLst/>
          </a:prstGeom>
          <a:solidFill>
            <a:srgbClr val="B4C7E7"/>
          </a:solidFill>
          <a:ln w="19050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The Manuscript</a:t>
            </a:r>
          </a:p>
        </p:txBody>
      </p:sp>
      <p:sp>
        <p:nvSpPr>
          <p:cNvPr id="212" name="TextBox 4"/>
          <p:cNvSpPr txBox="1"/>
          <p:nvPr/>
        </p:nvSpPr>
        <p:spPr>
          <a:xfrm>
            <a:off x="6324600" y="3581399"/>
            <a:ext cx="1828800" cy="352139"/>
          </a:xfrm>
          <a:prstGeom prst="rect">
            <a:avLst/>
          </a:prstGeom>
          <a:solidFill>
            <a:srgbClr val="B4C7E7"/>
          </a:solidFill>
          <a:ln w="19050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Submit to Journal</a:t>
            </a:r>
          </a:p>
        </p:txBody>
      </p:sp>
      <p:sp>
        <p:nvSpPr>
          <p:cNvPr id="213" name="TextBox 5"/>
          <p:cNvSpPr txBox="1"/>
          <p:nvPr/>
        </p:nvSpPr>
        <p:spPr>
          <a:xfrm>
            <a:off x="3554634" y="3454051"/>
            <a:ext cx="1575484" cy="644238"/>
          </a:xfrm>
          <a:prstGeom prst="rect">
            <a:avLst/>
          </a:prstGeom>
          <a:solidFill>
            <a:srgbClr val="C5E0B4"/>
          </a:solidFill>
          <a:ln w="19050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External Review</a:t>
            </a:r>
          </a:p>
        </p:txBody>
      </p:sp>
      <p:sp>
        <p:nvSpPr>
          <p:cNvPr id="214" name="TextBox 6"/>
          <p:cNvSpPr txBox="1"/>
          <p:nvPr/>
        </p:nvSpPr>
        <p:spPr>
          <a:xfrm>
            <a:off x="609600" y="3455468"/>
            <a:ext cx="1828800" cy="644239"/>
          </a:xfrm>
          <a:prstGeom prst="rect">
            <a:avLst/>
          </a:prstGeom>
          <a:solidFill>
            <a:srgbClr val="C5E0B4"/>
          </a:solidFill>
          <a:ln w="19050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Response FROM Editor</a:t>
            </a:r>
          </a:p>
        </p:txBody>
      </p:sp>
      <p:sp>
        <p:nvSpPr>
          <p:cNvPr id="215" name="TextBox 7"/>
          <p:cNvSpPr txBox="1"/>
          <p:nvPr/>
        </p:nvSpPr>
        <p:spPr>
          <a:xfrm>
            <a:off x="609600" y="5410200"/>
            <a:ext cx="1828800" cy="644238"/>
          </a:xfrm>
          <a:prstGeom prst="rect">
            <a:avLst/>
          </a:prstGeom>
          <a:solidFill>
            <a:srgbClr val="B4C7E7"/>
          </a:solidFill>
          <a:ln w="19050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Response TO Editor</a:t>
            </a:r>
          </a:p>
        </p:txBody>
      </p:sp>
      <p:sp>
        <p:nvSpPr>
          <p:cNvPr id="216" name="TextBox 8"/>
          <p:cNvSpPr txBox="1"/>
          <p:nvPr/>
        </p:nvSpPr>
        <p:spPr>
          <a:xfrm>
            <a:off x="3505200" y="5422913"/>
            <a:ext cx="1828800" cy="644238"/>
          </a:xfrm>
          <a:prstGeom prst="rect">
            <a:avLst/>
          </a:prstGeom>
          <a:solidFill>
            <a:srgbClr val="C5E0B4"/>
          </a:solidFill>
          <a:ln w="19050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/>
            <a:r>
              <a:t>Manuscript</a:t>
            </a:r>
          </a:p>
          <a:p>
            <a:pPr algn="ctr"/>
            <a:r>
              <a:t>Accepted</a:t>
            </a:r>
          </a:p>
        </p:txBody>
      </p:sp>
      <p:sp>
        <p:nvSpPr>
          <p:cNvPr id="217" name="TextBox 9"/>
          <p:cNvSpPr txBox="1"/>
          <p:nvPr/>
        </p:nvSpPr>
        <p:spPr>
          <a:xfrm>
            <a:off x="6705602" y="5422913"/>
            <a:ext cx="1828801" cy="644238"/>
          </a:xfrm>
          <a:prstGeom prst="rect">
            <a:avLst/>
          </a:prstGeom>
          <a:solidFill>
            <a:srgbClr val="C5E0B4"/>
          </a:solidFill>
          <a:ln w="19050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/>
            <a:r>
              <a:t>Manuscript</a:t>
            </a:r>
          </a:p>
          <a:p>
            <a:pPr algn="ctr"/>
            <a:r>
              <a:t>Published</a:t>
            </a:r>
          </a:p>
        </p:txBody>
      </p:sp>
      <p:sp>
        <p:nvSpPr>
          <p:cNvPr id="218" name="Down Arrow 10"/>
          <p:cNvSpPr/>
          <p:nvPr/>
        </p:nvSpPr>
        <p:spPr>
          <a:xfrm rot="16200000">
            <a:off x="2956931" y="1297448"/>
            <a:ext cx="304801" cy="8114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7543"/>
                </a:moveTo>
                <a:lnTo>
                  <a:pt x="5400" y="17543"/>
                </a:lnTo>
                <a:lnTo>
                  <a:pt x="5400" y="0"/>
                </a:lnTo>
                <a:lnTo>
                  <a:pt x="16200" y="0"/>
                </a:lnTo>
                <a:lnTo>
                  <a:pt x="16200" y="17543"/>
                </a:lnTo>
                <a:lnTo>
                  <a:pt x="21600" y="17543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" name="Down Arrow 11"/>
          <p:cNvSpPr/>
          <p:nvPr/>
        </p:nvSpPr>
        <p:spPr>
          <a:xfrm rot="16200000">
            <a:off x="5319131" y="1297448"/>
            <a:ext cx="304801" cy="8114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7543"/>
                </a:moveTo>
                <a:lnTo>
                  <a:pt x="5400" y="17543"/>
                </a:lnTo>
                <a:lnTo>
                  <a:pt x="5400" y="0"/>
                </a:lnTo>
                <a:lnTo>
                  <a:pt x="16200" y="0"/>
                </a:lnTo>
                <a:lnTo>
                  <a:pt x="16200" y="17543"/>
                </a:lnTo>
                <a:lnTo>
                  <a:pt x="21600" y="17543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Down Arrow 12"/>
          <p:cNvSpPr/>
          <p:nvPr/>
        </p:nvSpPr>
        <p:spPr>
          <a:xfrm>
            <a:off x="6934200" y="2326931"/>
            <a:ext cx="304801" cy="811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7543"/>
                </a:moveTo>
                <a:lnTo>
                  <a:pt x="5400" y="17543"/>
                </a:lnTo>
                <a:lnTo>
                  <a:pt x="5400" y="0"/>
                </a:lnTo>
                <a:lnTo>
                  <a:pt x="16200" y="0"/>
                </a:lnTo>
                <a:lnTo>
                  <a:pt x="16200" y="17543"/>
                </a:lnTo>
                <a:lnTo>
                  <a:pt x="21600" y="17543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Down Arrow 13"/>
          <p:cNvSpPr/>
          <p:nvPr/>
        </p:nvSpPr>
        <p:spPr>
          <a:xfrm rot="5400000">
            <a:off x="5471531" y="3371500"/>
            <a:ext cx="304801" cy="811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7543"/>
                </a:moveTo>
                <a:lnTo>
                  <a:pt x="5400" y="17543"/>
                </a:lnTo>
                <a:lnTo>
                  <a:pt x="5400" y="0"/>
                </a:lnTo>
                <a:lnTo>
                  <a:pt x="16200" y="0"/>
                </a:lnTo>
                <a:lnTo>
                  <a:pt x="16200" y="17543"/>
                </a:lnTo>
                <a:lnTo>
                  <a:pt x="21600" y="17543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Down Arrow 14"/>
          <p:cNvSpPr/>
          <p:nvPr/>
        </p:nvSpPr>
        <p:spPr>
          <a:xfrm rot="5400000">
            <a:off x="2844117" y="3371500"/>
            <a:ext cx="304801" cy="811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7543"/>
                </a:moveTo>
                <a:lnTo>
                  <a:pt x="5400" y="17543"/>
                </a:lnTo>
                <a:lnTo>
                  <a:pt x="5400" y="0"/>
                </a:lnTo>
                <a:lnTo>
                  <a:pt x="16200" y="0"/>
                </a:lnTo>
                <a:lnTo>
                  <a:pt x="16200" y="17543"/>
                </a:lnTo>
                <a:lnTo>
                  <a:pt x="21600" y="17543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3" name="Down Arrow 15"/>
          <p:cNvSpPr/>
          <p:nvPr/>
        </p:nvSpPr>
        <p:spPr>
          <a:xfrm>
            <a:off x="1371600" y="4413248"/>
            <a:ext cx="304801" cy="811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7543"/>
                </a:moveTo>
                <a:lnTo>
                  <a:pt x="5400" y="17543"/>
                </a:lnTo>
                <a:lnTo>
                  <a:pt x="5400" y="0"/>
                </a:lnTo>
                <a:lnTo>
                  <a:pt x="16200" y="0"/>
                </a:lnTo>
                <a:lnTo>
                  <a:pt x="16200" y="17543"/>
                </a:lnTo>
                <a:lnTo>
                  <a:pt x="21600" y="17543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Down Arrow 16"/>
          <p:cNvSpPr/>
          <p:nvPr/>
        </p:nvSpPr>
        <p:spPr>
          <a:xfrm rot="16200000">
            <a:off x="2819400" y="5260885"/>
            <a:ext cx="304801" cy="811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7543"/>
                </a:moveTo>
                <a:lnTo>
                  <a:pt x="5400" y="17543"/>
                </a:lnTo>
                <a:lnTo>
                  <a:pt x="5400" y="0"/>
                </a:lnTo>
                <a:lnTo>
                  <a:pt x="16200" y="0"/>
                </a:lnTo>
                <a:lnTo>
                  <a:pt x="16200" y="17543"/>
                </a:lnTo>
                <a:lnTo>
                  <a:pt x="21600" y="17543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Down Arrow 17"/>
          <p:cNvSpPr/>
          <p:nvPr/>
        </p:nvSpPr>
        <p:spPr>
          <a:xfrm rot="16200000">
            <a:off x="5877249" y="5241857"/>
            <a:ext cx="304801" cy="811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7543"/>
                </a:moveTo>
                <a:lnTo>
                  <a:pt x="5400" y="17543"/>
                </a:lnTo>
                <a:lnTo>
                  <a:pt x="5400" y="0"/>
                </a:lnTo>
                <a:lnTo>
                  <a:pt x="16200" y="0"/>
                </a:lnTo>
                <a:lnTo>
                  <a:pt x="16200" y="17543"/>
                </a:lnTo>
                <a:lnTo>
                  <a:pt x="21600" y="17543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Down Arrow 18"/>
          <p:cNvSpPr/>
          <p:nvPr/>
        </p:nvSpPr>
        <p:spPr>
          <a:xfrm rot="10800000">
            <a:off x="1379034" y="2350606"/>
            <a:ext cx="304801" cy="811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7543"/>
                </a:moveTo>
                <a:lnTo>
                  <a:pt x="5400" y="17543"/>
                </a:lnTo>
                <a:lnTo>
                  <a:pt x="5400" y="0"/>
                </a:lnTo>
                <a:lnTo>
                  <a:pt x="16200" y="0"/>
                </a:lnTo>
                <a:lnTo>
                  <a:pt x="16200" y="17543"/>
                </a:lnTo>
                <a:lnTo>
                  <a:pt x="21600" y="17543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Down Arrow 19"/>
          <p:cNvSpPr/>
          <p:nvPr/>
        </p:nvSpPr>
        <p:spPr>
          <a:xfrm rot="18473688">
            <a:off x="2811342" y="4316193"/>
            <a:ext cx="304801" cy="811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7543"/>
                </a:moveTo>
                <a:lnTo>
                  <a:pt x="5400" y="17543"/>
                </a:lnTo>
                <a:lnTo>
                  <a:pt x="5400" y="0"/>
                </a:lnTo>
                <a:lnTo>
                  <a:pt x="16200" y="0"/>
                </a:lnTo>
                <a:lnTo>
                  <a:pt x="16200" y="17543"/>
                </a:lnTo>
                <a:lnTo>
                  <a:pt x="21600" y="17543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8" name="TextBox 21"/>
          <p:cNvSpPr txBox="1"/>
          <p:nvPr/>
        </p:nvSpPr>
        <p:spPr>
          <a:xfrm>
            <a:off x="1765985" y="2616603"/>
            <a:ext cx="1634395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REJECT</a:t>
            </a:r>
          </a:p>
        </p:txBody>
      </p:sp>
      <p:sp>
        <p:nvSpPr>
          <p:cNvPr id="229" name="TextBox 22"/>
          <p:cNvSpPr txBox="1"/>
          <p:nvPr/>
        </p:nvSpPr>
        <p:spPr>
          <a:xfrm>
            <a:off x="97203" y="4634298"/>
            <a:ext cx="1634395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pPr/>
            <a:r>
              <a:t>RESUBMIT</a:t>
            </a:r>
          </a:p>
        </p:txBody>
      </p:sp>
      <p:sp>
        <p:nvSpPr>
          <p:cNvPr id="230" name="TextBox 23"/>
          <p:cNvSpPr txBox="1"/>
          <p:nvPr/>
        </p:nvSpPr>
        <p:spPr>
          <a:xfrm>
            <a:off x="2980560" y="4264967"/>
            <a:ext cx="1634395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00B050"/>
                </a:solidFill>
              </a:defRPr>
            </a:lvl1pPr>
          </a:lstStyle>
          <a:p>
            <a:pPr/>
            <a:r>
              <a:t>ACCEPT</a:t>
            </a:r>
          </a:p>
        </p:txBody>
      </p:sp>
      <p:sp>
        <p:nvSpPr>
          <p:cNvPr id="231" name="Left Brace 24"/>
          <p:cNvSpPr/>
          <p:nvPr/>
        </p:nvSpPr>
        <p:spPr>
          <a:xfrm rot="5400000">
            <a:off x="2735706" y="-851102"/>
            <a:ext cx="398269" cy="37323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514"/>
                  <a:pt x="10800" y="21408"/>
                </a:cubicBezTo>
                <a:lnTo>
                  <a:pt x="10800" y="11053"/>
                </a:lnTo>
                <a:cubicBezTo>
                  <a:pt x="10800" y="10947"/>
                  <a:pt x="5965" y="10861"/>
                  <a:pt x="0" y="10861"/>
                </a:cubicBezTo>
                <a:cubicBezTo>
                  <a:pt x="5965" y="10861"/>
                  <a:pt x="10800" y="10775"/>
                  <a:pt x="10800" y="10669"/>
                </a:cubicBezTo>
                <a:lnTo>
                  <a:pt x="10800" y="192"/>
                </a:lnTo>
                <a:cubicBezTo>
                  <a:pt x="10800" y="86"/>
                  <a:pt x="15635" y="0"/>
                  <a:pt x="21600" y="0"/>
                </a:cubicBezTo>
              </a:path>
            </a:pathLst>
          </a:custGeom>
          <a:ln w="635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232" name="TextBox 25"/>
          <p:cNvSpPr txBox="1"/>
          <p:nvPr/>
        </p:nvSpPr>
        <p:spPr>
          <a:xfrm>
            <a:off x="1252256" y="453931"/>
            <a:ext cx="213185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The Scientific Method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1"/>
          <p:cNvSpPr txBox="1"/>
          <p:nvPr/>
        </p:nvSpPr>
        <p:spPr>
          <a:xfrm>
            <a:off x="426719" y="228599"/>
            <a:ext cx="7833362" cy="1487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C00000"/>
                </a:solidFill>
              </a:defRPr>
            </a:pPr>
            <a:r>
              <a:t>How is science published?</a:t>
            </a:r>
          </a:p>
          <a:p>
            <a:pPr>
              <a:defRPr sz="3200">
                <a:solidFill>
                  <a:srgbClr val="C00000"/>
                </a:solidFill>
              </a:defRPr>
            </a:pPr>
          </a:p>
          <a:p>
            <a:pPr>
              <a:defRPr sz="3200"/>
            </a:pPr>
            <a:r>
              <a:t>An example</a:t>
            </a:r>
          </a:p>
        </p:txBody>
      </p:sp>
      <p:pic>
        <p:nvPicPr>
          <p:cNvPr id="23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4800" y="2028595"/>
            <a:ext cx="8839200" cy="48469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Box 1"/>
          <p:cNvSpPr txBox="1"/>
          <p:nvPr/>
        </p:nvSpPr>
        <p:spPr>
          <a:xfrm>
            <a:off x="426719" y="228599"/>
            <a:ext cx="8595362" cy="1487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C00000"/>
                </a:solidFill>
              </a:defRPr>
            </a:pPr>
            <a:r>
              <a:t>How is science published?</a:t>
            </a:r>
          </a:p>
          <a:p>
            <a:pPr>
              <a:defRPr sz="3200">
                <a:solidFill>
                  <a:srgbClr val="C00000"/>
                </a:solidFill>
              </a:defRPr>
            </a:pPr>
          </a:p>
        </p:txBody>
      </p:sp>
      <p:pic>
        <p:nvPicPr>
          <p:cNvPr id="23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7186" y="1709783"/>
            <a:ext cx="3505201" cy="17192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Box 1"/>
          <p:cNvSpPr txBox="1"/>
          <p:nvPr/>
        </p:nvSpPr>
        <p:spPr>
          <a:xfrm>
            <a:off x="426719" y="228599"/>
            <a:ext cx="9204962" cy="1487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C00000"/>
                </a:solidFill>
              </a:defRPr>
            </a:pPr>
            <a:r>
              <a:t>How is science published?</a:t>
            </a:r>
          </a:p>
          <a:p>
            <a:pPr>
              <a:defRPr sz="3200"/>
            </a:pPr>
          </a:p>
        </p:txBody>
      </p:sp>
      <p:sp>
        <p:nvSpPr>
          <p:cNvPr id="241" name="TextBox 2"/>
          <p:cNvSpPr txBox="1"/>
          <p:nvPr/>
        </p:nvSpPr>
        <p:spPr>
          <a:xfrm>
            <a:off x="260031" y="3336592"/>
            <a:ext cx="8785861" cy="3598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400"/>
            </a:pPr>
            <a:r>
              <a:t>Behind the scenes, it took 1 year from final draft to published paper</a:t>
            </a:r>
          </a:p>
          <a:p>
            <a:pPr marL="342900" indent="-342900">
              <a:buSzPct val="100000"/>
              <a:buFont typeface="Arial"/>
              <a:buChar char="•"/>
              <a:defRPr sz="2200"/>
            </a:pPr>
            <a:r>
              <a:t>October 2017: finished the “final” draft, submit </a:t>
            </a:r>
            <a:r>
              <a:rPr i="1"/>
              <a:t>PNAS</a:t>
            </a:r>
            <a:endParaRPr i="1"/>
          </a:p>
          <a:p>
            <a:pPr marL="342900" indent="-342900">
              <a:buSzPct val="100000"/>
              <a:buFont typeface="Arial"/>
              <a:buChar char="•"/>
              <a:defRPr sz="2200"/>
            </a:pPr>
            <a:r>
              <a:t>November 2017: </a:t>
            </a:r>
            <a:r>
              <a:rPr i="1"/>
              <a:t>PNAS</a:t>
            </a:r>
            <a:r>
              <a:t> </a:t>
            </a:r>
            <a:r>
              <a:rPr>
                <a:solidFill>
                  <a:srgbClr val="FF0000"/>
                </a:solidFill>
              </a:rPr>
              <a:t>reject</a:t>
            </a:r>
            <a:r>
              <a:t>, reformat + submit </a:t>
            </a:r>
            <a:r>
              <a:rPr i="1"/>
              <a:t>PLoS Biology. </a:t>
            </a:r>
            <a:endParaRPr i="1"/>
          </a:p>
          <a:p>
            <a:pPr lvl="2" marL="1257300" indent="-342900">
              <a:buSzPct val="100000"/>
              <a:buFont typeface="Arial"/>
              <a:buChar char="•"/>
              <a:defRPr sz="2200"/>
            </a:pPr>
            <a:r>
              <a:t>2 days later </a:t>
            </a:r>
            <a:r>
              <a:rPr i="1"/>
              <a:t>PLoS Biol </a:t>
            </a:r>
            <a:r>
              <a:rPr>
                <a:solidFill>
                  <a:srgbClr val="FF0000"/>
                </a:solidFill>
              </a:rPr>
              <a:t>reject</a:t>
            </a:r>
            <a:r>
              <a:t>, reformat + submit to </a:t>
            </a:r>
            <a:r>
              <a:rPr i="1"/>
              <a:t>Proc. B</a:t>
            </a:r>
            <a:endParaRPr i="1"/>
          </a:p>
          <a:p>
            <a:pPr marL="342900" indent="-342900">
              <a:buSzPct val="100000"/>
              <a:buFont typeface="Arial"/>
              <a:buChar char="•"/>
              <a:defRPr sz="2200"/>
            </a:pPr>
            <a:r>
              <a:t>March 2018: Decision: </a:t>
            </a:r>
            <a:r>
              <a:rPr>
                <a:solidFill>
                  <a:srgbClr val="FF0000"/>
                </a:solidFill>
              </a:rPr>
              <a:t>Reject</a:t>
            </a:r>
            <a:r>
              <a:t> + resubmit</a:t>
            </a:r>
          </a:p>
          <a:p>
            <a:pPr marL="342900" indent="-342900">
              <a:buSzPct val="100000"/>
              <a:buFont typeface="Arial"/>
              <a:buChar char="•"/>
              <a:defRPr sz="2200"/>
            </a:pPr>
            <a:r>
              <a:t>June 2018: revisions done, sent back to </a:t>
            </a:r>
            <a:r>
              <a:rPr i="1"/>
              <a:t>Proc B</a:t>
            </a:r>
            <a:endParaRPr i="1"/>
          </a:p>
          <a:p>
            <a:pPr marL="342900" indent="-342900">
              <a:buSzPct val="100000"/>
              <a:buFont typeface="Arial"/>
              <a:buChar char="•"/>
              <a:defRPr sz="2200"/>
            </a:pPr>
            <a:r>
              <a:t>August 2018: Decision: Minor revisions</a:t>
            </a:r>
          </a:p>
          <a:p>
            <a:pPr marL="342900" indent="-342900">
              <a:buSzPct val="100000"/>
              <a:buFont typeface="Arial"/>
              <a:buChar char="•"/>
              <a:defRPr sz="2200"/>
            </a:pPr>
            <a:r>
              <a:t>September 2018: revisions done, sent back to </a:t>
            </a:r>
            <a:r>
              <a:rPr i="1"/>
              <a:t>Proc B</a:t>
            </a:r>
            <a:endParaRPr i="1"/>
          </a:p>
          <a:p>
            <a:pPr marL="342900" indent="-342900">
              <a:buSzPct val="100000"/>
              <a:buFont typeface="Arial"/>
              <a:buChar char="•"/>
              <a:defRPr sz="2200"/>
            </a:pPr>
            <a:r>
              <a:t>September 2018: </a:t>
            </a:r>
            <a:r>
              <a:rPr>
                <a:solidFill>
                  <a:srgbClr val="FF0000"/>
                </a:solidFill>
              </a:rPr>
              <a:t>Accept</a:t>
            </a:r>
            <a:r>
              <a:t> as-is</a:t>
            </a:r>
          </a:p>
          <a:p>
            <a:pPr marL="342900" indent="-342900">
              <a:buSzPct val="100000"/>
              <a:buFont typeface="Arial"/>
              <a:buChar char="•"/>
              <a:defRPr sz="2200"/>
            </a:pPr>
            <a:r>
              <a:t>October 2018: Paper comes out in journal</a:t>
            </a:r>
          </a:p>
        </p:txBody>
      </p:sp>
      <p:sp>
        <p:nvSpPr>
          <p:cNvPr id="242" name="TextBox 3"/>
          <p:cNvSpPr txBox="1"/>
          <p:nvPr/>
        </p:nvSpPr>
        <p:spPr>
          <a:xfrm>
            <a:off x="4884419" y="1719308"/>
            <a:ext cx="4213862" cy="1497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FF0000"/>
                </a:solidFill>
              </a:defRPr>
            </a:pPr>
            <a:r>
              <a:t>Lessons: </a:t>
            </a:r>
          </a:p>
          <a:p>
            <a:pPr marL="342900" indent="-342900">
              <a:buSzPct val="100000"/>
              <a:buAutoNum type="arabicPeriod" startAt="1"/>
              <a:defRPr sz="2400">
                <a:solidFill>
                  <a:srgbClr val="FF0000"/>
                </a:solidFill>
              </a:defRPr>
            </a:pPr>
            <a:r>
              <a:t>Publishing takes a long time</a:t>
            </a:r>
          </a:p>
          <a:p>
            <a:pPr marL="342900" indent="-342900">
              <a:buSzPct val="100000"/>
              <a:buAutoNum type="arabicPeriod" startAt="1"/>
              <a:defRPr sz="2400">
                <a:solidFill>
                  <a:srgbClr val="FF0000"/>
                </a:solidFill>
              </a:defRPr>
            </a:pPr>
            <a:r>
              <a:t>Rejection is the NORM! </a:t>
            </a:r>
          </a:p>
          <a:p>
            <a:pPr>
              <a:defRPr sz="2400">
                <a:solidFill>
                  <a:srgbClr val="FF0000"/>
                </a:solidFill>
              </a:defRPr>
            </a:pPr>
            <a:r>
              <a:t>	</a:t>
            </a:r>
            <a:r>
              <a:rPr sz="1600"/>
              <a:t>(cue 5 stages of grief)</a:t>
            </a:r>
          </a:p>
        </p:txBody>
      </p:sp>
      <p:pic>
        <p:nvPicPr>
          <p:cNvPr id="243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7186" y="1709783"/>
            <a:ext cx="3505201" cy="17192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42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599" y="3429000"/>
            <a:ext cx="6600698" cy="3260172"/>
          </a:xfrm>
          <a:prstGeom prst="rect">
            <a:avLst/>
          </a:prstGeom>
          <a:ln w="12700">
            <a:miter lim="400000"/>
          </a:ln>
        </p:spPr>
      </p:pic>
      <p:sp>
        <p:nvSpPr>
          <p:cNvPr id="246" name="TextBox 3"/>
          <p:cNvSpPr txBox="1"/>
          <p:nvPr/>
        </p:nvSpPr>
        <p:spPr>
          <a:xfrm>
            <a:off x="426719" y="208576"/>
            <a:ext cx="5928362" cy="1487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C00000"/>
                </a:solidFill>
              </a:defRPr>
            </a:pPr>
            <a:r>
              <a:t>How is science published?</a:t>
            </a:r>
          </a:p>
          <a:p>
            <a:pPr>
              <a:defRPr sz="3200">
                <a:solidFill>
                  <a:srgbClr val="C00000"/>
                </a:solidFill>
              </a:defRPr>
            </a:pPr>
          </a:p>
          <a:p>
            <a:pPr>
              <a:defRPr sz="3200"/>
            </a:pPr>
            <a:r>
              <a:t>Another example:</a:t>
            </a:r>
          </a:p>
        </p:txBody>
      </p:sp>
      <p:sp>
        <p:nvSpPr>
          <p:cNvPr id="247" name="TextBox 4"/>
          <p:cNvSpPr txBox="1"/>
          <p:nvPr/>
        </p:nvSpPr>
        <p:spPr>
          <a:xfrm>
            <a:off x="502919" y="1798259"/>
            <a:ext cx="5775962" cy="2377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</a:pPr>
            <a:r>
              <a:t>“Final draft” submitted to Systematic Biology – summer 2014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3 rejections in 3 different journals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2 additional rounds of revision in Molecular Phylogenetics and Evolution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Finally published in 2018</a:t>
            </a:r>
          </a:p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Box 1"/>
          <p:cNvSpPr txBox="1"/>
          <p:nvPr/>
        </p:nvSpPr>
        <p:spPr>
          <a:xfrm>
            <a:off x="1150619" y="828287"/>
            <a:ext cx="6842762" cy="421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C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Scientific journals and articles:</a:t>
            </a:r>
            <a:endParaRPr b="1" sz="3200">
              <a:solidFill>
                <a:srgbClr val="FF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defRPr sz="3200">
                <a:solidFill>
                  <a:srgbClr val="FF0000"/>
                </a:solidFill>
              </a:defRPr>
            </a:pPr>
          </a:p>
          <a:p>
            <a:pPr>
              <a:defRPr sz="3200">
                <a:solidFill>
                  <a:srgbClr val="FF0000"/>
                </a:solidFill>
              </a:defRPr>
            </a:pPr>
          </a:p>
          <a:p>
            <a:pPr>
              <a:defRPr sz="3200"/>
            </a:pPr>
            <a:r>
              <a:t>So much to read; so little time.  </a:t>
            </a:r>
          </a:p>
          <a:p>
            <a:pPr>
              <a:defRPr sz="3200"/>
            </a:pPr>
          </a:p>
          <a:p>
            <a:pPr>
              <a:defRPr sz="3200"/>
            </a:pPr>
            <a:r>
              <a:t>So, what are we looking for?</a:t>
            </a:r>
          </a:p>
          <a:p>
            <a:pPr>
              <a:defRPr sz="3200"/>
            </a:pPr>
          </a:p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Box 1"/>
          <p:cNvSpPr txBox="1"/>
          <p:nvPr/>
        </p:nvSpPr>
        <p:spPr>
          <a:xfrm>
            <a:off x="655319" y="533399"/>
            <a:ext cx="7680962" cy="3837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C00000"/>
                </a:solidFill>
              </a:defRPr>
            </a:pPr>
            <a:r>
              <a:t>Class activity 1:  </a:t>
            </a:r>
          </a:p>
          <a:p>
            <a:pPr>
              <a:defRPr sz="3200">
                <a:solidFill>
                  <a:srgbClr val="C00000"/>
                </a:solidFill>
              </a:defRPr>
            </a:pPr>
          </a:p>
          <a:p>
            <a:pPr>
              <a:defRPr sz="2800"/>
            </a:pPr>
            <a:r>
              <a:t>We will look at the names of selected journals and you will indicate whether you would regard them as </a:t>
            </a:r>
          </a:p>
          <a:p>
            <a:pPr algn="ctr">
              <a:defRPr b="1" sz="3200">
                <a:solidFill>
                  <a:srgbClr val="FF0000"/>
                </a:solidFill>
              </a:defRPr>
            </a:pPr>
          </a:p>
          <a:p>
            <a:pPr marL="342900" indent="-342900">
              <a:buSzPct val="100000"/>
              <a:buAutoNum type="arabicParenR" startAt="1"/>
              <a:defRPr sz="3200"/>
            </a:pPr>
            <a:r>
              <a:t>  likely to read</a:t>
            </a:r>
          </a:p>
          <a:p>
            <a:pPr marL="342900" indent="-342900">
              <a:buSzPct val="100000"/>
              <a:buAutoNum type="arabicParenR" startAt="1"/>
              <a:defRPr sz="3200"/>
            </a:pPr>
            <a:r>
              <a:t>  might read if I had time</a:t>
            </a:r>
          </a:p>
          <a:p>
            <a:pPr marL="342900" indent="-342900">
              <a:buSzPct val="100000"/>
              <a:buAutoNum type="arabicParenR" startAt="1"/>
              <a:defRPr sz="3200"/>
            </a:pPr>
            <a:r>
              <a:t>  not likely to read</a:t>
            </a:r>
          </a:p>
        </p:txBody>
      </p:sp>
      <p:sp>
        <p:nvSpPr>
          <p:cNvPr id="252" name="TextBox 3"/>
          <p:cNvSpPr txBox="1"/>
          <p:nvPr/>
        </p:nvSpPr>
        <p:spPr>
          <a:xfrm>
            <a:off x="655319" y="4972942"/>
            <a:ext cx="7680962" cy="1308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800"/>
            </a:pPr>
            <a:r>
              <a:t>Remember, we are all busy and no one can read everything.  There are 12 journals, so you must choose </a:t>
            </a:r>
            <a:r>
              <a:rPr>
                <a:solidFill>
                  <a:srgbClr val="C00000"/>
                </a:solidFill>
              </a:rPr>
              <a:t>4 to read, 4 “maybes” and 4 that you’d skip.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1"/>
          <p:cNvSpPr txBox="1"/>
          <p:nvPr/>
        </p:nvSpPr>
        <p:spPr>
          <a:xfrm>
            <a:off x="573083" y="685799"/>
            <a:ext cx="7909561" cy="5548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400"/>
            </a:pPr>
            <a:r>
              <a:t>				</a:t>
            </a:r>
            <a:r>
              <a:rPr>
                <a:solidFill>
                  <a:srgbClr val="FF0000"/>
                </a:solidFill>
              </a:rPr>
              <a:t>Would you read this journal:</a:t>
            </a:r>
            <a:endParaRPr>
              <a:solidFill>
                <a:srgbClr val="FF0000"/>
              </a:solidFill>
            </a:endParaRPr>
          </a:p>
          <a:p>
            <a:pPr>
              <a:defRPr b="1" sz="2400" u="sng"/>
            </a:pPr>
            <a:r>
              <a:t>Journal title			                  Yes          Maybe	Not Likely</a:t>
            </a:r>
          </a:p>
          <a:p>
            <a:pPr>
              <a:defRPr sz="2400"/>
            </a:pPr>
            <a:r>
              <a:t>Marine Biology</a:t>
            </a:r>
          </a:p>
          <a:p>
            <a:pPr>
              <a:defRPr sz="2400"/>
            </a:pPr>
            <a:r>
              <a:t>Freshwater Biology</a:t>
            </a:r>
          </a:p>
          <a:p>
            <a:pPr>
              <a:defRPr sz="2400"/>
            </a:pPr>
            <a:r>
              <a:t>Animal Behaviour</a:t>
            </a:r>
          </a:p>
          <a:p>
            <a:pPr>
              <a:defRPr sz="2400"/>
            </a:pPr>
            <a:r>
              <a:t>Ecological Modeling </a:t>
            </a:r>
          </a:p>
          <a:p>
            <a:pPr>
              <a:defRPr sz="2400"/>
            </a:pPr>
            <a:r>
              <a:t>Ecology</a:t>
            </a:r>
          </a:p>
          <a:p>
            <a:pPr>
              <a:defRPr sz="2400"/>
            </a:pPr>
            <a:r>
              <a:t>Molecular Ecology</a:t>
            </a:r>
          </a:p>
          <a:p>
            <a:pPr>
              <a:defRPr sz="2400"/>
            </a:pPr>
            <a:r>
              <a:t>Journal of Fish Biology</a:t>
            </a:r>
          </a:p>
          <a:p>
            <a:pPr>
              <a:defRPr sz="2400"/>
            </a:pPr>
            <a:r>
              <a:t>Journal of Crustacean Biology</a:t>
            </a:r>
          </a:p>
          <a:p>
            <a:pPr>
              <a:defRPr sz="2400"/>
            </a:pPr>
            <a:r>
              <a:t>Journal of Fish Diseases</a:t>
            </a:r>
          </a:p>
          <a:p>
            <a:pPr>
              <a:defRPr sz="2400"/>
            </a:pPr>
            <a:r>
              <a:t>Science</a:t>
            </a:r>
          </a:p>
          <a:p>
            <a:pPr>
              <a:defRPr sz="2400"/>
            </a:pPr>
            <a:r>
              <a:t>Canadian Journal of Zoology</a:t>
            </a:r>
          </a:p>
          <a:p>
            <a:pPr>
              <a:defRPr sz="2400"/>
            </a:pPr>
            <a:r>
              <a:t>Canadian Journal of Fisheries</a:t>
            </a:r>
          </a:p>
          <a:p>
            <a:pPr>
              <a:defRPr sz="2400"/>
            </a:pPr>
            <a:r>
              <a:t>	and Aquatic Sciences</a:t>
            </a:r>
          </a:p>
        </p:txBody>
      </p:sp>
      <p:sp>
        <p:nvSpPr>
          <p:cNvPr id="255" name="Straight Connector 3"/>
          <p:cNvSpPr/>
          <p:nvPr/>
        </p:nvSpPr>
        <p:spPr>
          <a:xfrm>
            <a:off x="4343400" y="1143000"/>
            <a:ext cx="76296" cy="5181601"/>
          </a:xfrm>
          <a:prstGeom prst="line">
            <a:avLst/>
          </a:prstGeom>
          <a:ln w="28575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Straight Connector 4"/>
          <p:cNvSpPr/>
          <p:nvPr/>
        </p:nvSpPr>
        <p:spPr>
          <a:xfrm>
            <a:off x="6858000" y="1142999"/>
            <a:ext cx="76201" cy="5175112"/>
          </a:xfrm>
          <a:prstGeom prst="line">
            <a:avLst/>
          </a:prstGeom>
          <a:ln w="28575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Straight Connector 5"/>
          <p:cNvSpPr/>
          <p:nvPr/>
        </p:nvSpPr>
        <p:spPr>
          <a:xfrm>
            <a:off x="5486400" y="1142999"/>
            <a:ext cx="76201" cy="5175112"/>
          </a:xfrm>
          <a:prstGeom prst="line">
            <a:avLst/>
          </a:prstGeom>
          <a:ln w="28575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Straight Connector 6"/>
          <p:cNvSpPr/>
          <p:nvPr/>
        </p:nvSpPr>
        <p:spPr>
          <a:xfrm>
            <a:off x="8305800" y="1142999"/>
            <a:ext cx="76201" cy="5175112"/>
          </a:xfrm>
          <a:prstGeom prst="line">
            <a:avLst/>
          </a:prstGeom>
          <a:ln w="28575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Straight Connector 8"/>
          <p:cNvSpPr/>
          <p:nvPr/>
        </p:nvSpPr>
        <p:spPr>
          <a:xfrm>
            <a:off x="527363" y="1828800"/>
            <a:ext cx="7816538" cy="0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Straight Connector 9"/>
          <p:cNvSpPr/>
          <p:nvPr/>
        </p:nvSpPr>
        <p:spPr>
          <a:xfrm>
            <a:off x="533399" y="2209800"/>
            <a:ext cx="7816538" cy="0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Straight Connector 10"/>
          <p:cNvSpPr/>
          <p:nvPr/>
        </p:nvSpPr>
        <p:spPr>
          <a:xfrm>
            <a:off x="533399" y="4419600"/>
            <a:ext cx="7816538" cy="0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Straight Connector 11"/>
          <p:cNvSpPr/>
          <p:nvPr/>
        </p:nvSpPr>
        <p:spPr>
          <a:xfrm>
            <a:off x="533399" y="4038600"/>
            <a:ext cx="7816538" cy="0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63" name="Straight Connector 13"/>
          <p:cNvSpPr/>
          <p:nvPr/>
        </p:nvSpPr>
        <p:spPr>
          <a:xfrm>
            <a:off x="533399" y="2590800"/>
            <a:ext cx="7816538" cy="0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Straight Connector 16"/>
          <p:cNvSpPr/>
          <p:nvPr/>
        </p:nvSpPr>
        <p:spPr>
          <a:xfrm>
            <a:off x="533399" y="2971800"/>
            <a:ext cx="7816538" cy="0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65" name="Straight Connector 18"/>
          <p:cNvSpPr/>
          <p:nvPr/>
        </p:nvSpPr>
        <p:spPr>
          <a:xfrm>
            <a:off x="533399" y="3276600"/>
            <a:ext cx="7816538" cy="0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Straight Connector 19"/>
          <p:cNvSpPr/>
          <p:nvPr/>
        </p:nvSpPr>
        <p:spPr>
          <a:xfrm>
            <a:off x="533399" y="3657600"/>
            <a:ext cx="7816538" cy="0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Straight Connector 20"/>
          <p:cNvSpPr/>
          <p:nvPr/>
        </p:nvSpPr>
        <p:spPr>
          <a:xfrm>
            <a:off x="533399" y="4800600"/>
            <a:ext cx="7816538" cy="0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Straight Connector 21"/>
          <p:cNvSpPr/>
          <p:nvPr/>
        </p:nvSpPr>
        <p:spPr>
          <a:xfrm>
            <a:off x="533399" y="5105400"/>
            <a:ext cx="7816538" cy="0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Straight Connector 22"/>
          <p:cNvSpPr/>
          <p:nvPr/>
        </p:nvSpPr>
        <p:spPr>
          <a:xfrm>
            <a:off x="533399" y="5486400"/>
            <a:ext cx="7816538" cy="0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Straight Connector 23"/>
          <p:cNvSpPr/>
          <p:nvPr/>
        </p:nvSpPr>
        <p:spPr>
          <a:xfrm>
            <a:off x="533399" y="6324600"/>
            <a:ext cx="7816538" cy="0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itle 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/>
            <a:r>
              <a:t>Let’s hear your ideas!</a:t>
            </a:r>
          </a:p>
        </p:txBody>
      </p:sp>
      <p:sp>
        <p:nvSpPr>
          <p:cNvPr id="273" name="Content Placeholder 2"/>
          <p:cNvSpPr txBox="1"/>
          <p:nvPr>
            <p:ph type="body" idx="1"/>
          </p:nvPr>
        </p:nvSpPr>
        <p:spPr>
          <a:xfrm>
            <a:off x="628650" y="3231752"/>
            <a:ext cx="7886700" cy="326112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 sz="3200"/>
            </a:lvl1pPr>
          </a:lstStyle>
          <a:p>
            <a:pPr/>
            <a:r>
              <a:t>Let’s narrow down your ideas into a question and a set of testable hypotheses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itle 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pPr>
              <a:defRPr sz="3200"/>
            </a:pPr>
            <a:r>
              <a:t>Project titles from last quarter </a:t>
            </a:r>
            <a:r>
              <a:rPr>
                <a:solidFill>
                  <a:srgbClr val="C00000"/>
                </a:solidFill>
              </a:rPr>
              <a:t>(and where they found their data)</a:t>
            </a:r>
          </a:p>
        </p:txBody>
      </p:sp>
      <p:sp>
        <p:nvSpPr>
          <p:cNvPr id="276" name="Content Placeholder 2"/>
          <p:cNvSpPr txBox="1"/>
          <p:nvPr>
            <p:ph type="body" idx="1"/>
          </p:nvPr>
        </p:nvSpPr>
        <p:spPr>
          <a:xfrm>
            <a:off x="628649" y="1825624"/>
            <a:ext cx="8051118" cy="4667249"/>
          </a:xfrm>
          <a:prstGeom prst="rect">
            <a:avLst/>
          </a:prstGeom>
        </p:spPr>
        <p:txBody>
          <a:bodyPr/>
          <a:lstStyle/>
          <a:p>
            <a:pPr marL="226313" indent="-226313" defTabSz="905255">
              <a:spcBef>
                <a:spcPts val="900"/>
              </a:spcBef>
              <a:defRPr b="1" sz="1782"/>
            </a:pPr>
            <a:r>
              <a:t>Analysis of Invasive European Green Crab Diet and Impact on Atlantic Ocean Ecosystems </a:t>
            </a:r>
            <a:r>
              <a:rPr b="0"/>
              <a:t>– </a:t>
            </a:r>
            <a:r>
              <a:rPr b="0">
                <a:solidFill>
                  <a:srgbClr val="8C0019"/>
                </a:solidFill>
              </a:rPr>
              <a:t>Several unique peer reviewed studies combined</a:t>
            </a:r>
            <a:endParaRPr>
              <a:solidFill>
                <a:srgbClr val="8C0019"/>
              </a:solidFill>
            </a:endParaRPr>
          </a:p>
          <a:p>
            <a:pPr marL="0" indent="-1257" defTabSz="905255">
              <a:lnSpc>
                <a:spcPct val="200000"/>
              </a:lnSpc>
              <a:spcBef>
                <a:spcPts val="0"/>
              </a:spcBef>
              <a:defRPr sz="1782"/>
            </a:pPr>
            <a:r>
              <a:t>  </a:t>
            </a:r>
            <a:r>
              <a:rPr b="1"/>
              <a:t>Niche Partitioning of Jellyfish in the Puget Sound </a:t>
            </a:r>
            <a:r>
              <a:rPr b="1">
                <a:solidFill>
                  <a:srgbClr val="8C0019"/>
                </a:solidFill>
              </a:rPr>
              <a:t>–</a:t>
            </a:r>
            <a:r>
              <a:rPr>
                <a:solidFill>
                  <a:srgbClr val="8C0019"/>
                </a:solidFill>
              </a:rPr>
              <a:t> dataset from Luke</a:t>
            </a:r>
            <a:endParaRPr>
              <a:solidFill>
                <a:srgbClr val="8C0019"/>
              </a:solidFill>
            </a:endParaRPr>
          </a:p>
          <a:p>
            <a:pPr marL="226313" indent="-226313" defTabSz="905255">
              <a:spcBef>
                <a:spcPts val="900"/>
              </a:spcBef>
              <a:defRPr b="1" sz="1782"/>
            </a:pPr>
            <a:r>
              <a:t>Change in Freshwater Fish Aggression from Increased Temperature </a:t>
            </a:r>
            <a:r>
              <a:rPr b="0"/>
              <a:t>- </a:t>
            </a:r>
            <a:r>
              <a:rPr b="0">
                <a:solidFill>
                  <a:srgbClr val="8C0019"/>
                </a:solidFill>
              </a:rPr>
              <a:t>Several unique peer reviewed studies</a:t>
            </a:r>
            <a:endParaRPr b="0">
              <a:solidFill>
                <a:srgbClr val="8C0019"/>
              </a:solidFill>
            </a:endParaRPr>
          </a:p>
          <a:p>
            <a:pPr marL="226313" indent="-226313" defTabSz="905255">
              <a:spcBef>
                <a:spcPts val="900"/>
              </a:spcBef>
              <a:defRPr b="1" sz="1782"/>
            </a:pPr>
            <a:r>
              <a:t>Small body size as a contributing factor of symbiosis in Gobies and Wrasses</a:t>
            </a:r>
            <a:r>
              <a:rPr b="0"/>
              <a:t>– </a:t>
            </a:r>
            <a:r>
              <a:rPr b="0">
                <a:solidFill>
                  <a:srgbClr val="8C0019"/>
                </a:solidFill>
              </a:rPr>
              <a:t>literature review, Fishbase for body size</a:t>
            </a:r>
            <a:endParaRPr b="0">
              <a:solidFill>
                <a:srgbClr val="8C0019"/>
              </a:solidFill>
            </a:endParaRPr>
          </a:p>
          <a:p>
            <a:pPr marL="226313" indent="-226313" defTabSz="905255">
              <a:spcBef>
                <a:spcPts val="900"/>
              </a:spcBef>
              <a:defRPr b="1" sz="1782"/>
            </a:pPr>
            <a:r>
              <a:t>Fisheries Management Plan effects on Horseshoe crabs </a:t>
            </a:r>
            <a:r>
              <a:rPr b="0"/>
              <a:t>–</a:t>
            </a:r>
            <a:r>
              <a:rPr b="0">
                <a:solidFill>
                  <a:srgbClr val="8C0019"/>
                </a:solidFill>
              </a:rPr>
              <a:t> NOAA </a:t>
            </a:r>
            <a:endParaRPr b="0">
              <a:solidFill>
                <a:srgbClr val="8C0019"/>
              </a:solidFill>
            </a:endParaRPr>
          </a:p>
          <a:p>
            <a:pPr marL="226313" indent="-226313" defTabSz="905255">
              <a:spcBef>
                <a:spcPts val="900"/>
              </a:spcBef>
              <a:defRPr b="1" sz="1782"/>
            </a:pPr>
            <a:r>
              <a:t>Habitat Partitioning in Puget Sound Flatfishes </a:t>
            </a:r>
            <a:r>
              <a:rPr b="0"/>
              <a:t>– </a:t>
            </a:r>
            <a:r>
              <a:rPr b="0">
                <a:solidFill>
                  <a:srgbClr val="8C0019"/>
                </a:solidFill>
              </a:rPr>
              <a:t>WDFD commercial fishing data</a:t>
            </a:r>
            <a:endParaRPr b="0">
              <a:solidFill>
                <a:srgbClr val="8C0019"/>
              </a:solidFill>
            </a:endParaRPr>
          </a:p>
          <a:p>
            <a:pPr marL="226313" indent="-226313" defTabSz="905255">
              <a:spcBef>
                <a:spcPts val="900"/>
              </a:spcBef>
              <a:defRPr b="1" sz="1782"/>
            </a:pPr>
            <a:r>
              <a:t>Human population density impacts on freshwater macroinvertebrates - </a:t>
            </a:r>
            <a:r>
              <a:rPr b="0">
                <a:solidFill>
                  <a:srgbClr val="8C0019"/>
                </a:solidFill>
              </a:rPr>
              <a:t>King County Benthic Macroinvertebrate Ambient Monitoring Program</a:t>
            </a:r>
            <a:r>
              <a:rPr b="0" sz="1188">
                <a:solidFill>
                  <a:srgbClr val="8C0019"/>
                </a:solidFill>
              </a:rPr>
              <a:t> </a:t>
            </a:r>
            <a:endParaRPr b="0" sz="1188">
              <a:solidFill>
                <a:srgbClr val="8C0019"/>
              </a:solidFill>
            </a:endParaRPr>
          </a:p>
          <a:p>
            <a:pPr marL="226313" indent="-226313" defTabSz="905255">
              <a:spcBef>
                <a:spcPts val="900"/>
              </a:spcBef>
              <a:defRPr b="1" sz="1782"/>
            </a:pPr>
            <a:r>
              <a:t>Comparing PCBs in Puget Sound Fishes </a:t>
            </a:r>
            <a:r>
              <a:rPr b="0"/>
              <a:t>– W</a:t>
            </a:r>
            <a:r>
              <a:rPr b="0">
                <a:solidFill>
                  <a:srgbClr val="8C0019"/>
                </a:solidFill>
              </a:rPr>
              <a:t>DFW/Luke</a:t>
            </a:r>
            <a:endParaRPr b="0">
              <a:solidFill>
                <a:srgbClr val="8C0019"/>
              </a:solidFill>
            </a:endParaRPr>
          </a:p>
          <a:p>
            <a:pPr marL="226313" indent="-226313" defTabSz="905255">
              <a:spcBef>
                <a:spcPts val="900"/>
              </a:spcBef>
              <a:defRPr b="1" sz="1782"/>
            </a:pPr>
            <a:r>
              <a:t>Top down vs Bottom up population control in three North Atlantic fishes </a:t>
            </a:r>
            <a:r>
              <a:rPr b="0"/>
              <a:t>- </a:t>
            </a:r>
            <a:r>
              <a:rPr b="0">
                <a:solidFill>
                  <a:srgbClr val="8C0019"/>
                </a:solidFill>
              </a:rPr>
              <a:t>NOAA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itle 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pPr>
              <a:defRPr sz="3200"/>
            </a:pPr>
            <a:r>
              <a:t>Project titles from previous quarters </a:t>
            </a:r>
            <a:r>
              <a:rPr>
                <a:solidFill>
                  <a:srgbClr val="C00000"/>
                </a:solidFill>
              </a:rPr>
              <a:t>(and where they found their data)</a:t>
            </a:r>
          </a:p>
        </p:txBody>
      </p:sp>
      <p:sp>
        <p:nvSpPr>
          <p:cNvPr id="279" name="Content Placeholder 2"/>
          <p:cNvSpPr txBox="1"/>
          <p:nvPr>
            <p:ph type="body" idx="1"/>
          </p:nvPr>
        </p:nvSpPr>
        <p:spPr>
          <a:xfrm>
            <a:off x="628649" y="1825624"/>
            <a:ext cx="8051118" cy="466724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defRPr sz="2500"/>
            </a:pPr>
            <a:r>
              <a:t>Infection Rate Factors of Stony Coral Tissue Loss Disease in the Florida Keys and Caribbean- </a:t>
            </a:r>
            <a:r>
              <a:rPr>
                <a:solidFill>
                  <a:srgbClr val="C00000"/>
                </a:solidFill>
              </a:rPr>
              <a:t>NOAA</a:t>
            </a:r>
          </a:p>
          <a:p>
            <a:pPr>
              <a:lnSpc>
                <a:spcPct val="81000"/>
              </a:lnSpc>
              <a:defRPr sz="2500"/>
            </a:pPr>
            <a:r>
              <a:t>Effects of Abiotic Factors on the Foraging Behavior of</a:t>
            </a:r>
            <a:r>
              <a:rPr i="1"/>
              <a:t> Enhydra lutra- </a:t>
            </a:r>
            <a:r>
              <a:rPr>
                <a:solidFill>
                  <a:srgbClr val="C00000"/>
                </a:solidFill>
              </a:rPr>
              <a:t>WA state monitoring data</a:t>
            </a:r>
          </a:p>
          <a:p>
            <a:pPr>
              <a:lnSpc>
                <a:spcPct val="81000"/>
              </a:lnSpc>
              <a:defRPr sz="2500"/>
            </a:pPr>
            <a:r>
              <a:t>Mercury Content of Puget Sound Rockfish- </a:t>
            </a:r>
            <a:r>
              <a:rPr>
                <a:solidFill>
                  <a:srgbClr val="C00000"/>
                </a:solidFill>
              </a:rPr>
              <a:t>Puget Sound Ambient Monitoring Program</a:t>
            </a:r>
          </a:p>
          <a:p>
            <a:pPr>
              <a:lnSpc>
                <a:spcPct val="81000"/>
              </a:lnSpc>
              <a:defRPr sz="2500"/>
            </a:pPr>
            <a:r>
              <a:t>Impact of Volcanic Activity on Phytoplankton Blooms in the Bering Sea-</a:t>
            </a:r>
            <a:r>
              <a:rPr>
                <a:solidFill>
                  <a:srgbClr val="C00000"/>
                </a:solidFill>
              </a:rPr>
              <a:t> combo of Alaskan Volcanic Observatory and NOAA data</a:t>
            </a:r>
          </a:p>
          <a:p>
            <a:pPr>
              <a:lnSpc>
                <a:spcPct val="81000"/>
              </a:lnSpc>
              <a:defRPr sz="2500"/>
            </a:pPr>
            <a:r>
              <a:t>Effects of physical water conditions on </a:t>
            </a:r>
            <a:r>
              <a:rPr i="1"/>
              <a:t>Neocaridina</a:t>
            </a:r>
            <a:r>
              <a:t> invasions in the rivers of Hiroshima Prefecture- </a:t>
            </a:r>
            <a:r>
              <a:rPr>
                <a:solidFill>
                  <a:srgbClr val="C00000"/>
                </a:solidFill>
              </a:rPr>
              <a:t>data from a peer-reviewed study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ontent Placeholder 2"/>
          <p:cNvSpPr txBox="1"/>
          <p:nvPr>
            <p:ph type="body" idx="1"/>
          </p:nvPr>
        </p:nvSpPr>
        <p:spPr>
          <a:xfrm>
            <a:off x="628650" y="1825624"/>
            <a:ext cx="7886700" cy="466724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72000"/>
              </a:lnSpc>
              <a:defRPr sz="2500"/>
            </a:pPr>
            <a:r>
              <a:t>Decoding the Population Decline of Dungeness Crab, </a:t>
            </a:r>
            <a:r>
              <a:rPr i="1"/>
              <a:t>C. magister</a:t>
            </a:r>
            <a:r>
              <a:t>, in South Puget Sound- </a:t>
            </a:r>
            <a:r>
              <a:rPr>
                <a:solidFill>
                  <a:srgbClr val="C00000"/>
                </a:solidFill>
              </a:rPr>
              <a:t>WA Dept Fish and Wildlife</a:t>
            </a:r>
          </a:p>
          <a:p>
            <a:pPr>
              <a:lnSpc>
                <a:spcPct val="72000"/>
              </a:lnSpc>
              <a:defRPr sz="2500"/>
            </a:pPr>
            <a:r>
              <a:t>Effects of Skagit River discharge on steelhead smolt outmigration- </a:t>
            </a:r>
            <a:r>
              <a:rPr>
                <a:solidFill>
                  <a:srgbClr val="C00000"/>
                </a:solidFill>
              </a:rPr>
              <a:t>combo USGS and WDFW</a:t>
            </a:r>
          </a:p>
          <a:p>
            <a:pPr>
              <a:lnSpc>
                <a:spcPct val="72000"/>
              </a:lnSpc>
              <a:defRPr sz="2500"/>
            </a:pPr>
            <a:r>
              <a:t>Relative Brain Size and Other Factors Contributing to Cetacean Extinction- </a:t>
            </a:r>
            <a:r>
              <a:rPr>
                <a:solidFill>
                  <a:srgbClr val="C00000"/>
                </a:solidFill>
              </a:rPr>
              <a:t>combo IUCN and data from a peer-reviewed study</a:t>
            </a:r>
          </a:p>
          <a:p>
            <a:pPr>
              <a:lnSpc>
                <a:spcPct val="72000"/>
              </a:lnSpc>
              <a:defRPr sz="2500"/>
            </a:pPr>
            <a:r>
              <a:t>East and West Coast Analysis of the Effectiveness of Marine Protected Areas- </a:t>
            </a:r>
            <a:r>
              <a:rPr>
                <a:solidFill>
                  <a:srgbClr val="C00000"/>
                </a:solidFill>
              </a:rPr>
              <a:t>data from peer-reviewed studies</a:t>
            </a:r>
          </a:p>
          <a:p>
            <a:pPr>
              <a:lnSpc>
                <a:spcPct val="72000"/>
              </a:lnSpc>
              <a:defRPr sz="2500"/>
            </a:pPr>
            <a:r>
              <a:t>Effect of </a:t>
            </a:r>
            <a:r>
              <a:rPr i="1"/>
              <a:t>Procambarus clarkii</a:t>
            </a:r>
            <a:r>
              <a:t> on Abundance of Trichopterans and Diversity of Macroinvertebrates in Pine Lake, Washington- </a:t>
            </a:r>
            <a:r>
              <a:rPr>
                <a:solidFill>
                  <a:srgbClr val="C00000"/>
                </a:solidFill>
              </a:rPr>
              <a:t>Puget Sound Benthos Survey</a:t>
            </a:r>
          </a:p>
        </p:txBody>
      </p:sp>
      <p:sp>
        <p:nvSpPr>
          <p:cNvPr id="282" name="Title 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pPr>
              <a:defRPr sz="3200"/>
            </a:pPr>
            <a:r>
              <a:t>Project titles from previous quarters</a:t>
            </a:r>
            <a:r>
              <a:rPr>
                <a:solidFill>
                  <a:srgbClr val="C00000"/>
                </a:solidFill>
              </a:rPr>
              <a:t>(and where they found their data)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Box 4"/>
          <p:cNvSpPr txBox="1"/>
          <p:nvPr/>
        </p:nvSpPr>
        <p:spPr>
          <a:xfrm>
            <a:off x="552614" y="1720839"/>
            <a:ext cx="7521935" cy="3343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600"/>
            </a:pPr>
            <a:r>
              <a:t>Continue thinking about your question and make it more focused. After thinking about sources of data and potential limitations, </a:t>
            </a:r>
            <a:r>
              <a:rPr b="1">
                <a:solidFill>
                  <a:srgbClr val="C00000"/>
                </a:solidFill>
              </a:rPr>
              <a:t>write down your more focused question</a:t>
            </a:r>
            <a:r>
              <a:rPr>
                <a:solidFill>
                  <a:srgbClr val="C00000"/>
                </a:solidFill>
              </a:rPr>
              <a:t> </a:t>
            </a:r>
            <a:r>
              <a:t>and hypotheses and </a:t>
            </a:r>
            <a:r>
              <a:rPr b="1">
                <a:solidFill>
                  <a:srgbClr val="C00000"/>
                </a:solidFill>
              </a:rPr>
              <a:t>be prepared to share next class.</a:t>
            </a:r>
          </a:p>
        </p:txBody>
      </p:sp>
      <p:sp>
        <p:nvSpPr>
          <p:cNvPr id="285" name="TextBox 5"/>
          <p:cNvSpPr txBox="1"/>
          <p:nvPr/>
        </p:nvSpPr>
        <p:spPr>
          <a:xfrm>
            <a:off x="2888310" y="298173"/>
            <a:ext cx="3337284" cy="70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4800"/>
            </a:lvl1pPr>
          </a:lstStyle>
          <a:p>
            <a:pPr/>
            <a:r>
              <a:t>For MONDAY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
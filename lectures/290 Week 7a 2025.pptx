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337" r:id="rId2"/>
    <p:sldId id="338" r:id="rId3"/>
    <p:sldId id="339" r:id="rId4"/>
    <p:sldId id="260" r:id="rId5"/>
    <p:sldId id="340" r:id="rId6"/>
    <p:sldId id="341" r:id="rId7"/>
    <p:sldId id="343" r:id="rId8"/>
    <p:sldId id="344" r:id="rId9"/>
    <p:sldId id="346" r:id="rId10"/>
    <p:sldId id="345" r:id="rId11"/>
    <p:sldId id="347" r:id="rId12"/>
    <p:sldId id="355" r:id="rId13"/>
    <p:sldId id="356" r:id="rId14"/>
    <p:sldId id="352" r:id="rId15"/>
    <p:sldId id="348" r:id="rId16"/>
    <p:sldId id="349" r:id="rId17"/>
    <p:sldId id="350" r:id="rId18"/>
    <p:sldId id="351" r:id="rId19"/>
    <p:sldId id="30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094"/>
    <p:restoredTop sz="94694"/>
  </p:normalViewPr>
  <p:slideViewPr>
    <p:cSldViewPr snapToGrid="0" snapToObjects="1">
      <p:cViewPr varScale="1">
        <p:scale>
          <a:sx n="61" d="100"/>
          <a:sy n="61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44E99-A181-C741-9A76-55949F5B1A2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3B427-8FD1-B743-9335-D21CC5C9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6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6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8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4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5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3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9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4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6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6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1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D1A1-8B1E-3642-AAB1-C86BAAD88A1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8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ynamicecology.wordpress.com/2016/02/24/the-5-pivotal-paragraphs-in-a-paper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ynamicecology.wordpress.com/2019/06/17/to-be-sur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ynamicecology.wordpress.com/2019/06/17/to-be-sure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F786A6-0F23-D54A-BF35-6DF3DADBA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68386"/>
            <a:ext cx="6858000" cy="1128562"/>
          </a:xfrm>
        </p:spPr>
        <p:txBody>
          <a:bodyPr>
            <a:normAutofit/>
          </a:bodyPr>
          <a:lstStyle/>
          <a:p>
            <a:r>
              <a:rPr lang="en-US" dirty="0"/>
              <a:t>Fish 290</a:t>
            </a:r>
          </a:p>
          <a:p>
            <a:r>
              <a:rPr lang="en-US" dirty="0"/>
              <a:t>Tuesday May 7th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1755DF-0E9F-844F-8A79-8BC5AE2594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287830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F025C136-0899-5A44-91EB-5E9EB08B4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990600"/>
            <a:ext cx="4400550" cy="5867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C1C00-D091-1443-9E23-25A52835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15" y="136526"/>
            <a:ext cx="5782089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Recall paper structure and the 5 pivotal paragraphs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3F44C1-0F77-B448-AE8E-FB8E9AAAE242}"/>
              </a:ext>
            </a:extLst>
          </p:cNvPr>
          <p:cNvCxnSpPr/>
          <p:nvPr/>
        </p:nvCxnSpPr>
        <p:spPr>
          <a:xfrm flipH="1">
            <a:off x="5325762" y="5721984"/>
            <a:ext cx="2763078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DCF147-F62B-ED49-B832-1B4E533D3DB1}"/>
              </a:ext>
            </a:extLst>
          </p:cNvPr>
          <p:cNvSpPr txBox="1"/>
          <p:nvPr/>
        </p:nvSpPr>
        <p:spPr>
          <a:xfrm>
            <a:off x="5926408" y="5103341"/>
            <a:ext cx="2162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We are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945226-F8F9-8E48-9B62-2BDD042DF499}"/>
              </a:ext>
            </a:extLst>
          </p:cNvPr>
          <p:cNvSpPr txBox="1"/>
          <p:nvPr/>
        </p:nvSpPr>
        <p:spPr>
          <a:xfrm>
            <a:off x="5548183" y="1631425"/>
            <a:ext cx="3262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https://dynamicecology.wordpress.com/2016/02/24/the-5-pivotal-paragraphs-in-a-paper/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5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D1D5C-F99E-6643-BB15-05CF4CC2D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5741"/>
            <a:ext cx="7886700" cy="47312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“Your Discussion’s function is to turn data into knowledge.”</a:t>
            </a:r>
          </a:p>
          <a:p>
            <a:pPr marL="0" indent="0">
              <a:buNone/>
            </a:pPr>
            <a:r>
              <a:rPr lang="en-US" dirty="0"/>
              <a:t>–Stephen Heard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dirty="0"/>
              <a:t>You have just done the science, now </a:t>
            </a:r>
            <a:r>
              <a:rPr lang="en-US" sz="3200" b="1" dirty="0"/>
              <a:t>what does it mean?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E199D4-E6B2-0B4B-8540-922C07018DF7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C00000"/>
                </a:solidFill>
              </a:rPr>
              <a:t>The Discussion section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71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960437"/>
            <a:ext cx="8229600" cy="4525963"/>
          </a:xfrm>
        </p:spPr>
        <p:txBody>
          <a:bodyPr>
            <a:normAutofit/>
          </a:bodyPr>
          <a:lstStyle/>
          <a:p>
            <a:r>
              <a:rPr lang="en-US" sz="2600" dirty="0"/>
              <a:t>First, interpret the data with respect to the specific objectives of the study. </a:t>
            </a:r>
          </a:p>
          <a:p>
            <a:r>
              <a:rPr lang="en-US" sz="2600" dirty="0"/>
              <a:t>Then, get progressively broader, bringing in related papers by others, and end with the concepts used to start the Introduction.</a:t>
            </a:r>
          </a:p>
          <a:p>
            <a:r>
              <a:rPr lang="en-US" sz="2600" dirty="0"/>
              <a:t>Use plain language: keep statistics in the Results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429000" y="3630329"/>
            <a:ext cx="1905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2971800" y="4392329"/>
            <a:ext cx="28956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2590800" y="5154329"/>
            <a:ext cx="3733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133600" y="5916329"/>
            <a:ext cx="4648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4419600" y="3858929"/>
            <a:ext cx="0" cy="990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4038600" y="4620929"/>
            <a:ext cx="0" cy="990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>
            <a:off x="3657600" y="5459129"/>
            <a:ext cx="0" cy="990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ED1D2D3-89E4-4147-AC9A-EC564A3F8188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100451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more freedom in the Discussion section than other sections of your paper.</a:t>
            </a:r>
          </a:p>
          <a:p>
            <a:endParaRPr lang="en-US" dirty="0"/>
          </a:p>
          <a:p>
            <a:r>
              <a:rPr lang="en-US" dirty="0"/>
              <a:t>Whether that freedom scares you or excites you, you should always include the following elements!</a:t>
            </a:r>
          </a:p>
          <a:p>
            <a:endParaRPr lang="en-US" dirty="0"/>
          </a:p>
          <a:p>
            <a:r>
              <a:rPr lang="en-US" dirty="0"/>
              <a:t>I’ve included questions to think about to guide you in writing this section.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2683784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541"/>
            <a:ext cx="7886700" cy="4818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Any Discussion section should have these elements, though the order is somewhat flexible: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The basic answer to the question you asked in the Introduction – this is the easy part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Detailed interpretation of key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Consideration of limitations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(include citations)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Relationship between your results and previous literature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(include citations)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Broader implications of your results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(include citations)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Future directions</a:t>
            </a:r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295597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541"/>
            <a:ext cx="7886700" cy="4818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b="1" dirty="0"/>
              <a:t>Paragraph 1: Answer the question </a:t>
            </a:r>
            <a:r>
              <a:rPr lang="en-US" dirty="0"/>
              <a:t>(</a:t>
            </a:r>
            <a:r>
              <a:rPr lang="en-US" i="1" dirty="0"/>
              <a:t>a pivotal paragraph!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Remind us what your question was and the key results. </a:t>
            </a:r>
          </a:p>
          <a:p>
            <a:r>
              <a:rPr lang="en-US" dirty="0"/>
              <a:t>Give us the basic answer to this question: what do your results mean, in simple language?</a:t>
            </a:r>
          </a:p>
          <a:p>
            <a:r>
              <a:rPr lang="en-US" sz="2800" dirty="0"/>
              <a:t>Keep this para</a:t>
            </a:r>
            <a:r>
              <a:rPr lang="en-US" dirty="0"/>
              <a:t>graph short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112424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541"/>
            <a:ext cx="8207342" cy="4818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b="1" dirty="0"/>
              <a:t>Paragraph 1: Answer the question </a:t>
            </a:r>
            <a:r>
              <a:rPr lang="en-US" dirty="0"/>
              <a:t>(</a:t>
            </a:r>
            <a:r>
              <a:rPr lang="en-US" i="1" dirty="0"/>
              <a:t>a pivotal paragraph!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Questions to ask to help you write this paragraph: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What was y</a:t>
            </a:r>
            <a:r>
              <a:rPr lang="en-US" dirty="0"/>
              <a:t>our question?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What were your hypotheses?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How did you test these hypotheses (in plain language)?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Which hypothesis was supported?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does this imply biologically (one-sentence simple version)?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326743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47" y="1380785"/>
            <a:ext cx="7886700" cy="4818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b="1" dirty="0"/>
              <a:t>Paragraph 2 or more: Detailed interpretation of each key result</a:t>
            </a:r>
          </a:p>
          <a:p>
            <a:pPr marL="0" indent="0">
              <a:buNone/>
            </a:pPr>
            <a:r>
              <a:rPr lang="en-US" sz="2400" dirty="0"/>
              <a:t>(the # of paragraphs depends on how many key results you have or types of analyses you did)</a:t>
            </a:r>
          </a:p>
          <a:p>
            <a:r>
              <a:rPr lang="en-US" dirty="0"/>
              <a:t>Give each key result its own paragraph to interpret in detail</a:t>
            </a:r>
          </a:p>
          <a:p>
            <a:r>
              <a:rPr lang="en-US" dirty="0"/>
              <a:t>Relate this result to </a:t>
            </a:r>
            <a:r>
              <a:rPr lang="en-US" dirty="0">
                <a:solidFill>
                  <a:srgbClr val="FF0000"/>
                </a:solidFill>
              </a:rPr>
              <a:t>prior literature</a:t>
            </a:r>
            <a:r>
              <a:rPr lang="en-US" dirty="0"/>
              <a:t>. Discuss how this result adds to our knowledge, and how it agrees/disagrees with past literature</a:t>
            </a:r>
          </a:p>
          <a:p>
            <a:r>
              <a:rPr lang="en-US" dirty="0"/>
              <a:t>May be a good place to consider alternative interpretations or limitations of this result</a:t>
            </a:r>
            <a:endParaRPr lang="en-US" sz="2800" dirty="0"/>
          </a:p>
          <a:p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1090068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078" y="995775"/>
            <a:ext cx="8419198" cy="52654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2400" b="1" dirty="0"/>
              <a:t>Paragraph 2 or more: Detailed interpretation of each key result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2400" dirty="0"/>
              <a:t>Questions to ask to help you write each paragraph: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does this result mean biologically (can be more detailed)?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Are there multiple possible explanations for this result? What are they? Which is more plausible?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about this result is most noteworthy or exciting? What it surprising or expected?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How does this result agree with past studies?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How does this result differ with past studies? What are the possible reasons for the difference?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Are there any reasons this result should be viewed with caution? Even still, what is valid about this result?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Do you think this result will apply to other organisms or environments? If so, why? Be specific.</a:t>
            </a:r>
          </a:p>
          <a:p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275724" y="-18882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262583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541"/>
            <a:ext cx="7886700" cy="4818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b="1" dirty="0"/>
              <a:t>Paragraph 3: Address limitations</a:t>
            </a:r>
          </a:p>
          <a:p>
            <a:r>
              <a:rPr lang="en-US" dirty="0"/>
              <a:t>One option is to set aside an entire paragraph for limitations or contrarian arguments</a:t>
            </a:r>
          </a:p>
          <a:p>
            <a:r>
              <a:rPr lang="en-US" dirty="0"/>
              <a:t>This should </a:t>
            </a:r>
            <a:r>
              <a:rPr lang="en-US" i="1" dirty="0"/>
              <a:t>never be the last paragraph </a:t>
            </a:r>
            <a:r>
              <a:rPr lang="en-US" dirty="0"/>
              <a:t>of the Discussion. Otherwise, the last impression readers will have about your work will be negative</a:t>
            </a:r>
            <a:endParaRPr lang="en-US" sz="2800" dirty="0"/>
          </a:p>
          <a:p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352384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541"/>
            <a:ext cx="7886700" cy="4818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b="1" dirty="0"/>
              <a:t>Paragraph 3: Address limitations</a:t>
            </a:r>
          </a:p>
          <a:p>
            <a:r>
              <a:rPr lang="en-US" dirty="0"/>
              <a:t>Must be done, but carefully*. No research is perfect, and failure to address possible concerns will only make the reader suspicious.</a:t>
            </a:r>
          </a:p>
          <a:p>
            <a:r>
              <a:rPr lang="en-US" dirty="0"/>
              <a:t>You want to acknowledge possible limitations without casting doubt on the entire study. How do you do this?</a:t>
            </a:r>
          </a:p>
          <a:p>
            <a:r>
              <a:rPr lang="en-US" sz="1400" dirty="0"/>
              <a:t>*you have a reading on this subject in Canvas</a:t>
            </a:r>
          </a:p>
          <a:p>
            <a:r>
              <a:rPr lang="en-US" sz="1400" dirty="0"/>
              <a:t>Good advice here: </a:t>
            </a:r>
            <a:r>
              <a:rPr lang="en-US" sz="1400" dirty="0">
                <a:hlinkClick r:id="rId2"/>
              </a:rPr>
              <a:t>https://dynamicecology.wordpress.com/2019/06/17/to-be-sure/</a:t>
            </a:r>
            <a:endParaRPr lang="en-US" sz="1400" dirty="0"/>
          </a:p>
          <a:p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92283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541"/>
            <a:ext cx="7886700" cy="48180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b="1" dirty="0"/>
              <a:t>Paragraph 3: Address limitations</a:t>
            </a:r>
          </a:p>
          <a:p>
            <a:pPr marL="0" indent="0">
              <a:buNone/>
            </a:pPr>
            <a:r>
              <a:rPr lang="en-US" b="1" dirty="0"/>
              <a:t>Addressing limitations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“Yes, but” strategy: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“Although we found a significant result, the sample size for this study was limited. With a greater sample size we would be more confident in our result.”</a:t>
            </a:r>
          </a:p>
          <a:p>
            <a:pPr lvl="1"/>
            <a:r>
              <a:rPr lang="en-US" sz="2200" dirty="0"/>
              <a:t>The negative is in the stress position, last thing reader thinks about</a:t>
            </a:r>
          </a:p>
          <a:p>
            <a:pPr lvl="1"/>
            <a:r>
              <a:rPr lang="en-US" sz="2200" dirty="0"/>
              <a:t>Doesn’t explain how your results are still valid, so this is left to the reader’s (very critical) imagination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“But, yes” strategy: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“Even with a limited sample size, we still detected a significant result. This suggests that we had enough power to detect a difference in means, if such a difference exists.”</a:t>
            </a:r>
          </a:p>
          <a:p>
            <a:pPr lvl="1"/>
            <a:r>
              <a:rPr lang="en-US" sz="2200" dirty="0"/>
              <a:t>The positive is in the stress position, last thing reader thinks about</a:t>
            </a:r>
          </a:p>
          <a:p>
            <a:pPr lvl="1"/>
            <a:r>
              <a:rPr lang="en-US" sz="2200" dirty="0"/>
              <a:t>Explains how your results are still valid, so reader can have a more balanced view of the evidence</a:t>
            </a:r>
            <a:endParaRPr lang="en-US" dirty="0"/>
          </a:p>
          <a:p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3068171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057" y="1211821"/>
            <a:ext cx="8778239" cy="894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How to get started addressing your study’s limitations: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49" y="-5406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5CA40-24C1-7F45-8383-884101C47897}"/>
              </a:ext>
            </a:extLst>
          </p:cNvPr>
          <p:cNvSpPr txBox="1"/>
          <p:nvPr/>
        </p:nvSpPr>
        <p:spPr>
          <a:xfrm>
            <a:off x="250257" y="6256421"/>
            <a:ext cx="877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*you have a reading on this subject in Canvas</a:t>
            </a:r>
          </a:p>
          <a:p>
            <a:r>
              <a:rPr lang="en-US" dirty="0"/>
              <a:t>Good advice here: </a:t>
            </a:r>
            <a:r>
              <a:rPr lang="en-US" dirty="0">
                <a:hlinkClick r:id="rId2"/>
              </a:rPr>
              <a:t>https://dynamicecology.wordpress.com/2019/06/17/to-be-sure/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E751F-70AD-5C44-93F5-519A8F1A02C4}"/>
              </a:ext>
            </a:extLst>
          </p:cNvPr>
          <p:cNvSpPr txBox="1"/>
          <p:nvPr/>
        </p:nvSpPr>
        <p:spPr>
          <a:xfrm>
            <a:off x="304598" y="1860605"/>
            <a:ext cx="83932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Ask yourself: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What are possible reasons my results could be biased or wrong?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If I showed my study to my friend/professor/</a:t>
            </a:r>
            <a:r>
              <a:rPr lang="en-US" sz="2000" dirty="0" err="1"/>
              <a:t>labmate</a:t>
            </a:r>
            <a:r>
              <a:rPr lang="en-US" sz="2000" dirty="0"/>
              <a:t>, what would they be skeptical about?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911B5-5C31-7D48-8952-9136B629B0D4}"/>
              </a:ext>
            </a:extLst>
          </p:cNvPr>
          <p:cNvSpPr/>
          <p:nvPr/>
        </p:nvSpPr>
        <p:spPr>
          <a:xfrm>
            <a:off x="275722" y="3596848"/>
            <a:ext cx="89260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Then ask yourself (for example):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How likely are these biases, and under what conditions would they show up?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How would I know if they are affecting my data? What signs would there be?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Even if these biases were affecting my data, would I still expect a similar result?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Even if this method (or these data, etc.) can’t address X, can it still address Y?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Even if I’m using a proxy for some variable, can it still reveal a similar pattern?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Is there a future line of work that can fill any gaps that remain?</a:t>
            </a:r>
          </a:p>
        </p:txBody>
      </p:sp>
    </p:spTree>
    <p:extLst>
      <p:ext uri="{BB962C8B-B14F-4D97-AF65-F5344CB8AC3E}">
        <p14:creationId xmlns:p14="http://schemas.microsoft.com/office/powerpoint/2010/main" val="443889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948" y="1294157"/>
            <a:ext cx="8650104" cy="48180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Paragraph 4: Broader implications and future directions</a:t>
            </a:r>
          </a:p>
          <a:p>
            <a:pPr marL="0" indent="0">
              <a:buNone/>
            </a:pPr>
            <a:r>
              <a:rPr lang="en-US" sz="2400" dirty="0"/>
              <a:t>(or more; # of paragraphs depends on how many implications you can think of)</a:t>
            </a:r>
            <a:r>
              <a:rPr lang="en-US" sz="2400" b="1" dirty="0"/>
              <a:t> </a:t>
            </a:r>
          </a:p>
          <a:p>
            <a:r>
              <a:rPr lang="en-US" sz="2400" dirty="0"/>
              <a:t>Broader implications: the farthest reach your results may </a:t>
            </a:r>
            <a:r>
              <a:rPr lang="en-US" sz="2400" i="1" dirty="0"/>
              <a:t>plausibly</a:t>
            </a:r>
            <a:r>
              <a:rPr lang="en-US" sz="2400" dirty="0"/>
              <a:t> have for our understanding of the world</a:t>
            </a:r>
          </a:p>
          <a:p>
            <a:r>
              <a:rPr lang="en-US" sz="2400" i="1" dirty="0"/>
              <a:t>Go as broad as you started in the Introduction</a:t>
            </a:r>
            <a:r>
              <a:rPr lang="en-US" sz="2400" dirty="0"/>
              <a:t>. If one section is broader than the other, you need to adjust one of them</a:t>
            </a:r>
          </a:p>
          <a:p>
            <a:r>
              <a:rPr lang="en-US" sz="2400" dirty="0"/>
              <a:t>Be honest about what we can say with your results (but don’t be too modest either)</a:t>
            </a:r>
          </a:p>
          <a:p>
            <a:r>
              <a:rPr lang="en-US" sz="2400" dirty="0"/>
              <a:t>Discuss areas of future research to stretch your results even further</a:t>
            </a:r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420324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2541"/>
            <a:ext cx="8226592" cy="4818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600" b="1" dirty="0"/>
              <a:t>Paragraph 4: Broader implications and future directions</a:t>
            </a:r>
            <a:endParaRPr lang="en-US" sz="26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Questions to ask to help you write these paragraphs: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the biggest problem or knowledge gap you can think of that your results help solve, and </a:t>
            </a:r>
            <a:r>
              <a:rPr lang="en-US" sz="2400" i="1" dirty="0"/>
              <a:t>why</a:t>
            </a:r>
            <a:r>
              <a:rPr lang="en-US" sz="2400" dirty="0"/>
              <a:t>?</a:t>
            </a:r>
            <a:r>
              <a:rPr lang="en-US" sz="2000" dirty="0"/>
              <a:t> (Did you go too big? A smaller knowledge gap is legitimate too!)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do we still need to know in order to understand how your results solve the big problem you identified?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How might we go about filling in the remaining gaps?</a:t>
            </a:r>
          </a:p>
          <a:p>
            <a:pPr marL="0" indent="0">
              <a:buNone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4067165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64A8D-4C46-EB42-B663-4AC3525DA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22" y="1334555"/>
            <a:ext cx="78867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Compare: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“More research is needed.”</a:t>
            </a:r>
          </a:p>
          <a:p>
            <a:pPr lvl="1"/>
            <a:r>
              <a:rPr lang="en-US" dirty="0"/>
              <a:t>Meaningless (more research is always</a:t>
            </a:r>
            <a:r>
              <a:rPr lang="en-US" i="1" dirty="0"/>
              <a:t> </a:t>
            </a:r>
            <a:r>
              <a:rPr lang="en-US" dirty="0"/>
              <a:t>needed)</a:t>
            </a:r>
          </a:p>
          <a:p>
            <a:pPr lvl="1"/>
            <a:r>
              <a:rPr lang="en-US" dirty="0"/>
              <a:t>Not specific: what should we do next?</a:t>
            </a:r>
          </a:p>
          <a:p>
            <a:pPr lvl="1"/>
            <a:r>
              <a:rPr lang="en-US" dirty="0"/>
              <a:t>Looks bad: minimizes the impact of your work</a:t>
            </a:r>
          </a:p>
          <a:p>
            <a:pPr lvl="1"/>
            <a:endParaRPr lang="en-US" sz="1000" dirty="0"/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“Future studies might consider how the combination of temperature and pH work in concert to impact larval crab development.”</a:t>
            </a:r>
          </a:p>
          <a:p>
            <a:pPr lvl="1"/>
            <a:r>
              <a:rPr lang="en-US" dirty="0"/>
              <a:t>Ties into the big picture</a:t>
            </a:r>
          </a:p>
          <a:p>
            <a:pPr lvl="1"/>
            <a:r>
              <a:rPr lang="en-US" dirty="0"/>
              <a:t>Specific: gives a breadcrumb for other researchers to pick up, or even starts your next study!</a:t>
            </a:r>
          </a:p>
          <a:p>
            <a:pPr lvl="1"/>
            <a:r>
              <a:rPr lang="en-US" dirty="0"/>
              <a:t>Exciting: makes us look forward to future work!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0F02A5-CE7A-444E-B22F-98C48FB61A3A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1265224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5901-F8B1-2440-BB0E-57A58C25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04" y="1204119"/>
            <a:ext cx="8226592" cy="52159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basic template for a Discussion section: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b="1" dirty="0"/>
              <a:t>Paragraph 5: Conclusion </a:t>
            </a:r>
            <a:r>
              <a:rPr lang="en-US" i="1" dirty="0"/>
              <a:t>(a pivotal paragraph!)*</a:t>
            </a:r>
            <a:endParaRPr lang="en-US" b="1" dirty="0"/>
          </a:p>
          <a:p>
            <a:pPr marL="0" indent="0">
              <a:buNone/>
            </a:pPr>
            <a:r>
              <a:rPr lang="en-US" sz="2400" dirty="0"/>
              <a:t>(or, the last paragraph of your discussion)</a:t>
            </a:r>
            <a:r>
              <a:rPr lang="en-US" sz="2400" b="1" dirty="0"/>
              <a:t> </a:t>
            </a:r>
            <a:endParaRPr lang="en-US" sz="1400" dirty="0"/>
          </a:p>
          <a:p>
            <a:r>
              <a:rPr lang="en-US" sz="2400" dirty="0"/>
              <a:t>“In conclusion, we…” Remind us yet again of the take-home</a:t>
            </a:r>
          </a:p>
          <a:p>
            <a:r>
              <a:rPr lang="en-US" sz="2400" dirty="0"/>
              <a:t>Say how we are better off (knowledge gap filled, big problem solved)</a:t>
            </a:r>
          </a:p>
          <a:p>
            <a:r>
              <a:rPr lang="en-US" sz="2400" dirty="0"/>
              <a:t>Keep this paragraph short</a:t>
            </a:r>
          </a:p>
          <a:p>
            <a:r>
              <a:rPr lang="en-US" sz="2400" i="1" dirty="0"/>
              <a:t>Do not </a:t>
            </a:r>
            <a:r>
              <a:rPr lang="en-US" sz="2400" dirty="0"/>
              <a:t>mention limitations here</a:t>
            </a:r>
            <a:endParaRPr lang="en-US" sz="2400" i="1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800" dirty="0"/>
              <a:t>*I think a conclusion paragraph is important for readers to remember the take-home. Other authors find them repetitive and don’t use them.</a:t>
            </a:r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568351-C5E2-744B-AE4F-87A2B164169E}"/>
              </a:ext>
            </a:extLst>
          </p:cNvPr>
          <p:cNvSpPr txBox="1">
            <a:spLocks/>
          </p:cNvSpPr>
          <p:nvPr/>
        </p:nvSpPr>
        <p:spPr>
          <a:xfrm>
            <a:off x="323850" y="-12144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The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1344497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6B22-0116-CC4C-9E64-FB03E5D5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4DE2-5A73-9D4C-A73F-1CBE2378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27" y="1663278"/>
            <a:ext cx="8352914" cy="4818807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600" dirty="0"/>
              <a:t>Read “The Discussion Section” and “Dealing with Limitations” on Canvas.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/>
              <a:t>Begin writing your Discussion section.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Continue working on your posters using PowerPoint</a:t>
            </a:r>
          </a:p>
          <a:p>
            <a:pPr marL="457200" lvl="1" indent="0">
              <a:buNone/>
            </a:pPr>
            <a:endParaRPr lang="en-US" sz="2600" dirty="0"/>
          </a:p>
          <a:p>
            <a:pPr marL="457200" lvl="1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b="1" i="1" dirty="0"/>
              <a:t>Poster session Thursday! </a:t>
            </a:r>
            <a:r>
              <a:rPr lang="en-US" sz="2600" dirty="0"/>
              <a:t>Read all directions on Canvas. </a:t>
            </a:r>
          </a:p>
        </p:txBody>
      </p:sp>
    </p:spTree>
    <p:extLst>
      <p:ext uri="{BB962C8B-B14F-4D97-AF65-F5344CB8AC3E}">
        <p14:creationId xmlns:p14="http://schemas.microsoft.com/office/powerpoint/2010/main" val="300603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1694</TotalTime>
  <Words>1511</Words>
  <Application>Microsoft Office PowerPoint</Application>
  <PresentationFormat>On-screen Show (4:3)</PresentationFormat>
  <Paragraphs>179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The Discussion Section</vt:lpstr>
      <vt:lpstr>Recall paper structure and the 5 pivotal paragraphs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Odds and ends to keep for Thursday</dc:title>
  <dc:creator>Miller, Elizabeth Christina - (ecmiller)</dc:creator>
  <cp:lastModifiedBy>Luke M. Tornabene</cp:lastModifiedBy>
  <cp:revision>312</cp:revision>
  <dcterms:created xsi:type="dcterms:W3CDTF">2020-02-04T16:37:16Z</dcterms:created>
  <dcterms:modified xsi:type="dcterms:W3CDTF">2025-02-18T22:30:05Z</dcterms:modified>
</cp:coreProperties>
</file>
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9"/>
  </p:notesMasterIdLst>
  <p:sldIdLst>
    <p:sldId id="256" r:id="rId2"/>
    <p:sldId id="342" r:id="rId3"/>
    <p:sldId id="343" r:id="rId4"/>
    <p:sldId id="297" r:id="rId5"/>
    <p:sldId id="346" r:id="rId6"/>
    <p:sldId id="361" r:id="rId7"/>
    <p:sldId id="347" r:id="rId8"/>
    <p:sldId id="359" r:id="rId9"/>
    <p:sldId id="360" r:id="rId10"/>
    <p:sldId id="284" r:id="rId11"/>
    <p:sldId id="348" r:id="rId12"/>
    <p:sldId id="349" r:id="rId13"/>
    <p:sldId id="351" r:id="rId14"/>
    <p:sldId id="353" r:id="rId15"/>
    <p:sldId id="354" r:id="rId16"/>
    <p:sldId id="270" r:id="rId17"/>
    <p:sldId id="35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32"/>
    <p:restoredTop sz="94630"/>
  </p:normalViewPr>
  <p:slideViewPr>
    <p:cSldViewPr snapToGrid="0" snapToObjects="1">
      <p:cViewPr varScale="1">
        <p:scale>
          <a:sx n="116" d="100"/>
          <a:sy n="116" d="100"/>
        </p:scale>
        <p:origin x="200" y="4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2E47A3-50BD-684F-B387-6880F37C5B2B}" type="datetimeFigureOut">
              <a:rPr lang="en-US" smtClean="0"/>
              <a:t>5/23/24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F5E93C-4744-5D42-8805-89BAE8A90A60}" type="slidenum">
              <a:rPr lang="en-US" smtClean="0"/>
              <a:t>‹#›</a:t>
            </a:fld>
            <a:endParaRPr lang="en-US"/>
          </a:p>
        </p:txBody>
      </p:sp>
    </p:spTree>
    <p:extLst>
      <p:ext uri="{BB962C8B-B14F-4D97-AF65-F5344CB8AC3E}">
        <p14:creationId xmlns:p14="http://schemas.microsoft.com/office/powerpoint/2010/main" val="2026046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39798A7D-8F13-4865-97B6-62163C0BCDB8}" type="slidenum">
              <a:rPr lang="en-US" smtClean="0"/>
              <a:t>16</a:t>
            </a:fld>
            <a:endParaRPr lang="en-US"/>
          </a:p>
        </p:txBody>
      </p:sp>
    </p:spTree>
    <p:extLst>
      <p:ext uri="{BB962C8B-B14F-4D97-AF65-F5344CB8AC3E}">
        <p14:creationId xmlns:p14="http://schemas.microsoft.com/office/powerpoint/2010/main" val="16793736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5/23/24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667869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5/23/24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7195322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7BB263C-79FE-3F4F-BB38-418A184B8AF6}" type="datetimeFigureOut">
              <a:rPr lang="en-US" smtClean="0"/>
              <a:t>5/23/24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8666838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7BB263C-79FE-3F4F-BB38-418A184B8AF6}" type="datetimeFigureOut">
              <a:rPr lang="en-US" smtClean="0"/>
              <a:t>5/23/24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3001011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7BB263C-79FE-3F4F-BB38-418A184B8AF6}" type="datetimeFigureOut">
              <a:rPr lang="en-US" smtClean="0"/>
              <a:t>5/23/24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829788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7BB263C-79FE-3F4F-BB38-418A184B8AF6}" type="datetimeFigureOut">
              <a:rPr lang="en-US" smtClean="0"/>
              <a:t>5/23/24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392296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BB263C-79FE-3F4F-BB38-418A184B8AF6}" type="datetimeFigureOut">
              <a:rPr lang="en-US" smtClean="0"/>
              <a:t>5/23/24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410483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B263C-79FE-3F4F-BB38-418A184B8AF6}" type="datetimeFigureOut">
              <a:rPr lang="en-US" smtClean="0"/>
              <a:t>5/23/24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8385664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7BB263C-79FE-3F4F-BB38-418A184B8AF6}" type="datetimeFigureOut">
              <a:rPr lang="en-US" smtClean="0"/>
              <a:t>5/23/24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4019723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5/23/24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96939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7BB263C-79FE-3F4F-BB38-418A184B8AF6}" type="datetimeFigureOut">
              <a:rPr lang="en-US" smtClean="0"/>
              <a:t>5/23/24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46E63E8-805A-554E-9FB3-0C14E5CFD7CA}" type="slidenum">
              <a:rPr lang="en-US" smtClean="0"/>
              <a:t>‹#›</a:t>
            </a:fld>
            <a:endParaRPr lang="en-US"/>
          </a:p>
        </p:txBody>
      </p:sp>
    </p:spTree>
    <p:extLst>
      <p:ext uri="{BB962C8B-B14F-4D97-AF65-F5344CB8AC3E}">
        <p14:creationId xmlns:p14="http://schemas.microsoft.com/office/powerpoint/2010/main" val="14971639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7BB263C-79FE-3F4F-BB38-418A184B8AF6}" type="datetimeFigureOut">
              <a:rPr lang="en-US" smtClean="0"/>
              <a:t>5/23/24</a:t>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46E63E8-805A-554E-9FB3-0C14E5CFD7CA}" type="slidenum">
              <a:rPr lang="en-US" smtClean="0"/>
              <a:t>‹#›</a:t>
            </a:fld>
            <a:endParaRPr lang="en-US"/>
          </a:p>
        </p:txBody>
      </p:sp>
    </p:spTree>
    <p:extLst>
      <p:ext uri="{BB962C8B-B14F-4D97-AF65-F5344CB8AC3E}">
        <p14:creationId xmlns:p14="http://schemas.microsoft.com/office/powerpoint/2010/main" val="42849554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6D629-BACA-104E-A368-7BA16099AD46}"/>
              </a:ext>
            </a:extLst>
          </p:cNvPr>
          <p:cNvSpPr>
            <a:spLocks noGrp="1"/>
          </p:cNvSpPr>
          <p:nvPr>
            <p:ph type="ctrTitle"/>
          </p:nvPr>
        </p:nvSpPr>
        <p:spPr>
          <a:xfrm>
            <a:off x="685800" y="1809922"/>
            <a:ext cx="7772400" cy="2387600"/>
          </a:xfrm>
        </p:spPr>
        <p:txBody>
          <a:bodyPr>
            <a:normAutofit fontScale="90000"/>
          </a:bodyPr>
          <a:lstStyle/>
          <a:p>
            <a:r>
              <a:rPr lang="en-US" dirty="0">
                <a:solidFill>
                  <a:srgbClr val="C00000"/>
                </a:solidFill>
              </a:rPr>
              <a:t>Editing</a:t>
            </a:r>
            <a:br>
              <a:rPr lang="en-US" dirty="0">
                <a:solidFill>
                  <a:srgbClr val="C00000"/>
                </a:solidFill>
              </a:rPr>
            </a:br>
            <a:br>
              <a:rPr lang="en-US" dirty="0">
                <a:solidFill>
                  <a:srgbClr val="C00000"/>
                </a:solidFill>
              </a:rPr>
            </a:br>
            <a:r>
              <a:rPr lang="en-US" sz="3600" dirty="0"/>
              <a:t>Good writing takes time and effort. </a:t>
            </a:r>
            <a:br>
              <a:rPr lang="en-US" sz="3600" dirty="0"/>
            </a:br>
            <a:r>
              <a:rPr lang="en-US" sz="3600" dirty="0"/>
              <a:t>It should not be rushed.</a:t>
            </a:r>
          </a:p>
        </p:txBody>
      </p:sp>
      <p:sp>
        <p:nvSpPr>
          <p:cNvPr id="3" name="Subtitle 2">
            <a:extLst>
              <a:ext uri="{FF2B5EF4-FFF2-40B4-BE49-F238E27FC236}">
                <a16:creationId xmlns:a16="http://schemas.microsoft.com/office/drawing/2014/main" id="{2178E414-8C0C-6347-B707-B61EA9D6A97B}"/>
              </a:ext>
            </a:extLst>
          </p:cNvPr>
          <p:cNvSpPr>
            <a:spLocks noGrp="1"/>
          </p:cNvSpPr>
          <p:nvPr>
            <p:ph type="subTitle" idx="1"/>
          </p:nvPr>
        </p:nvSpPr>
        <p:spPr>
          <a:xfrm>
            <a:off x="1143000" y="5048078"/>
            <a:ext cx="6858000" cy="1375117"/>
          </a:xfrm>
        </p:spPr>
        <p:txBody>
          <a:bodyPr/>
          <a:lstStyle/>
          <a:p>
            <a:r>
              <a:rPr lang="en-US" dirty="0"/>
              <a:t>Fish 290</a:t>
            </a:r>
          </a:p>
          <a:p>
            <a:r>
              <a:rPr lang="en-US" dirty="0"/>
              <a:t>Thursday March 2</a:t>
            </a:r>
            <a:r>
              <a:rPr lang="en-US" baseline="30000" dirty="0"/>
              <a:t>rd</a:t>
            </a:r>
            <a:endParaRPr lang="en-US" dirty="0"/>
          </a:p>
        </p:txBody>
      </p:sp>
    </p:spTree>
    <p:extLst>
      <p:ext uri="{BB962C8B-B14F-4D97-AF65-F5344CB8AC3E}">
        <p14:creationId xmlns:p14="http://schemas.microsoft.com/office/powerpoint/2010/main" val="2039902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C15BF-F96F-0E44-BE35-60CDEA0C2145}"/>
              </a:ext>
            </a:extLst>
          </p:cNvPr>
          <p:cNvSpPr>
            <a:spLocks noGrp="1"/>
          </p:cNvSpPr>
          <p:nvPr>
            <p:ph type="title"/>
          </p:nvPr>
        </p:nvSpPr>
        <p:spPr>
          <a:xfrm>
            <a:off x="628650" y="0"/>
            <a:ext cx="7886700" cy="1325563"/>
          </a:xfrm>
        </p:spPr>
        <p:txBody>
          <a:bodyPr/>
          <a:lstStyle/>
          <a:p>
            <a:r>
              <a:rPr lang="en-US" dirty="0"/>
              <a:t>Peer editing</a:t>
            </a:r>
          </a:p>
        </p:txBody>
      </p:sp>
      <p:sp>
        <p:nvSpPr>
          <p:cNvPr id="3" name="Rectangle 2">
            <a:extLst>
              <a:ext uri="{FF2B5EF4-FFF2-40B4-BE49-F238E27FC236}">
                <a16:creationId xmlns:a16="http://schemas.microsoft.com/office/drawing/2014/main" id="{F9DA5CC8-1A5A-3B44-BC68-8CED693CECF9}"/>
              </a:ext>
            </a:extLst>
          </p:cNvPr>
          <p:cNvSpPr/>
          <p:nvPr/>
        </p:nvSpPr>
        <p:spPr>
          <a:xfrm>
            <a:off x="311426" y="2690128"/>
            <a:ext cx="8521148" cy="461665"/>
          </a:xfrm>
          <a:prstGeom prst="rect">
            <a:avLst/>
          </a:prstGeom>
        </p:spPr>
        <p:txBody>
          <a:bodyPr wrap="square">
            <a:spAutoFit/>
          </a:bodyPr>
          <a:lstStyle/>
          <a:p>
            <a:r>
              <a:rPr lang="en-US" sz="2400" dirty="0"/>
              <a:t>Your edits are due Friday at 11:59 pm</a:t>
            </a:r>
          </a:p>
        </p:txBody>
      </p:sp>
    </p:spTree>
    <p:extLst>
      <p:ext uri="{BB962C8B-B14F-4D97-AF65-F5344CB8AC3E}">
        <p14:creationId xmlns:p14="http://schemas.microsoft.com/office/powerpoint/2010/main" val="34665111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3D2DE2-5D78-2749-9D62-E5DBC77ABA63}"/>
              </a:ext>
            </a:extLst>
          </p:cNvPr>
          <p:cNvSpPr>
            <a:spLocks noGrp="1"/>
          </p:cNvSpPr>
          <p:nvPr>
            <p:ph idx="1"/>
          </p:nvPr>
        </p:nvSpPr>
        <p:spPr>
          <a:xfrm>
            <a:off x="192156" y="772629"/>
            <a:ext cx="8759687" cy="5312741"/>
          </a:xfrm>
        </p:spPr>
        <p:txBody>
          <a:bodyPr>
            <a:normAutofit/>
          </a:bodyPr>
          <a:lstStyle/>
          <a:p>
            <a:pPr marL="0" indent="0">
              <a:buNone/>
            </a:pPr>
            <a:r>
              <a:rPr lang="en-US" dirty="0">
                <a:solidFill>
                  <a:srgbClr val="C00000"/>
                </a:solidFill>
              </a:rPr>
              <a:t>3-step editing process:</a:t>
            </a:r>
          </a:p>
          <a:p>
            <a:pPr marL="0" indent="0">
              <a:buNone/>
            </a:pPr>
            <a:endParaRPr lang="en-US" dirty="0"/>
          </a:p>
          <a:p>
            <a:pPr marL="514350" indent="-514350">
              <a:buFont typeface="+mj-lt"/>
              <a:buAutoNum type="arabicPeriod"/>
            </a:pPr>
            <a:r>
              <a:rPr lang="en-US" b="1" dirty="0">
                <a:solidFill>
                  <a:srgbClr val="C00000"/>
                </a:solidFill>
              </a:rPr>
              <a:t>Fine details: </a:t>
            </a:r>
            <a:r>
              <a:rPr lang="en-US" dirty="0"/>
              <a:t>Read through the paper. Use Track Changes to mark any unclear statements, give comments, make edits</a:t>
            </a:r>
          </a:p>
          <a:p>
            <a:pPr marL="514350" indent="-514350">
              <a:buFont typeface="+mj-lt"/>
              <a:buAutoNum type="arabicPeriod"/>
            </a:pPr>
            <a:r>
              <a:rPr lang="en-US" b="1" dirty="0">
                <a:solidFill>
                  <a:srgbClr val="C00000"/>
                </a:solidFill>
              </a:rPr>
              <a:t>Overall structure: </a:t>
            </a:r>
            <a:r>
              <a:rPr lang="en-US" dirty="0"/>
              <a:t>Go through checklist (we will make this today). Check that each section/paragraph is doing its job.</a:t>
            </a:r>
          </a:p>
          <a:p>
            <a:pPr marL="514350" indent="-514350">
              <a:buFont typeface="+mj-lt"/>
              <a:buAutoNum type="arabicPeriod"/>
            </a:pPr>
            <a:r>
              <a:rPr lang="en-US" b="1" dirty="0">
                <a:solidFill>
                  <a:srgbClr val="C00000"/>
                </a:solidFill>
              </a:rPr>
              <a:t>Big picture: </a:t>
            </a:r>
            <a:r>
              <a:rPr lang="en-US" dirty="0"/>
              <a:t>See Table 1 of “10 Simple Rules for Structuring Papers.” Are there signs that the 10 simple rules are violated? If so, what do they need to change?</a:t>
            </a:r>
          </a:p>
          <a:p>
            <a:pPr marL="514350" indent="-514350">
              <a:buFont typeface="+mj-lt"/>
              <a:buAutoNum type="arabicPeriod"/>
            </a:pPr>
            <a:endParaRPr lang="en-US" dirty="0"/>
          </a:p>
          <a:p>
            <a:endParaRPr lang="en-US" dirty="0"/>
          </a:p>
        </p:txBody>
      </p:sp>
    </p:spTree>
    <p:extLst>
      <p:ext uri="{BB962C8B-B14F-4D97-AF65-F5344CB8AC3E}">
        <p14:creationId xmlns:p14="http://schemas.microsoft.com/office/powerpoint/2010/main" val="38275328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496542" y="1613262"/>
            <a:ext cx="8342658" cy="5073865"/>
          </a:xfrm>
        </p:spPr>
        <p:txBody>
          <a:bodyPr>
            <a:normAutofit lnSpcReduction="10000"/>
          </a:bodyPr>
          <a:lstStyle/>
          <a:p>
            <a:pPr marL="0" indent="0">
              <a:buNone/>
            </a:pPr>
            <a:r>
              <a:rPr lang="en-US" sz="2600" b="1" u="sng" dirty="0"/>
              <a:t>The reader does not know what you know.</a:t>
            </a:r>
          </a:p>
          <a:p>
            <a:pPr marL="0" indent="0">
              <a:buNone/>
            </a:pPr>
            <a:endParaRPr lang="en-US" sz="2600" dirty="0"/>
          </a:p>
          <a:p>
            <a:pPr marL="0" indent="0">
              <a:buNone/>
            </a:pPr>
            <a:r>
              <a:rPr lang="en-US" sz="2600" dirty="0"/>
              <a:t>Signs you wrongly assumed your reader is also in your brain:</a:t>
            </a:r>
            <a:br>
              <a:rPr lang="en-US" sz="2600" dirty="0"/>
            </a:br>
            <a:endParaRPr lang="en-US" sz="2600" dirty="0"/>
          </a:p>
          <a:p>
            <a:pPr marL="514350" indent="-514350">
              <a:buFont typeface="+mj-lt"/>
              <a:buAutoNum type="arabicPeriod"/>
            </a:pPr>
            <a:r>
              <a:rPr lang="en-US" sz="2600" dirty="0">
                <a:solidFill>
                  <a:srgbClr val="C00000"/>
                </a:solidFill>
              </a:rPr>
              <a:t>Justification for why your study is needed</a:t>
            </a:r>
            <a:r>
              <a:rPr lang="en-US" sz="2600" dirty="0"/>
              <a:t> is missing or weak in the Introduction</a:t>
            </a:r>
          </a:p>
          <a:p>
            <a:pPr marL="514350" indent="-514350">
              <a:buFont typeface="+mj-lt"/>
              <a:buAutoNum type="arabicPeriod"/>
            </a:pPr>
            <a:r>
              <a:rPr lang="en-US" sz="2600" dirty="0">
                <a:solidFill>
                  <a:srgbClr val="C00000"/>
                </a:solidFill>
              </a:rPr>
              <a:t>Important context is missing </a:t>
            </a:r>
            <a:r>
              <a:rPr lang="en-US" sz="2600" dirty="0"/>
              <a:t>(study site, basics of organism’s biology relevant to study)</a:t>
            </a:r>
          </a:p>
          <a:p>
            <a:pPr marL="514350" indent="-514350">
              <a:buFont typeface="+mj-lt"/>
              <a:buAutoNum type="arabicPeriod"/>
            </a:pPr>
            <a:r>
              <a:rPr lang="en-US" sz="2600" dirty="0">
                <a:solidFill>
                  <a:srgbClr val="C00000"/>
                </a:solidFill>
              </a:rPr>
              <a:t>Pronoun-heavy writing  </a:t>
            </a:r>
            <a:r>
              <a:rPr lang="en-US" sz="2600" dirty="0"/>
              <a:t>(“</a:t>
            </a:r>
            <a:r>
              <a:rPr lang="en-US" sz="2600" dirty="0">
                <a:solidFill>
                  <a:srgbClr val="FF0000"/>
                </a:solidFill>
              </a:rPr>
              <a:t>It</a:t>
            </a:r>
            <a:r>
              <a:rPr lang="en-US" sz="2600" dirty="0"/>
              <a:t> was taken to the lab…” “Temperature affected </a:t>
            </a:r>
            <a:r>
              <a:rPr lang="en-US" sz="2600" dirty="0">
                <a:solidFill>
                  <a:srgbClr val="FF0000"/>
                </a:solidFill>
              </a:rPr>
              <a:t>them</a:t>
            </a:r>
            <a:r>
              <a:rPr lang="en-US" sz="2600" dirty="0"/>
              <a:t>…”)</a:t>
            </a:r>
          </a:p>
          <a:p>
            <a:pPr marL="0" indent="0">
              <a:buNone/>
            </a:pPr>
            <a:endParaRPr lang="en-US" sz="2600" dirty="0"/>
          </a:p>
          <a:p>
            <a:pPr marL="0" indent="0">
              <a:buNone/>
            </a:pPr>
            <a:r>
              <a:rPr lang="en-US" sz="2400" dirty="0"/>
              <a:t>This is why it is necessary to get feedback from someone else!</a:t>
            </a: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Tree>
    <p:extLst>
      <p:ext uri="{BB962C8B-B14F-4D97-AF65-F5344CB8AC3E}">
        <p14:creationId xmlns:p14="http://schemas.microsoft.com/office/powerpoint/2010/main" val="750756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354288" y="1613262"/>
            <a:ext cx="8435423" cy="5073865"/>
          </a:xfrm>
        </p:spPr>
        <p:txBody>
          <a:bodyPr>
            <a:normAutofit/>
          </a:bodyPr>
          <a:lstStyle/>
          <a:p>
            <a:pPr marL="0" indent="0">
              <a:buNone/>
            </a:pPr>
            <a:r>
              <a:rPr lang="en-US" sz="2600" b="1" dirty="0"/>
              <a:t>Brevity: </a:t>
            </a:r>
            <a:r>
              <a:rPr lang="en-US" sz="2600" dirty="0"/>
              <a:t>always try to communicate your message in as few words as possible. </a:t>
            </a:r>
            <a:r>
              <a:rPr lang="en-US" sz="2600" b="1" i="1" u="sng" dirty="0">
                <a:solidFill>
                  <a:srgbClr val="C00000"/>
                </a:solidFill>
              </a:rPr>
              <a:t>Every sentence must serve a purpose.</a:t>
            </a:r>
            <a:endParaRPr lang="en-US" sz="2600" i="1" u="sng" dirty="0">
              <a:solidFill>
                <a:srgbClr val="C00000"/>
              </a:solidFill>
            </a:endParaRPr>
          </a:p>
          <a:p>
            <a:pPr marL="0" indent="0">
              <a:buNone/>
            </a:pPr>
            <a:endParaRPr lang="en-US" sz="2600" b="1" dirty="0">
              <a:solidFill>
                <a:srgbClr val="C00000"/>
              </a:solidFill>
            </a:endParaRPr>
          </a:p>
          <a:p>
            <a:pPr marL="0" indent="0">
              <a:buNone/>
            </a:pPr>
            <a:r>
              <a:rPr lang="en-US" sz="2600" b="1" dirty="0"/>
              <a:t>Why be brief?</a:t>
            </a:r>
          </a:p>
          <a:p>
            <a:r>
              <a:rPr lang="en-US" sz="2600" dirty="0"/>
              <a:t>Shorter writing is clearer writing</a:t>
            </a:r>
          </a:p>
          <a:p>
            <a:r>
              <a:rPr lang="en-US" sz="2600" b="1" u="sng" dirty="0"/>
              <a:t>Fluff</a:t>
            </a:r>
            <a:r>
              <a:rPr lang="en-US" sz="2600" dirty="0"/>
              <a:t> competes for your reader’s attention and dilutes the main message</a:t>
            </a:r>
          </a:p>
          <a:p>
            <a:r>
              <a:rPr lang="en-US" sz="2600" dirty="0"/>
              <a:t>Fluff is transparent and gives poor impression of your work</a:t>
            </a:r>
          </a:p>
          <a:p>
            <a:r>
              <a:rPr lang="en-US" sz="2600" dirty="0"/>
              <a:t>Many journals and grants have strict length limits</a:t>
            </a:r>
          </a:p>
          <a:p>
            <a:endParaRPr lang="en-US" sz="2600" dirty="0"/>
          </a:p>
          <a:p>
            <a:pPr marL="0" indent="0">
              <a:buNone/>
            </a:pPr>
            <a:r>
              <a:rPr lang="en-US" sz="2600" dirty="0">
                <a:solidFill>
                  <a:srgbClr val="C00000"/>
                </a:solidFill>
              </a:rPr>
              <a:t>Read “Brevity” in Canvas if you need help cutting!</a:t>
            </a: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Tree>
    <p:extLst>
      <p:ext uri="{BB962C8B-B14F-4D97-AF65-F5344CB8AC3E}">
        <p14:creationId xmlns:p14="http://schemas.microsoft.com/office/powerpoint/2010/main" val="13867909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0337596B-9205-1057-ECDF-0AA0A60A74FC}"/>
              </a:ext>
            </a:extLst>
          </p:cNvPr>
          <p:cNvSpPr txBox="1"/>
          <p:nvPr/>
        </p:nvSpPr>
        <p:spPr>
          <a:xfrm>
            <a:off x="428281" y="903383"/>
            <a:ext cx="8529809" cy="5262979"/>
          </a:xfrm>
          <a:prstGeom prst="rect">
            <a:avLst/>
          </a:prstGeom>
          <a:noFill/>
        </p:spPr>
        <p:txBody>
          <a:bodyPr wrap="square">
            <a:spAutoFit/>
          </a:bodyPr>
          <a:lstStyle/>
          <a:p>
            <a:pPr marL="0" marR="0">
              <a:spcBef>
                <a:spcPts val="0"/>
              </a:spcBef>
              <a:spcAft>
                <a:spcPts val="0"/>
              </a:spcAft>
            </a:pPr>
            <a:r>
              <a:rPr lang="en-US" sz="2800" dirty="0">
                <a:effectLst/>
                <a:latin typeface="Aptos" panose="020B0004020202020204" pitchFamily="34" charset="0"/>
                <a:ea typeface="Aptos" panose="020B0004020202020204" pitchFamily="34" charset="0"/>
                <a:cs typeface="Times New Roman" panose="02020603050405020304" pitchFamily="18" charset="0"/>
              </a:rPr>
              <a:t>Don’t take a paragraph to say what can be said in one sentence. </a:t>
            </a:r>
          </a:p>
          <a:p>
            <a:pPr marL="0" marR="0">
              <a:spcBef>
                <a:spcPts val="0"/>
              </a:spcBef>
              <a:spcAft>
                <a:spcPts val="0"/>
              </a:spcAft>
            </a:pPr>
            <a:endParaRPr lang="en-US" sz="2000" dirty="0">
              <a:latin typeface="Aptos" panose="020B0004020202020204" pitchFamily="34" charset="0"/>
              <a:ea typeface="Aptos" panose="020B0004020202020204" pitchFamily="34" charset="0"/>
              <a:cs typeface="Times New Roman" panose="02020603050405020304" pitchFamily="18" charset="0"/>
            </a:endParaRPr>
          </a:p>
          <a:p>
            <a:pPr marL="0" marR="0">
              <a:spcBef>
                <a:spcPts val="0"/>
              </a:spcBef>
              <a:spcAft>
                <a:spcPts val="0"/>
              </a:spcAft>
            </a:pPr>
            <a:r>
              <a:rPr lang="en-US" sz="2000" dirty="0">
                <a:effectLst/>
                <a:latin typeface="Aptos" panose="020B0004020202020204" pitchFamily="34" charset="0"/>
                <a:ea typeface="Aptos" panose="020B0004020202020204" pitchFamily="34" charset="0"/>
                <a:cs typeface="Times New Roman" panose="02020603050405020304" pitchFamily="18" charset="0"/>
              </a:rPr>
              <a:t>There are several factors that contribute to coral bleaching.  Two of those factors are increased temperature and decreasing </a:t>
            </a:r>
            <a:r>
              <a:rPr lang="en-US" sz="2000" dirty="0" err="1">
                <a:effectLst/>
                <a:latin typeface="Aptos" panose="020B0004020202020204" pitchFamily="34" charset="0"/>
                <a:ea typeface="Aptos" panose="020B0004020202020204" pitchFamily="34" charset="0"/>
                <a:cs typeface="Times New Roman" panose="02020603050405020304" pitchFamily="18" charset="0"/>
              </a:rPr>
              <a:t>pH.</a:t>
            </a:r>
            <a:r>
              <a:rPr lang="en-US" sz="2000" dirty="0">
                <a:effectLst/>
                <a:latin typeface="Aptos" panose="020B0004020202020204" pitchFamily="34" charset="0"/>
                <a:ea typeface="Aptos" panose="020B0004020202020204" pitchFamily="34" charset="0"/>
                <a:cs typeface="Times New Roman" panose="02020603050405020304" pitchFamily="18" charset="0"/>
              </a:rPr>
              <a:t>  When temperatures get warmer, this can cause corals to become bleached.  Similarly, when the water gets more acidic, this stress can also lead to coral bleaching. </a:t>
            </a:r>
            <a:r>
              <a:rPr lang="en-US" sz="2000" dirty="0">
                <a:latin typeface="Aptos" panose="020B0004020202020204" pitchFamily="34" charset="0"/>
                <a:ea typeface="Aptos" panose="020B0004020202020204" pitchFamily="34" charset="0"/>
                <a:cs typeface="Times New Roman" panose="02020603050405020304" pitchFamily="18" charset="0"/>
              </a:rPr>
              <a:t> Exposure to these factors can be both long term, intermediate, and short term. </a:t>
            </a:r>
            <a:r>
              <a:rPr lang="en-US" sz="2000" dirty="0">
                <a:effectLst/>
                <a:latin typeface="Aptos" panose="020B0004020202020204" pitchFamily="34" charset="0"/>
                <a:ea typeface="Aptos" panose="020B0004020202020204" pitchFamily="34" charset="0"/>
                <a:cs typeface="Times New Roman" panose="02020603050405020304" pitchFamily="18" charset="0"/>
              </a:rPr>
              <a:t> Thus, there are a multitude of factors to consider when trying to understand the root cause of coral bleaching, and researchers should place high emphasis on the combined effects of increased temperature and ocean acidification. </a:t>
            </a:r>
          </a:p>
          <a:p>
            <a:pPr marL="0" marR="0">
              <a:spcBef>
                <a:spcPts val="0"/>
              </a:spcBef>
              <a:spcAft>
                <a:spcPts val="0"/>
              </a:spcAft>
            </a:pPr>
            <a:br>
              <a:rPr lang="en-US" sz="2000" dirty="0">
                <a:effectLst/>
                <a:latin typeface="Aptos" panose="020B0004020202020204" pitchFamily="34" charset="0"/>
                <a:ea typeface="Aptos" panose="020B0004020202020204" pitchFamily="34" charset="0"/>
                <a:cs typeface="Times New Roman" panose="02020603050405020304" pitchFamily="18" charset="0"/>
              </a:rPr>
            </a:br>
            <a:br>
              <a:rPr lang="en-US" sz="2000" dirty="0">
                <a:effectLst/>
                <a:latin typeface="Aptos" panose="020B0004020202020204" pitchFamily="34" charset="0"/>
                <a:ea typeface="Aptos" panose="020B0004020202020204" pitchFamily="34" charset="0"/>
                <a:cs typeface="Times New Roman" panose="02020603050405020304" pitchFamily="18" charset="0"/>
              </a:rPr>
            </a:br>
            <a:r>
              <a:rPr lang="en-US" sz="2000" dirty="0">
                <a:effectLst/>
                <a:latin typeface="Aptos" panose="020B0004020202020204" pitchFamily="34" charset="0"/>
                <a:ea typeface="Aptos" panose="020B0004020202020204" pitchFamily="34" charset="0"/>
                <a:cs typeface="Times New Roman" panose="02020603050405020304" pitchFamily="18" charset="0"/>
              </a:rPr>
              <a:t>Exposure to warmer temperatures and acidic waters can lead to coral bleaching (Martinez and Colins, 2021). </a:t>
            </a:r>
          </a:p>
        </p:txBody>
      </p:sp>
    </p:spTree>
    <p:extLst>
      <p:ext uri="{BB962C8B-B14F-4D97-AF65-F5344CB8AC3E}">
        <p14:creationId xmlns:p14="http://schemas.microsoft.com/office/powerpoint/2010/main" val="14364452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
        <p:nvSpPr>
          <p:cNvPr id="4" name="Rectangle 3">
            <a:extLst>
              <a:ext uri="{FF2B5EF4-FFF2-40B4-BE49-F238E27FC236}">
                <a16:creationId xmlns:a16="http://schemas.microsoft.com/office/drawing/2014/main" id="{C5B3ED8F-87DD-364B-A1B6-EAAFBE2C2ED8}"/>
              </a:ext>
            </a:extLst>
          </p:cNvPr>
          <p:cNvSpPr/>
          <p:nvPr/>
        </p:nvSpPr>
        <p:spPr>
          <a:xfrm>
            <a:off x="341036" y="1430810"/>
            <a:ext cx="8683695" cy="5262979"/>
          </a:xfrm>
          <a:prstGeom prst="rect">
            <a:avLst/>
          </a:prstGeom>
        </p:spPr>
        <p:txBody>
          <a:bodyPr wrap="square">
            <a:spAutoFit/>
          </a:bodyPr>
          <a:lstStyle/>
          <a:p>
            <a:r>
              <a:rPr lang="en-US" sz="2800" b="1" u="sng" dirty="0">
                <a:solidFill>
                  <a:srgbClr val="C00000"/>
                </a:solidFill>
              </a:rPr>
              <a:t>Common redundancies to avoid (eliminate words in parentheses):</a:t>
            </a:r>
            <a:endParaRPr lang="en-US" sz="2800" b="1" u="sng" dirty="0"/>
          </a:p>
          <a:p>
            <a:r>
              <a:rPr lang="en-US" sz="2800" dirty="0"/>
              <a:t>(already) existing			introduced (a new)</a:t>
            </a:r>
          </a:p>
          <a:p>
            <a:r>
              <a:rPr lang="en-US" sz="2800" dirty="0"/>
              <a:t>(alternative) choices		mix (together)</a:t>
            </a:r>
          </a:p>
          <a:p>
            <a:r>
              <a:rPr lang="en-US" sz="2800" dirty="0"/>
              <a:t>At (the) present (time)	never (before)</a:t>
            </a:r>
          </a:p>
          <a:p>
            <a:r>
              <a:rPr lang="en-US" sz="2800" dirty="0"/>
              <a:t>(basic) fundamentals		none (at all)</a:t>
            </a:r>
          </a:p>
          <a:p>
            <a:r>
              <a:rPr lang="en-US" sz="2800" dirty="0"/>
              <a:t>(completely) eliminate	now (at this time)</a:t>
            </a:r>
          </a:p>
          <a:p>
            <a:r>
              <a:rPr lang="en-US" sz="2800" dirty="0"/>
              <a:t>(continue to) remain		period (of time)</a:t>
            </a:r>
          </a:p>
          <a:p>
            <a:r>
              <a:rPr lang="en-US" sz="2800" dirty="0"/>
              <a:t>(currently) being			(still) persists</a:t>
            </a:r>
          </a:p>
          <a:p>
            <a:r>
              <a:rPr lang="en-US" sz="2800" dirty="0"/>
              <a:t>(currently) underway		start (out)</a:t>
            </a:r>
          </a:p>
          <a:p>
            <a:r>
              <a:rPr lang="en-US" sz="2800" dirty="0"/>
              <a:t>(empty) space	</a:t>
            </a:r>
          </a:p>
          <a:p>
            <a:r>
              <a:rPr lang="en-US" sz="2800" dirty="0"/>
              <a:t>Had done (previously)	</a:t>
            </a:r>
          </a:p>
        </p:txBody>
      </p:sp>
    </p:spTree>
    <p:extLst>
      <p:ext uri="{BB962C8B-B14F-4D97-AF65-F5344CB8AC3E}">
        <p14:creationId xmlns:p14="http://schemas.microsoft.com/office/powerpoint/2010/main" val="16363106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077695-7AEB-6031-62C4-F075C960011F}"/>
              </a:ext>
            </a:extLst>
          </p:cNvPr>
          <p:cNvSpPr>
            <a:spLocks noGrp="1"/>
          </p:cNvSpPr>
          <p:nvPr>
            <p:ph type="title"/>
          </p:nvPr>
        </p:nvSpPr>
        <p:spPr>
          <a:xfrm>
            <a:off x="514351" y="566314"/>
            <a:ext cx="7886700" cy="3630404"/>
          </a:xfrm>
        </p:spPr>
        <p:txBody>
          <a:bodyPr>
            <a:normAutofit/>
          </a:bodyPr>
          <a:lstStyle/>
          <a:p>
            <a:br>
              <a:rPr lang="en-US" sz="2800" dirty="0">
                <a:solidFill>
                  <a:srgbClr val="FF0000"/>
                </a:solidFill>
              </a:rPr>
            </a:br>
            <a:r>
              <a:rPr lang="en-US" sz="2800" dirty="0">
                <a:solidFill>
                  <a:srgbClr val="FF0000"/>
                </a:solidFill>
              </a:rPr>
              <a:t>A considerable amount of research has shown that </a:t>
            </a:r>
            <a:r>
              <a:rPr lang="en-US" sz="2800" dirty="0">
                <a:solidFill>
                  <a:srgbClr val="00B0F0"/>
                </a:solidFill>
              </a:rPr>
              <a:t>apex predators </a:t>
            </a:r>
            <a:r>
              <a:rPr lang="en-US" sz="2800" dirty="0"/>
              <a:t>are </a:t>
            </a:r>
            <a:r>
              <a:rPr lang="en-US" sz="2800" dirty="0">
                <a:solidFill>
                  <a:schemeClr val="accent4">
                    <a:lumMod val="75000"/>
                  </a:schemeClr>
                </a:solidFill>
              </a:rPr>
              <a:t>vitally important for the ocean for a variety of reasons</a:t>
            </a:r>
            <a:r>
              <a:rPr lang="en-US" sz="2800" dirty="0"/>
              <a:t>.</a:t>
            </a:r>
            <a:br>
              <a:rPr lang="en-US" sz="2800" dirty="0"/>
            </a:br>
            <a:br>
              <a:rPr lang="en-US" sz="2800" dirty="0"/>
            </a:br>
            <a:r>
              <a:rPr lang="en-US" sz="2800" dirty="0"/>
              <a:t>Without substance, but now with fluff.</a:t>
            </a:r>
          </a:p>
        </p:txBody>
      </p:sp>
      <p:sp>
        <p:nvSpPr>
          <p:cNvPr id="4" name="TextBox 3">
            <a:extLst>
              <a:ext uri="{FF2B5EF4-FFF2-40B4-BE49-F238E27FC236}">
                <a16:creationId xmlns:a16="http://schemas.microsoft.com/office/drawing/2014/main" id="{286405D6-00D1-F085-4755-49FA9065D116}"/>
              </a:ext>
            </a:extLst>
          </p:cNvPr>
          <p:cNvSpPr txBox="1"/>
          <p:nvPr/>
        </p:nvSpPr>
        <p:spPr>
          <a:xfrm>
            <a:off x="549137" y="3819031"/>
            <a:ext cx="7185992" cy="3108543"/>
          </a:xfrm>
          <a:prstGeom prst="rect">
            <a:avLst/>
          </a:prstGeom>
          <a:noFill/>
        </p:spPr>
        <p:txBody>
          <a:bodyPr wrap="square" rtlCol="0">
            <a:spAutoFit/>
          </a:bodyPr>
          <a:lstStyle/>
          <a:p>
            <a:r>
              <a:rPr lang="en-US" sz="2800" dirty="0">
                <a:solidFill>
                  <a:srgbClr val="00B0F0"/>
                </a:solidFill>
                <a:latin typeface="+mj-lt"/>
              </a:rPr>
              <a:t>Reductions in the abundance of apex predators due to overfishing</a:t>
            </a:r>
            <a:r>
              <a:rPr lang="en-US" sz="2800" dirty="0">
                <a:latin typeface="+mj-lt"/>
              </a:rPr>
              <a:t> can cause </a:t>
            </a:r>
            <a:r>
              <a:rPr lang="en-US" sz="2800" b="1" dirty="0">
                <a:solidFill>
                  <a:schemeClr val="accent4">
                    <a:lumMod val="75000"/>
                  </a:schemeClr>
                </a:solidFill>
                <a:latin typeface="+mj-lt"/>
              </a:rPr>
              <a:t>trophic cascades </a:t>
            </a:r>
            <a:r>
              <a:rPr lang="en-US" sz="2800" dirty="0">
                <a:solidFill>
                  <a:schemeClr val="accent4">
                    <a:lumMod val="75000"/>
                  </a:schemeClr>
                </a:solidFill>
                <a:latin typeface="+mj-lt"/>
              </a:rPr>
              <a:t>that lead to declines in the </a:t>
            </a:r>
            <a:r>
              <a:rPr lang="en-US" sz="2800" b="1" dirty="0">
                <a:solidFill>
                  <a:schemeClr val="accent4">
                    <a:lumMod val="75000"/>
                  </a:schemeClr>
                </a:solidFill>
                <a:latin typeface="+mj-lt"/>
              </a:rPr>
              <a:t>quality of marine habitats</a:t>
            </a:r>
            <a:r>
              <a:rPr lang="en-US" sz="2800" b="1" dirty="0">
                <a:latin typeface="+mj-lt"/>
              </a:rPr>
              <a:t> </a:t>
            </a:r>
            <a:r>
              <a:rPr lang="en-US" sz="2800" dirty="0">
                <a:latin typeface="+mj-lt"/>
              </a:rPr>
              <a:t>(</a:t>
            </a:r>
            <a:r>
              <a:rPr lang="en-US" sz="2800" dirty="0">
                <a:solidFill>
                  <a:srgbClr val="FF0000"/>
                </a:solidFill>
                <a:latin typeface="+mj-lt"/>
              </a:rPr>
              <a:t>Munoz et al 2011)</a:t>
            </a:r>
            <a:r>
              <a:rPr lang="en-US" sz="2800" dirty="0">
                <a:latin typeface="+mj-lt"/>
              </a:rPr>
              <a:t> </a:t>
            </a:r>
            <a:r>
              <a:rPr lang="en-US" sz="2800" dirty="0">
                <a:solidFill>
                  <a:schemeClr val="accent4">
                    <a:lumMod val="75000"/>
                  </a:schemeClr>
                </a:solidFill>
                <a:latin typeface="+mj-lt"/>
              </a:rPr>
              <a:t>and </a:t>
            </a:r>
            <a:r>
              <a:rPr lang="en-US" sz="2800" b="1" dirty="0">
                <a:solidFill>
                  <a:schemeClr val="accent4">
                    <a:lumMod val="75000"/>
                  </a:schemeClr>
                </a:solidFill>
                <a:latin typeface="+mj-lt"/>
              </a:rPr>
              <a:t>decreases in species richness</a:t>
            </a:r>
            <a:r>
              <a:rPr lang="en-US" sz="2800" dirty="0">
                <a:solidFill>
                  <a:schemeClr val="accent4">
                    <a:lumMod val="75000"/>
                  </a:schemeClr>
                </a:solidFill>
                <a:latin typeface="+mj-lt"/>
              </a:rPr>
              <a:t> </a:t>
            </a:r>
            <a:r>
              <a:rPr lang="en-US" sz="2800" dirty="0">
                <a:latin typeface="+mj-lt"/>
              </a:rPr>
              <a:t>(</a:t>
            </a:r>
            <a:r>
              <a:rPr lang="en-US" sz="2800" dirty="0">
                <a:solidFill>
                  <a:srgbClr val="FF0000"/>
                </a:solidFill>
                <a:latin typeface="+mj-lt"/>
              </a:rPr>
              <a:t>Yang et al. 2023</a:t>
            </a:r>
            <a:r>
              <a:rPr lang="en-US" sz="2800" dirty="0">
                <a:latin typeface="+mj-lt"/>
              </a:rPr>
              <a:t>).</a:t>
            </a:r>
          </a:p>
          <a:p>
            <a:endParaRPr lang="en-US" sz="2800" dirty="0">
              <a:latin typeface="+mj-lt"/>
            </a:endParaRPr>
          </a:p>
          <a:p>
            <a:r>
              <a:rPr lang="en-US" sz="2800" dirty="0">
                <a:latin typeface="+mj-lt"/>
              </a:rPr>
              <a:t>Precise. Nice. </a:t>
            </a:r>
          </a:p>
        </p:txBody>
      </p:sp>
      <p:sp>
        <p:nvSpPr>
          <p:cNvPr id="3" name="TextBox 2">
            <a:extLst>
              <a:ext uri="{FF2B5EF4-FFF2-40B4-BE49-F238E27FC236}">
                <a16:creationId xmlns:a16="http://schemas.microsoft.com/office/drawing/2014/main" id="{C5F488F7-90FD-F7F1-3E4D-3317B2D6731B}"/>
              </a:ext>
            </a:extLst>
          </p:cNvPr>
          <p:cNvSpPr txBox="1"/>
          <p:nvPr/>
        </p:nvSpPr>
        <p:spPr>
          <a:xfrm>
            <a:off x="549137" y="294765"/>
            <a:ext cx="6536469" cy="954107"/>
          </a:xfrm>
          <a:prstGeom prst="rect">
            <a:avLst/>
          </a:prstGeom>
          <a:noFill/>
        </p:spPr>
        <p:txBody>
          <a:bodyPr wrap="none" rtlCol="0">
            <a:spAutoFit/>
          </a:bodyPr>
          <a:lstStyle/>
          <a:p>
            <a:r>
              <a:rPr lang="en-US" sz="2800" dirty="0">
                <a:solidFill>
                  <a:srgbClr val="00B0F0"/>
                </a:solidFill>
                <a:latin typeface="+mj-lt"/>
              </a:rPr>
              <a:t>Apex predators </a:t>
            </a:r>
            <a:r>
              <a:rPr lang="en-US" sz="2800" dirty="0">
                <a:latin typeface="+mj-lt"/>
              </a:rPr>
              <a:t>are </a:t>
            </a:r>
            <a:r>
              <a:rPr lang="en-US" sz="2800" dirty="0">
                <a:solidFill>
                  <a:schemeClr val="accent4">
                    <a:lumMod val="75000"/>
                  </a:schemeClr>
                </a:solidFill>
                <a:latin typeface="+mj-lt"/>
              </a:rPr>
              <a:t>important for the ocean</a:t>
            </a:r>
            <a:r>
              <a:rPr lang="en-US" sz="2800" dirty="0">
                <a:latin typeface="+mj-lt"/>
              </a:rPr>
              <a:t>.</a:t>
            </a:r>
          </a:p>
          <a:p>
            <a:r>
              <a:rPr lang="en-US" sz="2800" dirty="0">
                <a:latin typeface="+mj-lt"/>
              </a:rPr>
              <a:t>Without substance.  </a:t>
            </a:r>
          </a:p>
        </p:txBody>
      </p:sp>
    </p:spTree>
    <p:extLst>
      <p:ext uri="{BB962C8B-B14F-4D97-AF65-F5344CB8AC3E}">
        <p14:creationId xmlns:p14="http://schemas.microsoft.com/office/powerpoint/2010/main" val="36689509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16E2E09A-BC58-F3BE-B182-28A3ABA1EE49}"/>
              </a:ext>
            </a:extLst>
          </p:cNvPr>
          <p:cNvSpPr>
            <a:spLocks noGrp="1"/>
          </p:cNvSpPr>
          <p:nvPr>
            <p:ph type="title"/>
          </p:nvPr>
        </p:nvSpPr>
        <p:spPr>
          <a:xfrm>
            <a:off x="484533" y="1321904"/>
            <a:ext cx="7886700" cy="3630404"/>
          </a:xfrm>
        </p:spPr>
        <p:txBody>
          <a:bodyPr>
            <a:normAutofit fontScale="90000"/>
          </a:bodyPr>
          <a:lstStyle/>
          <a:p>
            <a:br>
              <a:rPr lang="en-US" sz="2800" dirty="0"/>
            </a:br>
            <a:r>
              <a:rPr lang="en-US" sz="2800" dirty="0"/>
              <a:t>A considerable amount of research has shown that apex predators are vitally important for the ocean for a variety of reasons. First, removing predators can cause trophic cascades that lead to the decline in the quality of habitats (Munoz et al. 2011).  In addition, when top predators are reduced, studies have also reported decreases in species richness in the ecosystem overall (Yang et al. 2023). </a:t>
            </a:r>
            <a:br>
              <a:rPr lang="en-US" sz="2800" dirty="0"/>
            </a:br>
            <a:br>
              <a:rPr lang="en-US" sz="2800" dirty="0"/>
            </a:br>
            <a:r>
              <a:rPr lang="en-US" sz="2800" dirty="0">
                <a:solidFill>
                  <a:srgbClr val="00B0F0"/>
                </a:solidFill>
                <a:latin typeface="+mj-lt"/>
              </a:rPr>
              <a:t>Reductions in the abundance of apex predators due to overfishing</a:t>
            </a:r>
            <a:r>
              <a:rPr lang="en-US" sz="2800" dirty="0">
                <a:latin typeface="+mj-lt"/>
              </a:rPr>
              <a:t> can cause </a:t>
            </a:r>
            <a:r>
              <a:rPr lang="en-US" sz="2800" dirty="0">
                <a:solidFill>
                  <a:schemeClr val="accent4">
                    <a:lumMod val="75000"/>
                  </a:schemeClr>
                </a:solidFill>
                <a:latin typeface="+mj-lt"/>
              </a:rPr>
              <a:t>trophic cascades that lead to declines in the quality of marine habitats</a:t>
            </a:r>
            <a:r>
              <a:rPr lang="en-US" sz="2800" dirty="0">
                <a:latin typeface="+mj-lt"/>
              </a:rPr>
              <a:t> (</a:t>
            </a:r>
            <a:r>
              <a:rPr lang="en-US" sz="2800" dirty="0">
                <a:solidFill>
                  <a:srgbClr val="FF0000"/>
                </a:solidFill>
                <a:latin typeface="+mj-lt"/>
              </a:rPr>
              <a:t>Munoz et al 2011)</a:t>
            </a:r>
            <a:r>
              <a:rPr lang="en-US" sz="2800" dirty="0">
                <a:latin typeface="+mj-lt"/>
              </a:rPr>
              <a:t> </a:t>
            </a:r>
            <a:r>
              <a:rPr lang="en-US" sz="2800" dirty="0">
                <a:solidFill>
                  <a:schemeClr val="accent4">
                    <a:lumMod val="75000"/>
                  </a:schemeClr>
                </a:solidFill>
                <a:latin typeface="+mj-lt"/>
              </a:rPr>
              <a:t>and decreases in species richness </a:t>
            </a:r>
            <a:r>
              <a:rPr lang="en-US" sz="2800" dirty="0">
                <a:latin typeface="+mj-lt"/>
              </a:rPr>
              <a:t>(</a:t>
            </a:r>
            <a:r>
              <a:rPr lang="en-US" sz="2800" dirty="0">
                <a:solidFill>
                  <a:srgbClr val="FF0000"/>
                </a:solidFill>
                <a:latin typeface="+mj-lt"/>
              </a:rPr>
              <a:t>Yang et al. 2023</a:t>
            </a:r>
            <a:r>
              <a:rPr lang="en-US" sz="2800" dirty="0">
                <a:latin typeface="+mj-lt"/>
              </a:rPr>
              <a:t>).</a:t>
            </a:r>
            <a:br>
              <a:rPr lang="en-US" sz="2800" dirty="0">
                <a:latin typeface="+mj-lt"/>
              </a:rPr>
            </a:br>
            <a:endParaRPr lang="en-US" sz="2800" dirty="0"/>
          </a:p>
        </p:txBody>
      </p:sp>
    </p:spTree>
    <p:extLst>
      <p:ext uri="{BB962C8B-B14F-4D97-AF65-F5344CB8AC3E}">
        <p14:creationId xmlns:p14="http://schemas.microsoft.com/office/powerpoint/2010/main" val="11425106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382000" cy="800219"/>
          </a:xfrm>
          <a:prstGeom prst="rect">
            <a:avLst/>
          </a:prstGeom>
        </p:spPr>
        <p:txBody>
          <a:bodyPr wrap="square">
            <a:spAutoFit/>
          </a:bodyPr>
          <a:lstStyle/>
          <a:p>
            <a:r>
              <a:rPr lang="en-US" sz="2800" b="1" dirty="0">
                <a:solidFill>
                  <a:srgbClr val="C00000"/>
                </a:solidFill>
              </a:rPr>
              <a:t>Avoid jargon and seek simplicity, brevity, and clarity</a:t>
            </a:r>
          </a:p>
          <a:p>
            <a:r>
              <a:rPr lang="en-US" b="1" dirty="0"/>
              <a:t> </a:t>
            </a:r>
          </a:p>
        </p:txBody>
      </p:sp>
      <p:sp>
        <p:nvSpPr>
          <p:cNvPr id="3" name="Rectangle 2"/>
          <p:cNvSpPr/>
          <p:nvPr/>
        </p:nvSpPr>
        <p:spPr>
          <a:xfrm>
            <a:off x="381000" y="1028819"/>
            <a:ext cx="8382000" cy="5920691"/>
          </a:xfrm>
          <a:prstGeom prst="rect">
            <a:avLst/>
          </a:prstGeom>
        </p:spPr>
        <p:txBody>
          <a:bodyPr wrap="square">
            <a:spAutoFit/>
          </a:bodyPr>
          <a:lstStyle/>
          <a:p>
            <a:r>
              <a:rPr lang="en-US" sz="2600" u="sng" dirty="0"/>
              <a:t>Jargon or complex version	Simple, brief, and clear version</a:t>
            </a:r>
            <a:endParaRPr lang="en-US" sz="2600" dirty="0"/>
          </a:p>
          <a:p>
            <a:r>
              <a:rPr lang="en-US" sz="2600" dirty="0"/>
              <a:t>A considerable amount of					much</a:t>
            </a:r>
          </a:p>
          <a:p>
            <a:r>
              <a:rPr lang="en-US" sz="2600" dirty="0"/>
              <a:t>A considerable number of 					many</a:t>
            </a:r>
          </a:p>
          <a:p>
            <a:r>
              <a:rPr lang="en-US" sz="2600" dirty="0"/>
              <a:t>A decreased amount of						less</a:t>
            </a:r>
          </a:p>
          <a:p>
            <a:r>
              <a:rPr lang="en-US" sz="2600" dirty="0"/>
              <a:t>A decreased number of 					fewer</a:t>
            </a:r>
          </a:p>
          <a:p>
            <a:r>
              <a:rPr lang="en-US" sz="2600" dirty="0"/>
              <a:t>A majority of									most</a:t>
            </a:r>
          </a:p>
          <a:p>
            <a:r>
              <a:rPr lang="en-US" sz="2600" dirty="0"/>
              <a:t>A number of									many</a:t>
            </a:r>
          </a:p>
          <a:p>
            <a:r>
              <a:rPr lang="en-US" sz="2600" dirty="0"/>
              <a:t>A small number of 							few</a:t>
            </a:r>
          </a:p>
          <a:p>
            <a:r>
              <a:rPr lang="en-US" sz="2600" dirty="0"/>
              <a:t>Absolutely essential							essential</a:t>
            </a:r>
          </a:p>
          <a:p>
            <a:r>
              <a:rPr lang="en-US" sz="2600" dirty="0"/>
              <a:t>Accounted for by the fact that				because</a:t>
            </a:r>
          </a:p>
          <a:p>
            <a:r>
              <a:rPr lang="en-US" sz="2600" dirty="0"/>
              <a:t>Adjacent to									near</a:t>
            </a:r>
          </a:p>
          <a:p>
            <a:r>
              <a:rPr lang="en-US" sz="2600" dirty="0"/>
              <a:t>Along the lines of 							like</a:t>
            </a:r>
          </a:p>
          <a:p>
            <a:r>
              <a:rPr lang="en-US" sz="2600" dirty="0"/>
              <a:t>An adequate amount of 					enough</a:t>
            </a:r>
          </a:p>
          <a:p>
            <a:r>
              <a:rPr lang="en-US" sz="2600" dirty="0"/>
              <a:t>An example of this is the fact that			for example</a:t>
            </a:r>
          </a:p>
        </p:txBody>
      </p:sp>
    </p:spTree>
    <p:extLst>
      <p:ext uri="{BB962C8B-B14F-4D97-AF65-F5344CB8AC3E}">
        <p14:creationId xmlns:p14="http://schemas.microsoft.com/office/powerpoint/2010/main" val="17774893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354288" y="1613262"/>
            <a:ext cx="8435423" cy="5073865"/>
          </a:xfrm>
        </p:spPr>
        <p:txBody>
          <a:bodyPr>
            <a:normAutofit/>
          </a:bodyPr>
          <a:lstStyle/>
          <a:p>
            <a:pPr marL="0" indent="0">
              <a:buNone/>
            </a:pPr>
            <a:r>
              <a:rPr lang="en-US" sz="2600" b="1" dirty="0"/>
              <a:t>Brevity: </a:t>
            </a:r>
            <a:r>
              <a:rPr lang="en-US" sz="2600" dirty="0"/>
              <a:t>always try to communicate your message in as few words as possible. </a:t>
            </a:r>
            <a:r>
              <a:rPr lang="en-US" sz="2600" b="1" i="1" u="sng" dirty="0">
                <a:solidFill>
                  <a:srgbClr val="C00000"/>
                </a:solidFill>
              </a:rPr>
              <a:t>Every sentence must serve a purpose.</a:t>
            </a:r>
            <a:endParaRPr lang="en-US" sz="2600" i="1" u="sng" dirty="0">
              <a:solidFill>
                <a:srgbClr val="C00000"/>
              </a:solidFill>
            </a:endParaRPr>
          </a:p>
          <a:p>
            <a:pPr marL="0" indent="0">
              <a:buNone/>
            </a:pPr>
            <a:endParaRPr lang="en-US" sz="2600" b="1" dirty="0">
              <a:solidFill>
                <a:srgbClr val="C00000"/>
              </a:solidFill>
            </a:endParaRPr>
          </a:p>
          <a:p>
            <a:pPr marL="0" indent="0">
              <a:buNone/>
            </a:pPr>
            <a:endParaRPr lang="en-US" sz="2600" b="1" dirty="0">
              <a:solidFill>
                <a:srgbClr val="C00000"/>
              </a:solidFill>
            </a:endParaRPr>
          </a:p>
          <a:p>
            <a:pPr marL="0" indent="0" algn="ctr">
              <a:buNone/>
            </a:pPr>
            <a:r>
              <a:rPr lang="en-US" sz="4000" b="1" dirty="0"/>
              <a:t>I challenge to you cut 10-20% of the words in your first draft. </a:t>
            </a:r>
          </a:p>
          <a:p>
            <a:endParaRPr lang="en-US" sz="2600" dirty="0"/>
          </a:p>
          <a:p>
            <a:endParaRPr lang="en-US" sz="2600" dirty="0"/>
          </a:p>
          <a:p>
            <a:pPr marL="0" indent="0">
              <a:buNone/>
            </a:pPr>
            <a:r>
              <a:rPr lang="en-US" sz="2600" dirty="0">
                <a:solidFill>
                  <a:srgbClr val="C00000"/>
                </a:solidFill>
              </a:rPr>
              <a:t>Read “Brevity” in Canvas if you need help cutting!</a:t>
            </a: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1. Fine details</a:t>
            </a:r>
          </a:p>
        </p:txBody>
      </p:sp>
    </p:spTree>
    <p:extLst>
      <p:ext uri="{BB962C8B-B14F-4D97-AF65-F5344CB8AC3E}">
        <p14:creationId xmlns:p14="http://schemas.microsoft.com/office/powerpoint/2010/main" val="4698546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D691C1E-8942-0E49-8748-BDD608EF7685}"/>
              </a:ext>
            </a:extLst>
          </p:cNvPr>
          <p:cNvSpPr>
            <a:spLocks noGrp="1"/>
          </p:cNvSpPr>
          <p:nvPr>
            <p:ph idx="1"/>
          </p:nvPr>
        </p:nvSpPr>
        <p:spPr>
          <a:xfrm>
            <a:off x="5075583" y="1613262"/>
            <a:ext cx="3896967" cy="5073865"/>
          </a:xfrm>
        </p:spPr>
        <p:txBody>
          <a:bodyPr>
            <a:normAutofit/>
          </a:bodyPr>
          <a:lstStyle/>
          <a:p>
            <a:pPr marL="0" indent="0" algn="ctr">
              <a:buNone/>
            </a:pPr>
            <a:r>
              <a:rPr lang="en-US" sz="3200" dirty="0"/>
              <a:t>Every sentence must serve a purpose.</a:t>
            </a:r>
          </a:p>
          <a:p>
            <a:pPr marL="0" indent="0" algn="ctr">
              <a:buNone/>
            </a:pPr>
            <a:endParaRPr lang="en-US" sz="3200" b="1" dirty="0">
              <a:solidFill>
                <a:srgbClr val="C00000"/>
              </a:solidFill>
            </a:endParaRPr>
          </a:p>
          <a:p>
            <a:pPr marL="0" indent="0" algn="ctr">
              <a:buNone/>
            </a:pPr>
            <a:r>
              <a:rPr lang="en-US" sz="3200" b="1" dirty="0">
                <a:solidFill>
                  <a:srgbClr val="C00000"/>
                </a:solidFill>
              </a:rPr>
              <a:t>Every paragraph must also serve a purpose.</a:t>
            </a:r>
          </a:p>
          <a:p>
            <a:pPr marL="0" indent="0">
              <a:buNone/>
            </a:pPr>
            <a:endParaRPr lang="en-US" sz="2600" b="1" dirty="0">
              <a:solidFill>
                <a:srgbClr val="C00000"/>
              </a:solidFill>
            </a:endParaRPr>
          </a:p>
        </p:txBody>
      </p:sp>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2. Overall structure</a:t>
            </a:r>
          </a:p>
        </p:txBody>
      </p:sp>
      <p:pic>
        <p:nvPicPr>
          <p:cNvPr id="4" name="Picture 3" descr="A close up of a logo&#10;&#10;Description automatically generated">
            <a:extLst>
              <a:ext uri="{FF2B5EF4-FFF2-40B4-BE49-F238E27FC236}">
                <a16:creationId xmlns:a16="http://schemas.microsoft.com/office/drawing/2014/main" id="{7B90352C-30D6-8C4C-AE7E-9F4C0140E1EA}"/>
              </a:ext>
            </a:extLst>
          </p:cNvPr>
          <p:cNvPicPr>
            <a:picLocks noChangeAspect="1"/>
          </p:cNvPicPr>
          <p:nvPr/>
        </p:nvPicPr>
        <p:blipFill>
          <a:blip r:embed="rId2"/>
          <a:stretch>
            <a:fillRect/>
          </a:stretch>
        </p:blipFill>
        <p:spPr>
          <a:xfrm>
            <a:off x="38930" y="990600"/>
            <a:ext cx="4400550" cy="5867400"/>
          </a:xfrm>
          <a:prstGeom prst="rect">
            <a:avLst/>
          </a:prstGeom>
        </p:spPr>
      </p:pic>
    </p:spTree>
    <p:extLst>
      <p:ext uri="{BB962C8B-B14F-4D97-AF65-F5344CB8AC3E}">
        <p14:creationId xmlns:p14="http://schemas.microsoft.com/office/powerpoint/2010/main" val="3717207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1C4F5A9-CA17-A64A-AD21-6C11E8C51069}"/>
              </a:ext>
            </a:extLst>
          </p:cNvPr>
          <p:cNvSpPr>
            <a:spLocks noGrp="1"/>
          </p:cNvSpPr>
          <p:nvPr>
            <p:ph type="title"/>
          </p:nvPr>
        </p:nvSpPr>
        <p:spPr>
          <a:xfrm>
            <a:off x="628650" y="170873"/>
            <a:ext cx="7886700" cy="1325563"/>
          </a:xfrm>
        </p:spPr>
        <p:txBody>
          <a:bodyPr/>
          <a:lstStyle/>
          <a:p>
            <a:r>
              <a:rPr lang="en-US" dirty="0"/>
              <a:t>2. Overall structure</a:t>
            </a:r>
          </a:p>
        </p:txBody>
      </p:sp>
      <p:sp>
        <p:nvSpPr>
          <p:cNvPr id="8" name="Content Placeholder 2">
            <a:extLst>
              <a:ext uri="{FF2B5EF4-FFF2-40B4-BE49-F238E27FC236}">
                <a16:creationId xmlns:a16="http://schemas.microsoft.com/office/drawing/2014/main" id="{BBAF05B4-05E6-2D43-B2B9-257F080290DA}"/>
              </a:ext>
            </a:extLst>
          </p:cNvPr>
          <p:cNvSpPr>
            <a:spLocks noGrp="1"/>
          </p:cNvSpPr>
          <p:nvPr>
            <p:ph idx="1"/>
          </p:nvPr>
        </p:nvSpPr>
        <p:spPr>
          <a:xfrm>
            <a:off x="318052" y="1613262"/>
            <a:ext cx="8654499" cy="5073865"/>
          </a:xfrm>
        </p:spPr>
        <p:txBody>
          <a:bodyPr>
            <a:normAutofit/>
          </a:bodyPr>
          <a:lstStyle/>
          <a:p>
            <a:pPr marL="0" indent="0">
              <a:buNone/>
            </a:pPr>
            <a:r>
              <a:rPr lang="en-US" sz="3200" b="1" dirty="0">
                <a:solidFill>
                  <a:srgbClr val="C00000"/>
                </a:solidFill>
              </a:rPr>
              <a:t>Every paragraph must serve a purpose.</a:t>
            </a:r>
          </a:p>
          <a:p>
            <a:pPr marL="0" indent="0">
              <a:buNone/>
            </a:pPr>
            <a:endParaRPr lang="en-US" sz="2600" b="1" dirty="0">
              <a:solidFill>
                <a:srgbClr val="C00000"/>
              </a:solidFill>
            </a:endParaRPr>
          </a:p>
          <a:p>
            <a:pPr marL="0" indent="0">
              <a:buNone/>
            </a:pPr>
            <a:r>
              <a:rPr lang="en-US" sz="2600" b="1" dirty="0"/>
              <a:t>Use </a:t>
            </a:r>
            <a:r>
              <a:rPr lang="en-US" sz="2600" b="1" dirty="0">
                <a:highlight>
                  <a:srgbClr val="FFFF00"/>
                </a:highlight>
              </a:rPr>
              <a:t>signposts</a:t>
            </a:r>
            <a:r>
              <a:rPr lang="en-US" sz="2600" b="1" dirty="0"/>
              <a:t>. </a:t>
            </a:r>
            <a:r>
              <a:rPr lang="en-US" sz="2600" dirty="0"/>
              <a:t>A signpost is a familiar phrase that marks key statements in your paper. Signposts are needed to guide the reader though technical writing.</a:t>
            </a:r>
          </a:p>
          <a:p>
            <a:pPr marL="0" indent="0">
              <a:buNone/>
            </a:pPr>
            <a:endParaRPr lang="en-US" sz="2600" b="1" dirty="0"/>
          </a:p>
          <a:p>
            <a:pPr marL="0" indent="0">
              <a:buNone/>
            </a:pPr>
            <a:r>
              <a:rPr lang="en-US" sz="2600" dirty="0"/>
              <a:t>Examples:</a:t>
            </a:r>
          </a:p>
          <a:p>
            <a:r>
              <a:rPr lang="en-US" sz="2600" dirty="0"/>
              <a:t>Intro: “</a:t>
            </a:r>
            <a:r>
              <a:rPr lang="en-US" sz="2600" dirty="0">
                <a:highlight>
                  <a:srgbClr val="FFFF00"/>
                </a:highlight>
              </a:rPr>
              <a:t>In this study</a:t>
            </a:r>
            <a:r>
              <a:rPr lang="en-US" sz="2600" dirty="0"/>
              <a:t>, I tested the relationship between…”</a:t>
            </a:r>
          </a:p>
          <a:p>
            <a:r>
              <a:rPr lang="en-US" sz="2600" dirty="0"/>
              <a:t>Results/Discussion: “</a:t>
            </a:r>
            <a:r>
              <a:rPr lang="en-US" sz="2600" dirty="0">
                <a:highlight>
                  <a:srgbClr val="FFFF00"/>
                </a:highlight>
              </a:rPr>
              <a:t>Overall, our experiments showed </a:t>
            </a:r>
            <a:r>
              <a:rPr lang="en-US" sz="2600" dirty="0"/>
              <a:t>that…”</a:t>
            </a:r>
            <a:endParaRPr lang="en-US" sz="2600" u="sng" dirty="0"/>
          </a:p>
          <a:p>
            <a:r>
              <a:rPr lang="en-US" sz="2600" dirty="0"/>
              <a:t>Discussion: “</a:t>
            </a:r>
            <a:r>
              <a:rPr lang="en-US" sz="2600" dirty="0">
                <a:highlight>
                  <a:srgbClr val="FFFF00"/>
                </a:highlight>
              </a:rPr>
              <a:t>In conclusion</a:t>
            </a:r>
            <a:r>
              <a:rPr lang="en-US" sz="2600" dirty="0"/>
              <a:t>, we found that…”</a:t>
            </a:r>
            <a:endParaRPr lang="en-US" sz="2600" u="sng" dirty="0"/>
          </a:p>
          <a:p>
            <a:pPr marL="0" indent="0">
              <a:buNone/>
            </a:pPr>
            <a:endParaRPr lang="en-US" sz="3200" b="1" dirty="0"/>
          </a:p>
        </p:txBody>
      </p:sp>
    </p:spTree>
    <p:extLst>
      <p:ext uri="{BB962C8B-B14F-4D97-AF65-F5344CB8AC3E}">
        <p14:creationId xmlns:p14="http://schemas.microsoft.com/office/powerpoint/2010/main" val="19675683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18649FB-E678-044F-9248-64835858B790}"/>
              </a:ext>
            </a:extLst>
          </p:cNvPr>
          <p:cNvPicPr>
            <a:picLocks noChangeAspect="1"/>
          </p:cNvPicPr>
          <p:nvPr/>
        </p:nvPicPr>
        <p:blipFill>
          <a:blip r:embed="rId2"/>
          <a:stretch>
            <a:fillRect/>
          </a:stretch>
        </p:blipFill>
        <p:spPr>
          <a:xfrm>
            <a:off x="0" y="1733528"/>
            <a:ext cx="9144000" cy="3390944"/>
          </a:xfrm>
          <a:prstGeom prst="rect">
            <a:avLst/>
          </a:prstGeom>
        </p:spPr>
      </p:pic>
      <p:sp>
        <p:nvSpPr>
          <p:cNvPr id="11" name="Title 1">
            <a:extLst>
              <a:ext uri="{FF2B5EF4-FFF2-40B4-BE49-F238E27FC236}">
                <a16:creationId xmlns:a16="http://schemas.microsoft.com/office/drawing/2014/main" id="{8860E047-39A2-B147-AB07-7C653A91FC74}"/>
              </a:ext>
            </a:extLst>
          </p:cNvPr>
          <p:cNvSpPr>
            <a:spLocks noGrp="1"/>
          </p:cNvSpPr>
          <p:nvPr>
            <p:ph type="title"/>
          </p:nvPr>
        </p:nvSpPr>
        <p:spPr>
          <a:xfrm>
            <a:off x="628650" y="170873"/>
            <a:ext cx="7886700" cy="1325563"/>
          </a:xfrm>
        </p:spPr>
        <p:txBody>
          <a:bodyPr/>
          <a:lstStyle/>
          <a:p>
            <a:r>
              <a:rPr lang="en-US" dirty="0"/>
              <a:t>3. Big picture </a:t>
            </a:r>
            <a:r>
              <a:rPr lang="en-US" sz="2600" dirty="0"/>
              <a:t>(or, what makes a paper “good”?)</a:t>
            </a:r>
          </a:p>
        </p:txBody>
      </p:sp>
    </p:spTree>
    <p:extLst>
      <p:ext uri="{BB962C8B-B14F-4D97-AF65-F5344CB8AC3E}">
        <p14:creationId xmlns:p14="http://schemas.microsoft.com/office/powerpoint/2010/main" val="3470360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2F72B1-D672-2A47-86AC-C6D70397BE76}"/>
              </a:ext>
            </a:extLst>
          </p:cNvPr>
          <p:cNvPicPr>
            <a:picLocks noChangeAspect="1"/>
          </p:cNvPicPr>
          <p:nvPr/>
        </p:nvPicPr>
        <p:blipFill>
          <a:blip r:embed="rId2"/>
          <a:stretch>
            <a:fillRect/>
          </a:stretch>
        </p:blipFill>
        <p:spPr>
          <a:xfrm>
            <a:off x="0" y="1705920"/>
            <a:ext cx="9144000" cy="4981207"/>
          </a:xfrm>
          <a:prstGeom prst="rect">
            <a:avLst/>
          </a:prstGeom>
        </p:spPr>
      </p:pic>
      <p:sp>
        <p:nvSpPr>
          <p:cNvPr id="8" name="Title 1">
            <a:extLst>
              <a:ext uri="{FF2B5EF4-FFF2-40B4-BE49-F238E27FC236}">
                <a16:creationId xmlns:a16="http://schemas.microsoft.com/office/drawing/2014/main" id="{BBBCBB03-FCBB-6B4B-A9FE-049E08913A9B}"/>
              </a:ext>
            </a:extLst>
          </p:cNvPr>
          <p:cNvSpPr>
            <a:spLocks noGrp="1"/>
          </p:cNvSpPr>
          <p:nvPr>
            <p:ph type="title"/>
          </p:nvPr>
        </p:nvSpPr>
        <p:spPr>
          <a:xfrm>
            <a:off x="628650" y="170873"/>
            <a:ext cx="7886700" cy="1325563"/>
          </a:xfrm>
        </p:spPr>
        <p:txBody>
          <a:bodyPr/>
          <a:lstStyle/>
          <a:p>
            <a:r>
              <a:rPr lang="en-US" dirty="0"/>
              <a:t>3. Big picture </a:t>
            </a:r>
            <a:r>
              <a:rPr lang="en-US" sz="2600" dirty="0"/>
              <a:t>(or, what makes a paper “good”?)</a:t>
            </a:r>
          </a:p>
        </p:txBody>
      </p:sp>
    </p:spTree>
    <p:extLst>
      <p:ext uri="{BB962C8B-B14F-4D97-AF65-F5344CB8AC3E}">
        <p14:creationId xmlns:p14="http://schemas.microsoft.com/office/powerpoint/2010/main" val="8344494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73337" y="1067163"/>
            <a:ext cx="8534400" cy="5386090"/>
          </a:xfrm>
          <a:prstGeom prst="rect">
            <a:avLst/>
          </a:prstGeom>
          <a:noFill/>
        </p:spPr>
        <p:txBody>
          <a:bodyPr wrap="square" rtlCol="0">
            <a:spAutoFit/>
          </a:bodyPr>
          <a:lstStyle/>
          <a:p>
            <a:pPr marL="342900" indent="-342900">
              <a:buAutoNum type="arabicParenR"/>
            </a:pPr>
            <a:r>
              <a:rPr lang="en-US" sz="2000" dirty="0"/>
              <a:t>Does the Introduction start broadly and end with the objectives?</a:t>
            </a:r>
          </a:p>
          <a:p>
            <a:pPr marL="342900" indent="-342900">
              <a:buAutoNum type="arabicParenR"/>
            </a:pPr>
            <a:r>
              <a:rPr lang="en-US" sz="2000" dirty="0"/>
              <a:t>Does the Introduction give only enough of the approach to understand what is to come – some information but not too much detail?</a:t>
            </a:r>
          </a:p>
          <a:p>
            <a:pPr marL="342900" indent="-342900">
              <a:buAutoNum type="arabicParenR"/>
            </a:pPr>
            <a:r>
              <a:rPr lang="en-US" sz="2000" dirty="0"/>
              <a:t>Does the Methods section reveal what was done, where the data came from, and any other special features, but not disclose the results?  Sample size, period of record, and such things are often in the Methods if they are needed to understand the study design, though they may appear in the Results.</a:t>
            </a:r>
          </a:p>
          <a:p>
            <a:pPr marL="342900" indent="-342900">
              <a:buAutoNum type="arabicParenR"/>
            </a:pPr>
            <a:r>
              <a:rPr lang="en-US" sz="2000" dirty="0"/>
              <a:t>Does the Results section present all the available data needed to test all the hypotheses but no extraneous information?</a:t>
            </a:r>
          </a:p>
          <a:p>
            <a:pPr marL="342900" indent="-342900">
              <a:buAutoNum type="arabicParenR"/>
            </a:pPr>
            <a:r>
              <a:rPr lang="en-US" sz="2000" dirty="0"/>
              <a:t>Does the Results section avoid interpretation, apologies and other junk?</a:t>
            </a:r>
          </a:p>
          <a:p>
            <a:pPr marL="342900" indent="-342900">
              <a:buAutoNum type="arabicParenR"/>
            </a:pPr>
            <a:r>
              <a:rPr lang="en-US" sz="2000" dirty="0"/>
              <a:t>Are the sample sizes, treatments and controls, replicates clear?</a:t>
            </a:r>
          </a:p>
          <a:p>
            <a:pPr marL="342900" indent="-342900">
              <a:buAutoNum type="arabicParenR"/>
            </a:pPr>
            <a:r>
              <a:rPr lang="en-US" sz="2000" dirty="0"/>
              <a:t>Do all figures and tables have complete, self-explanatory captions?</a:t>
            </a:r>
          </a:p>
          <a:p>
            <a:pPr marL="342900" indent="-342900">
              <a:buAutoNum type="arabicParenR"/>
            </a:pPr>
            <a:r>
              <a:rPr lang="en-US" sz="2000" dirty="0"/>
              <a:t>Are figures and tables easy to understand?</a:t>
            </a:r>
          </a:p>
          <a:p>
            <a:pPr marL="342900" indent="-342900">
              <a:buAutoNum type="arabicParenR"/>
            </a:pPr>
            <a:r>
              <a:rPr lang="en-US" sz="2000" dirty="0"/>
              <a:t>Does the Discussion connect the key results with the hypotheses?</a:t>
            </a:r>
          </a:p>
          <a:p>
            <a:pPr marL="342900" indent="-342900">
              <a:buAutoNum type="arabicParenR"/>
            </a:pPr>
            <a:r>
              <a:rPr lang="en-US" sz="2000" dirty="0"/>
              <a:t> Does the Discussion integrate the findings with work by others?</a:t>
            </a:r>
          </a:p>
          <a:p>
            <a:pPr marL="342900" indent="-342900">
              <a:buAutoNum type="arabicParenR"/>
            </a:pPr>
            <a:r>
              <a:rPr lang="en-US" sz="2000" dirty="0"/>
              <a:t> Does the Discussion end with an appropriately broad connection back to the themes of the Introduction?</a:t>
            </a:r>
          </a:p>
        </p:txBody>
      </p:sp>
      <p:sp>
        <p:nvSpPr>
          <p:cNvPr id="3" name="TextBox 2">
            <a:extLst>
              <a:ext uri="{FF2B5EF4-FFF2-40B4-BE49-F238E27FC236}">
                <a16:creationId xmlns:a16="http://schemas.microsoft.com/office/drawing/2014/main" id="{55BD2DA1-493A-C74A-9827-9ACBB9A3A75C}"/>
              </a:ext>
            </a:extLst>
          </p:cNvPr>
          <p:cNvSpPr txBox="1"/>
          <p:nvPr/>
        </p:nvSpPr>
        <p:spPr>
          <a:xfrm>
            <a:off x="278296" y="352101"/>
            <a:ext cx="8729441" cy="461665"/>
          </a:xfrm>
          <a:prstGeom prst="rect">
            <a:avLst/>
          </a:prstGeom>
          <a:noFill/>
        </p:spPr>
        <p:txBody>
          <a:bodyPr wrap="square" rtlCol="0">
            <a:spAutoFit/>
          </a:bodyPr>
          <a:lstStyle/>
          <a:p>
            <a:r>
              <a:rPr lang="en-US" sz="2400" dirty="0"/>
              <a:t>A helpful checklist compiled from previous lectures:</a:t>
            </a:r>
          </a:p>
        </p:txBody>
      </p:sp>
    </p:spTree>
    <p:extLst>
      <p:ext uri="{BB962C8B-B14F-4D97-AF65-F5344CB8AC3E}">
        <p14:creationId xmlns:p14="http://schemas.microsoft.com/office/powerpoint/2010/main" val="636050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2BFF-8E8A-FB41-9968-03AC577B5DBC}"/>
              </a:ext>
            </a:extLst>
          </p:cNvPr>
          <p:cNvSpPr>
            <a:spLocks noGrp="1"/>
          </p:cNvSpPr>
          <p:nvPr>
            <p:ph type="title"/>
          </p:nvPr>
        </p:nvSpPr>
        <p:spPr>
          <a:xfrm>
            <a:off x="628650" y="99391"/>
            <a:ext cx="7886700" cy="1325563"/>
          </a:xfrm>
        </p:spPr>
        <p:txBody>
          <a:bodyPr/>
          <a:lstStyle/>
          <a:p>
            <a:r>
              <a:rPr lang="en-US" dirty="0"/>
              <a:t>Today:</a:t>
            </a:r>
          </a:p>
        </p:txBody>
      </p:sp>
      <p:sp>
        <p:nvSpPr>
          <p:cNvPr id="3" name="Content Placeholder 2">
            <a:extLst>
              <a:ext uri="{FF2B5EF4-FFF2-40B4-BE49-F238E27FC236}">
                <a16:creationId xmlns:a16="http://schemas.microsoft.com/office/drawing/2014/main" id="{C73D2DE2-5D78-2749-9D62-E5DBC77ABA63}"/>
              </a:ext>
            </a:extLst>
          </p:cNvPr>
          <p:cNvSpPr>
            <a:spLocks noGrp="1"/>
          </p:cNvSpPr>
          <p:nvPr>
            <p:ph idx="1"/>
          </p:nvPr>
        </p:nvSpPr>
        <p:spPr>
          <a:xfrm>
            <a:off x="238538" y="1565136"/>
            <a:ext cx="8759687" cy="5312741"/>
          </a:xfrm>
        </p:spPr>
        <p:txBody>
          <a:bodyPr>
            <a:normAutofit/>
          </a:bodyPr>
          <a:lstStyle/>
          <a:p>
            <a:pPr marL="0" indent="0">
              <a:buNone/>
            </a:pPr>
            <a:r>
              <a:rPr lang="en-US" dirty="0"/>
              <a:t>1. Finish your peer reviews.  Submit the “Guide to Peer-Review” on canvas, separate from the actual word document you are reviewing. Both are due tomorrow at midnight. </a:t>
            </a:r>
          </a:p>
          <a:p>
            <a:pPr marL="514350" indent="-514350">
              <a:buFont typeface="+mj-lt"/>
              <a:buAutoNum type="arabicPeriod"/>
            </a:pPr>
            <a:endParaRPr lang="en-US" dirty="0"/>
          </a:p>
          <a:p>
            <a:pPr marL="514350" indent="-514350">
              <a:buFont typeface="+mj-lt"/>
              <a:buAutoNum type="arabicPeriod"/>
            </a:pPr>
            <a:endParaRPr lang="en-US" dirty="0"/>
          </a:p>
          <a:p>
            <a:pPr marL="514350" indent="-514350">
              <a:buFont typeface="+mj-lt"/>
              <a:buAutoNum type="arabicPeriod"/>
            </a:pPr>
            <a:endParaRPr lang="en-US" dirty="0"/>
          </a:p>
          <a:p>
            <a:pPr marL="0" indent="0">
              <a:buNone/>
            </a:pPr>
            <a:r>
              <a:rPr lang="en-US" dirty="0"/>
              <a:t>2.  Work on your presentations.  We will have *some* time on Tuesday to do this as well.    </a:t>
            </a:r>
          </a:p>
        </p:txBody>
      </p:sp>
    </p:spTree>
    <p:extLst>
      <p:ext uri="{BB962C8B-B14F-4D97-AF65-F5344CB8AC3E}">
        <p14:creationId xmlns:p14="http://schemas.microsoft.com/office/powerpoint/2010/main" val="3425708241"/>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1866</TotalTime>
  <Words>1357</Words>
  <Application>Microsoft Macintosh PowerPoint</Application>
  <PresentationFormat>On-screen Show (4:3)</PresentationFormat>
  <Paragraphs>110</Paragraphs>
  <Slides>17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Aptos</vt:lpstr>
      <vt:lpstr>Arial</vt:lpstr>
      <vt:lpstr>Calibri</vt:lpstr>
      <vt:lpstr>Calibri Light</vt:lpstr>
      <vt:lpstr>Office Theme</vt:lpstr>
      <vt:lpstr>Editing  Good writing takes time and effort.  It should not be rushed.</vt:lpstr>
      <vt:lpstr>Peer editing</vt:lpstr>
      <vt:lpstr>PowerPoint Presentation</vt:lpstr>
      <vt:lpstr>1. Fine details</vt:lpstr>
      <vt:lpstr>1. Fine details</vt:lpstr>
      <vt:lpstr>PowerPoint Presentation</vt:lpstr>
      <vt:lpstr>1. Fine details</vt:lpstr>
      <vt:lpstr> A considerable amount of research has shown that apex predators are vitally important for the ocean for a variety of reasons.  Without substance, but now with fluff.</vt:lpstr>
      <vt:lpstr> A considerable amount of research has shown that apex predators are vitally important for the ocean for a variety of reasons. First, removing predators can cause trophic cascades that lead to the decline in the quality of habitats (Munoz et al. 2011).  In addition, when top predators are reduced, studies have also reported decreases in species richness in the ecosystem overall (Yang et al. 2023).   Reductions in the abundance of apex predators due to overfishing can cause trophic cascades that lead to declines in the quality of marine habitats (Munoz et al 2011) and decreases in species richness (Yang et al. 2023). </vt:lpstr>
      <vt:lpstr>PowerPoint Presentation</vt:lpstr>
      <vt:lpstr>1. Fine details</vt:lpstr>
      <vt:lpstr>2. Overall structure</vt:lpstr>
      <vt:lpstr>2. Overall structure</vt:lpstr>
      <vt:lpstr>3. Big picture (or, what makes a paper “good”?)</vt:lpstr>
      <vt:lpstr>3. Big picture (or, what makes a paper “good”?)</vt:lpstr>
      <vt:lpstr>PowerPoint Presentation</vt:lpstr>
      <vt:lpstr>Today: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Odds and ends for Tuesday</dc:title>
  <dc:creator>Miller, Elizabeth Christina - (ecmiller)</dc:creator>
  <cp:lastModifiedBy>Luke M. Tornabene</cp:lastModifiedBy>
  <cp:revision>87</cp:revision>
  <dcterms:created xsi:type="dcterms:W3CDTF">2020-02-26T02:26:17Z</dcterms:created>
  <dcterms:modified xsi:type="dcterms:W3CDTF">2024-05-23T20:28:02Z</dcterms:modified>
</cp:coreProperties>
</file>